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CAMP4 automates the configuration of SAP S/4HANA Public Cloud end to end. Today: what it does, how it works, and what the business case looks like. Status: working prototype on a production-grade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cloud implementation repeats the same manual work: hundreds of SSCUI screens, thousands of rows, typed by consultants. It is slow, error-prone, and scales only with headcount.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products split the work. x-Ray mass-exports the ECC tables and checks data quality, the Knowledge Builder learns the tenant configuration and maps it, the Config Bot executes it. The hand-off is a portable export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two — three automated steps: inventory every SSCUI, let AI vision read each screen structure and complexity, then map the existing ECC configuration onto the cloud fields. Complex screens get a recorded navigation path. Everything is bundled into one portable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three picks the right strategy per screen: direct keyboard entry for simple tables, recorded replays for dialogs and wizards, AI vision when layouts shift. The operator keeps control of login, confirmation and save — with a full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is used where rules break. Haiku triages screen complexity cheaply at scale; Sonnet reads forms into structured field maps, recovers replays visually when coordinates drift, and resolves non-obvious field renames. Model choice per task keeps cost proportional to difficulty.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screen, 15 to 45 minutes become 1 to 3. Across 200 to 1,000+ screens that is a 10 to 15 times reduction — and the error rate drops below one percent because every entry is scripted, confirmed and 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an RPA platform play — no licenses, no fragile selectors. It is specialized for SAP's proprietary UI, and it produces reusable, auditable artifacts: recordings and portable packages.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applications run today against a live tenant — these are the actual desktop apps. A live end-to-end demo is available as a follow-up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execution, Diate is in planning: a recommendation engine that combines configuration tables with transactional usage data to propose what to migrate and what to retire — for example, material groups unused for years are excluded. CAMP5 and CAMP6 are the next expansion stages of the 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prototype is validated end to end. Next: a delivery pilot on a real project to measure the savings, then BTP deployment for multi-user scale across engagements. The ask today is a pilot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388505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BRIEFING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6179800" y="838200"/>
            <a:ext cx="1136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047750" y="3374231"/>
            <a:ext cx="1333500" cy="11430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869531"/>
            <a:ext cx="17811750" cy="193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750" b="1" spc="-4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CAMP4</a:t>
            </a:r>
            <a:endParaRPr lang="en-US" sz="15750" dirty="0"/>
          </a:p>
        </p:txBody>
      </p:sp>
      <p:sp>
        <p:nvSpPr>
          <p:cNvPr id="6" name="Text 4"/>
          <p:cNvSpPr/>
          <p:nvPr/>
        </p:nvSpPr>
        <p:spPr>
          <a:xfrm>
            <a:off x="1047750" y="6150769"/>
            <a:ext cx="178117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D7D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SAP Public Cloud Configuration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047750" y="8915400"/>
            <a:ext cx="16192500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9229725"/>
            <a:ext cx="33927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S/4HANA Public Cloud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752104" y="9229725"/>
            <a:ext cx="60369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· Production-grade architecture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9162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838200"/>
            <a:ext cx="408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304925"/>
            <a:ext cx="17811750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12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2331720"/>
            <a:ext cx="14519910" cy="949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S/4HANA Public Cloud implementation is configured by hand in SSCUIs — SAP's self-service configuration screens. Hundreds of tables, thousands of rows, typed field by field.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1047750" y="3433763"/>
            <a:ext cx="1781175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effort repeats for every project and scales only with headcount.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47750" y="7385685"/>
            <a:ext cx="50419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7700010"/>
            <a:ext cx="554609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200–1,000+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1047750" y="8652510"/>
            <a:ext cx="554609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SSCUI screens per implementation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6623050" y="7385685"/>
            <a:ext cx="50419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11" name="Text 9"/>
          <p:cNvSpPr/>
          <p:nvPr/>
        </p:nvSpPr>
        <p:spPr>
          <a:xfrm>
            <a:off x="6623050" y="7700010"/>
            <a:ext cx="554609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15–45 min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6623050" y="8652510"/>
            <a:ext cx="554609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effort per screen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2198350" y="7385685"/>
            <a:ext cx="50419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14" name="Text 12"/>
          <p:cNvSpPr/>
          <p:nvPr/>
        </p:nvSpPr>
        <p:spPr>
          <a:xfrm>
            <a:off x="12198350" y="7700010"/>
            <a:ext cx="554609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5–8%</a:t>
            </a:r>
            <a:endParaRPr lang="en-US" sz="6300" dirty="0"/>
          </a:p>
        </p:txBody>
      </p:sp>
      <p:sp>
        <p:nvSpPr>
          <p:cNvPr id="15" name="Text 13"/>
          <p:cNvSpPr/>
          <p:nvPr/>
        </p:nvSpPr>
        <p:spPr>
          <a:xfrm>
            <a:off x="12198350" y="8652510"/>
            <a:ext cx="519315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manual error rate — typos and row drift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47750" y="9715500"/>
            <a:ext cx="114300" cy="11430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7" name="Text 15"/>
          <p:cNvSpPr/>
          <p:nvPr/>
        </p:nvSpPr>
        <p:spPr>
          <a:xfrm>
            <a:off x="1314450" y="9639300"/>
            <a:ext cx="59264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CAMP4 · Automated SAP Public Cloud Configuration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9162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838200"/>
            <a:ext cx="408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304925"/>
            <a:ext cx="17811750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12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2331720"/>
            <a:ext cx="15506700" cy="493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products split the work: one delivers the data, one learns the configuration, one executes it.</a:t>
            </a:r>
            <a:endParaRPr lang="en-US" sz="2475" dirty="0"/>
          </a:p>
        </p:txBody>
      </p:sp>
      <p:sp>
        <p:nvSpPr>
          <p:cNvPr id="6" name="Shape 4"/>
          <p:cNvSpPr/>
          <p:nvPr/>
        </p:nvSpPr>
        <p:spPr>
          <a:xfrm>
            <a:off x="1047750" y="3320891"/>
            <a:ext cx="2088515" cy="266319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5875" y="3980021"/>
            <a:ext cx="17734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5875" y="4322921"/>
            <a:ext cx="177349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ECC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285875" y="4707731"/>
            <a:ext cx="1688465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on-premise, SM30 tables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31515" y="4442936"/>
            <a:ext cx="4381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3688715" y="3320891"/>
            <a:ext cx="2568575" cy="266319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2" name="Text 10"/>
          <p:cNvSpPr/>
          <p:nvPr/>
        </p:nvSpPr>
        <p:spPr>
          <a:xfrm>
            <a:off x="3917315" y="3815715"/>
            <a:ext cx="23225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17315" y="4158615"/>
            <a:ext cx="232251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x-Ray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3917315" y="4563428"/>
            <a:ext cx="2187575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ECC export + data quality analytics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2540" y="4442936"/>
            <a:ext cx="4381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6809740" y="3320891"/>
            <a:ext cx="2568575" cy="266319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7" name="Text 15"/>
          <p:cNvSpPr/>
          <p:nvPr/>
        </p:nvSpPr>
        <p:spPr>
          <a:xfrm>
            <a:off x="7038340" y="3805714"/>
            <a:ext cx="23225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38340" y="4148614"/>
            <a:ext cx="218757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Builder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038340" y="4882039"/>
            <a:ext cx="2187575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and maps the tenant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73565" y="4442936"/>
            <a:ext cx="4381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21" name="Shape 19"/>
          <p:cNvSpPr/>
          <p:nvPr/>
        </p:nvSpPr>
        <p:spPr>
          <a:xfrm>
            <a:off x="9930765" y="3320891"/>
            <a:ext cx="1547495" cy="2663190"/>
          </a:xfrm>
          <a:prstGeom prst="rect">
            <a:avLst/>
          </a:prstGeom>
          <a:ln w="19050">
            <a:solidFill>
              <a:srgbClr val="26890D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0159365" y="3549491"/>
            <a:ext cx="11664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HAND-OFF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59365" y="4159091"/>
            <a:ext cx="1166495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package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159365" y="4829651"/>
            <a:ext cx="1166495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· Excel · recordings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573510" y="4442936"/>
            <a:ext cx="4381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26" name="Shape 24"/>
          <p:cNvSpPr/>
          <p:nvPr/>
        </p:nvSpPr>
        <p:spPr>
          <a:xfrm>
            <a:off x="12030710" y="3320891"/>
            <a:ext cx="2568575" cy="266319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7" name="Text 25"/>
          <p:cNvSpPr/>
          <p:nvPr/>
        </p:nvSpPr>
        <p:spPr>
          <a:xfrm>
            <a:off x="12259310" y="3970020"/>
            <a:ext cx="23225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259310" y="4312920"/>
            <a:ext cx="232251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Bot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2259310" y="4717732"/>
            <a:ext cx="2187575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the configuration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694536" y="4442936"/>
            <a:ext cx="4381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31" name="Shape 29"/>
          <p:cNvSpPr/>
          <p:nvPr/>
        </p:nvSpPr>
        <p:spPr>
          <a:xfrm>
            <a:off x="15151736" y="3320891"/>
            <a:ext cx="2088515" cy="266319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89861" y="3825716"/>
            <a:ext cx="17734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389861" y="4168616"/>
            <a:ext cx="1688465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S/4HANA Cloud</a:t>
            </a:r>
            <a:endParaRPr lang="en-US" sz="2025" dirty="0"/>
          </a:p>
        </p:txBody>
      </p:sp>
      <p:sp>
        <p:nvSpPr>
          <p:cNvPr id="34" name="Text 32"/>
          <p:cNvSpPr/>
          <p:nvPr/>
        </p:nvSpPr>
        <p:spPr>
          <a:xfrm>
            <a:off x="15389861" y="4862036"/>
            <a:ext cx="1688465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tenant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47750" y="7471410"/>
            <a:ext cx="55460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D42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x-Ray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047750" y="7880985"/>
            <a:ext cx="5193157" cy="152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Mass-exports the existing ECC configuration tables and applies analytics to assess data quality — the data feed for the pipeline.</a:t>
            </a:r>
            <a:endParaRPr lang="en-US" sz="2025" dirty="0"/>
          </a:p>
        </p:txBody>
      </p:sp>
      <p:sp>
        <p:nvSpPr>
          <p:cNvPr id="37" name="Text 35"/>
          <p:cNvSpPr/>
          <p:nvPr/>
        </p:nvSpPr>
        <p:spPr>
          <a:xfrm>
            <a:off x="6623050" y="7471410"/>
            <a:ext cx="55460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D42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Knowledge Builder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6623050" y="7880985"/>
            <a:ext cx="5193157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Crawls every SSCUI, reads structure and complexity with AI vision, and maps the ECC values onto the cloud fields.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12198350" y="7471410"/>
            <a:ext cx="55460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D42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Config Bot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2198350" y="7880985"/>
            <a:ext cx="5193157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the package and performs the configuration in the live tenant — logging every step.</a:t>
            </a:r>
            <a:endParaRPr lang="en-US" sz="2025" dirty="0"/>
          </a:p>
        </p:txBody>
      </p:sp>
      <p:sp>
        <p:nvSpPr>
          <p:cNvPr id="41" name="Shape 39"/>
          <p:cNvSpPr/>
          <p:nvPr/>
        </p:nvSpPr>
        <p:spPr>
          <a:xfrm>
            <a:off x="1047750" y="9715500"/>
            <a:ext cx="114300" cy="11430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42" name="Text 40"/>
          <p:cNvSpPr/>
          <p:nvPr/>
        </p:nvSpPr>
        <p:spPr>
          <a:xfrm>
            <a:off x="1314450" y="9639300"/>
            <a:ext cx="59264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CAMP4 · Automated SAP Public Cloud Configuration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9162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838200"/>
            <a:ext cx="408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304925"/>
            <a:ext cx="17811750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12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Builder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2331720"/>
            <a:ext cx="14519910" cy="949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two crawls, analyzes and structures a tenant's entire configuration knowledge — automatically.</a:t>
            </a:r>
            <a:endParaRPr lang="en-US" sz="2475" dirty="0"/>
          </a:p>
        </p:txBody>
      </p:sp>
      <p:sp>
        <p:nvSpPr>
          <p:cNvPr id="6" name="Shape 4"/>
          <p:cNvSpPr/>
          <p:nvPr/>
        </p:nvSpPr>
        <p:spPr>
          <a:xfrm>
            <a:off x="1047750" y="3776662"/>
            <a:ext cx="4864100" cy="2925128"/>
          </a:xfrm>
          <a:prstGeom prst="rect">
            <a:avLst/>
          </a:prstGeom>
          <a:solidFill>
            <a:srgbClr val="FAFBFA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0175" y="4129088"/>
            <a:ext cx="457200" cy="457200"/>
          </a:xfrm>
          <a:prstGeom prst="ellipse">
            <a:avLst/>
          </a:prstGeom>
          <a:solidFill>
            <a:srgbClr val="26890D"/>
          </a:solidFill>
          <a:ln/>
        </p:spPr>
      </p:sp>
      <p:sp>
        <p:nvSpPr>
          <p:cNvPr id="8" name="Text 6"/>
          <p:cNvSpPr/>
          <p:nvPr/>
        </p:nvSpPr>
        <p:spPr>
          <a:xfrm>
            <a:off x="1362075" y="412908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00175" y="4738688"/>
            <a:ext cx="45751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CBC Crawler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00175" y="5272088"/>
            <a:ext cx="4284028" cy="1115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Inventories every SSCUI in the Configuration Business Catalog — numbers, names, direct URLs.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102350" y="4996339"/>
            <a:ext cx="4953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6711950" y="3776662"/>
            <a:ext cx="4864100" cy="2925128"/>
          </a:xfrm>
          <a:prstGeom prst="rect">
            <a:avLst/>
          </a:prstGeom>
          <a:solidFill>
            <a:srgbClr val="FAFBFA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64375" y="4129088"/>
            <a:ext cx="457200" cy="457200"/>
          </a:xfrm>
          <a:prstGeom prst="ellipse">
            <a:avLst/>
          </a:prstGeom>
          <a:solidFill>
            <a:srgbClr val="26890D"/>
          </a:solidFill>
          <a:ln/>
        </p:spPr>
      </p:sp>
      <p:sp>
        <p:nvSpPr>
          <p:cNvPr id="14" name="Text 12"/>
          <p:cNvSpPr/>
          <p:nvPr/>
        </p:nvSpPr>
        <p:spPr>
          <a:xfrm>
            <a:off x="7026275" y="412908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064375" y="4738688"/>
            <a:ext cx="45751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Crawler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7064375" y="5272088"/>
            <a:ext cx="4284027" cy="1115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each screen; Claude Vision reads field structure, tab order and complexity level.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766550" y="4996339"/>
            <a:ext cx="4953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12376150" y="3776662"/>
            <a:ext cx="4864100" cy="2925128"/>
          </a:xfrm>
          <a:prstGeom prst="rect">
            <a:avLst/>
          </a:prstGeom>
          <a:solidFill>
            <a:srgbClr val="FAFBFA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728575" y="4129088"/>
            <a:ext cx="457200" cy="457200"/>
          </a:xfrm>
          <a:prstGeom prst="ellipse">
            <a:avLst/>
          </a:prstGeom>
          <a:solidFill>
            <a:srgbClr val="26890D"/>
          </a:solidFill>
          <a:ln/>
        </p:spPr>
      </p:sp>
      <p:sp>
        <p:nvSpPr>
          <p:cNvPr id="20" name="Text 18"/>
          <p:cNvSpPr/>
          <p:nvPr/>
        </p:nvSpPr>
        <p:spPr>
          <a:xfrm>
            <a:off x="12690475" y="412908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728575" y="4738688"/>
            <a:ext cx="45751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ECC Mapper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2728575" y="5272088"/>
            <a:ext cx="4284028" cy="1115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the existing on-premise configuration values onto the S/4HANA Cloud fields.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47750" y="7068502"/>
            <a:ext cx="33713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Complexity, classified by AI: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417377" y="7044690"/>
            <a:ext cx="482917" cy="342900"/>
          </a:xfrm>
          <a:prstGeom prst="rect">
            <a:avLst/>
          </a:prstGeom>
          <a:solidFill>
            <a:srgbClr val="E2EFDF"/>
          </a:solidFill>
          <a:ln/>
        </p:spPr>
      </p:sp>
      <p:sp>
        <p:nvSpPr>
          <p:cNvPr id="25" name="Text 23"/>
          <p:cNvSpPr/>
          <p:nvPr/>
        </p:nvSpPr>
        <p:spPr>
          <a:xfrm>
            <a:off x="4531677" y="7082790"/>
            <a:ext cx="3026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3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14595" y="7068502"/>
            <a:ext cx="13327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table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6530975" y="7044690"/>
            <a:ext cx="482917" cy="342900"/>
          </a:xfrm>
          <a:prstGeom prst="rect">
            <a:avLst/>
          </a:prstGeom>
          <a:solidFill>
            <a:srgbClr val="E2EFDF"/>
          </a:solidFill>
          <a:ln/>
        </p:spPr>
      </p:sp>
      <p:sp>
        <p:nvSpPr>
          <p:cNvPr id="28" name="Text 26"/>
          <p:cNvSpPr/>
          <p:nvPr/>
        </p:nvSpPr>
        <p:spPr>
          <a:xfrm>
            <a:off x="6645275" y="7082790"/>
            <a:ext cx="3026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3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28193" y="7068502"/>
            <a:ext cx="54076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 navigation — recorded once, replayed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2349004" y="7044690"/>
            <a:ext cx="482917" cy="342900"/>
          </a:xfrm>
          <a:prstGeom prst="rect">
            <a:avLst/>
          </a:prstGeom>
          <a:solidFill>
            <a:srgbClr val="E2EFDF"/>
          </a:solidFill>
          <a:ln/>
        </p:spPr>
      </p:sp>
      <p:sp>
        <p:nvSpPr>
          <p:cNvPr id="31" name="Text 29"/>
          <p:cNvSpPr/>
          <p:nvPr/>
        </p:nvSpPr>
        <p:spPr>
          <a:xfrm>
            <a:off x="12463304" y="7082790"/>
            <a:ext cx="3026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3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946221" y="7068502"/>
            <a:ext cx="20438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wizard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047750" y="8390096"/>
            <a:ext cx="16192500" cy="982504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4" name="Text 32"/>
          <p:cNvSpPr/>
          <p:nvPr/>
        </p:nvSpPr>
        <p:spPr>
          <a:xfrm>
            <a:off x="1466850" y="8747919"/>
            <a:ext cx="1187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844800" y="8694896"/>
            <a:ext cx="14205045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portable export package — metadata, Excel mappings and recorded navigation for complex screens.</a:t>
            </a:r>
            <a:endParaRPr lang="en-US" sz="2175" dirty="0"/>
          </a:p>
        </p:txBody>
      </p:sp>
      <p:sp>
        <p:nvSpPr>
          <p:cNvPr id="36" name="Shape 34"/>
          <p:cNvSpPr/>
          <p:nvPr/>
        </p:nvSpPr>
        <p:spPr>
          <a:xfrm>
            <a:off x="1047750" y="9715500"/>
            <a:ext cx="114300" cy="11430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7" name="Text 35"/>
          <p:cNvSpPr/>
          <p:nvPr/>
        </p:nvSpPr>
        <p:spPr>
          <a:xfrm>
            <a:off x="1314450" y="9639300"/>
            <a:ext cx="59264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CAMP4 · Automated SAP Public Cloud Configuration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9162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838200"/>
            <a:ext cx="408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304925"/>
            <a:ext cx="17811750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12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Bot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2331720"/>
            <a:ext cx="14519910" cy="949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three loads the export package and performs the configuration in the live tenant — choosing the right mode per screen.</a:t>
            </a:r>
            <a:endParaRPr lang="en-US" sz="2475" dirty="0"/>
          </a:p>
        </p:txBody>
      </p:sp>
      <p:sp>
        <p:nvSpPr>
          <p:cNvPr id="6" name="Shape 4"/>
          <p:cNvSpPr/>
          <p:nvPr/>
        </p:nvSpPr>
        <p:spPr>
          <a:xfrm>
            <a:off x="1047750" y="3776662"/>
            <a:ext cx="5118100" cy="3344228"/>
          </a:xfrm>
          <a:prstGeom prst="rect">
            <a:avLst/>
          </a:prstGeom>
          <a:solidFill>
            <a:srgbClr val="FAFBFA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0175" y="4129088"/>
            <a:ext cx="457200" cy="457200"/>
          </a:xfrm>
          <a:prstGeom prst="ellipse">
            <a:avLst/>
          </a:prstGeom>
          <a:ln w="28575">
            <a:solidFill>
              <a:srgbClr val="26890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0650" y="41576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42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00175" y="4738688"/>
            <a:ext cx="48545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Navigation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00175" y="5272088"/>
            <a:ext cx="4545647" cy="1115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values straight into tables via keyboard navigation — fast and deterministic.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00175" y="6501765"/>
            <a:ext cx="48545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3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L1 · direct tables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4950" y="3776662"/>
            <a:ext cx="5118100" cy="3344228"/>
          </a:xfrm>
          <a:prstGeom prst="rect">
            <a:avLst/>
          </a:prstGeom>
          <a:solidFill>
            <a:srgbClr val="FAFBFA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37375" y="4129088"/>
            <a:ext cx="457200" cy="457200"/>
          </a:xfrm>
          <a:prstGeom prst="ellipse">
            <a:avLst/>
          </a:prstGeom>
          <a:ln w="28575">
            <a:solidFill>
              <a:srgbClr val="26890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7850" y="41576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42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37375" y="4738688"/>
            <a:ext cx="48545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Mode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937375" y="5272088"/>
            <a:ext cx="4545648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Replays the recorded navigation path from the library, then enters the data.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937375" y="6501765"/>
            <a:ext cx="48545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3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L2–L3 · dialogs and wizards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122150" y="3776662"/>
            <a:ext cx="5118100" cy="3344228"/>
          </a:xfrm>
          <a:prstGeom prst="rect">
            <a:avLst/>
          </a:prstGeom>
          <a:solidFill>
            <a:srgbClr val="FAFBFA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74575" y="4129088"/>
            <a:ext cx="457200" cy="457200"/>
          </a:xfrm>
          <a:prstGeom prst="ellipse">
            <a:avLst/>
          </a:prstGeom>
          <a:ln w="28575">
            <a:solidFill>
              <a:srgbClr val="26890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65050" y="41576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42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74575" y="4738688"/>
            <a:ext cx="48545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Mode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2474575" y="5272088"/>
            <a:ext cx="4545647" cy="1115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Vision reads the screen and locates fields and checkboxes dynamically.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474575" y="6501765"/>
            <a:ext cx="48545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3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complex forms · fallback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7750" y="8477250"/>
            <a:ext cx="16192500" cy="895350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25" name="Text 23"/>
          <p:cNvSpPr/>
          <p:nvPr/>
        </p:nvSpPr>
        <p:spPr>
          <a:xfrm>
            <a:off x="1466850" y="8791575"/>
            <a:ext cx="31189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0B3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 THE LOOP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21384" y="8777288"/>
            <a:ext cx="16041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login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6389211" y="8763000"/>
            <a:ext cx="361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6884511" y="8777288"/>
            <a:ext cx="26577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execution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9510236" y="8763000"/>
            <a:ext cx="361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0005536" y="8777288"/>
            <a:ext cx="43858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Row-by-row confirmation (optional)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4202252" y="8763000"/>
            <a:ext cx="361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4697552" y="8777288"/>
            <a:ext cx="16823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1047750" y="9715500"/>
            <a:ext cx="114300" cy="11430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4" name="Text 32"/>
          <p:cNvSpPr/>
          <p:nvPr/>
        </p:nvSpPr>
        <p:spPr>
          <a:xfrm>
            <a:off x="1314450" y="9639300"/>
            <a:ext cx="59264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CAMP4 · Automated SAP Public Cloud Configuration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9162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838200"/>
            <a:ext cx="408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7A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304925"/>
            <a:ext cx="17811750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the Pipeline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2331720"/>
            <a:ext cx="15506700" cy="493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models read SAP's screens the way a consultant does — no brittle UI selectors to maintain.</a:t>
            </a:r>
            <a:endParaRPr lang="en-US" sz="2475" dirty="0"/>
          </a:p>
        </p:txBody>
      </p:sp>
      <p:sp>
        <p:nvSpPr>
          <p:cNvPr id="6" name="Shape 4"/>
          <p:cNvSpPr/>
          <p:nvPr/>
        </p:nvSpPr>
        <p:spPr>
          <a:xfrm>
            <a:off x="1047750" y="3835241"/>
            <a:ext cx="16192500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3397091"/>
            <a:ext cx="60559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7A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53200" y="3397091"/>
            <a:ext cx="42748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7A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39400" y="3397091"/>
            <a:ext cx="74809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7A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4776311"/>
            <a:ext cx="16192500" cy="9525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134326"/>
            <a:ext cx="60559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 classification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6553200" y="4153376"/>
            <a:ext cx="42748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0439400" y="4130516"/>
            <a:ext cx="748093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A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low-cost triage of every screen into L1–L3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047750" y="6077426"/>
            <a:ext cx="16192500" cy="9525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5255419"/>
            <a:ext cx="60559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recognition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6553200" y="5274469"/>
            <a:ext cx="42748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0439400" y="5071586"/>
            <a:ext cx="70048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A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a screenshot into a structured map of fields and checkboxes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047750" y="7018496"/>
            <a:ext cx="16192500" cy="9525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6376511"/>
            <a:ext cx="60559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recovery</a:t>
            </a:r>
            <a:endParaRPr lang="en-US" sz="2325" dirty="0"/>
          </a:p>
        </p:txBody>
      </p:sp>
      <p:sp>
        <p:nvSpPr>
          <p:cNvPr id="20" name="Text 18"/>
          <p:cNvSpPr/>
          <p:nvPr/>
        </p:nvSpPr>
        <p:spPr>
          <a:xfrm>
            <a:off x="6553200" y="6395561"/>
            <a:ext cx="42748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10439400" y="6372701"/>
            <a:ext cx="748093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A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Re-finds targets visually when screen coordinates drift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1047750" y="8319611"/>
            <a:ext cx="16192500" cy="9525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7497604"/>
            <a:ext cx="60559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ECC field mapping</a:t>
            </a:r>
            <a:endParaRPr lang="en-US" sz="2325" dirty="0"/>
          </a:p>
        </p:txBody>
      </p:sp>
      <p:sp>
        <p:nvSpPr>
          <p:cNvPr id="24" name="Text 22"/>
          <p:cNvSpPr/>
          <p:nvPr/>
        </p:nvSpPr>
        <p:spPr>
          <a:xfrm>
            <a:off x="6553200" y="7516654"/>
            <a:ext cx="42748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10439400" y="7313771"/>
            <a:ext cx="70048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A9A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non-obvious field renames between ECC and Cloud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1047750" y="8672036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A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choice per task keeps AI cost proportional to difficulty.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047750" y="9715500"/>
            <a:ext cx="114300" cy="11430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28" name="Text 26"/>
          <p:cNvSpPr/>
          <p:nvPr/>
        </p:nvSpPr>
        <p:spPr>
          <a:xfrm>
            <a:off x="1314450" y="9639300"/>
            <a:ext cx="59264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CAMP4 · Automated SAP Public Cloud Configuration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9162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838200"/>
            <a:ext cx="408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304925"/>
            <a:ext cx="17811750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12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3355657"/>
            <a:ext cx="7837170" cy="2009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250" b="1" spc="-6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10–15×</a:t>
            </a:r>
            <a:endParaRPr lang="en-US" sz="17250" dirty="0"/>
          </a:p>
        </p:txBody>
      </p:sp>
      <p:sp>
        <p:nvSpPr>
          <p:cNvPr id="6" name="Text 4"/>
          <p:cNvSpPr/>
          <p:nvPr/>
        </p:nvSpPr>
        <p:spPr>
          <a:xfrm>
            <a:off x="1047750" y="5555932"/>
            <a:ext cx="78371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than manual configuration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029700" y="2731770"/>
            <a:ext cx="90316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PER SCREEN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029700" y="3355657"/>
            <a:ext cx="17010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766584" y="3265170"/>
            <a:ext cx="5094129" cy="4762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0" name="Text 8"/>
          <p:cNvSpPr/>
          <p:nvPr/>
        </p:nvSpPr>
        <p:spPr>
          <a:xfrm>
            <a:off x="16051212" y="3198495"/>
            <a:ext cx="126523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15–45 min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029700" y="4070032"/>
            <a:ext cx="17811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839450" y="3979545"/>
            <a:ext cx="457200" cy="4762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3" name="Text 11"/>
          <p:cNvSpPr/>
          <p:nvPr/>
        </p:nvSpPr>
        <p:spPr>
          <a:xfrm>
            <a:off x="11487150" y="4065270"/>
            <a:ext cx="10247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min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029700" y="4951095"/>
            <a:ext cx="90316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029700" y="5508307"/>
            <a:ext cx="17811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839450" y="5417820"/>
            <a:ext cx="5334000" cy="4762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7" name="Text 15"/>
          <p:cNvSpPr/>
          <p:nvPr/>
        </p:nvSpPr>
        <p:spPr>
          <a:xfrm>
            <a:off x="16363950" y="5503545"/>
            <a:ext cx="7581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5–8%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029700" y="6156007"/>
            <a:ext cx="17811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839450" y="6065520"/>
            <a:ext cx="666750" cy="4762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20" name="Text 18"/>
          <p:cNvSpPr/>
          <p:nvPr/>
        </p:nvSpPr>
        <p:spPr>
          <a:xfrm>
            <a:off x="11696700" y="6151245"/>
            <a:ext cx="6915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1%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47750" y="8959215"/>
            <a:ext cx="1781175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3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200–1,000+ screens per implementation, </a:t>
            </a:r>
            <a:pPr algn="l" indent="0" marL="0">
              <a:lnSpc>
                <a:spcPct val="140000"/>
              </a:lnSpc>
              <a:buNone/>
            </a:pPr>
            <a:r>
              <a:rPr lang="en-US" sz="23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consultant time become days.</a:t>
            </a:r>
            <a:endParaRPr lang="en-US" sz="2325" dirty="0"/>
          </a:p>
        </p:txBody>
      </p:sp>
      <p:sp>
        <p:nvSpPr>
          <p:cNvPr id="22" name="Shape 20"/>
          <p:cNvSpPr/>
          <p:nvPr/>
        </p:nvSpPr>
        <p:spPr>
          <a:xfrm>
            <a:off x="1047750" y="9715500"/>
            <a:ext cx="114300" cy="11430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23" name="Text 21"/>
          <p:cNvSpPr/>
          <p:nvPr/>
        </p:nvSpPr>
        <p:spPr>
          <a:xfrm>
            <a:off x="1314450" y="9639300"/>
            <a:ext cx="59264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CAMP4 · Automated SAP Public Cloud Configuration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9162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838200"/>
            <a:ext cx="408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304925"/>
            <a:ext cx="17811750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12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2788920"/>
            <a:ext cx="54343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D42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3198495"/>
            <a:ext cx="54343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RPA platform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1047750" y="3684270"/>
            <a:ext cx="5088509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Python stack — no UiPath or Blue Prism licenses and infrastructure.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673850" y="2788920"/>
            <a:ext cx="54343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D42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673850" y="3198495"/>
            <a:ext cx="54343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en-US" sz="2475" dirty="0"/>
          </a:p>
        </p:txBody>
      </p:sp>
      <p:sp>
        <p:nvSpPr>
          <p:cNvPr id="10" name="Text 8"/>
          <p:cNvSpPr/>
          <p:nvPr/>
        </p:nvSpPr>
        <p:spPr>
          <a:xfrm>
            <a:off x="6673850" y="3684270"/>
            <a:ext cx="5088509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analysis instead of fragile CSS selectors — adapts when SAP changes its UI.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299950" y="2788920"/>
            <a:ext cx="54343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D42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299950" y="3198495"/>
            <a:ext cx="54343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SAP's DOM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12299950" y="3684270"/>
            <a:ext cx="5088509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Web Dynpro's proprietary markup, where generic tools fail.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" y="5409248"/>
            <a:ext cx="54343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D42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47750" y="5818823"/>
            <a:ext cx="54343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recordings</a:t>
            </a:r>
            <a:endParaRPr lang="en-US" sz="2475" dirty="0"/>
          </a:p>
        </p:txBody>
      </p:sp>
      <p:sp>
        <p:nvSpPr>
          <p:cNvPr id="16" name="Text 14"/>
          <p:cNvSpPr/>
          <p:nvPr/>
        </p:nvSpPr>
        <p:spPr>
          <a:xfrm>
            <a:off x="1047750" y="6304598"/>
            <a:ext cx="5088509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captured once is replayed across projects and tenants.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673850" y="5409248"/>
            <a:ext cx="54343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D42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673850" y="5818823"/>
            <a:ext cx="54343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packages</a:t>
            </a:r>
            <a:endParaRPr lang="en-US" sz="2475" dirty="0"/>
          </a:p>
        </p:txBody>
      </p:sp>
      <p:sp>
        <p:nvSpPr>
          <p:cNvPr id="19" name="Text 17"/>
          <p:cNvSpPr/>
          <p:nvPr/>
        </p:nvSpPr>
        <p:spPr>
          <a:xfrm>
            <a:off x="6673850" y="6304598"/>
            <a:ext cx="5088509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knowledge becomes a transportable, system-independent artifact.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299950" y="5409248"/>
            <a:ext cx="54343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D42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299950" y="5818823"/>
            <a:ext cx="54343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and control</a:t>
            </a:r>
            <a:endParaRPr lang="en-US" sz="2475" dirty="0"/>
          </a:p>
        </p:txBody>
      </p:sp>
      <p:sp>
        <p:nvSpPr>
          <p:cNvPr id="22" name="Text 20"/>
          <p:cNvSpPr/>
          <p:nvPr/>
        </p:nvSpPr>
        <p:spPr>
          <a:xfrm>
            <a:off x="12299950" y="6304598"/>
            <a:ext cx="5088509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logged; the operator keeps login, confirmation and save.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9715500"/>
            <a:ext cx="114300" cy="11430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24" name="Text 22"/>
          <p:cNvSpPr/>
          <p:nvPr/>
        </p:nvSpPr>
        <p:spPr>
          <a:xfrm>
            <a:off x="1314450" y="9639300"/>
            <a:ext cx="59264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CAMP4 · Automated SAP Public Cloud Configuration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9162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838200"/>
            <a:ext cx="408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304925"/>
            <a:ext cx="17811750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12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Preview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2522220"/>
            <a:ext cx="7848600" cy="497205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7684770"/>
            <a:ext cx="86125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Builder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47750" y="8046720"/>
            <a:ext cx="86125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control, recording library, export manager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410700" y="2522220"/>
            <a:ext cx="7848600" cy="497205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0700" y="7684770"/>
            <a:ext cx="86125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Bot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410700" y="8046720"/>
            <a:ext cx="86125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progress, live log, row-by-row confirmation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047750" y="9153525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2" name="Text 10"/>
          <p:cNvSpPr/>
          <p:nvPr/>
        </p:nvSpPr>
        <p:spPr>
          <a:xfrm>
            <a:off x="1352550" y="9067800"/>
            <a:ext cx="76463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end-to-end demo is available for a follow-up session.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47750" y="9715500"/>
            <a:ext cx="114300" cy="11430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4" name="Text 12"/>
          <p:cNvSpPr/>
          <p:nvPr/>
        </p:nvSpPr>
        <p:spPr>
          <a:xfrm>
            <a:off x="1314450" y="9639300"/>
            <a:ext cx="59264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CAMP4 · Automated SAP Public Cloud Configuration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9162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838200"/>
            <a:ext cx="408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304925"/>
            <a:ext cx="17811750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12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2331720"/>
            <a:ext cx="15506700" cy="493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suite keeps growing — the next stage is already in planning.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1047750" y="3397091"/>
            <a:ext cx="10990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Diate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2299176" y="3463766"/>
            <a:ext cx="1975009" cy="381000"/>
          </a:xfrm>
          <a:prstGeom prst="rect">
            <a:avLst/>
          </a:prstGeom>
          <a:solidFill>
            <a:srgbClr val="E2EFDF"/>
          </a:solidFill>
          <a:ln/>
        </p:spPr>
      </p:sp>
      <p:sp>
        <p:nvSpPr>
          <p:cNvPr id="8" name="Text 6"/>
          <p:cNvSpPr/>
          <p:nvPr/>
        </p:nvSpPr>
        <p:spPr>
          <a:xfrm>
            <a:off x="2451576" y="3520916"/>
            <a:ext cx="17464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0B3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PLANNING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4178141"/>
            <a:ext cx="1451991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recommendation engine for the target configuration: Diate analyzes the ECC configuration tables together with transactional usage data and proposes which settings to carry over — and which to retire.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047750" y="5273516"/>
            <a:ext cx="14097000" cy="868204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11" name="Text 9"/>
          <p:cNvSpPr/>
          <p:nvPr/>
        </p:nvSpPr>
        <p:spPr>
          <a:xfrm>
            <a:off x="1352550" y="5578951"/>
            <a:ext cx="1334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56059" y="5521166"/>
            <a:ext cx="11651504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groups with no usage in recent years are excluded from the new cloud configuration.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047750" y="8610600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9072563"/>
            <a:ext cx="2370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TO COME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69323" y="8963025"/>
            <a:ext cx="125761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CAMP5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4917440" y="8963025"/>
            <a:ext cx="1903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298281" y="8963025"/>
            <a:ext cx="125761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CAMP6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746399" y="9053513"/>
            <a:ext cx="56454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expansion stages of the CAMP suite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047750" y="9715500"/>
            <a:ext cx="114300" cy="11430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20" name="Text 18"/>
          <p:cNvSpPr/>
          <p:nvPr/>
        </p:nvSpPr>
        <p:spPr>
          <a:xfrm>
            <a:off x="1314450" y="9639300"/>
            <a:ext cx="59264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CAMP4 · Automated SAP Public Cloud Configuration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9162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838200"/>
            <a:ext cx="408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304925"/>
            <a:ext cx="17811750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12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2922270"/>
            <a:ext cx="190500" cy="190500"/>
          </a:xfrm>
          <a:prstGeom prst="ellipse">
            <a:avLst/>
          </a:prstGeom>
          <a:solidFill>
            <a:srgbClr val="26890D"/>
          </a:solidFill>
          <a:ln/>
        </p:spPr>
      </p:sp>
      <p:sp>
        <p:nvSpPr>
          <p:cNvPr id="6" name="Shape 4"/>
          <p:cNvSpPr/>
          <p:nvPr/>
        </p:nvSpPr>
        <p:spPr>
          <a:xfrm>
            <a:off x="1238250" y="3007995"/>
            <a:ext cx="4800600" cy="19050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3379470"/>
            <a:ext cx="54902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B3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47750" y="3789045"/>
            <a:ext cx="549021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</a:t>
            </a:r>
            <a:endParaRPr lang="en-US" sz="2775" dirty="0"/>
          </a:p>
        </p:txBody>
      </p:sp>
      <p:sp>
        <p:nvSpPr>
          <p:cNvPr id="9" name="Text 7"/>
          <p:cNvSpPr/>
          <p:nvPr/>
        </p:nvSpPr>
        <p:spPr>
          <a:xfrm>
            <a:off x="1047750" y="4331970"/>
            <a:ext cx="5140833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flow validated against a live S/4HANA Public Cloud tenant.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6648450" y="2922270"/>
            <a:ext cx="190500" cy="190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6890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38950" y="3007995"/>
            <a:ext cx="4800600" cy="19050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12" name="Text 10"/>
          <p:cNvSpPr/>
          <p:nvPr/>
        </p:nvSpPr>
        <p:spPr>
          <a:xfrm>
            <a:off x="6648450" y="3379470"/>
            <a:ext cx="54902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B3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648450" y="3789045"/>
            <a:ext cx="549021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pilot</a:t>
            </a:r>
            <a:endParaRPr lang="en-US" sz="2775" dirty="0"/>
          </a:p>
        </p:txBody>
      </p:sp>
      <p:sp>
        <p:nvSpPr>
          <p:cNvPr id="14" name="Text 12"/>
          <p:cNvSpPr/>
          <p:nvPr/>
        </p:nvSpPr>
        <p:spPr>
          <a:xfrm>
            <a:off x="6648450" y="4331970"/>
            <a:ext cx="5140833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one real implementation side-by-side with a delivery team; measure the savings.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2249150" y="2922270"/>
            <a:ext cx="190500" cy="190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689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49150" y="3379470"/>
            <a:ext cx="54902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B3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249150" y="3789045"/>
            <a:ext cx="549021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and scale</a:t>
            </a:r>
            <a:endParaRPr lang="en-US" sz="2775" dirty="0"/>
          </a:p>
        </p:txBody>
      </p:sp>
      <p:sp>
        <p:nvSpPr>
          <p:cNvPr id="18" name="Text 16"/>
          <p:cNvSpPr/>
          <p:nvPr/>
        </p:nvSpPr>
        <p:spPr>
          <a:xfrm>
            <a:off x="12249150" y="4331970"/>
            <a:ext cx="5140833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SAP BTP — REST API, multi-user, XSUAA auth — and roll out across engagements.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047750" y="9120188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20" name="Text 18"/>
          <p:cNvSpPr/>
          <p:nvPr/>
        </p:nvSpPr>
        <p:spPr>
          <a:xfrm>
            <a:off x="1352550" y="9001125"/>
            <a:ext cx="620774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next step: a pilot engagement.</a:t>
            </a:r>
            <a:endParaRPr lang="en-US" sz="2475" dirty="0"/>
          </a:p>
        </p:txBody>
      </p:sp>
      <p:sp>
        <p:nvSpPr>
          <p:cNvPr id="21" name="Shape 19"/>
          <p:cNvSpPr/>
          <p:nvPr/>
        </p:nvSpPr>
        <p:spPr>
          <a:xfrm>
            <a:off x="1047750" y="9715500"/>
            <a:ext cx="114300" cy="11430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22" name="Text 20"/>
          <p:cNvSpPr/>
          <p:nvPr/>
        </p:nvSpPr>
        <p:spPr>
          <a:xfrm>
            <a:off x="1314450" y="9639300"/>
            <a:ext cx="59264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CAMP4 · Automated SAP Public Cloud Configuration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2026-07-06T13:28:04Z</dcterms:created>
  <dcterms:modified xsi:type="dcterms:W3CDTF">2026-07-06T13:28:04Z</dcterms:modified>
</cp:coreProperties>
</file>
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Kernbotschaft: Wir arbeiten heute gemeinsam an der Strategie für den agentischen Betrieb von Finance &amp; Treasury – Arbeitsstand, keine fertige Lösung. • Talking Points: Vorstellung Referent; Status des Papiers (v3, Arbeitsentwurf zur Abstimmung); heute ist eine Arbeitssitzung, keine Vortragsreihe. • Zeit: 1 Min • Überleitung: Was wollen wir heute konkret erreichen? • Quelle: MD Kopf/Deckblatt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Kernbotschaft: Der Workshop soll drei Entscheidungen vorbereiten – nicht Wissen vermitteln. • Talking Points: Papier liegt als v3 vor, die meisten Strukturfragen sind geklärt; heute geht es um Bestätigung der Prioritäten, Bewertung der Buchungskreis-Fabrik und konkrete nächste Schritte; Erwartungen der Teilnehmenden gleich auf der nächsten Folie abholen. • Zeit: 3 Min • Überleitung: Damit wir das schaffen, haben wir die zwei Stunden fest getaktet. • Quelle: MD Kap. 0, 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Kernbotschaft: Zwei Stunden, drei Arbeitsblöcke, drei Interaktionspunkte – fest getaktet, damit Diskussion Raum hat. • Talking Points: Pause fest um die Mitte; Gastblock BTP nach der Pause (Variante ohne Gast im Backup: 20 Min gehen in längere Diskussion der Leitfragen Folie 17 und in die Priorisierung Folie 27, dazu Backup-Steckbriefe A-1/B-8); Parkplatz läuft mit. • Zeit: 2 Min • Überleitung: Bevor wir starten – was muss aus Ihrer Sicht heute geklärt sein? • Quelle: Auftrag/Dramaturgie; MD Kap. 9. FALLBACK OHNE GAST: Agenda-Variante B liegt im Backup (Folie 31).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Kernbotschaft: Ihre Erwartungen steuern, wo wir heute die Diskussionszeit investieren. • Talking Points: Kurze Runde, Stichworte live in die freie Fläche schreiben; alles, was nicht in die Agenda passt, wandert sichtbar auf den Parkplatz (Folie 28). • Zeit: 4 Min • Frage an die Teilnehmenden: Was muss heute geklärt sein, damit sich die zwei Stunden für Sie gelohnt haben? • Überleitung: Dann schauen wir zuerst auf die Ausgangslage. • Quelle: Auftrag/Dramaturgie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Kernbotschaft: Block 1 – wir schauen zuerst nüchtern auf das, was ist. • Talking Points: Alle Zahlen stammen aus Ihren eigenen Quellen (Config-Export, Scope-Liste, Runbook); Faktenbasis ist seit v2/v3 belegt statt geschätzt. • Zeit: unter 1 Min • Überleitung: Die eine Zahl, die alles rahmt: 7 zu 101. • Quelle: MD Kap. 1–2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Kernbotschaft: ~7 Personen betreiben Finance &amp; Treasury für 101 Gesellschaften – dieses Verhältnis ist der Kern der ganzen Geschichte. • Talking Points: 101 produktive Buchungskreise belegt aus Config-Export (88 DE, 13 Ausland in 6 Ländern); Team: 3 Accounting, 2 Controlling, 2 Treasury plus externer Steuerberater, der im System bucht; grob ein Accountant je ~30 Entitäten – nur mit hoher Standardisierung tragbar. • Zeit: 3 Min • Überleitung: Warum werden es ständig mehr Gesellschaften? Das Geschäftsmodell. • Quelle: MD Kap. 0, 2.6, 3.1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Kernbotschaft: VGG kauft Gesellschaften in Serie – das ERP ist keine Produktionsplattform, sondern eine Finanz- und Beteiligungssteuerungs-Plattform. • Talking Points: Sechs Investment-Strategien von Majority bis Philanthropie; die Namensmuster in der Buchungskreisliste (Vis 1–13 Investment KG + Verwaltungs-GmbH, GForce-Serie, USA Residential I–V) sind der Fingerabdruck des Serienmodells; Skalierungsdruck kommt aus der Zahl der Entitäten, nicht aus dem Transaktionsvolumen. • Zeit: 3 Min • Überleitung: Und was kann das System heute? Blick auf den Scope. • Quelle: MD Kap. 1.1–1.2, Anhang B2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Kernbotschaft: Der Finance-Scope ist sehr breit ausgeprägt – die Fragilität liegt nicht im Umfang, sondern im Betrieb. • Talking Points: 40+ Finance-Scope-Items aktiv (Close, IFRS-Ledger, Advanced Bank Statement 4X8, Advanced Cash J78, ICMR 40Y); DEV-Scope = Produktiv-Scope (OF-1 geklärt); Treasury bewusst schmal – Drittlösung plus Eigenentwicklung E05, kein SAP-TRM nötig (OF-2/OF-7 geklärt); Reifegrade sind Annahme, im Raum validieren. • Zeit: 3 Min • Überleitung: Wo es konkret weh tut, zeigen die Tickets. • Quelle: MD Kap. 2.2–2.4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Kernbotschaft: Sechs dokumentierte Vorfälle zeigen – Datenqualität und Governance kommen vor der Agenten-Technologie. • Talking Points: BP-Löschjob löschte mehr als vorgesehen → Massenaktionen brauchen Dry-Run und Guardrails; Bankauszug-Upload ist der Monatsend-Engpass → direkter Automatisierungskandidat; Rollen-Erweiterung bei neuen Buchungskreisen ist Ihr benannter Painpoint → wird Pflichtteil des Onboardings; jeder Vorfall wird zur Design-Regel für die Agenten. • Zeit: 3 Min • Überleitung: Was heißt das für die Arbeit des Teams? Der Blick auf die Tätigkeiten. • Quelle: MD Kap. 2.7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Kernbotschaft: Der Engpass ist nicht die Buchung, sondern die Wiederholung – Agenten übernehmen das Repetitive, das Urteil bleibt beim Team. • Talking Points: Links die täglichen, regelbasierten Tätigkeiten (Kontoauszug, Zahllauf, IC-Abstimmung, Close-Tasks, Stammdaten) – ideal für Automatisierung mit Freigabe; rechts das Urteilsintensive (Liquiditätsplanung, Beteiligungsbuchung, Prüfernachweise) – hier unterstützt ein Copilot; Multiplikator: jeder automatisierte Prozess wirkt 101-fach; grobe Bandbreite 20–40 % der repetitiven Kapazität [ANNAHME, Volumina offen]. • Zeit: 3 Min • Überleitung: Der größte Einzelhebel ist aber die Anlage neuer Gesellschaften – Block 2. • Quelle: MD Kap. 3.1–3.3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Kernbotschaft: Block 2 – die Buchungskreis-Fabrik ist der strategische Differenzierer für einen Serien-Entity-Käufer. • Talking Points: Kein SAP-Standard-Agent legt heute selbstständig einen Buchungskreis an; genau das ist der Kern von Deloittes Autonomous Enterprise Plus / CAMP4. • Zeit: unter 1 Min • Überleitung: Zuerst der Ist-Zustand – das Runbook. • Quelle: MD Kap. 0, 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Kernbotschaft: Heute braucht jede neue Gesellschaft rund 40 manuelle Einzelschritte – dokumentiert, aber vollständig personengebunden. • Talking Points: Ihr eigenes Runbook „Set up new Company Code“ belegt den Prozess über CBC, rund ein Dutzend SSCUIs, mehrere Fiori-Apps und Transport DEV→TEST→PROD; die gute Nachricht: ein dokumentiertes Runbook mit definierten Zielwerten ist praktisch die Vorstufe einer Zielkonfiguration als Artefakt; Durchlaufzeit ist noch nicht gemessen (OF-5). • Zeit: 4 Min • Frage: Wie lange dauert das heute wirklich, von Deal-Close bis zur ersten Buchung? • Überleitung: Damit die Fabrik skaliert, standardisieren wir zuerst die Zielbilder – Templates. • Quelle: MD Kap. 4.1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Kernbotschaft: Vier Entity-Templates decken das Portfolio ab – und T1 (SPV) dürfte der häufigste Fall sein. • Talking Points: Jedes Template trägt Konfiguration UND Rollen-Set – so wird der Rollen-Painpoint Teil des Templates statt manueller Nacharbeit; T4 löst das Länder-Handling (7 Länder); tatsächliche Verteilung der 101 Entitäten auf T1–T4 ist zu bestätigen (OF-3). • Zeit: 3 Min • Frage: Passt die Vierteilung – und wie verteilen sich Ihre 101 Gesellschaften darauf? • Überleitung: Aus dem Template entsteht die Zielkonfiguration – die Kette der Fabrik. • Quelle: MD Kap. 4.2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Kernbotschaft: Die Fabrik folgt dem Prinzip „Beschreibung vor Herstellung“ – erst die prüfbare Zielkonfiguration, dann sechs Schritte in fester Reihenfolge bis zur bedienbaren Entität. • Talking Points: Zielkonfiguration ist ein versioniertes, freigabefähiges Artefakt; CBC-Scoping ist irreversibel → menschliche Freigabe zwingend; Schritt 6 (Rollen) ist kein Anhängsel, sondern macht die Entität erst bedienbar; CAMP4 ist Deloitte-Capability, kein SAP-Marktprodukt – SAPs angekündigtes Transformation-Tooling zielt auf RISE/Brownfield, nicht CBC/Public Edition. • Zeit: 4 Min • Überleitung: Warum Schritt 6 so wichtig ist, verdient eine eigene Folie. • Quelle: MD Kap. 4.3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Kernbotschaft: Ihr benannter Painpoint – die Rollen-Erweiterung bei neuen Buchungskreisen – wird Pflichtschritt der Fabrik, nicht Nacharbeit. • Talking Points: Ohne Rollen ist eine neue Entität buchungs-, aber nicht bedienbar; Agent B-8 wendet das Template-Rollen-Set mit SoD-Prüfung und Freigabe an; das laufende Berechtigungs-Vereinfachungsprojekt ist das ideale Zeitfenster – ein schlankes Rollenmodell ist leichter zu templatisieren; Sonderfall externer Steuerberater mit Buchungsrechten beachten. • Zeit: 3 Min • Frage: Wann ist das Vereinfachungsprojekt so weit, dass wir Rollen-Sets je Template definieren können? • Überleitung: Was bringt das alles in Zeit? • Quelle: MD Kap. 2.7, 4.3, Steckbrief B-8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Kernbotschaft: Die Fabrik verschiebt den Engpass von der IT-Konfiguration auf die unvermeidbaren externen Akte. • Talking Points: Zielmarke: Deal-Close → buchungsfähiger Buchungskreis in wenigen Arbeitstagen für T1; heutige Durchlaufzeit vermutlich Wochen [ANNAHME, OF-5 offen]; Notar, Bank-KYC und Steuer-ID bleiben manuell/extern – der Agent bereitet vor. • Zeit: 2 Min • Überleitung: Drei Leitfragen an Sie, bevor wir in die Pause gehen. • Quelle: MD Kap. 4.4–4.5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Kernbotschaft: Drei Antworten aus diesem Raum machen den Business Case der Fabrik belastbar. • Talking Points: Antworten live notieren; was offen bleibt → Parkplatz; diese drei Punkte sind zugleich die Restpunkte aus dem Fragenkatalog (OF-3, OF-4, OF-5). OHNE GAST: Diesen Block auf 12–15 Min ausdehnen und Backup-Steckbriefe A-1/B-8 (Folien 32–33) hinzunehmen. • Zeit: 6 Min • Frage an die Teilnehmenden: siehe Folie – Templates, Durchlaufzeit, Volumina. • Überleitung: Pause – danach übernimmt unser Gast. • Quelle: MD Kap. 9, Anhang 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Kernbotschaft: 10 Minuten Pause. • Talking Points: Uhrzeit ansagen; Parkplatz-Zettel liegen aus; danach übernimmt der Gast. • Zeit: 10 Min • Überleitung: Nach der Pause: BTP und die SAP Business AI Platform – aus erster Hand. • Quelle: Auftrag/Dramaturgie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Kernbotschaft: Übergabe an den Gast – BTP und Business AI Platform aus erster Hand, 20 Minuten im eigenen Deck. • Talking Points: Gast kurz vorstellen (Name/Rolle einsetzen); Rahmen: Was leistet die Plattform, was braucht sie, wo steht die Vorbereitung bei VGG; im Hauptdeck bleibt BTP bewusst auf Überblicksniveau – Details gehören dem Gast. FALLBACK OHNE GAST: Folie überspringen, direkt zu Folie 20; die 20 Minuten in verlängerte Leitfragen-Diskussion (F17), Backup-Steckbriefe A-1/B-8 (F32–33) und mehr Zeit für die Priorisierung (F27) geben. • Zeit: 1 Min Übergabe + 20 Min Gast • Überleitung: Danach holen wir es zurück zu VGG – die Brückenfolie. • Quelle: MD Kap. 10.2; Auftrag Gastblock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Kernbotschaft: Was heißt das für VGG – die Business AI Platform ist die Voraussetzung für alles Agentische, und ihre Vorbereitung läuft bereits kundenseitig. • Talking Points: Drei Schichten – Contextualize &amp; Reason (Datenbasis für D-2/D-5), Build (Joule Studio für Eigenbau + Integration Drittlösung/E05), Govern (AI Agent Hub für Freigaben und AI-Units-Transparenz); ohne Plattform bleiben Agenten Einzellösungen ohne gemeinsame Governance; sobald Plattform + AI-Units-Modell (OF-6) stehen, können GA-Features sofort live gehen. • Zeit: 3 Min • Überleitung: Und was läuft darauf? Die Agenten-Landkarte – Block 3. • Quelle: MD Kap. 10.2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Kernbotschaft: Block 3 – was es schon gibt, was wir bauen, was wir andenken, und in welcher Reihenfolge. • Talking Points: Grundlage ist Ihre eigene SAP-AI-Feature-Liste (Discovery-Center-Export), nicht Web-Recherche. • Zeit: unter 1 Min • Überleitung: Die Landkarte in einem Bild. • Quelle: MD Kap. 5–7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Kernbotschaft: Für das VGG-Kernproblem gibt es keinen fertigen SAP-Standard-Agenten – Eigenbau plus Deloitte-Konfigurations-Capability sind der Hauptpfad, nicht die Ergänzung. • Talking Points: Kategorie A liefert heute vor allem GA-Assistenzfunktionen (Joule, Enterprise Search, Payment Advices via Document AI); echte SAP-Agenten liegen im Billing-Umfeld – für eine Holding nur begrenzt relevant; Kategorie B ist baubar via Joule Studio; Kategorie C sind die 12–24-Monats-Zielbilder; AI-Units-Lizenz in Verhandlung (OF-6). • Zeit: 4 Min • Überleitung: Was davon haben Sie selbst schon priorisiert? • Quelle: MD Kap. 5.0–5.3, Anhang B3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Kernbotschaft: Von Ihren sechs selbst benannten Use Cases sind zwei sofort mit GA-Features umsetzbar – Bedarf und Technologie sind da. • Talking Points: D-2 Bilanzanalyse (J88 GA, Premium-Lizenz nötig; Einzelposten-Drilldown gegen App-Fähigkeit zu prüfen) und D-5 Self-Service-Copilot (J74/J225 GA) sind die schnellsten Quick Wins im ganzen Papier; D-6 hat mit dem unterschriebenen SAP-Co-Innovation-Agreement einen eigenen Kanal – SAP-Rückmeldung aktiv nachhalten; D-1/D-3 teils GA/Beta, D-4 Eigenbau. • Zeit: 4 Min • Frage: Ist die Reihenfolge D-2/D-5 zuerst aus Ihrer Sicht richtig? • Überleitung: Zusammen mit den Analyse-Kandidaten ergibt das die Quick-Win-Matrix. • Quelle: MD Kap. 5.5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Kernbotschaft: Fünf Quick Wins stechen heraus – zwei davon ohne jeden Entwicklungsaufwand. • Talking Points: D-2 und D-5 sofort GA und Kundenpriorität; A-1 Bank-Statement/Cash-Application behebt den akuten Monatsend-Schmerz mit 101-fachem Multiplikator; D-1 beendet das tägliche manuelle Vorsortieren; B-8 nutzt das Zeitfenster des Rollenprojekts; strategisch (rechts oben, aufwändiger): A-3 CAMP4 und C-1 End-to-End-Fabrik. • Zeit: 4 Min • Überleitung: In welcher Reihenfolge? Die Roadmap. • Quelle: MD Kap. 6.2–6.4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Kernbotschaft: Drei Horizonte, jeder eigenständig nützlich und Voraussetzung für den nächsten – kein Big Bang, das passt zur knappen Change-Kapazität. • Talking Points: 0–3 Monate: GA-Features live (D-2/D-5), B-8 ans Rollenprojekt andocken, A-1 Standard ausreizen, Governance-Grundlagen; 3–12 Monate: Kernprozesse agentisch (IC, Close, Zahllauf, FX, Steuer), CAMP4-Pilot mit Template T1; 12–24 Monate: Fabrik End-to-End, Treasury-Copilot, autonome SPV-Abschlüsse als kontrollierte Piloten; Querschnitt: Datenqualität ist Daueraufgabe, AI-Units-Klärung steuert das Tempo. • Zeit: 4 Min • Überleitung: Damit das sicher bleibt – die Leitplanken. • Quelle: MD Kap. 7, 10.3–10.4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Kernbotschaft: Vier Leitplanken gelten für jede Agenten-Initiative – allen voran: kein autonomer Zahlungsverkehr. • Talking Points: 4-Augen/SoD auch für Agenten-Identitäten; Clean Core: nur Side-by-Side auf BTP, Konfiguration nur über CBC/SSCUI; Datenqualität ist Grundvoraussetzung – die Vorfälle vor breitem Rollout bereinigen; HGB/IFRS-Nachweis und EU AI Act (OF-8) früh mit Prüfern klären. • Zeit: 2 Min • Überleitung: Jetzt Sie – die Priorisierung. • Quelle: MD Kap. 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Kernbotschaft: Jetzt entscheiden Sie – wir sortieren die Kandidaten gemeinsam nach Nutzen und Aufwand. • Talking Points: Kärtchen unten sind verschiebbar (in PowerPoint native Shapes); Startpunkt ist die Analyse-Empfehlung, aber Ihr Bild zählt; Ergebnis fotografieren/festhalten – es wird die Startliste für Horizont 1. OHNE GAST: hier 5–8 Minuten mehr Zeit einplanen. • Zeit: 8 Min • Frage an die Teilnehmenden: Wo würden Sie jedes Kärtchen platzieren – und was fehlt? • Überleitung: Was heute offen bleibt, kommt auf den Parkplatz. • Quelle: MD Kap. 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Kernbotschaft: Nichts geht verloren – was heute nicht entschieden wird, bekommt Verantwortliche und Termin. • Talking Points: Punkte aus allen drei Blöcken einsammeln; jeder Eintrag braucht Owner und Datum, sonst bleibt er Deko. • Zeit: läuft über die Session mit, hier 2–3 Min konsolidieren • Überleitung: Und damit zu den nächsten Schritten. • Quelle: Auftrag/Dramaturgie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Kernbotschaft: Vier konkrete Züge machen aus dem Workshop einen Startpunkt – jeder eigenständig nützlich. • Talking Points: Kurz-Workshop für die Restpunkte terminieren (Volumina, Durchlaufzeit, Template-Zuordnung, EU AI Act); Datenqualitäts-Assessment als Lehre aus den Vorfällen; Quick-Win-Pilot A-1 + A-2 starten; CAMP4-Template-Design T1 auf Basis des vorhandenen Runbooks initiieren und die angeteaserte gemeinsame Entwicklung (OF-9) konkretisieren. • Zeit: 4 Min • Abschluss: Dank + Ergebnisfoto der Priorisierungsmatrix verteilen. • Quelle: MD Kap. 9, 10.3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Kernbotschaft: Backup – Detailmaterial für Rückfragen und für das Szenario ohne Gastblock. • Zeit: nur bei Bedarf • Quelle: MD Kap. 3–9, Anhänge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Kernbotschaft: Variante B ohne Gastblock – die 20 Minuten fließen in Diskussion statt in Vortrag. • Talking Points: Leitfragen-Block wächst von 6 auf ~13 Minuten; Backup-Steckbriefe A-1 und B-8 werden aktiv gezeigt; Priorisierung bekommt 5 Minuten mehr; die BTP-Brückenfolie (F20) bleibt drin – sie trägt den Plattform-Kontext auch ohne Gast. • Zeit: 2 Min (falls gezeigt) • Quelle: Auftrag Gastblock-Fallback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Kernbotschaft: A-1 behebt den akuten Monatsend-Schmerz und wirkt 101-fach. • Talking Points: primär SAP-Standard 4X8/J78 ausreizen, Lücken via Joule-Skill/Situation Handling; Ausnahmen zur Klärung, sonst Ausführung mit Freigabe; Voraussetzung saubere BP-/Bankstammdaten. • Zeit: 2 Min (bei Bedarf) • Quelle: MD Steckbrief A-1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Kernbotschaft: B-8 macht die Fabrik erst vollständig – und adressiert Ihren benannten Painpoint. • Talking Points: Template-Rollen-Set anwenden, SoD prüfen, Ausnahmen melden – Ausführung mit Freigabe; Voraussetzung ist das vereinfachte Rollenmodell aus dem laufenden Projekt; Sonderfall externer Steuerberater mit Buchungsrechten. • Zeit: 2 Min (bei Bedarf) • Quelle: MD Steckbrief B-8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Kernbotschaft: Die meisten Strukturfragen sind seit v2 geklärt – offen bleiben Volumina, Baselines und Rahmenklärungen. • Talking Points: geklärt: Produktiv-Scope, 101 CC, Headcount, Treasury-Architektur (E05); offen: Volumina (OF-4), Durchlaufzeit (OF-5), Template-Zuordnung (OF-3), AI-Units in Verhandlung (OF-6), EU AI Act (OF-8), CAMP4-Kollaboration angeteasert (OF-9). • Zeit: 2 Min (bei Bedarf) • Quelle: MD Kap. 9, Anhang 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62000"/>
            <a:ext cx="49733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· ARBEITSSITZUNG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5308461" y="762000"/>
            <a:ext cx="212496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01.09.2026 · Berlin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47750" y="3023741"/>
            <a:ext cx="1333500" cy="114300"/>
          </a:xfrm>
          <a:prstGeom prst="rect">
            <a:avLst/>
          </a:prstGeom>
          <a:solidFill>
            <a:srgbClr val="26890D"/>
          </a:solidFill>
          <a:ln/>
        </p:spPr>
      </p:sp>
      <p:sp>
        <p:nvSpPr>
          <p:cNvPr id="5" name="Text 3"/>
          <p:cNvSpPr/>
          <p:nvPr/>
        </p:nvSpPr>
        <p:spPr>
          <a:xfrm>
            <a:off x="1047750" y="3633341"/>
            <a:ext cx="16678275" cy="25250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16"/>
              </a:lnSpc>
              <a:buNone/>
            </a:pPr>
            <a:r>
              <a:rPr lang="en-US" sz="9600" b="1" spc="-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Finance &amp; Treasury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1047750" y="6463159"/>
            <a:ext cx="1781175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D7DB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Viessmann Generations Group auf SAP S/4HANA Cloud Public Edition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1047750" y="7025134"/>
            <a:ext cx="178117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Arbeitsstand zur Abstimmung · Strategiepapier v3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047750" y="9315450"/>
            <a:ext cx="16192500" cy="9525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9" name="Text 7"/>
          <p:cNvSpPr/>
          <p:nvPr/>
        </p:nvSpPr>
        <p:spPr>
          <a:xfrm>
            <a:off x="1047750" y="9496425"/>
            <a:ext cx="214281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9A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Moritz Göthel · Deloitte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6340138" y="9496425"/>
            <a:ext cx="97631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9A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Vertraulich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00100"/>
            <a:ext cx="133350" cy="133350"/>
          </a:xfrm>
          <a:prstGeom prst="rect">
            <a:avLst/>
          </a:prstGeom>
          <a:solidFill>
            <a:srgbClr val="26890D"/>
          </a:solidFill>
          <a:ln/>
        </p:spPr>
      </p:sp>
      <p:sp>
        <p:nvSpPr>
          <p:cNvPr id="3" name="Text 1"/>
          <p:cNvSpPr/>
          <p:nvPr/>
        </p:nvSpPr>
        <p:spPr>
          <a:xfrm>
            <a:off x="1295400" y="762000"/>
            <a:ext cx="73193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225" kern="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ZIELE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1047750" y="1085850"/>
            <a:ext cx="17811750" cy="5287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407"/>
              </a:lnSpc>
              <a:buNone/>
            </a:pPr>
            <a:r>
              <a:rPr lang="en-US" sz="3450" b="1" spc="-75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Heute wollen wir drei Entscheidungen vorbereiten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1047750" y="2033736"/>
            <a:ext cx="5219700" cy="4381500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6" name="Text 4"/>
          <p:cNvSpPr/>
          <p:nvPr/>
        </p:nvSpPr>
        <p:spPr>
          <a:xfrm>
            <a:off x="1390650" y="2414736"/>
            <a:ext cx="498729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150" kern="0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ENTSCHEIDUNG 1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1390650" y="2776686"/>
            <a:ext cx="4669917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94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Sind die Quick-Win-Prioritäten richtig gesetzt?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390650" y="3643461"/>
            <a:ext cx="4669917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435"/>
              </a:lnSpc>
              <a:buNone/>
            </a:pPr>
            <a:r>
              <a:rPr lang="en-US" sz="1500" dirty="0">
                <a:solidFill>
                  <a:srgbClr val="B8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Ihre sechs Use Cases (D-1 bis D-6) plus die Kandidaten aus der Analyse – was starten wir in den ersten drei Monaten?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34150" y="2033736"/>
            <a:ext cx="5219700" cy="4381500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10" name="Text 8"/>
          <p:cNvSpPr/>
          <p:nvPr/>
        </p:nvSpPr>
        <p:spPr>
          <a:xfrm>
            <a:off x="6877050" y="2414736"/>
            <a:ext cx="498729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150" kern="0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ENTSCHEIDUNG 2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6877050" y="2776686"/>
            <a:ext cx="4669917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94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Trägt die Buchungskreis-Fabrik als strategischer Hebel?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6877050" y="3643461"/>
            <a:ext cx="4669917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435"/>
              </a:lnSpc>
              <a:buNone/>
            </a:pPr>
            <a:r>
              <a:rPr lang="en-US" sz="1500" dirty="0">
                <a:solidFill>
                  <a:srgbClr val="B8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Agentische Anlage neuer Gesellschaften inkl. Rollen – das Kernstück für einen Serien-Entity-Käufer.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2020550" y="2033736"/>
            <a:ext cx="5219700" cy="4381500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14" name="Text 12"/>
          <p:cNvSpPr/>
          <p:nvPr/>
        </p:nvSpPr>
        <p:spPr>
          <a:xfrm>
            <a:off x="12363450" y="2414736"/>
            <a:ext cx="498729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150" kern="0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ENTSCHEIDUNG 3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12363450" y="2776686"/>
            <a:ext cx="4669917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94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Restpunkte klären wir bis wann?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2363450" y="3643461"/>
            <a:ext cx="4669917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435"/>
              </a:lnSpc>
              <a:buNone/>
            </a:pPr>
            <a:r>
              <a:rPr lang="en-US" sz="1500" dirty="0">
                <a:solidFill>
                  <a:srgbClr val="B8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Volumina, Durchlaufzeit, Template-Zuordnung – die offenen Fragen, die den Business Case belastbar machen.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047750" y="9401175"/>
            <a:ext cx="16192500" cy="9525"/>
          </a:xfrm>
          <a:prstGeom prst="rect">
            <a:avLst/>
          </a:prstGeom>
          <a:solidFill>
            <a:srgbClr val="E3E5E4"/>
          </a:solidFill>
          <a:ln/>
        </p:spPr>
      </p:sp>
      <p:sp>
        <p:nvSpPr>
          <p:cNvPr id="18" name="Text 16"/>
          <p:cNvSpPr/>
          <p:nvPr/>
        </p:nvSpPr>
        <p:spPr>
          <a:xfrm>
            <a:off x="1047750" y="9544050"/>
            <a:ext cx="450679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Finance &amp; Treasury · Viessmann Generations Group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792027" y="9544050"/>
            <a:ext cx="269304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01.09.2026 · Berlin · Vertraulich · 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00100"/>
            <a:ext cx="133350" cy="133350"/>
          </a:xfrm>
          <a:prstGeom prst="rect">
            <a:avLst/>
          </a:prstGeom>
          <a:solidFill>
            <a:srgbClr val="26890D"/>
          </a:solidFill>
          <a:ln/>
        </p:spPr>
      </p:sp>
      <p:sp>
        <p:nvSpPr>
          <p:cNvPr id="3" name="Text 1"/>
          <p:cNvSpPr/>
          <p:nvPr/>
        </p:nvSpPr>
        <p:spPr>
          <a:xfrm>
            <a:off x="1295400" y="762000"/>
            <a:ext cx="516606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225" kern="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· VARIANTE A (MIT GASTBLOCK)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1047750" y="1085850"/>
            <a:ext cx="17811750" cy="5287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407"/>
              </a:lnSpc>
              <a:buNone/>
            </a:pPr>
            <a:r>
              <a:rPr lang="en-US" sz="3450" b="1" spc="-75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Zwei Stunden, drei Arbeitsblöcke, drei Interaktionspunkte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1047750" y="1995636"/>
            <a:ext cx="16192500" cy="609600"/>
          </a:xfrm>
          <a:prstGeom prst="rect">
            <a:avLst/>
          </a:prstGeom>
          <a:solidFill>
            <a:srgbClr val="F4F5F4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3975" y="2176611"/>
            <a:ext cx="23050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0:00 – 0:10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3648075" y="2176611"/>
            <a:ext cx="1125283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Begrüßung · Ziele · Agenda · Ihre Erwartungen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4106525" y="2200424"/>
            <a:ext cx="314325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50" kern="0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INTERAKTION 1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047750" y="2738586"/>
            <a:ext cx="16192500" cy="609600"/>
          </a:xfrm>
          <a:prstGeom prst="rect">
            <a:avLst/>
          </a:prstGeom>
          <a:solidFill>
            <a:srgbClr val="F4F5F4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23975" y="2919561"/>
            <a:ext cx="23050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0:10 – 0:25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3648075" y="2919561"/>
            <a:ext cx="1125283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Ausgangslage: 7 Personen, 101 Gesellschaften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047750" y="3481536"/>
            <a:ext cx="16192500" cy="609600"/>
          </a:xfrm>
          <a:prstGeom prst="rect">
            <a:avLst/>
          </a:prstGeom>
          <a:solidFill>
            <a:srgbClr val="F4F5F4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23975" y="3662511"/>
            <a:ext cx="23050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0:25 – 0:55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3648075" y="3662511"/>
            <a:ext cx="1125283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Kernblock 1: Hebel &amp; Buchungskreis-Fabrik · Leitfragen an Sie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4106525" y="3686324"/>
            <a:ext cx="314325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50" kern="0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INTERAKTION 2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047750" y="4224486"/>
            <a:ext cx="16192500" cy="609600"/>
          </a:xfrm>
          <a:prstGeom prst="rect">
            <a:avLst/>
          </a:prstGeom>
          <a:ln w="9525">
            <a:solidFill>
              <a:srgbClr val="B8BDB8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323975" y="4405461"/>
            <a:ext cx="23050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0:55 – 1:05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3648075" y="4405461"/>
            <a:ext cx="1125283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047750" y="4967436"/>
            <a:ext cx="16192500" cy="590550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20" name="Text 18"/>
          <p:cNvSpPr/>
          <p:nvPr/>
        </p:nvSpPr>
        <p:spPr>
          <a:xfrm>
            <a:off x="1314450" y="5138886"/>
            <a:ext cx="23050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1:05 – 1:25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3638550" y="5138886"/>
            <a:ext cx="112737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D7DB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Gastblock: SAP BTP &amp; Business AI Platform · [TBD: BTP-Expert:in]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4116050" y="5162699"/>
            <a:ext cx="314325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50" kern="0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GAST · 20 MIN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1047750" y="5691336"/>
            <a:ext cx="16192500" cy="609600"/>
          </a:xfrm>
          <a:prstGeom prst="rect">
            <a:avLst/>
          </a:prstGeom>
          <a:solidFill>
            <a:srgbClr val="F4F5F4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23975" y="5872311"/>
            <a:ext cx="23050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1:25 – 1:45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3648075" y="5872311"/>
            <a:ext cx="1125283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Kernblock 2: Agenten-Landkarte · Ihre Use Cases · Roadmap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047750" y="6434286"/>
            <a:ext cx="16192500" cy="609600"/>
          </a:xfrm>
          <a:prstGeom prst="rect">
            <a:avLst/>
          </a:prstGeom>
          <a:solidFill>
            <a:srgbClr val="F4F5F4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23975" y="6615261"/>
            <a:ext cx="23050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1:45 – 2:00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3648075" y="6615261"/>
            <a:ext cx="1125283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Priorisierung live · Parkplatz · Nächste Schritte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14106525" y="6639074"/>
            <a:ext cx="314325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50" kern="0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INTERAKTION 3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1047750" y="9401175"/>
            <a:ext cx="16192500" cy="9525"/>
          </a:xfrm>
          <a:prstGeom prst="rect">
            <a:avLst/>
          </a:prstGeom>
          <a:solidFill>
            <a:srgbClr val="E3E5E4"/>
          </a:solidFill>
          <a:ln/>
        </p:spPr>
      </p:sp>
      <p:sp>
        <p:nvSpPr>
          <p:cNvPr id="31" name="Text 29"/>
          <p:cNvSpPr/>
          <p:nvPr/>
        </p:nvSpPr>
        <p:spPr>
          <a:xfrm>
            <a:off x="1047750" y="9544050"/>
            <a:ext cx="450679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Finance &amp; Treasury · Viessmann Generations Group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4792027" y="9544050"/>
            <a:ext cx="269304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01.09.2026 · Berlin · Vertraulich · 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00100"/>
            <a:ext cx="133350" cy="133350"/>
          </a:xfrm>
          <a:prstGeom prst="rect">
            <a:avLst/>
          </a:prstGeom>
          <a:solidFill>
            <a:srgbClr val="26890D"/>
          </a:solidFill>
          <a:ln/>
        </p:spPr>
      </p:sp>
      <p:sp>
        <p:nvSpPr>
          <p:cNvPr id="3" name="Text 1"/>
          <p:cNvSpPr/>
          <p:nvPr/>
        </p:nvSpPr>
        <p:spPr>
          <a:xfrm>
            <a:off x="1295400" y="762000"/>
            <a:ext cx="277440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225" kern="0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INTERAKTION 1 · LIVE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1047750" y="1085850"/>
            <a:ext cx="17811750" cy="5287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407"/>
              </a:lnSpc>
              <a:buNone/>
            </a:pPr>
            <a:r>
              <a:rPr lang="en-US" sz="3450" b="1" spc="-75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muss heute geklärt sein, damit sich die zwei Stunden lohnen?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1047750" y="1995636"/>
            <a:ext cx="4953000" cy="818108"/>
          </a:xfrm>
          <a:prstGeom prst="rect">
            <a:avLst/>
          </a:prstGeom>
          <a:solidFill>
            <a:srgbClr val="F4F5F4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43025" y="2252811"/>
            <a:ext cx="4511040" cy="341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692"/>
              </a:lnSpc>
              <a:buNone/>
            </a:pPr>
            <a:r>
              <a:rPr lang="en-US" sz="16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</a:t>
            </a:r>
            <a:pPr algn="l" indent="0" marL="0">
              <a:lnSpc>
                <a:spcPct val="122692"/>
              </a:lnSpc>
              <a:buNone/>
            </a:pPr>
            <a:r>
              <a:rPr lang="en-US" sz="1650" dirty="0">
                <a:solidFill>
                  <a:srgbClr val="3C4043"/>
                </a:solidFill>
                <a:highlight>
                  <a:srgbClr val="F4F5F4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Welche Entscheidung erwarten Sie heute?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047750" y="3004245"/>
            <a:ext cx="4953000" cy="1121866"/>
          </a:xfrm>
          <a:prstGeom prst="rect">
            <a:avLst/>
          </a:prstGeom>
          <a:solidFill>
            <a:srgbClr val="F4F5F4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43025" y="3261420"/>
            <a:ext cx="4511040" cy="645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692"/>
              </a:lnSpc>
              <a:buNone/>
            </a:pPr>
            <a:r>
              <a:rPr lang="en-US" sz="16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</a:t>
            </a:r>
            <a:pPr algn="l" indent="0" marL="0">
              <a:lnSpc>
                <a:spcPct val="122692"/>
              </a:lnSpc>
              <a:buNone/>
            </a:pPr>
            <a:r>
              <a:rPr lang="en-US" sz="1650" dirty="0">
                <a:solidFill>
                  <a:srgbClr val="3C4043"/>
                </a:solidFill>
                <a:highlight>
                  <a:srgbClr val="F4F5F4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Wo drückt der Schuh im Tagesgeschäft am meisten?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1047750" y="4316611"/>
            <a:ext cx="4953000" cy="1121866"/>
          </a:xfrm>
          <a:prstGeom prst="rect">
            <a:avLst/>
          </a:prstGeom>
          <a:solidFill>
            <a:srgbClr val="F4F5F4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43025" y="4573786"/>
            <a:ext cx="4511040" cy="645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692"/>
              </a:lnSpc>
              <a:buNone/>
            </a:pPr>
            <a:r>
              <a:rPr lang="en-US" sz="16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</a:t>
            </a:r>
            <a:pPr algn="l" indent="0" marL="0">
              <a:lnSpc>
                <a:spcPct val="122692"/>
              </a:lnSpc>
              <a:buNone/>
            </a:pPr>
            <a:r>
              <a:rPr lang="en-US" sz="1650" dirty="0">
                <a:solidFill>
                  <a:srgbClr val="3C4043"/>
                </a:solidFill>
                <a:highlight>
                  <a:srgbClr val="F4F5F4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Was darf ein Agent bei Ihnen ausdrücklich nicht?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6381750" y="1995636"/>
            <a:ext cx="10858500" cy="7405539"/>
          </a:xfrm>
          <a:prstGeom prst="rect">
            <a:avLst/>
          </a:prstGeom>
          <a:ln w="19050">
            <a:solidFill>
              <a:srgbClr val="26890D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10609064" y="5574506"/>
            <a:ext cx="264409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50" kern="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WIRD LIVE BEFÜLLT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1047750" y="9401175"/>
            <a:ext cx="16192500" cy="9525"/>
          </a:xfrm>
          <a:prstGeom prst="rect">
            <a:avLst/>
          </a:prstGeom>
          <a:solidFill>
            <a:srgbClr val="E3E5E4"/>
          </a:solidFill>
          <a:ln/>
        </p:spPr>
      </p:sp>
      <p:sp>
        <p:nvSpPr>
          <p:cNvPr id="14" name="Text 12"/>
          <p:cNvSpPr/>
          <p:nvPr/>
        </p:nvSpPr>
        <p:spPr>
          <a:xfrm>
            <a:off x="1047750" y="9544050"/>
            <a:ext cx="450679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Finance &amp; Treasury · Viessmann Generations Group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792027" y="9544050"/>
            <a:ext cx="269304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01.09.2026 · Berlin · Vertraulich · 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4030117"/>
            <a:ext cx="367531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01 · 0:10 – 0:25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4525417"/>
            <a:ext cx="17811750" cy="99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636"/>
              </a:lnSpc>
              <a:buNone/>
            </a:pPr>
            <a:r>
              <a:rPr lang="en-US" sz="7200" b="1" spc="-22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Ausgangslage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047750" y="5714107"/>
            <a:ext cx="178117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D7DB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das VGG-System heute leisten muss – und wer es leistet.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47750" y="9334500"/>
            <a:ext cx="16192500" cy="9525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6" name="Text 4"/>
          <p:cNvSpPr/>
          <p:nvPr/>
        </p:nvSpPr>
        <p:spPr>
          <a:xfrm>
            <a:off x="1047750" y="9515475"/>
            <a:ext cx="507029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A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Finance &amp; Treasury · Viessmann Generations Group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7049452" y="9515475"/>
            <a:ext cx="26699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A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00100"/>
            <a:ext cx="133350" cy="133350"/>
          </a:xfrm>
          <a:prstGeom prst="rect">
            <a:avLst/>
          </a:prstGeom>
          <a:solidFill>
            <a:srgbClr val="26890D"/>
          </a:solidFill>
          <a:ln/>
        </p:spPr>
      </p:sp>
      <p:sp>
        <p:nvSpPr>
          <p:cNvPr id="3" name="Text 1"/>
          <p:cNvSpPr/>
          <p:nvPr/>
        </p:nvSpPr>
        <p:spPr>
          <a:xfrm>
            <a:off x="1295400" y="762000"/>
            <a:ext cx="262870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225" kern="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AUSGANGSLAGE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1047750" y="1085850"/>
            <a:ext cx="17811750" cy="5287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407"/>
              </a:lnSpc>
              <a:buNone/>
            </a:pPr>
            <a:r>
              <a:rPr lang="en-US" sz="3450" b="1" spc="-75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 Personen betreiben Finance &amp; Treasury für 101 Gesellschaften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1047750" y="1995636"/>
            <a:ext cx="5245001" cy="7405539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6" name="Text 4"/>
          <p:cNvSpPr/>
          <p:nvPr/>
        </p:nvSpPr>
        <p:spPr>
          <a:xfrm>
            <a:off x="1390650" y="4474369"/>
            <a:ext cx="5015121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705"/>
              </a:lnSpc>
              <a:buNone/>
            </a:pPr>
            <a:r>
              <a:rPr lang="en-US" sz="11250" b="1" spc="-450" kern="0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</a:t>
            </a:r>
            <a:endParaRPr lang="en-US" sz="11250" dirty="0"/>
          </a:p>
        </p:txBody>
      </p:sp>
      <p:sp>
        <p:nvSpPr>
          <p:cNvPr id="7" name="Text 5"/>
          <p:cNvSpPr/>
          <p:nvPr/>
        </p:nvSpPr>
        <p:spPr>
          <a:xfrm>
            <a:off x="1390650" y="5979319"/>
            <a:ext cx="501512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produktive Buchungskreise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390650" y="6369844"/>
            <a:ext cx="4695977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087"/>
              </a:lnSpc>
              <a:buNone/>
            </a:pPr>
            <a:r>
              <a:rPr lang="en-US" sz="1500" dirty="0">
                <a:solidFill>
                  <a:srgbClr val="B8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 Deutschland · 13 Ausland CA, US, NL, LU, GB, FI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21351" y="1995636"/>
            <a:ext cx="5245150" cy="3588395"/>
          </a:xfrm>
          <a:prstGeom prst="rect">
            <a:avLst/>
          </a:prstGeom>
          <a:solidFill>
            <a:srgbClr val="F4F5F4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35676" y="3180159"/>
            <a:ext cx="507815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486"/>
              </a:lnSpc>
              <a:buNone/>
            </a:pPr>
            <a:r>
              <a:rPr lang="en-US" sz="4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+ 1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6835676" y="3865959"/>
            <a:ext cx="475499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15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 Köpfe (3 Accounting, 2 Controlling, 2 Treasury) plus externer Steuerberater, der im System bucht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1995100" y="1995636"/>
            <a:ext cx="5245150" cy="3588395"/>
          </a:xfrm>
          <a:prstGeom prst="rect">
            <a:avLst/>
          </a:prstGeom>
          <a:solidFill>
            <a:srgbClr val="F4F5F4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09425" y="3180159"/>
            <a:ext cx="507815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486"/>
              </a:lnSpc>
              <a:buNone/>
            </a:pPr>
            <a:r>
              <a:rPr lang="en-US" sz="4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12309425" y="3865959"/>
            <a:ext cx="475499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15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Länder mit eigenen Steuer-, Bank- und Reporting-Varianten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521351" y="5812631"/>
            <a:ext cx="5245150" cy="3588544"/>
          </a:xfrm>
          <a:prstGeom prst="rect">
            <a:avLst/>
          </a:prstGeom>
          <a:solidFill>
            <a:srgbClr val="F4F5F4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35676" y="6997303"/>
            <a:ext cx="507815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486"/>
              </a:lnSpc>
              <a:buNone/>
            </a:pPr>
            <a:r>
              <a:rPr lang="en-US" sz="4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~30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6835676" y="7683103"/>
            <a:ext cx="475499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15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Entitäten je Accountant – nur über Standardisierung und Automatisierung tragbar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1995100" y="5812631"/>
            <a:ext cx="5245150" cy="3588544"/>
          </a:xfrm>
          <a:prstGeom prst="rect">
            <a:avLst/>
          </a:prstGeom>
          <a:solidFill>
            <a:srgbClr val="F4F5F4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309425" y="6997303"/>
            <a:ext cx="507815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486"/>
              </a:lnSpc>
              <a:buNone/>
            </a:pPr>
            <a:r>
              <a:rPr lang="en-US" sz="4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~40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12309425" y="7683103"/>
            <a:ext cx="475499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15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manuelle Einzelschritte, um heute eine neue Gesellschaft buchungsfähig zu machen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047750" y="9401175"/>
            <a:ext cx="16192500" cy="9525"/>
          </a:xfrm>
          <a:prstGeom prst="rect">
            <a:avLst/>
          </a:prstGeom>
          <a:solidFill>
            <a:srgbClr val="E3E5E4"/>
          </a:solidFill>
          <a:ln/>
        </p:spPr>
      </p:sp>
      <p:sp>
        <p:nvSpPr>
          <p:cNvPr id="22" name="Text 20"/>
          <p:cNvSpPr/>
          <p:nvPr/>
        </p:nvSpPr>
        <p:spPr>
          <a:xfrm>
            <a:off x="1047750" y="9544050"/>
            <a:ext cx="450679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Finance &amp; Treasury · Viessmann Generations Group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4792027" y="9544050"/>
            <a:ext cx="269304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01.09.2026 · Berlin · Vertraulich · 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00100"/>
            <a:ext cx="133350" cy="133350"/>
          </a:xfrm>
          <a:prstGeom prst="rect">
            <a:avLst/>
          </a:prstGeom>
          <a:solidFill>
            <a:srgbClr val="26890D"/>
          </a:solidFill>
          <a:ln/>
        </p:spPr>
      </p:sp>
      <p:sp>
        <p:nvSpPr>
          <p:cNvPr id="3" name="Text 1"/>
          <p:cNvSpPr/>
          <p:nvPr/>
        </p:nvSpPr>
        <p:spPr>
          <a:xfrm>
            <a:off x="1295400" y="762000"/>
            <a:ext cx="262870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225" kern="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AUSGANGSLAGE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1047750" y="1085850"/>
            <a:ext cx="17811750" cy="5287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407"/>
              </a:lnSpc>
              <a:buNone/>
            </a:pPr>
            <a:r>
              <a:rPr lang="en-US" sz="3450" b="1" spc="-75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VGG kauft Gesellschaften in Serie – das ERP ist eine Beteiligungsplattform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1047750" y="1957536"/>
            <a:ext cx="869632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150" kern="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INVESTMENT-STRATEGIEN (HOLDING)</a:t>
            </a:r>
            <a:endParaRPr lang="en-US" sz="1425" dirty="0"/>
          </a:p>
        </p:txBody>
      </p:sp>
      <p:sp>
        <p:nvSpPr>
          <p:cNvPr id="6" name="Shape 4"/>
          <p:cNvSpPr/>
          <p:nvPr/>
        </p:nvSpPr>
        <p:spPr>
          <a:xfrm>
            <a:off x="1047750" y="2300436"/>
            <a:ext cx="3886200" cy="1203722"/>
          </a:xfrm>
          <a:prstGeom prst="rect">
            <a:avLst/>
          </a:prstGeom>
          <a:solidFill>
            <a:srgbClr val="F4F5F4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5875" y="2500461"/>
            <a:ext cx="3526536" cy="841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Majority </a:t>
            </a:r>
            <a:pPr algn="l" indent="0" marL="0">
              <a:lnSpc>
                <a:spcPct val="121739"/>
              </a:lnSpc>
              <a:buNone/>
            </a:pPr>
            <a:r>
              <a:rPr lang="en-US" sz="13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GRITEC, isoplus, aqotec/ETX/Pewo, KPS Global, Clean &amp; Cold EU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67300" y="2300436"/>
            <a:ext cx="3886200" cy="1203722"/>
          </a:xfrm>
          <a:prstGeom prst="rect">
            <a:avLst/>
          </a:prstGeom>
          <a:solidFill>
            <a:srgbClr val="F4F5F4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5425" y="2500461"/>
            <a:ext cx="3526536" cy="841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Minority </a:t>
            </a:r>
            <a:pPr algn="l" indent="0" marL="0">
              <a:lnSpc>
                <a:spcPct val="121739"/>
              </a:lnSpc>
              <a:buNone/>
            </a:pPr>
            <a:r>
              <a:rPr lang="en-US" sz="13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Carrier, Encavis, AMCS, Schülke u. a.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047750" y="3637508"/>
            <a:ext cx="3886200" cy="935236"/>
          </a:xfrm>
          <a:prstGeom prst="rect">
            <a:avLst/>
          </a:prstGeom>
          <a:solidFill>
            <a:srgbClr val="F4F5F4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5875" y="3837533"/>
            <a:ext cx="3526536" cy="5732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Generational </a:t>
            </a:r>
            <a:pPr algn="l" indent="0" marL="0">
              <a:lnSpc>
                <a:spcPct val="121739"/>
              </a:lnSpc>
              <a:buNone/>
            </a:pPr>
            <a:r>
              <a:rPr lang="en-US" sz="13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Estate, Forestry, Agriculture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67300" y="3637508"/>
            <a:ext cx="3886200" cy="935236"/>
          </a:xfrm>
          <a:prstGeom prst="rect">
            <a:avLst/>
          </a:prstGeom>
          <a:solidFill>
            <a:srgbClr val="F4F5F4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5425" y="3837533"/>
            <a:ext cx="3526536" cy="5732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Early-Stage / Ökosystem </a:t>
            </a:r>
            <a:pPr algn="l" indent="0" marL="0">
              <a:lnSpc>
                <a:spcPct val="121739"/>
              </a:lnSpc>
              <a:buNone/>
            </a:pPr>
            <a:r>
              <a:rPr lang="en-US" sz="13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Vito Ventures, Maschinenraum u. a.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47750" y="4706094"/>
            <a:ext cx="8142923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35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Operatives Geschäft liegt in den Portfoliounternehmen mit eigenen Systemen – auf Holding-Ebene dominieren Beteiligung, Cash, Intercompany, Abschluss.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334500" y="1957536"/>
            <a:ext cx="869632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150" kern="0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SERIENMUSTER IN DER BUCHUNGSKREISLISTE</a:t>
            </a:r>
            <a:endParaRPr lang="en-US" sz="1425" dirty="0"/>
          </a:p>
        </p:txBody>
      </p:sp>
      <p:sp>
        <p:nvSpPr>
          <p:cNvPr id="16" name="Shape 14"/>
          <p:cNvSpPr/>
          <p:nvPr/>
        </p:nvSpPr>
        <p:spPr>
          <a:xfrm>
            <a:off x="9334500" y="2300436"/>
            <a:ext cx="7905750" cy="7100739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17" name="Shape 15"/>
          <p:cNvSpPr/>
          <p:nvPr/>
        </p:nvSpPr>
        <p:spPr>
          <a:xfrm>
            <a:off x="9639300" y="5279231"/>
            <a:ext cx="7296150" cy="9525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18" name="Text 16"/>
          <p:cNvSpPr/>
          <p:nvPr/>
        </p:nvSpPr>
        <p:spPr>
          <a:xfrm>
            <a:off x="9639300" y="4898231"/>
            <a:ext cx="419132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„Vis 1–13 Investment GmbH &amp; Co KG"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4626828" y="4926806"/>
            <a:ext cx="253948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B8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je eine Verwaltungs-GmbH</a:t>
            </a:r>
            <a:endParaRPr lang="en-US" sz="1425" dirty="0"/>
          </a:p>
        </p:txBody>
      </p:sp>
      <p:sp>
        <p:nvSpPr>
          <p:cNvPr id="20" name="Shape 18"/>
          <p:cNvSpPr/>
          <p:nvPr/>
        </p:nvSpPr>
        <p:spPr>
          <a:xfrm>
            <a:off x="9639300" y="5841206"/>
            <a:ext cx="7296150" cy="9525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21" name="Text 19"/>
          <p:cNvSpPr/>
          <p:nvPr/>
        </p:nvSpPr>
        <p:spPr>
          <a:xfrm>
            <a:off x="9639300" y="5460206"/>
            <a:ext cx="224840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„GForce 1–n GmbH"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6512927" y="5488781"/>
            <a:ext cx="49872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B8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</a:t>
            </a:r>
            <a:endParaRPr lang="en-US" sz="1425" dirty="0"/>
          </a:p>
        </p:txBody>
      </p:sp>
      <p:sp>
        <p:nvSpPr>
          <p:cNvPr id="23" name="Shape 21"/>
          <p:cNvSpPr/>
          <p:nvPr/>
        </p:nvSpPr>
        <p:spPr>
          <a:xfrm>
            <a:off x="9639300" y="6403181"/>
            <a:ext cx="7296150" cy="9525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24" name="Text 22"/>
          <p:cNvSpPr/>
          <p:nvPr/>
        </p:nvSpPr>
        <p:spPr>
          <a:xfrm>
            <a:off x="9639300" y="6022181"/>
            <a:ext cx="313670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„USA Residential Invest I–V"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6512927" y="6050756"/>
            <a:ext cx="49872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B8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</a:t>
            </a:r>
            <a:endParaRPr lang="en-US" sz="1425" dirty="0"/>
          </a:p>
        </p:txBody>
      </p:sp>
      <p:sp>
        <p:nvSpPr>
          <p:cNvPr id="26" name="Text 24"/>
          <p:cNvSpPr/>
          <p:nvPr/>
        </p:nvSpPr>
        <p:spPr>
          <a:xfrm>
            <a:off x="9639300" y="6584156"/>
            <a:ext cx="802576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Jeder Zukauf = ein neuer Buchungskreis. Genau hier liegt der größte Hebel.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1047750" y="9401175"/>
            <a:ext cx="16192500" cy="9525"/>
          </a:xfrm>
          <a:prstGeom prst="rect">
            <a:avLst/>
          </a:prstGeom>
          <a:solidFill>
            <a:srgbClr val="E3E5E4"/>
          </a:solidFill>
          <a:ln/>
        </p:spPr>
      </p:sp>
      <p:sp>
        <p:nvSpPr>
          <p:cNvPr id="28" name="Text 26"/>
          <p:cNvSpPr/>
          <p:nvPr/>
        </p:nvSpPr>
        <p:spPr>
          <a:xfrm>
            <a:off x="1047750" y="9544050"/>
            <a:ext cx="450679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Finance &amp; Treasury · Viessmann Generations Group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4792027" y="9544050"/>
            <a:ext cx="269304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01.09.2026 · Berlin · Vertraulich · 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00100"/>
            <a:ext cx="133350" cy="133350"/>
          </a:xfrm>
          <a:prstGeom prst="rect">
            <a:avLst/>
          </a:prstGeom>
          <a:solidFill>
            <a:srgbClr val="26890D"/>
          </a:solidFill>
          <a:ln/>
        </p:spPr>
      </p:sp>
      <p:sp>
        <p:nvSpPr>
          <p:cNvPr id="3" name="Text 1"/>
          <p:cNvSpPr/>
          <p:nvPr/>
        </p:nvSpPr>
        <p:spPr>
          <a:xfrm>
            <a:off x="1295400" y="762000"/>
            <a:ext cx="262870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225" kern="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AUSGANGSLAGE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1047750" y="1085850"/>
            <a:ext cx="17811750" cy="5287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407"/>
              </a:lnSpc>
              <a:buNone/>
            </a:pPr>
            <a:r>
              <a:rPr lang="en-US" sz="3450" b="1" spc="-75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Finance-Scope ist breit – die Fragilität liegt im Betrieb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1276350" y="1957536"/>
            <a:ext cx="440055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50" kern="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BEREICH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29250" y="1957536"/>
            <a:ext cx="104775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50" kern="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(AUSZUG)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5106650" y="1957536"/>
            <a:ext cx="20955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50" kern="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REIFEGRAD*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047750" y="2252811"/>
            <a:ext cx="16192500" cy="514350"/>
          </a:xfrm>
          <a:prstGeom prst="rect">
            <a:avLst/>
          </a:prstGeom>
          <a:solidFill>
            <a:srgbClr val="F4F5F4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5875" y="2395686"/>
            <a:ext cx="44005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 / Close / IFRS</a:t>
            </a:r>
            <a:endParaRPr lang="en-US" sz="1575" dirty="0"/>
          </a:p>
        </p:txBody>
      </p:sp>
      <p:sp>
        <p:nvSpPr>
          <p:cNvPr id="10" name="Text 8"/>
          <p:cNvSpPr/>
          <p:nvPr/>
        </p:nvSpPr>
        <p:spPr>
          <a:xfrm>
            <a:off x="5438775" y="2405211"/>
            <a:ext cx="1045654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J58, 1GA, 4HG, 2QL, 4PG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15097125" y="2405211"/>
            <a:ext cx="20955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hoch</a:t>
            </a:r>
            <a:endParaRPr lang="en-US" sz="1425" dirty="0"/>
          </a:p>
        </p:txBody>
      </p:sp>
      <p:sp>
        <p:nvSpPr>
          <p:cNvPr id="12" name="Shape 10"/>
          <p:cNvSpPr/>
          <p:nvPr/>
        </p:nvSpPr>
        <p:spPr>
          <a:xfrm>
            <a:off x="1047750" y="2862411"/>
            <a:ext cx="16192500" cy="514350"/>
          </a:xfrm>
          <a:prstGeom prst="rect">
            <a:avLst/>
          </a:prstGeom>
          <a:solidFill>
            <a:srgbClr val="F4F5F4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85875" y="3005286"/>
            <a:ext cx="44005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/ Cash / Payments</a:t>
            </a:r>
            <a:endParaRPr lang="en-US" sz="1575" dirty="0"/>
          </a:p>
        </p:txBody>
      </p:sp>
      <p:sp>
        <p:nvSpPr>
          <p:cNvPr id="14" name="Text 12"/>
          <p:cNvSpPr/>
          <p:nvPr/>
        </p:nvSpPr>
        <p:spPr>
          <a:xfrm>
            <a:off x="5438775" y="3014811"/>
            <a:ext cx="1045654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4X8, J78, BFA/BFB, 7MJ, 1EG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15097125" y="3014811"/>
            <a:ext cx="20955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hoch, aber fragil</a:t>
            </a:r>
            <a:endParaRPr lang="en-US" sz="1425" dirty="0"/>
          </a:p>
        </p:txBody>
      </p:sp>
      <p:sp>
        <p:nvSpPr>
          <p:cNvPr id="16" name="Shape 14"/>
          <p:cNvSpPr/>
          <p:nvPr/>
        </p:nvSpPr>
        <p:spPr>
          <a:xfrm>
            <a:off x="1047750" y="3472011"/>
            <a:ext cx="16192500" cy="514350"/>
          </a:xfrm>
          <a:prstGeom prst="rect">
            <a:avLst/>
          </a:prstGeom>
          <a:solidFill>
            <a:srgbClr val="F4F5F4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85875" y="3614886"/>
            <a:ext cx="44005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Intercompany</a:t>
            </a:r>
            <a:endParaRPr lang="en-US" sz="1575" dirty="0"/>
          </a:p>
        </p:txBody>
      </p:sp>
      <p:sp>
        <p:nvSpPr>
          <p:cNvPr id="18" name="Text 16"/>
          <p:cNvSpPr/>
          <p:nvPr/>
        </p:nvSpPr>
        <p:spPr>
          <a:xfrm>
            <a:off x="5438775" y="3624411"/>
            <a:ext cx="1045654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1GP, 40Y (ICMR) · Non-SAP per Excel-Upload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15097125" y="3624411"/>
            <a:ext cx="20955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mittel</a:t>
            </a:r>
            <a:endParaRPr lang="en-US" sz="1425" dirty="0"/>
          </a:p>
        </p:txBody>
      </p:sp>
      <p:sp>
        <p:nvSpPr>
          <p:cNvPr id="20" name="Shape 18"/>
          <p:cNvSpPr/>
          <p:nvPr/>
        </p:nvSpPr>
        <p:spPr>
          <a:xfrm>
            <a:off x="1047750" y="4081611"/>
            <a:ext cx="16192500" cy="514350"/>
          </a:xfrm>
          <a:prstGeom prst="rect">
            <a:avLst/>
          </a:prstGeom>
          <a:solidFill>
            <a:srgbClr val="F4F5F4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85875" y="4224486"/>
            <a:ext cx="44005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Reporting</a:t>
            </a:r>
            <a:endParaRPr lang="en-US" sz="1575" dirty="0"/>
          </a:p>
        </p:txBody>
      </p:sp>
      <p:sp>
        <p:nvSpPr>
          <p:cNvPr id="22" name="Text 20"/>
          <p:cNvSpPr/>
          <p:nvPr/>
        </p:nvSpPr>
        <p:spPr>
          <a:xfrm>
            <a:off x="5438775" y="4234011"/>
            <a:ext cx="1045654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1SG, 3AF</a:t>
            </a:r>
            <a:endParaRPr lang="en-US" sz="1425" dirty="0"/>
          </a:p>
        </p:txBody>
      </p:sp>
      <p:sp>
        <p:nvSpPr>
          <p:cNvPr id="23" name="Text 21"/>
          <p:cNvSpPr/>
          <p:nvPr/>
        </p:nvSpPr>
        <p:spPr>
          <a:xfrm>
            <a:off x="15097125" y="4234011"/>
            <a:ext cx="20955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mittel–hoch</a:t>
            </a:r>
            <a:endParaRPr lang="en-US" sz="1425" dirty="0"/>
          </a:p>
        </p:txBody>
      </p:sp>
      <p:sp>
        <p:nvSpPr>
          <p:cNvPr id="24" name="Shape 22"/>
          <p:cNvSpPr/>
          <p:nvPr/>
        </p:nvSpPr>
        <p:spPr>
          <a:xfrm>
            <a:off x="1047750" y="4691211"/>
            <a:ext cx="16192500" cy="514350"/>
          </a:xfrm>
          <a:prstGeom prst="rect">
            <a:avLst/>
          </a:prstGeom>
          <a:solidFill>
            <a:srgbClr val="F4F5F4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85875" y="4834086"/>
            <a:ext cx="44005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Treasury</a:t>
            </a:r>
            <a:endParaRPr lang="en-US" sz="1575" dirty="0"/>
          </a:p>
        </p:txBody>
      </p:sp>
      <p:sp>
        <p:nvSpPr>
          <p:cNvPr id="26" name="Text 24"/>
          <p:cNvSpPr/>
          <p:nvPr/>
        </p:nvSpPr>
        <p:spPr>
          <a:xfrm>
            <a:off x="5438775" y="4843611"/>
            <a:ext cx="1045654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 1S4 – bewusst: Drittlösung + Eigenentwicklung E05, kein SAP-TRM nötig</a:t>
            </a:r>
            <a:endParaRPr lang="en-US" sz="1425" dirty="0"/>
          </a:p>
        </p:txBody>
      </p:sp>
      <p:sp>
        <p:nvSpPr>
          <p:cNvPr id="27" name="Text 25"/>
          <p:cNvSpPr/>
          <p:nvPr/>
        </p:nvSpPr>
        <p:spPr>
          <a:xfrm>
            <a:off x="15097125" y="4843611"/>
            <a:ext cx="20955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bewusst schmal</a:t>
            </a:r>
            <a:endParaRPr lang="en-US" sz="1425" dirty="0"/>
          </a:p>
        </p:txBody>
      </p:sp>
      <p:sp>
        <p:nvSpPr>
          <p:cNvPr id="28" name="Shape 26"/>
          <p:cNvSpPr/>
          <p:nvPr/>
        </p:nvSpPr>
        <p:spPr>
          <a:xfrm>
            <a:off x="1047750" y="5300811"/>
            <a:ext cx="16192500" cy="514350"/>
          </a:xfrm>
          <a:prstGeom prst="rect">
            <a:avLst/>
          </a:prstGeom>
          <a:solidFill>
            <a:srgbClr val="F4F5F4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85875" y="5443686"/>
            <a:ext cx="44005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/ Sales</a:t>
            </a:r>
            <a:endParaRPr lang="en-US" sz="1575" dirty="0"/>
          </a:p>
        </p:txBody>
      </p:sp>
      <p:sp>
        <p:nvSpPr>
          <p:cNvPr id="30" name="Text 28"/>
          <p:cNvSpPr/>
          <p:nvPr/>
        </p:nvSpPr>
        <p:spPr>
          <a:xfrm>
            <a:off x="5438775" y="5453211"/>
            <a:ext cx="1045654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u. a. Ariba CIM 4N6 · 17 Sales-Items (vermutlich Template-Vollausbau)</a:t>
            </a:r>
            <a:endParaRPr lang="en-US" sz="1425" dirty="0"/>
          </a:p>
        </p:txBody>
      </p:sp>
      <p:sp>
        <p:nvSpPr>
          <p:cNvPr id="31" name="Text 29"/>
          <p:cNvSpPr/>
          <p:nvPr/>
        </p:nvSpPr>
        <p:spPr>
          <a:xfrm>
            <a:off x="15097125" y="5453211"/>
            <a:ext cx="20955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mittel</a:t>
            </a:r>
            <a:endParaRPr lang="en-US" sz="1425" dirty="0"/>
          </a:p>
        </p:txBody>
      </p:sp>
      <p:sp>
        <p:nvSpPr>
          <p:cNvPr id="32" name="Shape 30"/>
          <p:cNvSpPr/>
          <p:nvPr/>
        </p:nvSpPr>
        <p:spPr>
          <a:xfrm>
            <a:off x="1047750" y="5910411"/>
            <a:ext cx="16192500" cy="495300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33" name="Text 31"/>
          <p:cNvSpPr/>
          <p:nvPr/>
        </p:nvSpPr>
        <p:spPr>
          <a:xfrm>
            <a:off x="1276350" y="6043761"/>
            <a:ext cx="44005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Agenten-Fundament</a:t>
            </a:r>
            <a:endParaRPr lang="en-US" sz="1575" dirty="0"/>
          </a:p>
        </p:txBody>
      </p:sp>
      <p:sp>
        <p:nvSpPr>
          <p:cNvPr id="34" name="Text 32"/>
          <p:cNvSpPr/>
          <p:nvPr/>
        </p:nvSpPr>
        <p:spPr>
          <a:xfrm>
            <a:off x="5429250" y="6053286"/>
            <a:ext cx="104775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B8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Responsibility Management (1NJ) + Situation Handling (31N) – beides bereits im Scope</a:t>
            </a:r>
            <a:endParaRPr lang="en-US" sz="1425" dirty="0"/>
          </a:p>
        </p:txBody>
      </p:sp>
      <p:sp>
        <p:nvSpPr>
          <p:cNvPr id="35" name="Text 33"/>
          <p:cNvSpPr/>
          <p:nvPr/>
        </p:nvSpPr>
        <p:spPr>
          <a:xfrm>
            <a:off x="15106650" y="6053286"/>
            <a:ext cx="20955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vorhanden</a:t>
            </a:r>
            <a:endParaRPr lang="en-US" sz="1425" dirty="0"/>
          </a:p>
        </p:txBody>
      </p:sp>
      <p:sp>
        <p:nvSpPr>
          <p:cNvPr id="36" name="Text 34"/>
          <p:cNvSpPr/>
          <p:nvPr/>
        </p:nvSpPr>
        <p:spPr>
          <a:xfrm>
            <a:off x="1047750" y="6558111"/>
            <a:ext cx="178117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Reifegrad = Arbeitshypothese [ANNAHME], heute zu validieren · DEV-Scope = Produktiv-Scope (OF-1 geklärt)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047750" y="9401175"/>
            <a:ext cx="16192500" cy="9525"/>
          </a:xfrm>
          <a:prstGeom prst="rect">
            <a:avLst/>
          </a:prstGeom>
          <a:solidFill>
            <a:srgbClr val="E3E5E4"/>
          </a:solidFill>
          <a:ln/>
        </p:spPr>
      </p:sp>
      <p:sp>
        <p:nvSpPr>
          <p:cNvPr id="38" name="Text 36"/>
          <p:cNvSpPr/>
          <p:nvPr/>
        </p:nvSpPr>
        <p:spPr>
          <a:xfrm>
            <a:off x="1047750" y="9544050"/>
            <a:ext cx="450679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Finance &amp; Treasury · Viessmann Generations Group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4792027" y="9544050"/>
            <a:ext cx="269304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01.09.2026 · Berlin · Vertraulich · 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00100"/>
            <a:ext cx="133350" cy="133350"/>
          </a:xfrm>
          <a:prstGeom prst="rect">
            <a:avLst/>
          </a:prstGeom>
          <a:solidFill>
            <a:srgbClr val="26890D"/>
          </a:solidFill>
          <a:ln/>
        </p:spPr>
      </p:sp>
      <p:sp>
        <p:nvSpPr>
          <p:cNvPr id="3" name="Text 1"/>
          <p:cNvSpPr/>
          <p:nvPr/>
        </p:nvSpPr>
        <p:spPr>
          <a:xfrm>
            <a:off x="1295400" y="762000"/>
            <a:ext cx="262870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225" kern="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AUSGANGSLAGE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1047750" y="1085850"/>
            <a:ext cx="17811750" cy="5287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407"/>
              </a:lnSpc>
              <a:buNone/>
            </a:pPr>
            <a:r>
              <a:rPr lang="en-US" sz="3450" b="1" spc="-75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Sechs dokumentierte Vorfälle: Governance kommt vor Autonomie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1047750" y="1957536"/>
            <a:ext cx="5257800" cy="1582936"/>
          </a:xfrm>
          <a:prstGeom prst="rect">
            <a:avLst/>
          </a:prstGeom>
          <a:solidFill>
            <a:srgbClr val="F4F5F4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3975" y="2195661"/>
            <a:ext cx="517588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BP-Löschjob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1323975" y="2500461"/>
            <a:ext cx="4846511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3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löschte mehr als vorgesehen, Inkonsistenzen bei Journal Entries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323975" y="3111847"/>
            <a:ext cx="517588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Guardrails + Dry-Run für Massenaktionen</a:t>
            </a:r>
            <a:endParaRPr lang="en-US" sz="1275" dirty="0"/>
          </a:p>
        </p:txBody>
      </p:sp>
      <p:sp>
        <p:nvSpPr>
          <p:cNvPr id="9" name="Shape 7"/>
          <p:cNvSpPr/>
          <p:nvPr/>
        </p:nvSpPr>
        <p:spPr>
          <a:xfrm>
            <a:off x="6515100" y="1957536"/>
            <a:ext cx="5257800" cy="1582936"/>
          </a:xfrm>
          <a:prstGeom prst="rect">
            <a:avLst/>
          </a:prstGeom>
          <a:solidFill>
            <a:srgbClr val="F4F5F4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91325" y="2195661"/>
            <a:ext cx="517588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FX-Valuation 2026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6791325" y="2500461"/>
            <a:ext cx="4846511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3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FX Valuation unerwartet aktiv, blockiert Standard-Bewertung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791325" y="3111847"/>
            <a:ext cx="517588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Change-Governance für Config-Änderungen</a:t>
            </a:r>
            <a:endParaRPr lang="en-US" sz="1275" dirty="0"/>
          </a:p>
        </p:txBody>
      </p:sp>
      <p:sp>
        <p:nvSpPr>
          <p:cNvPr id="13" name="Shape 11"/>
          <p:cNvSpPr/>
          <p:nvPr/>
        </p:nvSpPr>
        <p:spPr>
          <a:xfrm>
            <a:off x="11982450" y="1957536"/>
            <a:ext cx="5257800" cy="1582936"/>
          </a:xfrm>
          <a:prstGeom prst="rect">
            <a:avLst/>
          </a:prstGeom>
          <a:solidFill>
            <a:srgbClr val="F4F5F4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8675" y="2195661"/>
            <a:ext cx="517588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Bankauszug-Upload</a:t>
            </a:r>
            <a:endParaRPr lang="en-US" sz="1575" dirty="0"/>
          </a:p>
        </p:txBody>
      </p:sp>
      <p:sp>
        <p:nvSpPr>
          <p:cNvPr id="15" name="Text 13"/>
          <p:cNvSpPr/>
          <p:nvPr/>
        </p:nvSpPr>
        <p:spPr>
          <a:xfrm>
            <a:off x="12258675" y="2500461"/>
            <a:ext cx="4846511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3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Lange Laufzeiten, blockierende Fehler – Engpass zum Monatsende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2258675" y="3111847"/>
            <a:ext cx="517588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Kandidat Nr. 1 für Cash-Application-Agent</a:t>
            </a:r>
            <a:endParaRPr lang="en-US" sz="1275" dirty="0"/>
          </a:p>
        </p:txBody>
      </p:sp>
      <p:sp>
        <p:nvSpPr>
          <p:cNvPr id="17" name="Shape 15"/>
          <p:cNvSpPr/>
          <p:nvPr/>
        </p:nvSpPr>
        <p:spPr>
          <a:xfrm>
            <a:off x="1047750" y="3750022"/>
            <a:ext cx="5257800" cy="1563886"/>
          </a:xfrm>
          <a:prstGeom prst="rect">
            <a:avLst/>
          </a:prstGeom>
          <a:solidFill>
            <a:srgbClr val="F4F5F4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23975" y="3988147"/>
            <a:ext cx="517588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 Account Determination</a:t>
            </a:r>
            <a:endParaRPr lang="en-US" sz="1575" dirty="0"/>
          </a:p>
        </p:txBody>
      </p:sp>
      <p:sp>
        <p:nvSpPr>
          <p:cNvPr id="19" name="Text 17"/>
          <p:cNvSpPr/>
          <p:nvPr/>
        </p:nvSpPr>
        <p:spPr>
          <a:xfrm>
            <a:off x="1323975" y="4292947"/>
            <a:ext cx="5175885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3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Anlagenkonten mit abweichender Methode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323975" y="4655790"/>
            <a:ext cx="517588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Config-Konsistenz maschinell prüfen</a:t>
            </a:r>
            <a:endParaRPr lang="en-US" sz="1275" dirty="0"/>
          </a:p>
        </p:txBody>
      </p:sp>
      <p:sp>
        <p:nvSpPr>
          <p:cNvPr id="21" name="Shape 19"/>
          <p:cNvSpPr/>
          <p:nvPr/>
        </p:nvSpPr>
        <p:spPr>
          <a:xfrm>
            <a:off x="6515100" y="3750022"/>
            <a:ext cx="5257800" cy="1563886"/>
          </a:xfrm>
          <a:prstGeom prst="rect">
            <a:avLst/>
          </a:prstGeom>
          <a:solidFill>
            <a:srgbClr val="F4F5F4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91325" y="3988147"/>
            <a:ext cx="517588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Overconsumption</a:t>
            </a:r>
            <a:endParaRPr lang="en-US" sz="1575" dirty="0"/>
          </a:p>
        </p:txBody>
      </p:sp>
      <p:sp>
        <p:nvSpPr>
          <p:cNvPr id="23" name="Text 21"/>
          <p:cNvSpPr/>
          <p:nvPr/>
        </p:nvSpPr>
        <p:spPr>
          <a:xfrm>
            <a:off x="6791325" y="4292947"/>
            <a:ext cx="5175885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3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Verbrauchsspitzen nach Release-Upgrades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791325" y="4655790"/>
            <a:ext cx="517588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Kosten-/Verbrauchs-Monitoring, AI-Units-Kalkül</a:t>
            </a:r>
            <a:endParaRPr lang="en-US" sz="1275" dirty="0"/>
          </a:p>
        </p:txBody>
      </p:sp>
      <p:sp>
        <p:nvSpPr>
          <p:cNvPr id="25" name="Shape 23"/>
          <p:cNvSpPr/>
          <p:nvPr/>
        </p:nvSpPr>
        <p:spPr>
          <a:xfrm>
            <a:off x="11982450" y="3750022"/>
            <a:ext cx="5257800" cy="1563886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26" name="Text 24"/>
          <p:cNvSpPr/>
          <p:nvPr/>
        </p:nvSpPr>
        <p:spPr>
          <a:xfrm>
            <a:off x="12249150" y="3978622"/>
            <a:ext cx="519684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Rollen bei neuen BuKr</a:t>
            </a:r>
            <a:endParaRPr lang="en-US" sz="1575" dirty="0"/>
          </a:p>
        </p:txBody>
      </p:sp>
      <p:sp>
        <p:nvSpPr>
          <p:cNvPr id="27" name="Text 25"/>
          <p:cNvSpPr/>
          <p:nvPr/>
        </p:nvSpPr>
        <p:spPr>
          <a:xfrm>
            <a:off x="12249150" y="4283422"/>
            <a:ext cx="4866132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350" dirty="0">
                <a:solidFill>
                  <a:srgbClr val="B8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Rollen-Erweiterung je neuer Gesellschaft – wiederkehrender manueller Engpass, von Ihnen benannt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2249150" y="4894808"/>
            <a:ext cx="519684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Pflichtteil des Entity Onboarding (B-8)</a:t>
            </a:r>
            <a:endParaRPr lang="en-US" sz="1275" dirty="0"/>
          </a:p>
        </p:txBody>
      </p:sp>
      <p:sp>
        <p:nvSpPr>
          <p:cNvPr id="29" name="Shape 27"/>
          <p:cNvSpPr/>
          <p:nvPr/>
        </p:nvSpPr>
        <p:spPr>
          <a:xfrm>
            <a:off x="1047750" y="9401175"/>
            <a:ext cx="16192500" cy="9525"/>
          </a:xfrm>
          <a:prstGeom prst="rect">
            <a:avLst/>
          </a:prstGeom>
          <a:solidFill>
            <a:srgbClr val="E3E5E4"/>
          </a:solidFill>
          <a:ln/>
        </p:spPr>
      </p:sp>
      <p:sp>
        <p:nvSpPr>
          <p:cNvPr id="30" name="Text 28"/>
          <p:cNvSpPr/>
          <p:nvPr/>
        </p:nvSpPr>
        <p:spPr>
          <a:xfrm>
            <a:off x="1047750" y="9544050"/>
            <a:ext cx="450679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Finance &amp; Treasury · Viessmann Generations Group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4792027" y="9544050"/>
            <a:ext cx="269304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01.09.2026 · Berlin · Vertraulich · 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00100"/>
            <a:ext cx="133350" cy="133350"/>
          </a:xfrm>
          <a:prstGeom prst="rect">
            <a:avLst/>
          </a:prstGeom>
          <a:solidFill>
            <a:srgbClr val="26890D"/>
          </a:solidFill>
          <a:ln/>
        </p:spPr>
      </p:sp>
      <p:sp>
        <p:nvSpPr>
          <p:cNvPr id="3" name="Text 1"/>
          <p:cNvSpPr/>
          <p:nvPr/>
        </p:nvSpPr>
        <p:spPr>
          <a:xfrm>
            <a:off x="1295400" y="762000"/>
            <a:ext cx="262870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225" kern="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AUSGANGSLAGE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1047750" y="1085850"/>
            <a:ext cx="17811750" cy="5287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407"/>
              </a:lnSpc>
              <a:buNone/>
            </a:pPr>
            <a:r>
              <a:rPr lang="en-US" sz="3450" b="1" spc="-75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Engpass ist nicht die Buchung, sondern die Wiederholung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1047750" y="1957536"/>
            <a:ext cx="7943850" cy="7443639"/>
          </a:xfrm>
          <a:prstGeom prst="rect">
            <a:avLst/>
          </a:prstGeom>
          <a:ln w="19050">
            <a:solidFill>
              <a:srgbClr val="26890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2243286"/>
            <a:ext cx="802576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150" kern="0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REPETITIV → AGENT FÜHRT AUS, MENSCH GIBT FREI</a:t>
            </a:r>
            <a:endParaRPr lang="en-US" sz="1425" dirty="0"/>
          </a:p>
        </p:txBody>
      </p:sp>
      <p:sp>
        <p:nvSpPr>
          <p:cNvPr id="7" name="Shape 5"/>
          <p:cNvSpPr/>
          <p:nvPr/>
        </p:nvSpPr>
        <p:spPr>
          <a:xfrm>
            <a:off x="1371600" y="2567136"/>
            <a:ext cx="3600450" cy="666750"/>
          </a:xfrm>
          <a:prstGeom prst="rect">
            <a:avLst/>
          </a:prstGeom>
          <a:solidFill>
            <a:srgbClr val="F4F5F4"/>
          </a:solidFill>
          <a:ln/>
        </p:spPr>
      </p:sp>
      <p:sp>
        <p:nvSpPr>
          <p:cNvPr id="8" name="Text 6"/>
          <p:cNvSpPr/>
          <p:nvPr/>
        </p:nvSpPr>
        <p:spPr>
          <a:xfrm>
            <a:off x="1524000" y="2681436"/>
            <a:ext cx="3403664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highlight>
                  <a:srgbClr val="F4F5F4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Kontoauszug / Cash Application </a:t>
            </a:r>
            <a:pPr algn="l" indent="0" marL="0">
              <a:buNone/>
            </a:pPr>
            <a:r>
              <a:rPr lang="en-US" sz="1500" b="1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täglich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67300" y="2567136"/>
            <a:ext cx="3600450" cy="666750"/>
          </a:xfrm>
          <a:prstGeom prst="rect">
            <a:avLst/>
          </a:prstGeom>
          <a:solidFill>
            <a:srgbClr val="F4F5F4"/>
          </a:solidFill>
          <a:ln/>
        </p:spPr>
      </p:sp>
      <p:sp>
        <p:nvSpPr>
          <p:cNvPr id="10" name="Text 8"/>
          <p:cNvSpPr/>
          <p:nvPr/>
        </p:nvSpPr>
        <p:spPr>
          <a:xfrm>
            <a:off x="5219700" y="2681436"/>
            <a:ext cx="3403664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highlight>
                  <a:srgbClr val="F4F5F4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Zahlläufe (F110) </a:t>
            </a:r>
            <a:pPr algn="l" indent="0" marL="0">
              <a:buNone/>
            </a:pPr>
            <a:r>
              <a:rPr lang="en-US" sz="1500" b="1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mehrmals/Woche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371600" y="3329136"/>
            <a:ext cx="3600450" cy="447675"/>
          </a:xfrm>
          <a:prstGeom prst="rect">
            <a:avLst/>
          </a:prstGeom>
          <a:solidFill>
            <a:srgbClr val="F4F5F4"/>
          </a:solidFill>
          <a:ln/>
        </p:spPr>
      </p:sp>
      <p:sp>
        <p:nvSpPr>
          <p:cNvPr id="12" name="Text 10"/>
          <p:cNvSpPr/>
          <p:nvPr/>
        </p:nvSpPr>
        <p:spPr>
          <a:xfrm>
            <a:off x="1524000" y="3443436"/>
            <a:ext cx="340366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highlight>
                  <a:srgbClr val="F4F5F4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IC-Abstimmung </a:t>
            </a:r>
            <a:pPr algn="l" indent="0" marL="0">
              <a:buNone/>
            </a:pPr>
            <a:r>
              <a:rPr lang="en-US" sz="1500" b="1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monatlich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67300" y="3329136"/>
            <a:ext cx="3600450" cy="447675"/>
          </a:xfrm>
          <a:prstGeom prst="rect">
            <a:avLst/>
          </a:prstGeom>
          <a:solidFill>
            <a:srgbClr val="F4F5F4"/>
          </a:solidFill>
          <a:ln/>
        </p:spPr>
      </p:sp>
      <p:sp>
        <p:nvSpPr>
          <p:cNvPr id="14" name="Text 12"/>
          <p:cNvSpPr/>
          <p:nvPr/>
        </p:nvSpPr>
        <p:spPr>
          <a:xfrm>
            <a:off x="5219700" y="3443436"/>
            <a:ext cx="340366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highlight>
                  <a:srgbClr val="F4F5F4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FX-Bewertung </a:t>
            </a:r>
            <a:pPr algn="l" indent="0" marL="0">
              <a:buNone/>
            </a:pPr>
            <a:r>
              <a:rPr lang="en-US" sz="1500" b="1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periodisch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371600" y="3872061"/>
            <a:ext cx="3600450" cy="447675"/>
          </a:xfrm>
          <a:prstGeom prst="rect">
            <a:avLst/>
          </a:prstGeom>
          <a:solidFill>
            <a:srgbClr val="F4F5F4"/>
          </a:solidFill>
          <a:ln/>
        </p:spPr>
      </p:sp>
      <p:sp>
        <p:nvSpPr>
          <p:cNvPr id="16" name="Text 14"/>
          <p:cNvSpPr/>
          <p:nvPr/>
        </p:nvSpPr>
        <p:spPr>
          <a:xfrm>
            <a:off x="1524000" y="3986361"/>
            <a:ext cx="340366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Abschluss-Tasks über alle CC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067300" y="3872061"/>
            <a:ext cx="3600450" cy="447675"/>
          </a:xfrm>
          <a:prstGeom prst="rect">
            <a:avLst/>
          </a:prstGeom>
          <a:solidFill>
            <a:srgbClr val="F4F5F4"/>
          </a:solidFill>
          <a:ln/>
        </p:spPr>
      </p:sp>
      <p:sp>
        <p:nvSpPr>
          <p:cNvPr id="18" name="Text 16"/>
          <p:cNvSpPr/>
          <p:nvPr/>
        </p:nvSpPr>
        <p:spPr>
          <a:xfrm>
            <a:off x="5219700" y="3986361"/>
            <a:ext cx="340366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Stammdaten (BP, Bank, Konto)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71600" y="8590657"/>
            <a:ext cx="7515035" cy="56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227"/>
              </a:lnSpc>
              <a:buNone/>
            </a:pPr>
            <a:r>
              <a:rPr lang="en-US" sz="1425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Jeder automatisierte Prozess wirkt über </a:t>
            </a:r>
            <a:pPr algn="l" indent="0" marL="0">
              <a:lnSpc>
                <a:spcPct val="125227"/>
              </a:lnSpc>
              <a:buNone/>
            </a:pPr>
            <a:r>
              <a:rPr lang="en-US" sz="1425" b="1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 Entitäten </a:t>
            </a:r>
            <a:pPr algn="l" indent="0" marL="0">
              <a:lnSpc>
                <a:spcPct val="125227"/>
              </a:lnSpc>
              <a:buNone/>
            </a:pPr>
            <a:r>
              <a:rPr lang="en-US" sz="1425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geschätzte Entlastung 20–40 % der repetitiven Kapazität [ANNAHME]</a:t>
            </a:r>
            <a:endParaRPr lang="en-US" sz="1425" dirty="0"/>
          </a:p>
        </p:txBody>
      </p:sp>
      <p:sp>
        <p:nvSpPr>
          <p:cNvPr id="20" name="Shape 18"/>
          <p:cNvSpPr/>
          <p:nvPr/>
        </p:nvSpPr>
        <p:spPr>
          <a:xfrm>
            <a:off x="9296400" y="1957536"/>
            <a:ext cx="7943850" cy="7443639"/>
          </a:xfrm>
          <a:prstGeom prst="rect">
            <a:avLst/>
          </a:prstGeom>
          <a:solidFill>
            <a:srgbClr val="F4F5F4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10725" y="2233761"/>
            <a:ext cx="753465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150" kern="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URTEILSINTENSIV → COPILOT UNTERSTÜTZT, MENSCH ENTSCHEIDET</a:t>
            </a:r>
            <a:endParaRPr lang="en-US" sz="1425" dirty="0"/>
          </a:p>
        </p:txBody>
      </p:sp>
      <p:sp>
        <p:nvSpPr>
          <p:cNvPr id="22" name="Shape 20"/>
          <p:cNvSpPr/>
          <p:nvPr/>
        </p:nvSpPr>
        <p:spPr>
          <a:xfrm>
            <a:off x="9610725" y="2767161"/>
            <a:ext cx="7315200" cy="466725"/>
          </a:xfrm>
          <a:prstGeom prst="rect">
            <a:avLst/>
          </a:prstGeom>
          <a:solidFill>
            <a:srgbClr val="FFFFFF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72650" y="2890986"/>
            <a:ext cx="721080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Liquiditätsplanung &amp; Cash-Position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9610725" y="3329136"/>
            <a:ext cx="7315200" cy="466725"/>
          </a:xfrm>
          <a:prstGeom prst="rect">
            <a:avLst/>
          </a:prstGeom>
          <a:solidFill>
            <a:srgbClr val="FFFFFF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72650" y="3452961"/>
            <a:ext cx="721080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Beteiligungsbuchung bei Deals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610725" y="3891111"/>
            <a:ext cx="7315200" cy="466725"/>
          </a:xfrm>
          <a:prstGeom prst="rect">
            <a:avLst/>
          </a:prstGeom>
          <a:solidFill>
            <a:srgbClr val="FFFFFF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72650" y="4014936"/>
            <a:ext cx="721080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IC-Darlehenskonditionen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9610725" y="4453086"/>
            <a:ext cx="7315200" cy="466725"/>
          </a:xfrm>
          <a:prstGeom prst="rect">
            <a:avLst/>
          </a:prstGeom>
          <a:solidFill>
            <a:srgbClr val="FFFFFF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772650" y="4576911"/>
            <a:ext cx="721080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Prüfer- und Auditanfragen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610725" y="8862566"/>
            <a:ext cx="8046720" cy="300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227"/>
              </a:lnSpc>
              <a:buNone/>
            </a:pPr>
            <a:r>
              <a:rPr lang="en-US" sz="1425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Ziel ist Entlastung von der Wiederholung – </a:t>
            </a:r>
            <a:pPr algn="l" indent="0" marL="0">
              <a:lnSpc>
                <a:spcPct val="125227"/>
              </a:lnSpc>
              <a:buNone/>
            </a:pPr>
            <a:r>
              <a:rPr lang="en-US" sz="142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nicht der Ersatz von Urteilsentscheidungen</a:t>
            </a:r>
            <a:endParaRPr lang="en-US" sz="1425" dirty="0"/>
          </a:p>
        </p:txBody>
      </p:sp>
      <p:sp>
        <p:nvSpPr>
          <p:cNvPr id="31" name="Shape 29"/>
          <p:cNvSpPr/>
          <p:nvPr/>
        </p:nvSpPr>
        <p:spPr>
          <a:xfrm>
            <a:off x="1047750" y="9401175"/>
            <a:ext cx="16192500" cy="9525"/>
          </a:xfrm>
          <a:prstGeom prst="rect">
            <a:avLst/>
          </a:prstGeom>
          <a:solidFill>
            <a:srgbClr val="E3E5E4"/>
          </a:solidFill>
          <a:ln/>
        </p:spPr>
      </p:sp>
      <p:sp>
        <p:nvSpPr>
          <p:cNvPr id="32" name="Text 30"/>
          <p:cNvSpPr/>
          <p:nvPr/>
        </p:nvSpPr>
        <p:spPr>
          <a:xfrm>
            <a:off x="1047750" y="9544050"/>
            <a:ext cx="450679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Finance &amp; Treasury · Viessmann Generations Group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4792027" y="9544050"/>
            <a:ext cx="269304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01.09.2026 · Berlin · Vertraulich · 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4030117"/>
            <a:ext cx="367531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02 · 0:25 – 0:55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4525417"/>
            <a:ext cx="17811750" cy="99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636"/>
              </a:lnSpc>
              <a:buNone/>
            </a:pPr>
            <a:r>
              <a:rPr lang="en-US" sz="7200" b="1" spc="-22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Buchungskreis-Fabrik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047750" y="5714107"/>
            <a:ext cx="178117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D7DB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Vom manuellen Runbook zur agentischen Anlage neuer Gesellschaften.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47750" y="9334500"/>
            <a:ext cx="16192500" cy="9525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6" name="Text 4"/>
          <p:cNvSpPr/>
          <p:nvPr/>
        </p:nvSpPr>
        <p:spPr>
          <a:xfrm>
            <a:off x="1047750" y="9515475"/>
            <a:ext cx="507029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A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Finance &amp; Treasury · Viessmann Generations Group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7062252" y="9515475"/>
            <a:ext cx="25419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A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00100"/>
            <a:ext cx="133350" cy="133350"/>
          </a:xfrm>
          <a:prstGeom prst="rect">
            <a:avLst/>
          </a:prstGeom>
          <a:solidFill>
            <a:srgbClr val="26890D"/>
          </a:solidFill>
          <a:ln/>
        </p:spPr>
      </p:sp>
      <p:sp>
        <p:nvSpPr>
          <p:cNvPr id="3" name="Text 1"/>
          <p:cNvSpPr/>
          <p:nvPr/>
        </p:nvSpPr>
        <p:spPr>
          <a:xfrm>
            <a:off x="1295400" y="762000"/>
            <a:ext cx="375012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225" kern="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BUCHUNGSKREIS-FABRIK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1047750" y="1085850"/>
            <a:ext cx="17811750" cy="5287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407"/>
              </a:lnSpc>
              <a:buNone/>
            </a:pPr>
            <a:r>
              <a:rPr lang="en-US" sz="3450" b="1" spc="-75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Heute: ~40 manuelle Einzelschritte pro neuer Gesellschaft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1047750" y="1671786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Ihr Runbook „Set up new Company Code" (v.01), Schritt für Schritt – manuell und personengebunden.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1047750" y="3812381"/>
            <a:ext cx="2215158" cy="2781300"/>
          </a:xfrm>
          <a:prstGeom prst="rect">
            <a:avLst/>
          </a:prstGeom>
          <a:solidFill>
            <a:srgbClr val="F4F5F4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09675" y="4012406"/>
            <a:ext cx="208043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75" kern="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1209675" y="4279106"/>
            <a:ext cx="208043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Org-Struktur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1209675" y="4564856"/>
            <a:ext cx="1967508" cy="464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2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Code, Company, Zuordnung · CBC + SSCUI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77208" y="3812381"/>
            <a:ext cx="2215307" cy="2781300"/>
          </a:xfrm>
          <a:prstGeom prst="rect">
            <a:avLst/>
          </a:prstGeom>
          <a:solidFill>
            <a:srgbClr val="F4F5F4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39133" y="4012406"/>
            <a:ext cx="208060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75" kern="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3539133" y="4279106"/>
            <a:ext cx="208060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Logistik-Org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3539133" y="4564856"/>
            <a:ext cx="2080602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2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Plant, Purchase Org · CBC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706814" y="3812381"/>
            <a:ext cx="2215158" cy="2781300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15" name="Text 13"/>
          <p:cNvSpPr/>
          <p:nvPr/>
        </p:nvSpPr>
        <p:spPr>
          <a:xfrm>
            <a:off x="5859214" y="4002881"/>
            <a:ext cx="210139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75" kern="0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75" dirty="0"/>
          </a:p>
        </p:txBody>
      </p:sp>
      <p:sp>
        <p:nvSpPr>
          <p:cNvPr id="16" name="Text 14"/>
          <p:cNvSpPr/>
          <p:nvPr/>
        </p:nvSpPr>
        <p:spPr>
          <a:xfrm>
            <a:off x="5859214" y="4269581"/>
            <a:ext cx="210139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Finanz-Detailconfig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5859214" y="4555331"/>
            <a:ext cx="1986558" cy="677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200" dirty="0">
                <a:solidFill>
                  <a:srgbClr val="B8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~11 SSCUIs: Perioden, Steuern, Zahlwege, Nummernkreise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36272" y="3812381"/>
            <a:ext cx="2215307" cy="2781300"/>
          </a:xfrm>
          <a:prstGeom prst="rect">
            <a:avLst/>
          </a:prstGeom>
          <a:solidFill>
            <a:srgbClr val="F4F5F4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98197" y="4012406"/>
            <a:ext cx="208060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75" kern="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75" dirty="0"/>
          </a:p>
        </p:txBody>
      </p:sp>
      <p:sp>
        <p:nvSpPr>
          <p:cNvPr id="20" name="Text 18"/>
          <p:cNvSpPr/>
          <p:nvPr/>
        </p:nvSpPr>
        <p:spPr>
          <a:xfrm>
            <a:off x="8198197" y="4279106"/>
            <a:ext cx="208060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 &amp; Kontenfindung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8198197" y="4564856"/>
            <a:ext cx="1967657" cy="464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2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 kopieren, Konten, Account Determination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365879" y="3812381"/>
            <a:ext cx="2215158" cy="2781300"/>
          </a:xfrm>
          <a:prstGeom prst="rect">
            <a:avLst/>
          </a:prstGeom>
          <a:solidFill>
            <a:srgbClr val="F4F5F4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27804" y="4012406"/>
            <a:ext cx="208043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75" kern="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75" dirty="0"/>
          </a:p>
        </p:txBody>
      </p:sp>
      <p:sp>
        <p:nvSpPr>
          <p:cNvPr id="24" name="Text 22"/>
          <p:cNvSpPr/>
          <p:nvPr/>
        </p:nvSpPr>
        <p:spPr>
          <a:xfrm>
            <a:off x="10527804" y="4279106"/>
            <a:ext cx="208043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Controlling</a:t>
            </a:r>
            <a:endParaRPr lang="en-US" sz="1425" dirty="0"/>
          </a:p>
        </p:txBody>
      </p:sp>
      <p:sp>
        <p:nvSpPr>
          <p:cNvPr id="25" name="Text 23"/>
          <p:cNvSpPr/>
          <p:nvPr/>
        </p:nvSpPr>
        <p:spPr>
          <a:xfrm>
            <a:off x="10527804" y="4564856"/>
            <a:ext cx="1967508" cy="464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2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Profit-/Cost-Center, Defaults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2695337" y="3812381"/>
            <a:ext cx="2215307" cy="2781300"/>
          </a:xfrm>
          <a:prstGeom prst="rect">
            <a:avLst/>
          </a:prstGeom>
          <a:solidFill>
            <a:srgbClr val="F4F5F4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857262" y="4012406"/>
            <a:ext cx="208060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75" kern="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75" dirty="0"/>
          </a:p>
        </p:txBody>
      </p:sp>
      <p:sp>
        <p:nvSpPr>
          <p:cNvPr id="28" name="Text 26"/>
          <p:cNvSpPr/>
          <p:nvPr/>
        </p:nvSpPr>
        <p:spPr>
          <a:xfrm>
            <a:off x="12857262" y="4279106"/>
            <a:ext cx="208060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 / Sales / Forms</a:t>
            </a:r>
            <a:endParaRPr lang="en-US" sz="1425" dirty="0"/>
          </a:p>
        </p:txBody>
      </p:sp>
      <p:sp>
        <p:nvSpPr>
          <p:cNvPr id="29" name="Text 27"/>
          <p:cNvSpPr/>
          <p:nvPr/>
        </p:nvSpPr>
        <p:spPr>
          <a:xfrm>
            <a:off x="12857262" y="4564856"/>
            <a:ext cx="1967657" cy="464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2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Workflows, Kontenfindung, Formulare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5024943" y="3812381"/>
            <a:ext cx="2215158" cy="2781300"/>
          </a:xfrm>
          <a:prstGeom prst="rect">
            <a:avLst/>
          </a:prstGeom>
          <a:solidFill>
            <a:srgbClr val="F4F5F4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5186868" y="4012406"/>
            <a:ext cx="208043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75" kern="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75" dirty="0"/>
          </a:p>
        </p:txBody>
      </p:sp>
      <p:sp>
        <p:nvSpPr>
          <p:cNvPr id="32" name="Text 30"/>
          <p:cNvSpPr/>
          <p:nvPr/>
        </p:nvSpPr>
        <p:spPr>
          <a:xfrm>
            <a:off x="15186868" y="4279106"/>
            <a:ext cx="208043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</a:t>
            </a:r>
            <a:endParaRPr lang="en-US" sz="1425" dirty="0"/>
          </a:p>
        </p:txBody>
      </p:sp>
      <p:sp>
        <p:nvSpPr>
          <p:cNvPr id="33" name="Text 31"/>
          <p:cNvSpPr/>
          <p:nvPr/>
        </p:nvSpPr>
        <p:spPr>
          <a:xfrm>
            <a:off x="15186868" y="4564856"/>
            <a:ext cx="2080439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2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→ TEST → PROD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047750" y="8258175"/>
            <a:ext cx="16192500" cy="914400"/>
          </a:xfrm>
          <a:prstGeom prst="rect">
            <a:avLst/>
          </a:prstGeom>
          <a:solidFill>
            <a:srgbClr val="F4F5F4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23975" y="8477250"/>
            <a:ext cx="2626578" cy="5143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~40 Schritte</a:t>
            </a:r>
            <a:endParaRPr lang="en-US" sz="3300" dirty="0"/>
          </a:p>
        </p:txBody>
      </p:sp>
      <p:sp>
        <p:nvSpPr>
          <p:cNvPr id="36" name="Text 34"/>
          <p:cNvSpPr/>
          <p:nvPr/>
        </p:nvSpPr>
        <p:spPr>
          <a:xfrm>
            <a:off x="4092773" y="8439150"/>
            <a:ext cx="13257389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087"/>
              </a:lnSpc>
              <a:buNone/>
            </a:pPr>
            <a:r>
              <a:rPr lang="en-US" sz="15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über CBC, ein Dutzend SSCUIs, mehrere Fiori-Apps und einen Systemtransport – </a:t>
            </a:r>
            <a:pPr algn="l" indent="0" marL="0">
              <a:lnSpc>
                <a:spcPct val="126087"/>
              </a:lnSpc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Gesellschaft, bei laufenden Zukäufen</a:t>
            </a:r>
            <a:pPr algn="l" indent="0" marL="0">
              <a:lnSpc>
                <a:spcPct val="126087"/>
              </a:lnSpc>
              <a:buNone/>
            </a:pPr>
            <a:r>
              <a:rPr lang="en-US" sz="15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Durchlaufzeit heute: </a:t>
            </a:r>
            <a:pPr algn="l" indent="0" marL="0">
              <a:lnSpc>
                <a:spcPct val="126087"/>
              </a:lnSpc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[TBD: OF-5, im Raum erfragen]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1047750" y="9401175"/>
            <a:ext cx="16192500" cy="9525"/>
          </a:xfrm>
          <a:prstGeom prst="rect">
            <a:avLst/>
          </a:prstGeom>
          <a:solidFill>
            <a:srgbClr val="E3E5E4"/>
          </a:solidFill>
          <a:ln/>
        </p:spPr>
      </p:sp>
      <p:sp>
        <p:nvSpPr>
          <p:cNvPr id="38" name="Text 36"/>
          <p:cNvSpPr/>
          <p:nvPr/>
        </p:nvSpPr>
        <p:spPr>
          <a:xfrm>
            <a:off x="1047750" y="9544050"/>
            <a:ext cx="450679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Finance &amp; Treasury · Viessmann Generations Group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4792027" y="9544050"/>
            <a:ext cx="269304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01.09.2026 · Berlin · Vertraulich · 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00100"/>
            <a:ext cx="133350" cy="133350"/>
          </a:xfrm>
          <a:prstGeom prst="rect">
            <a:avLst/>
          </a:prstGeom>
          <a:solidFill>
            <a:srgbClr val="26890D"/>
          </a:solidFill>
          <a:ln/>
        </p:spPr>
      </p:sp>
      <p:sp>
        <p:nvSpPr>
          <p:cNvPr id="3" name="Text 1"/>
          <p:cNvSpPr/>
          <p:nvPr/>
        </p:nvSpPr>
        <p:spPr>
          <a:xfrm>
            <a:off x="1295400" y="762000"/>
            <a:ext cx="375012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225" kern="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BUCHUNGSKREIS-FABRIK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1047750" y="1085850"/>
            <a:ext cx="17811750" cy="5287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407"/>
              </a:lnSpc>
              <a:buNone/>
            </a:pPr>
            <a:r>
              <a:rPr lang="en-US" sz="3450" b="1" spc="-75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Vier Entity-Templates decken das Portfolio ab – T1 dominiert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1047750" y="1957536"/>
            <a:ext cx="4577507" cy="6462564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6" name="Text 4"/>
          <p:cNvSpPr/>
          <p:nvPr/>
        </p:nvSpPr>
        <p:spPr>
          <a:xfrm>
            <a:off x="1333500" y="2243286"/>
            <a:ext cx="440660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150" kern="0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 · SPV / VORRAT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1333500" y="2567136"/>
            <a:ext cx="4406607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 Finance – der Serienfall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33500" y="2978497"/>
            <a:ext cx="4126187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350" dirty="0">
                <a:solidFill>
                  <a:srgbClr val="B8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GL, AP, Bank/Cash, Tax, IC, Group Reporting · DE-Basis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333500" y="7620000"/>
            <a:ext cx="4126187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350" b="1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Rollen-Set: </a:t>
            </a:r>
            <a:pPr algn="l" indent="0" marL="0">
              <a:lnSpc>
                <a:spcPct val="128571"/>
              </a:lnSpc>
              <a:buNone/>
            </a:pPr>
            <a:r>
              <a:rPr lang="en-US" sz="1350" dirty="0">
                <a:solidFill>
                  <a:srgbClr val="B8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Finance-Rollen für Team + ext. Steuerberater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834807" y="1957536"/>
            <a:ext cx="3662065" cy="6462564"/>
          </a:xfrm>
          <a:prstGeom prst="rect">
            <a:avLst/>
          </a:prstGeom>
          <a:solidFill>
            <a:srgbClr val="F4F5F4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30082" y="2252811"/>
            <a:ext cx="337866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150" kern="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 · ASSET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6130082" y="2576661"/>
            <a:ext cx="3378666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Estate, Forst, Agrar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130082" y="2988022"/>
            <a:ext cx="316366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3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 + Anlagenbuchhaltung, ggf. einfache AR/AP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130082" y="7867650"/>
            <a:ext cx="337866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35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Rollen-Set: </a:t>
            </a:r>
            <a:pPr algn="l" indent="0" marL="0">
              <a:lnSpc>
                <a:spcPct val="128571"/>
              </a:lnSpc>
              <a:buNone/>
            </a:pPr>
            <a:r>
              <a:rPr lang="en-US" sz="13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 + Asset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9706421" y="1957536"/>
            <a:ext cx="3662065" cy="6462564"/>
          </a:xfrm>
          <a:prstGeom prst="rect">
            <a:avLst/>
          </a:prstGeom>
          <a:solidFill>
            <a:srgbClr val="F4F5F4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01696" y="2252811"/>
            <a:ext cx="337866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150" kern="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T3 · OPERATIV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10001696" y="2576661"/>
            <a:ext cx="3378666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Plattform-Entität mit Betrieb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001696" y="2988022"/>
            <a:ext cx="337866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3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 + Procurement + Sales + Inventory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0001696" y="7867650"/>
            <a:ext cx="337866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35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Rollen-Set: </a:t>
            </a:r>
            <a:pPr algn="l" indent="0" marL="0">
              <a:lnSpc>
                <a:spcPct val="128571"/>
              </a:lnSpc>
              <a:buNone/>
            </a:pPr>
            <a:r>
              <a:rPr lang="en-US" sz="13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Proc/Sales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13578036" y="1957536"/>
            <a:ext cx="3662065" cy="6462564"/>
          </a:xfrm>
          <a:prstGeom prst="rect">
            <a:avLst/>
          </a:prstGeom>
          <a:solidFill>
            <a:srgbClr val="F4F5F4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873311" y="2252811"/>
            <a:ext cx="337866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150" kern="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T4 · AUSLAND</a:t>
            </a:r>
            <a:endParaRPr lang="en-US" sz="1425" dirty="0"/>
          </a:p>
        </p:txBody>
      </p:sp>
      <p:sp>
        <p:nvSpPr>
          <p:cNvPr id="22" name="Text 20"/>
          <p:cNvSpPr/>
          <p:nvPr/>
        </p:nvSpPr>
        <p:spPr>
          <a:xfrm>
            <a:off x="13873311" y="2576661"/>
            <a:ext cx="3378666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 · FI · LU · NL · UK · US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873311" y="2988022"/>
            <a:ext cx="316366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3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T1/T2/T3 + Ländervariante: Tax, Bank, Reporting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3873311" y="7867650"/>
            <a:ext cx="337866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35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Rollen-Set: </a:t>
            </a:r>
            <a:pPr algn="l" indent="0" marL="0">
              <a:lnSpc>
                <a:spcPct val="128571"/>
              </a:lnSpc>
              <a:buNone/>
            </a:pPr>
            <a:r>
              <a:rPr lang="en-US" sz="13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länderspezifisch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1047750" y="8629650"/>
            <a:ext cx="16192500" cy="542925"/>
          </a:xfrm>
          <a:prstGeom prst="rect">
            <a:avLst/>
          </a:prstGeom>
          <a:solidFill>
            <a:srgbClr val="F4F5F4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23975" y="8791575"/>
            <a:ext cx="1612582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F6368"/>
                </a:solidFill>
                <a:highlight>
                  <a:srgbClr val="F4F5F4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Verteilung der 101 Entitäten auf T1–T4: </a:t>
            </a:r>
            <a:pPr algn="l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[TBD: OF-3, heute gemeinsam schätzen] </a:t>
            </a:r>
            <a:pPr algn="l" indent="0" marL="0">
              <a:buNone/>
            </a:pPr>
            <a:r>
              <a:rPr lang="en-US" sz="1500" dirty="0">
                <a:solidFill>
                  <a:srgbClr val="5F6368"/>
                </a:solidFill>
                <a:highlight>
                  <a:srgbClr val="F4F5F4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– die Serienmuster sprechen für eine klare T1-Dominanz.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1047750" y="9401175"/>
            <a:ext cx="16192500" cy="9525"/>
          </a:xfrm>
          <a:prstGeom prst="rect">
            <a:avLst/>
          </a:prstGeom>
          <a:solidFill>
            <a:srgbClr val="E3E5E4"/>
          </a:solidFill>
          <a:ln/>
        </p:spPr>
      </p:sp>
      <p:sp>
        <p:nvSpPr>
          <p:cNvPr id="28" name="Text 26"/>
          <p:cNvSpPr/>
          <p:nvPr/>
        </p:nvSpPr>
        <p:spPr>
          <a:xfrm>
            <a:off x="1047750" y="9544050"/>
            <a:ext cx="450679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Finance &amp; Treasury · Viessmann Generations Group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4792027" y="9544050"/>
            <a:ext cx="269304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01.09.2026 · Berlin · Vertraulich · 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00100"/>
            <a:ext cx="133350" cy="133350"/>
          </a:xfrm>
          <a:prstGeom prst="rect">
            <a:avLst/>
          </a:prstGeom>
          <a:solidFill>
            <a:srgbClr val="26890D"/>
          </a:solidFill>
          <a:ln/>
        </p:spPr>
      </p:sp>
      <p:sp>
        <p:nvSpPr>
          <p:cNvPr id="3" name="Text 1"/>
          <p:cNvSpPr/>
          <p:nvPr/>
        </p:nvSpPr>
        <p:spPr>
          <a:xfrm>
            <a:off x="1295400" y="762000"/>
            <a:ext cx="375012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225" kern="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BUCHUNGSKREIS-FABRIK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1047750" y="1085850"/>
            <a:ext cx="17811750" cy="5287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407"/>
              </a:lnSpc>
              <a:buNone/>
            </a:pPr>
            <a:r>
              <a:rPr lang="en-US" sz="3450" b="1" spc="-75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Beschreibung vor Herstellung: sechs Schritte zur bedienbaren Entität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1047750" y="3669506"/>
            <a:ext cx="1624459" cy="666750"/>
          </a:xfrm>
          <a:prstGeom prst="rect">
            <a:avLst/>
          </a:prstGeom>
          <a:solidFill>
            <a:srgbClr val="F4F5F4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43025" y="3888581"/>
            <a:ext cx="1110109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Deal-Close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2843659" y="3840956"/>
            <a:ext cx="3619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3300859" y="3659981"/>
            <a:ext cx="13939391" cy="685800"/>
          </a:xfrm>
          <a:prstGeom prst="rect">
            <a:avLst/>
          </a:prstGeom>
          <a:ln w="19050">
            <a:solidFill>
              <a:srgbClr val="26890D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3605659" y="3888581"/>
            <a:ext cx="1374797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Zielkonfiguration ableiten</a:t>
            </a:r>
            <a:pPr algn="l" indent="0" marL="0">
              <a:buNone/>
            </a:pPr>
            <a:r>
              <a:rPr lang="en-US" sz="1425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Template T1–T4 + Länderparameter → prüfbares, versioniertes, freigabefähiges Artefakt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47750" y="4612481"/>
            <a:ext cx="2619375" cy="2419350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11" name="Text 9"/>
          <p:cNvSpPr/>
          <p:nvPr/>
        </p:nvSpPr>
        <p:spPr>
          <a:xfrm>
            <a:off x="1219200" y="4822031"/>
            <a:ext cx="25041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1219200" y="5069681"/>
            <a:ext cx="250412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CBC-Scoping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19200" y="5364956"/>
            <a:ext cx="2352675" cy="464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200" dirty="0">
                <a:solidFill>
                  <a:srgbClr val="B8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Scope-Items je Entität · irreversibel → Freigabe zwingend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762375" y="4612481"/>
            <a:ext cx="2619375" cy="2419350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15" name="Text 13"/>
          <p:cNvSpPr/>
          <p:nvPr/>
        </p:nvSpPr>
        <p:spPr>
          <a:xfrm>
            <a:off x="3933825" y="4822031"/>
            <a:ext cx="25041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75" dirty="0"/>
          </a:p>
        </p:txBody>
      </p:sp>
      <p:sp>
        <p:nvSpPr>
          <p:cNvPr id="16" name="Text 14"/>
          <p:cNvSpPr/>
          <p:nvPr/>
        </p:nvSpPr>
        <p:spPr>
          <a:xfrm>
            <a:off x="3933825" y="5069681"/>
            <a:ext cx="250412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Org-Struktur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933825" y="5364956"/>
            <a:ext cx="2504123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200" dirty="0">
                <a:solidFill>
                  <a:srgbClr val="B8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Code + Org-Einheiten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77000" y="4612481"/>
            <a:ext cx="2619375" cy="2419350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19" name="Text 17"/>
          <p:cNvSpPr/>
          <p:nvPr/>
        </p:nvSpPr>
        <p:spPr>
          <a:xfrm>
            <a:off x="6648450" y="4822031"/>
            <a:ext cx="25041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75" dirty="0"/>
          </a:p>
        </p:txBody>
      </p:sp>
      <p:sp>
        <p:nvSpPr>
          <p:cNvPr id="20" name="Text 18"/>
          <p:cNvSpPr/>
          <p:nvPr/>
        </p:nvSpPr>
        <p:spPr>
          <a:xfrm>
            <a:off x="6648450" y="5069681"/>
            <a:ext cx="250412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SSCUI-Ausprägung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648450" y="5364956"/>
            <a:ext cx="2504123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200" dirty="0">
                <a:solidFill>
                  <a:srgbClr val="B8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Detailconfig je Scope-Item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191625" y="4612481"/>
            <a:ext cx="2619375" cy="2419350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23" name="Text 21"/>
          <p:cNvSpPr/>
          <p:nvPr/>
        </p:nvSpPr>
        <p:spPr>
          <a:xfrm>
            <a:off x="9363075" y="4822031"/>
            <a:ext cx="25041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75" dirty="0"/>
          </a:p>
        </p:txBody>
      </p:sp>
      <p:sp>
        <p:nvSpPr>
          <p:cNvPr id="24" name="Text 22"/>
          <p:cNvSpPr/>
          <p:nvPr/>
        </p:nvSpPr>
        <p:spPr>
          <a:xfrm>
            <a:off x="9363075" y="5069681"/>
            <a:ext cx="250412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Stammdaten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363075" y="5364956"/>
            <a:ext cx="2504123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200" dirty="0">
                <a:solidFill>
                  <a:srgbClr val="B8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BP, Bankkonten, Sachkonten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1906250" y="4612481"/>
            <a:ext cx="2619375" cy="2419350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27" name="Text 25"/>
          <p:cNvSpPr/>
          <p:nvPr/>
        </p:nvSpPr>
        <p:spPr>
          <a:xfrm>
            <a:off x="12077700" y="4822031"/>
            <a:ext cx="25041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75" dirty="0"/>
          </a:p>
        </p:txBody>
      </p:sp>
      <p:sp>
        <p:nvSpPr>
          <p:cNvPr id="28" name="Text 26"/>
          <p:cNvSpPr/>
          <p:nvPr/>
        </p:nvSpPr>
        <p:spPr>
          <a:xfrm>
            <a:off x="12077700" y="5069681"/>
            <a:ext cx="250412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/ Steuer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2077700" y="5364956"/>
            <a:ext cx="2352675" cy="464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200" dirty="0">
                <a:solidFill>
                  <a:srgbClr val="B8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Methods, Tax-Registrierung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4620875" y="4612481"/>
            <a:ext cx="2619375" cy="2419350"/>
          </a:xfrm>
          <a:prstGeom prst="rect">
            <a:avLst/>
          </a:prstGeom>
          <a:solidFill>
            <a:srgbClr val="101010"/>
          </a:solidFill>
          <a:ln w="28575">
            <a:solidFill>
              <a:srgbClr val="26890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4820900" y="4850606"/>
            <a:ext cx="244125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75" dirty="0"/>
          </a:p>
        </p:txBody>
      </p:sp>
      <p:sp>
        <p:nvSpPr>
          <p:cNvPr id="32" name="Text 30"/>
          <p:cNvSpPr/>
          <p:nvPr/>
        </p:nvSpPr>
        <p:spPr>
          <a:xfrm>
            <a:off x="14820900" y="5098256"/>
            <a:ext cx="244125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Rollen &amp; SoD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4820900" y="5393531"/>
            <a:ext cx="2295525" cy="464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200" dirty="0">
                <a:solidFill>
                  <a:srgbClr val="B8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Roles je Template, SoD-Prüfung · </a:t>
            </a:r>
            <a:pPr algn="l" indent="0" marL="0">
              <a:lnSpc>
                <a:spcPct val="124444"/>
              </a:lnSpc>
              <a:buNone/>
            </a:pPr>
            <a:r>
              <a:rPr lang="en-US" sz="1200" b="1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Pflichtschritt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47750" y="7298531"/>
            <a:ext cx="65962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Ergebnis: buchungsfähiger </a:t>
            </a:r>
            <a:pPr algn="l" indent="0" marL="0">
              <a:buNone/>
            </a:pPr>
            <a:r>
              <a:rPr lang="en-US" sz="1650" b="1" u="sng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 </a:t>
            </a:r>
            <a:pPr algn="l" indent="0" marL="0">
              <a:buNone/>
            </a:pPr>
            <a:r>
              <a:rPr lang="en-US" sz="16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bedienbarer Buchungskreis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11498907" y="7322344"/>
            <a:ext cx="631547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CAMP4 = Deloitte-Capability (E2E-Test bestanden), kein SAP-Marktprodukt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1047750" y="9401175"/>
            <a:ext cx="16192500" cy="9525"/>
          </a:xfrm>
          <a:prstGeom prst="rect">
            <a:avLst/>
          </a:prstGeom>
          <a:solidFill>
            <a:srgbClr val="E3E5E4"/>
          </a:solidFill>
          <a:ln/>
        </p:spPr>
      </p:sp>
      <p:sp>
        <p:nvSpPr>
          <p:cNvPr id="37" name="Text 35"/>
          <p:cNvSpPr/>
          <p:nvPr/>
        </p:nvSpPr>
        <p:spPr>
          <a:xfrm>
            <a:off x="1047750" y="9544050"/>
            <a:ext cx="450679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Finance &amp; Treasury · Viessmann Generations Group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4792027" y="9544050"/>
            <a:ext cx="269304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01.09.2026 · Berlin · Vertraulich · 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00100"/>
            <a:ext cx="133350" cy="133350"/>
          </a:xfrm>
          <a:prstGeom prst="rect">
            <a:avLst/>
          </a:prstGeom>
          <a:solidFill>
            <a:srgbClr val="26890D"/>
          </a:solidFill>
          <a:ln/>
        </p:spPr>
      </p:sp>
      <p:sp>
        <p:nvSpPr>
          <p:cNvPr id="3" name="Text 1"/>
          <p:cNvSpPr/>
          <p:nvPr/>
        </p:nvSpPr>
        <p:spPr>
          <a:xfrm>
            <a:off x="1295400" y="762000"/>
            <a:ext cx="651127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225" kern="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BUCHUNGSKREIS-FABRIK · KUNDEN-PAINPOINT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1047750" y="1085850"/>
            <a:ext cx="17811750" cy="5287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407"/>
              </a:lnSpc>
              <a:buNone/>
            </a:pPr>
            <a:r>
              <a:rPr lang="en-US" sz="3450" b="1" spc="-75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Rollen-Erweiterung wird Pflichtschritt der Fabrik – nicht Nacharbeit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1047750" y="1995636"/>
            <a:ext cx="7524750" cy="7405539"/>
          </a:xfrm>
          <a:prstGeom prst="rect">
            <a:avLst/>
          </a:prstGeom>
          <a:solidFill>
            <a:srgbClr val="F4F5F4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00175" y="2309961"/>
            <a:ext cx="750189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150" kern="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HEUTE · MANUELL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1400175" y="2652861"/>
            <a:ext cx="7501890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14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 neue Gesellschaft erfordert manuelle Rollen-Erweiterung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00175" y="3094732"/>
            <a:ext cx="7024497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435"/>
              </a:lnSpc>
              <a:buNone/>
            </a:pPr>
            <a:r>
              <a:rPr lang="en-US" sz="15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 101 Buchungskreisen und laufenden Zukäufen ein wiederkehrender Engpass. Die Entität ist buchungsfähig – aber niemand kann darauf arbeiten.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00175" y="8801100"/>
            <a:ext cx="750189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435"/>
              </a:lnSpc>
              <a:buNone/>
            </a:pPr>
            <a:r>
              <a:rPr lang="en-US" sz="15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Berechtigungskonzept wird derzeit überarbeitet und vereinfacht.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877300" y="5388769"/>
            <a:ext cx="60960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200" dirty="0"/>
          </a:p>
        </p:txBody>
      </p:sp>
      <p:sp>
        <p:nvSpPr>
          <p:cNvPr id="11" name="Shape 9"/>
          <p:cNvSpPr/>
          <p:nvPr/>
        </p:nvSpPr>
        <p:spPr>
          <a:xfrm>
            <a:off x="9715500" y="1995636"/>
            <a:ext cx="7524750" cy="7405539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0" y="2300436"/>
            <a:ext cx="752284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150" kern="0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ZIEL · AGENT B-8, MIT FREIGABE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10058400" y="2643336"/>
            <a:ext cx="7522845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14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Template-Rollen-Set wird bei Anlage automatisch angewendet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0" y="3085207"/>
            <a:ext cx="7044119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435"/>
              </a:lnSpc>
              <a:buNone/>
            </a:pPr>
            <a:r>
              <a:rPr lang="en-US" sz="1500" dirty="0">
                <a:solidFill>
                  <a:srgbClr val="B8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Roles je Entity-Template auf die zuständigen User (Team + ext. Steuerberater), SoD-Prüfung, Ausnahmen-Meldung, Freigabe-Protokoll.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058400" y="8877300"/>
            <a:ext cx="752284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laufende Vereinfachungsprojekt ist das ideale Zeitfenster.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047750" y="9401175"/>
            <a:ext cx="16192500" cy="9525"/>
          </a:xfrm>
          <a:prstGeom prst="rect">
            <a:avLst/>
          </a:prstGeom>
          <a:solidFill>
            <a:srgbClr val="E3E5E4"/>
          </a:solidFill>
          <a:ln/>
        </p:spPr>
      </p:sp>
      <p:sp>
        <p:nvSpPr>
          <p:cNvPr id="17" name="Text 15"/>
          <p:cNvSpPr/>
          <p:nvPr/>
        </p:nvSpPr>
        <p:spPr>
          <a:xfrm>
            <a:off x="1047750" y="9544050"/>
            <a:ext cx="450679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Finance &amp; Treasury · Viessmann Generations Group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792027" y="9544050"/>
            <a:ext cx="269304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01.09.2026 · Berlin · Vertraulich · 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00100"/>
            <a:ext cx="133350" cy="133350"/>
          </a:xfrm>
          <a:prstGeom prst="rect">
            <a:avLst/>
          </a:prstGeom>
          <a:solidFill>
            <a:srgbClr val="26890D"/>
          </a:solidFill>
          <a:ln/>
        </p:spPr>
      </p:sp>
      <p:sp>
        <p:nvSpPr>
          <p:cNvPr id="3" name="Text 1"/>
          <p:cNvSpPr/>
          <p:nvPr/>
        </p:nvSpPr>
        <p:spPr>
          <a:xfrm>
            <a:off x="1295400" y="762000"/>
            <a:ext cx="375012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225" kern="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BUCHUNGSKREIS-FABRIK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1047750" y="1085850"/>
            <a:ext cx="17811750" cy="5287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407"/>
              </a:lnSpc>
              <a:buNone/>
            </a:pPr>
            <a:r>
              <a:rPr lang="en-US" sz="3450" b="1" spc="-75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Ziel: Deal-Close → buchungsfähig in Tagen statt Wochen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1047750" y="4254401"/>
            <a:ext cx="27241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75" kern="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HEUTE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3790950" y="4063901"/>
            <a:ext cx="2439888" cy="628650"/>
          </a:xfrm>
          <a:prstGeom prst="rect">
            <a:avLst/>
          </a:prstGeom>
          <a:solidFill>
            <a:srgbClr val="F4F5F4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62375" y="4073426"/>
            <a:ext cx="2497038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Extern: Notar, Bank, Steuer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30838" y="4073426"/>
            <a:ext cx="11009412" cy="609600"/>
          </a:xfrm>
          <a:prstGeom prst="rect">
            <a:avLst/>
          </a:prstGeom>
          <a:solidFill>
            <a:srgbClr val="8A908A"/>
          </a:solidFill>
          <a:ln/>
        </p:spPr>
      </p:sp>
      <p:sp>
        <p:nvSpPr>
          <p:cNvPr id="9" name="Text 7"/>
          <p:cNvSpPr/>
          <p:nvPr/>
        </p:nvSpPr>
        <p:spPr>
          <a:xfrm>
            <a:off x="6065697" y="4073426"/>
            <a:ext cx="11339694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IT-Konfiguration: ~40 manuelle Schritte über Wochen [ANNAHME, OF-5]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1047750" y="5225951"/>
            <a:ext cx="27241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75" kern="0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FABRIK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3790950" y="5035451"/>
            <a:ext cx="2439888" cy="628650"/>
          </a:xfrm>
          <a:prstGeom prst="rect">
            <a:avLst/>
          </a:prstGeom>
          <a:solidFill>
            <a:srgbClr val="F4F5F4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62375" y="5044976"/>
            <a:ext cx="2497038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Extern: unverändert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30838" y="5044976"/>
            <a:ext cx="2958703" cy="609600"/>
          </a:xfrm>
          <a:prstGeom prst="rect">
            <a:avLst/>
          </a:prstGeom>
          <a:solidFill>
            <a:srgbClr val="26890D"/>
          </a:solidFill>
          <a:ln/>
        </p:spPr>
      </p:sp>
      <p:sp>
        <p:nvSpPr>
          <p:cNvPr id="14" name="Text 12"/>
          <p:cNvSpPr/>
          <p:nvPr/>
        </p:nvSpPr>
        <p:spPr>
          <a:xfrm>
            <a:off x="6186458" y="5044976"/>
            <a:ext cx="3047464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Konfiguration: wenige Tage</a:t>
            </a:r>
            <a:endParaRPr lang="en-US" sz="1425" dirty="0"/>
          </a:p>
        </p:txBody>
      </p:sp>
      <p:sp>
        <p:nvSpPr>
          <p:cNvPr id="15" name="Shape 13"/>
          <p:cNvSpPr/>
          <p:nvPr/>
        </p:nvSpPr>
        <p:spPr>
          <a:xfrm>
            <a:off x="9189541" y="5035451"/>
            <a:ext cx="8050709" cy="628650"/>
          </a:xfrm>
          <a:prstGeom prst="rect">
            <a:avLst/>
          </a:prstGeom>
          <a:ln w="9525">
            <a:solidFill>
              <a:srgbClr val="B8BDB8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9078306" y="5044976"/>
            <a:ext cx="827318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frei werdende Zeit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1047750" y="6007001"/>
            <a:ext cx="16192500" cy="1135261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18" name="Text 16"/>
          <p:cNvSpPr/>
          <p:nvPr/>
        </p:nvSpPr>
        <p:spPr>
          <a:xfrm>
            <a:off x="1352550" y="6254651"/>
            <a:ext cx="1606867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eigentliche Botschaft: Der Engpass wandert von der Systemkonfiguration zu den unvermeidbaren externen Akten – Notar, Bank-KYC, Steuer-ID.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47750" y="9401175"/>
            <a:ext cx="16192500" cy="9525"/>
          </a:xfrm>
          <a:prstGeom prst="rect">
            <a:avLst/>
          </a:prstGeom>
          <a:solidFill>
            <a:srgbClr val="E3E5E4"/>
          </a:solidFill>
          <a:ln/>
        </p:spPr>
      </p:sp>
      <p:sp>
        <p:nvSpPr>
          <p:cNvPr id="20" name="Text 18"/>
          <p:cNvSpPr/>
          <p:nvPr/>
        </p:nvSpPr>
        <p:spPr>
          <a:xfrm>
            <a:off x="1047750" y="9544050"/>
            <a:ext cx="450679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Finance &amp; Treasury · Viessmann Generations Group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4792027" y="9544050"/>
            <a:ext cx="269304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01.09.2026 · Berlin · Vertraulich · 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00100"/>
            <a:ext cx="133350" cy="133350"/>
          </a:xfrm>
          <a:prstGeom prst="rect">
            <a:avLst/>
          </a:prstGeom>
          <a:solidFill>
            <a:srgbClr val="26890D"/>
          </a:solidFill>
          <a:ln/>
        </p:spPr>
      </p:sp>
      <p:sp>
        <p:nvSpPr>
          <p:cNvPr id="3" name="Text 1"/>
          <p:cNvSpPr/>
          <p:nvPr/>
        </p:nvSpPr>
        <p:spPr>
          <a:xfrm>
            <a:off x="1295400" y="762000"/>
            <a:ext cx="472404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225" kern="0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INTERAKTION 2 · LEITFRAGEN AN SIE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1047750" y="1085850"/>
            <a:ext cx="17811750" cy="5287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407"/>
              </a:lnSpc>
              <a:buNone/>
            </a:pPr>
            <a:r>
              <a:rPr lang="en-US" sz="3450" b="1" spc="-75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Drei Antworten machen den Business Case belastbar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1047750" y="1995636"/>
            <a:ext cx="5232350" cy="1455241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6" name="Text 4"/>
          <p:cNvSpPr/>
          <p:nvPr/>
        </p:nvSpPr>
        <p:spPr>
          <a:xfrm>
            <a:off x="1333500" y="2262336"/>
            <a:ext cx="178657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150" kern="0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FRAGE 1 · OF-3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1333500" y="2567136"/>
            <a:ext cx="4800676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14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verteilen sich Ihre 101 Gesellschaften auf die Templates T1–T4?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47750" y="9382125"/>
            <a:ext cx="5232350" cy="19050"/>
          </a:xfrm>
          <a:prstGeom prst="rect">
            <a:avLst/>
          </a:prstGeom>
          <a:solidFill>
            <a:srgbClr val="26890D"/>
          </a:solidFill>
          <a:ln/>
        </p:spPr>
      </p:sp>
      <p:sp>
        <p:nvSpPr>
          <p:cNvPr id="9" name="Shape 7"/>
          <p:cNvSpPr/>
          <p:nvPr/>
        </p:nvSpPr>
        <p:spPr>
          <a:xfrm>
            <a:off x="1047750" y="3450878"/>
            <a:ext cx="19050" cy="5950297"/>
          </a:xfrm>
          <a:prstGeom prst="rect">
            <a:avLst/>
          </a:prstGeom>
          <a:solidFill>
            <a:srgbClr val="26890D"/>
          </a:solidFill>
          <a:ln/>
        </p:spPr>
      </p:sp>
      <p:sp>
        <p:nvSpPr>
          <p:cNvPr id="10" name="Shape 8"/>
          <p:cNvSpPr/>
          <p:nvPr/>
        </p:nvSpPr>
        <p:spPr>
          <a:xfrm>
            <a:off x="6261050" y="3450878"/>
            <a:ext cx="19050" cy="5950297"/>
          </a:xfrm>
          <a:prstGeom prst="rect">
            <a:avLst/>
          </a:prstGeom>
          <a:solidFill>
            <a:srgbClr val="26890D"/>
          </a:solidFill>
          <a:ln/>
        </p:spPr>
      </p:sp>
      <p:sp>
        <p:nvSpPr>
          <p:cNvPr id="11" name="Text 9"/>
          <p:cNvSpPr/>
          <p:nvPr/>
        </p:nvSpPr>
        <p:spPr>
          <a:xfrm>
            <a:off x="3435251" y="6316414"/>
            <a:ext cx="53354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50" kern="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527750" y="1995636"/>
            <a:ext cx="5232350" cy="1763762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13" name="Text 11"/>
          <p:cNvSpPr/>
          <p:nvPr/>
        </p:nvSpPr>
        <p:spPr>
          <a:xfrm>
            <a:off x="6813500" y="2262336"/>
            <a:ext cx="178657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150" kern="0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FRAGE 2 · OF-5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6813500" y="2567136"/>
            <a:ext cx="4800676" cy="963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14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lange dauert heute Deal-Close → erste Buchung – und wer verantwortet welche Phase?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527750" y="9382125"/>
            <a:ext cx="5232350" cy="19050"/>
          </a:xfrm>
          <a:prstGeom prst="rect">
            <a:avLst/>
          </a:prstGeom>
          <a:solidFill>
            <a:srgbClr val="26890D"/>
          </a:solidFill>
          <a:ln/>
        </p:spPr>
      </p:sp>
      <p:sp>
        <p:nvSpPr>
          <p:cNvPr id="16" name="Shape 14"/>
          <p:cNvSpPr/>
          <p:nvPr/>
        </p:nvSpPr>
        <p:spPr>
          <a:xfrm>
            <a:off x="6527750" y="3759398"/>
            <a:ext cx="19050" cy="5641777"/>
          </a:xfrm>
          <a:prstGeom prst="rect">
            <a:avLst/>
          </a:prstGeom>
          <a:solidFill>
            <a:srgbClr val="26890D"/>
          </a:solidFill>
          <a:ln/>
        </p:spPr>
      </p:sp>
      <p:sp>
        <p:nvSpPr>
          <p:cNvPr id="17" name="Shape 15"/>
          <p:cNvSpPr/>
          <p:nvPr/>
        </p:nvSpPr>
        <p:spPr>
          <a:xfrm>
            <a:off x="11741051" y="3759398"/>
            <a:ext cx="19050" cy="5641777"/>
          </a:xfrm>
          <a:prstGeom prst="rect">
            <a:avLst/>
          </a:prstGeom>
          <a:solidFill>
            <a:srgbClr val="26890D"/>
          </a:solidFill>
          <a:ln/>
        </p:spPr>
      </p:sp>
      <p:sp>
        <p:nvSpPr>
          <p:cNvPr id="18" name="Text 16"/>
          <p:cNvSpPr/>
          <p:nvPr/>
        </p:nvSpPr>
        <p:spPr>
          <a:xfrm>
            <a:off x="8915251" y="6470749"/>
            <a:ext cx="53354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50" kern="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12007751" y="1995636"/>
            <a:ext cx="5232350" cy="1763762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20" name="Text 18"/>
          <p:cNvSpPr/>
          <p:nvPr/>
        </p:nvSpPr>
        <p:spPr>
          <a:xfrm>
            <a:off x="12293501" y="2262336"/>
            <a:ext cx="178657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150" kern="0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FRAGE 3 · OF-4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12293501" y="2567136"/>
            <a:ext cx="4800676" cy="963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14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Volumina fallen monatlich an – Kontoauszüge, Zahlläufe, IC-Beziehungen?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2007751" y="9382125"/>
            <a:ext cx="5232350" cy="19050"/>
          </a:xfrm>
          <a:prstGeom prst="rect">
            <a:avLst/>
          </a:prstGeom>
          <a:solidFill>
            <a:srgbClr val="26890D"/>
          </a:solidFill>
          <a:ln/>
        </p:spPr>
      </p:sp>
      <p:sp>
        <p:nvSpPr>
          <p:cNvPr id="23" name="Shape 21"/>
          <p:cNvSpPr/>
          <p:nvPr/>
        </p:nvSpPr>
        <p:spPr>
          <a:xfrm>
            <a:off x="12007751" y="3759398"/>
            <a:ext cx="19050" cy="5641777"/>
          </a:xfrm>
          <a:prstGeom prst="rect">
            <a:avLst/>
          </a:prstGeom>
          <a:solidFill>
            <a:srgbClr val="26890D"/>
          </a:solidFill>
          <a:ln/>
        </p:spPr>
      </p:sp>
      <p:sp>
        <p:nvSpPr>
          <p:cNvPr id="24" name="Shape 22"/>
          <p:cNvSpPr/>
          <p:nvPr/>
        </p:nvSpPr>
        <p:spPr>
          <a:xfrm>
            <a:off x="17221051" y="3759398"/>
            <a:ext cx="19050" cy="5641777"/>
          </a:xfrm>
          <a:prstGeom prst="rect">
            <a:avLst/>
          </a:prstGeom>
          <a:solidFill>
            <a:srgbClr val="26890D"/>
          </a:solidFill>
          <a:ln/>
        </p:spPr>
      </p:sp>
      <p:sp>
        <p:nvSpPr>
          <p:cNvPr id="25" name="Text 23"/>
          <p:cNvSpPr/>
          <p:nvPr/>
        </p:nvSpPr>
        <p:spPr>
          <a:xfrm>
            <a:off x="14395252" y="6470749"/>
            <a:ext cx="53354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50" kern="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1047750" y="9401175"/>
            <a:ext cx="16192500" cy="9525"/>
          </a:xfrm>
          <a:prstGeom prst="rect">
            <a:avLst/>
          </a:prstGeom>
          <a:solidFill>
            <a:srgbClr val="E3E5E4"/>
          </a:solidFill>
          <a:ln/>
        </p:spPr>
      </p:sp>
      <p:sp>
        <p:nvSpPr>
          <p:cNvPr id="27" name="Text 25"/>
          <p:cNvSpPr/>
          <p:nvPr/>
        </p:nvSpPr>
        <p:spPr>
          <a:xfrm>
            <a:off x="1047750" y="9544050"/>
            <a:ext cx="450679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Finance &amp; Treasury · Viessmann Generations Group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4792027" y="9544050"/>
            <a:ext cx="269304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01.09.2026 · Berlin · Vertraulich · 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3595688"/>
            <a:ext cx="1333500" cy="114300"/>
          </a:xfrm>
          <a:prstGeom prst="rect">
            <a:avLst/>
          </a:prstGeom>
          <a:solidFill>
            <a:srgbClr val="26890D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4129088"/>
            <a:ext cx="17811750" cy="1352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0" b="1" spc="-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1047750" y="5710238"/>
            <a:ext cx="178117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D7DB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Minuten · weiter um [TBD: Uhrzeit]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047750" y="6234113"/>
            <a:ext cx="178117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Danach: SAP BTP &amp; Business AI Platform · Gastblock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7750" y="9334500"/>
            <a:ext cx="16192500" cy="9525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7" name="Text 5"/>
          <p:cNvSpPr/>
          <p:nvPr/>
        </p:nvSpPr>
        <p:spPr>
          <a:xfrm>
            <a:off x="1047750" y="9515475"/>
            <a:ext cx="507029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A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Finance &amp; Treasury · Viessmann Generations Group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7049452" y="9515475"/>
            <a:ext cx="26699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A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62000"/>
            <a:ext cx="406608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GASTBLOCK · 1:05 – 1:25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4762411" y="762000"/>
            <a:ext cx="272562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eigenes Deck des Gasts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3498354"/>
            <a:ext cx="16678275" cy="17662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526"/>
              </a:lnSpc>
              <a:buNone/>
            </a:pPr>
            <a:r>
              <a:rPr lang="en-US" sz="6300" b="1" spc="-22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BTP &amp; die Business AI Platform</a:t>
            </a:r>
            <a:endParaRPr lang="en-US" sz="6300" dirty="0"/>
          </a:p>
        </p:txBody>
      </p:sp>
      <p:sp>
        <p:nvSpPr>
          <p:cNvPr id="5" name="Shape 3"/>
          <p:cNvSpPr/>
          <p:nvPr/>
        </p:nvSpPr>
        <p:spPr>
          <a:xfrm>
            <a:off x="1047750" y="5721846"/>
            <a:ext cx="3466951" cy="1143000"/>
          </a:xfrm>
          <a:prstGeom prst="rect">
            <a:avLst/>
          </a:prstGeom>
          <a:ln w="19050">
            <a:solidFill>
              <a:srgbClr val="26890D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1447800" y="5988546"/>
            <a:ext cx="293353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[TBD: BTP-Expert:in]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447800" y="6350496"/>
            <a:ext cx="293353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8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[TBD: Rolle / Organisation]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5086201" y="6145709"/>
            <a:ext cx="396671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7DB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Zeitbox: </a:t>
            </a:r>
            <a:pPr algn="l" indent="0" marL="0">
              <a:buNone/>
            </a:pPr>
            <a:r>
              <a:rPr lang="en-US" sz="1950" b="1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Minuten </a:t>
            </a:r>
            <a:pPr algn="l" indent="0" marL="0">
              <a:buNone/>
            </a:pPr>
            <a:r>
              <a:rPr lang="en-US" sz="1950" dirty="0">
                <a:solidFill>
                  <a:srgbClr val="D7DB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inkl. Fragen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1047750" y="9334500"/>
            <a:ext cx="16192500" cy="9525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10" name="Text 8"/>
          <p:cNvSpPr/>
          <p:nvPr/>
        </p:nvSpPr>
        <p:spPr>
          <a:xfrm>
            <a:off x="1047750" y="9515475"/>
            <a:ext cx="507029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A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Finance &amp; Treasury · Viessmann Generations Group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7049452" y="9515475"/>
            <a:ext cx="26699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A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00100"/>
            <a:ext cx="133350" cy="133350"/>
          </a:xfrm>
          <a:prstGeom prst="rect">
            <a:avLst/>
          </a:prstGeom>
          <a:solidFill>
            <a:srgbClr val="26890D"/>
          </a:solidFill>
          <a:ln/>
        </p:spPr>
      </p:sp>
      <p:sp>
        <p:nvSpPr>
          <p:cNvPr id="3" name="Text 1"/>
          <p:cNvSpPr/>
          <p:nvPr/>
        </p:nvSpPr>
        <p:spPr>
          <a:xfrm>
            <a:off x="1295400" y="762000"/>
            <a:ext cx="466854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225" kern="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BRÜCKE · WAS HEISST DAS FÜR VGG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1047750" y="1085850"/>
            <a:ext cx="17811750" cy="5287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407"/>
              </a:lnSpc>
              <a:buNone/>
            </a:pPr>
            <a:r>
              <a:rPr lang="en-US" sz="3450" b="1" spc="-75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Business AI Platform ist die Voraussetzung für alles Agentische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1047750" y="3967014"/>
            <a:ext cx="3238500" cy="738634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6" name="Text 4"/>
          <p:cNvSpPr/>
          <p:nvPr/>
        </p:nvSpPr>
        <p:spPr>
          <a:xfrm>
            <a:off x="1314450" y="4207669"/>
            <a:ext cx="256616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</a:t>
            </a:r>
            <a:pPr algn="l" indent="0" marL="0">
              <a:buNone/>
            </a:pPr>
            <a:r>
              <a:rPr lang="en-US" sz="1725" b="1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AI Agent Hub</a:t>
            </a:r>
            <a:endParaRPr lang="en-US" sz="1725" dirty="0"/>
          </a:p>
        </p:txBody>
      </p:sp>
      <p:sp>
        <p:nvSpPr>
          <p:cNvPr id="7" name="Shape 5"/>
          <p:cNvSpPr/>
          <p:nvPr/>
        </p:nvSpPr>
        <p:spPr>
          <a:xfrm>
            <a:off x="4438650" y="3967014"/>
            <a:ext cx="6324600" cy="738634"/>
          </a:xfrm>
          <a:prstGeom prst="rect">
            <a:avLst/>
          </a:prstGeom>
          <a:solidFill>
            <a:srgbClr val="F4F5F4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14875" y="4205139"/>
            <a:ext cx="5961888" cy="300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227"/>
              </a:lnSpc>
              <a:buNone/>
            </a:pPr>
            <a:r>
              <a:rPr lang="en-US" sz="1425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Registry, Observability, Freigabe / Authentifizierung</a:t>
            </a:r>
            <a:endParaRPr lang="en-US" sz="1425" dirty="0"/>
          </a:p>
        </p:txBody>
      </p:sp>
      <p:sp>
        <p:nvSpPr>
          <p:cNvPr id="9" name="Shape 7"/>
          <p:cNvSpPr/>
          <p:nvPr/>
        </p:nvSpPr>
        <p:spPr>
          <a:xfrm>
            <a:off x="10915650" y="3967014"/>
            <a:ext cx="6324600" cy="738634"/>
          </a:xfrm>
          <a:prstGeom prst="rect">
            <a:avLst/>
          </a:prstGeom>
          <a:ln w="9525">
            <a:solidFill>
              <a:srgbClr val="26890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91875" y="4205139"/>
            <a:ext cx="5961888" cy="300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227"/>
              </a:lnSpc>
              <a:buNone/>
            </a:pPr>
            <a:r>
              <a:rPr lang="en-US" sz="1425" b="1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Für VGG: </a:t>
            </a:r>
            <a:pPr algn="l" indent="0" marL="0">
              <a:lnSpc>
                <a:spcPct val="125227"/>
              </a:lnSpc>
              <a:buNone/>
            </a:pPr>
            <a:r>
              <a:rPr lang="en-US" sz="142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Freigabe-Gates (4-Augen), Kostentransparenz AI-Units</a:t>
            </a:r>
            <a:endParaRPr lang="en-US" sz="1425" dirty="0"/>
          </a:p>
        </p:txBody>
      </p:sp>
      <p:sp>
        <p:nvSpPr>
          <p:cNvPr id="11" name="Shape 9"/>
          <p:cNvSpPr/>
          <p:nvPr/>
        </p:nvSpPr>
        <p:spPr>
          <a:xfrm>
            <a:off x="1047750" y="4838998"/>
            <a:ext cx="3238500" cy="1001018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12" name="Text 10"/>
          <p:cNvSpPr/>
          <p:nvPr/>
        </p:nvSpPr>
        <p:spPr>
          <a:xfrm>
            <a:off x="1314450" y="5210919"/>
            <a:ext cx="226264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pPr algn="l" indent="0" marL="0">
              <a:buNone/>
            </a:pPr>
            <a:r>
              <a:rPr lang="en-US" sz="1725" b="1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Joule Studio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4438650" y="4838998"/>
            <a:ext cx="6324600" cy="1001018"/>
          </a:xfrm>
          <a:prstGeom prst="rect">
            <a:avLst/>
          </a:prstGeom>
          <a:solidFill>
            <a:srgbClr val="F4F5F4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14875" y="5077123"/>
            <a:ext cx="5961888" cy="56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227"/>
              </a:lnSpc>
              <a:buNone/>
            </a:pPr>
            <a:r>
              <a:rPr lang="en-US" sz="1425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Agenten und Skills bauen, orchestrieren, integrieren</a:t>
            </a:r>
            <a:endParaRPr lang="en-US" sz="1425" dirty="0"/>
          </a:p>
        </p:txBody>
      </p:sp>
      <p:sp>
        <p:nvSpPr>
          <p:cNvPr id="15" name="Shape 13"/>
          <p:cNvSpPr/>
          <p:nvPr/>
        </p:nvSpPr>
        <p:spPr>
          <a:xfrm>
            <a:off x="10915650" y="4838998"/>
            <a:ext cx="6324600" cy="1001018"/>
          </a:xfrm>
          <a:prstGeom prst="rect">
            <a:avLst/>
          </a:prstGeom>
          <a:ln w="9525">
            <a:solidFill>
              <a:srgbClr val="26890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91875" y="5077123"/>
            <a:ext cx="5961888" cy="56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227"/>
              </a:lnSpc>
              <a:buNone/>
            </a:pPr>
            <a:r>
              <a:rPr lang="en-US" sz="1425" b="1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Für VGG: </a:t>
            </a:r>
            <a:pPr algn="l" indent="0" marL="0">
              <a:lnSpc>
                <a:spcPct val="125227"/>
              </a:lnSpc>
              <a:buNone/>
            </a:pPr>
            <a:r>
              <a:rPr lang="en-US" sz="142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Eigenbau-Agenten (Kategorie B), Anbindung Drittlösung + E05</a:t>
            </a:r>
            <a:endParaRPr lang="en-US" sz="1425" dirty="0"/>
          </a:p>
        </p:txBody>
      </p:sp>
      <p:sp>
        <p:nvSpPr>
          <p:cNvPr id="17" name="Shape 15"/>
          <p:cNvSpPr/>
          <p:nvPr/>
        </p:nvSpPr>
        <p:spPr>
          <a:xfrm>
            <a:off x="1047750" y="5973366"/>
            <a:ext cx="3238500" cy="741908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18" name="Text 16"/>
          <p:cNvSpPr/>
          <p:nvPr/>
        </p:nvSpPr>
        <p:spPr>
          <a:xfrm>
            <a:off x="1314450" y="6201966"/>
            <a:ext cx="2745105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41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Contextualize &amp; Reason</a:t>
            </a:r>
            <a:endParaRPr lang="en-US" sz="1725" dirty="0"/>
          </a:p>
        </p:txBody>
      </p:sp>
      <p:sp>
        <p:nvSpPr>
          <p:cNvPr id="19" name="Shape 17"/>
          <p:cNvSpPr/>
          <p:nvPr/>
        </p:nvSpPr>
        <p:spPr>
          <a:xfrm>
            <a:off x="4438650" y="5973366"/>
            <a:ext cx="6324600" cy="741908"/>
          </a:xfrm>
          <a:prstGeom prst="rect">
            <a:avLst/>
          </a:prstGeom>
          <a:solidFill>
            <a:srgbClr val="F4F5F4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14875" y="6211491"/>
            <a:ext cx="5961888" cy="3037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227"/>
              </a:lnSpc>
              <a:buNone/>
            </a:pPr>
            <a:r>
              <a:rPr lang="en-US" sz="1425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Data Cloud, Knowledge Graph, Zugang zu LLMs</a:t>
            </a:r>
            <a:endParaRPr lang="en-US" sz="1425" dirty="0"/>
          </a:p>
        </p:txBody>
      </p:sp>
      <p:sp>
        <p:nvSpPr>
          <p:cNvPr id="21" name="Shape 19"/>
          <p:cNvSpPr/>
          <p:nvPr/>
        </p:nvSpPr>
        <p:spPr>
          <a:xfrm>
            <a:off x="10915650" y="5973366"/>
            <a:ext cx="6324600" cy="741908"/>
          </a:xfrm>
          <a:prstGeom prst="rect">
            <a:avLst/>
          </a:prstGeom>
          <a:ln w="9525">
            <a:solidFill>
              <a:srgbClr val="26890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91875" y="6211491"/>
            <a:ext cx="5961888" cy="3037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227"/>
              </a:lnSpc>
              <a:buNone/>
            </a:pPr>
            <a:r>
              <a:rPr lang="en-US" sz="1425" b="1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Für VGG: </a:t>
            </a:r>
            <a:pPr algn="l" indent="0" marL="0">
              <a:lnSpc>
                <a:spcPct val="125227"/>
              </a:lnSpc>
              <a:buNone/>
            </a:pPr>
            <a:r>
              <a:rPr lang="en-US" sz="142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Datenbasis für Bilanzanalyse (D-2) und Self-Service (D-5)</a:t>
            </a:r>
            <a:endParaRPr lang="en-US" sz="1425" dirty="0"/>
          </a:p>
        </p:txBody>
      </p:sp>
      <p:sp>
        <p:nvSpPr>
          <p:cNvPr id="23" name="Shape 21"/>
          <p:cNvSpPr/>
          <p:nvPr/>
        </p:nvSpPr>
        <p:spPr>
          <a:xfrm>
            <a:off x="1047750" y="6848624"/>
            <a:ext cx="16192500" cy="542925"/>
          </a:xfrm>
          <a:prstGeom prst="rect">
            <a:avLst/>
          </a:prstGeom>
          <a:solidFill>
            <a:srgbClr val="F4F5F4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23975" y="7010549"/>
            <a:ext cx="1612582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Vorbereitung läuft bereits kundenseitig · „Kein System ist von Haus aus AI-ready" – ohne Plattform bleiben Agenten Einzellösungen ohne gemeinsame Governance.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1047750" y="9401175"/>
            <a:ext cx="16192500" cy="9525"/>
          </a:xfrm>
          <a:prstGeom prst="rect">
            <a:avLst/>
          </a:prstGeom>
          <a:solidFill>
            <a:srgbClr val="E3E5E4"/>
          </a:solidFill>
          <a:ln/>
        </p:spPr>
      </p:sp>
      <p:sp>
        <p:nvSpPr>
          <p:cNvPr id="26" name="Text 24"/>
          <p:cNvSpPr/>
          <p:nvPr/>
        </p:nvSpPr>
        <p:spPr>
          <a:xfrm>
            <a:off x="1047750" y="9544050"/>
            <a:ext cx="450679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Finance &amp; Treasury · Viessmann Generations Group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4792027" y="9544050"/>
            <a:ext cx="269304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01.09.2026 · Berlin · Vertraulich · 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3549997"/>
            <a:ext cx="367531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03 · 1:25 – 1:45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4045297"/>
            <a:ext cx="16678275" cy="1958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636"/>
              </a:lnSpc>
              <a:buNone/>
            </a:pPr>
            <a:r>
              <a:rPr lang="en-US" sz="7200" b="1" spc="-22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Agenten-Landkarte &amp; der Weg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047750" y="6194078"/>
            <a:ext cx="178117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D7DB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Ihre Use Cases, die Quick Wins und drei Horizonte.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47750" y="9334500"/>
            <a:ext cx="16192500" cy="9525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6" name="Text 4"/>
          <p:cNvSpPr/>
          <p:nvPr/>
        </p:nvSpPr>
        <p:spPr>
          <a:xfrm>
            <a:off x="1047750" y="9515475"/>
            <a:ext cx="507029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A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Finance &amp; Treasury · Viessmann Generations Group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7049452" y="9515475"/>
            <a:ext cx="26699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A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00100"/>
            <a:ext cx="133350" cy="133350"/>
          </a:xfrm>
          <a:prstGeom prst="rect">
            <a:avLst/>
          </a:prstGeom>
          <a:solidFill>
            <a:srgbClr val="26890D"/>
          </a:solidFill>
          <a:ln/>
        </p:spPr>
      </p:sp>
      <p:sp>
        <p:nvSpPr>
          <p:cNvPr id="3" name="Text 1"/>
          <p:cNvSpPr/>
          <p:nvPr/>
        </p:nvSpPr>
        <p:spPr>
          <a:xfrm>
            <a:off x="1295400" y="762000"/>
            <a:ext cx="336065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225" kern="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AGENTEN-LANDKARTE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1047750" y="1085850"/>
            <a:ext cx="17811750" cy="5287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407"/>
              </a:lnSpc>
              <a:buNone/>
            </a:pPr>
            <a:r>
              <a:rPr lang="en-US" sz="3450" b="1" spc="-75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Gibt es schon · bauen wir · denken wir an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1047750" y="1919436"/>
            <a:ext cx="5245001" cy="7272189"/>
          </a:xfrm>
          <a:prstGeom prst="rect">
            <a:avLst/>
          </a:prstGeom>
          <a:ln w="19050">
            <a:solidFill>
              <a:srgbClr val="26890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33500" y="2186136"/>
            <a:ext cx="514085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150" kern="0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GIBT ES SCHON</a:t>
            </a:r>
            <a:endParaRPr lang="en-US" sz="1425" dirty="0"/>
          </a:p>
        </p:txBody>
      </p:sp>
      <p:sp>
        <p:nvSpPr>
          <p:cNvPr id="7" name="Shape 5"/>
          <p:cNvSpPr/>
          <p:nvPr/>
        </p:nvSpPr>
        <p:spPr>
          <a:xfrm>
            <a:off x="1333500" y="2509986"/>
            <a:ext cx="4673501" cy="400050"/>
          </a:xfrm>
          <a:prstGeom prst="rect">
            <a:avLst/>
          </a:prstGeom>
          <a:solidFill>
            <a:srgbClr val="F4F5F4"/>
          </a:solidFill>
          <a:ln/>
        </p:spPr>
      </p:sp>
      <p:sp>
        <p:nvSpPr>
          <p:cNvPr id="8" name="Text 6"/>
          <p:cNvSpPr/>
          <p:nvPr/>
        </p:nvSpPr>
        <p:spPr>
          <a:xfrm>
            <a:off x="1466850" y="2605236"/>
            <a:ext cx="454700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11111"/>
                </a:solidFill>
                <a:highlight>
                  <a:srgbClr val="F4F5F4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Joule (J74) + Enterprise Search (J225) </a:t>
            </a:r>
            <a:pPr algn="l" indent="0" marL="0">
              <a:buNone/>
            </a:pPr>
            <a:r>
              <a:rPr lang="en-US" sz="1425" b="1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</a:t>
            </a:r>
            <a:endParaRPr lang="en-US" sz="1425" dirty="0"/>
          </a:p>
        </p:txBody>
      </p:sp>
      <p:sp>
        <p:nvSpPr>
          <p:cNvPr id="9" name="Shape 7"/>
          <p:cNvSpPr/>
          <p:nvPr/>
        </p:nvSpPr>
        <p:spPr>
          <a:xfrm>
            <a:off x="1333500" y="2986236"/>
            <a:ext cx="4673501" cy="400050"/>
          </a:xfrm>
          <a:prstGeom prst="rect">
            <a:avLst/>
          </a:prstGeom>
          <a:solidFill>
            <a:srgbClr val="F4F5F4"/>
          </a:solidFill>
          <a:ln/>
        </p:spPr>
      </p:sp>
      <p:sp>
        <p:nvSpPr>
          <p:cNvPr id="10" name="Text 8"/>
          <p:cNvSpPr/>
          <p:nvPr/>
        </p:nvSpPr>
        <p:spPr>
          <a:xfrm>
            <a:off x="1466850" y="3081486"/>
            <a:ext cx="454700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11111"/>
                </a:solidFill>
                <a:highlight>
                  <a:srgbClr val="F4F5F4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Payment Advices, Document AI (J1104) </a:t>
            </a:r>
            <a:pPr algn="l" indent="0" marL="0">
              <a:buNone/>
            </a:pPr>
            <a:r>
              <a:rPr lang="en-US" sz="1425" b="1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</a:t>
            </a:r>
            <a:endParaRPr lang="en-US" sz="1425" dirty="0"/>
          </a:p>
        </p:txBody>
      </p:sp>
      <p:sp>
        <p:nvSpPr>
          <p:cNvPr id="11" name="Shape 9"/>
          <p:cNvSpPr/>
          <p:nvPr/>
        </p:nvSpPr>
        <p:spPr>
          <a:xfrm>
            <a:off x="1333500" y="3462486"/>
            <a:ext cx="4673501" cy="400050"/>
          </a:xfrm>
          <a:prstGeom prst="rect">
            <a:avLst/>
          </a:prstGeom>
          <a:solidFill>
            <a:srgbClr val="F4F5F4"/>
          </a:solidFill>
          <a:ln/>
        </p:spPr>
      </p:sp>
      <p:sp>
        <p:nvSpPr>
          <p:cNvPr id="12" name="Text 10"/>
          <p:cNvSpPr/>
          <p:nvPr/>
        </p:nvSpPr>
        <p:spPr>
          <a:xfrm>
            <a:off x="1466850" y="3557736"/>
            <a:ext cx="454700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11111"/>
                </a:solidFill>
                <a:highlight>
                  <a:srgbClr val="F4F5F4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Bilanz-Insights (J88), Anlagen (J298) </a:t>
            </a:r>
            <a:pPr algn="l" indent="0" marL="0">
              <a:buNone/>
            </a:pPr>
            <a:r>
              <a:rPr lang="en-US" sz="1425" b="1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</a:t>
            </a:r>
            <a:endParaRPr lang="en-US" sz="1425" dirty="0"/>
          </a:p>
        </p:txBody>
      </p:sp>
      <p:sp>
        <p:nvSpPr>
          <p:cNvPr id="13" name="Shape 11"/>
          <p:cNvSpPr/>
          <p:nvPr/>
        </p:nvSpPr>
        <p:spPr>
          <a:xfrm>
            <a:off x="1333500" y="3938736"/>
            <a:ext cx="4673501" cy="609600"/>
          </a:xfrm>
          <a:prstGeom prst="rect">
            <a:avLst/>
          </a:prstGeom>
          <a:solidFill>
            <a:srgbClr val="F4F5F4"/>
          </a:solidFill>
          <a:ln/>
        </p:spPr>
      </p:sp>
      <p:sp>
        <p:nvSpPr>
          <p:cNvPr id="14" name="Text 12"/>
          <p:cNvSpPr/>
          <p:nvPr/>
        </p:nvSpPr>
        <p:spPr>
          <a:xfrm>
            <a:off x="1466850" y="4033986"/>
            <a:ext cx="454700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11111"/>
                </a:solidFill>
                <a:highlight>
                  <a:srgbClr val="F4F5F4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Payment Exceptions (J375), Task Automation (J1164) </a:t>
            </a:r>
            <a:pPr algn="l" indent="0" marL="0">
              <a:buNone/>
            </a:pPr>
            <a:r>
              <a:rPr lang="en-US" sz="1425" b="1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</a:t>
            </a:r>
            <a:endParaRPr lang="en-US" sz="1425" dirty="0"/>
          </a:p>
        </p:txBody>
      </p:sp>
      <p:sp>
        <p:nvSpPr>
          <p:cNvPr id="15" name="Shape 13"/>
          <p:cNvSpPr/>
          <p:nvPr/>
        </p:nvSpPr>
        <p:spPr>
          <a:xfrm>
            <a:off x="1333500" y="4624536"/>
            <a:ext cx="4673501" cy="400050"/>
          </a:xfrm>
          <a:prstGeom prst="rect">
            <a:avLst/>
          </a:prstGeom>
          <a:solidFill>
            <a:srgbClr val="F4F5F4"/>
          </a:solidFill>
          <a:ln/>
        </p:spPr>
      </p:sp>
      <p:sp>
        <p:nvSpPr>
          <p:cNvPr id="16" name="Text 14"/>
          <p:cNvSpPr/>
          <p:nvPr/>
        </p:nvSpPr>
        <p:spPr>
          <a:xfrm>
            <a:off x="1466850" y="4719786"/>
            <a:ext cx="454700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11111"/>
                </a:solidFill>
                <a:highlight>
                  <a:srgbClr val="F4F5F4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CAMP4 / ConfigPilot </a:t>
            </a:r>
            <a:pPr algn="l" indent="0" marL="0">
              <a:buNone/>
            </a:pPr>
            <a:r>
              <a:rPr lang="en-US" sz="1425" b="1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Deloitte-Asset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1333500" y="8455521"/>
            <a:ext cx="4813706" cy="507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1275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Echte SAP-Agenten bislang v. a. im Billing – für eine Holding begrenzt relevant.</a:t>
            </a:r>
            <a:endParaRPr lang="en-US" sz="1275" dirty="0"/>
          </a:p>
        </p:txBody>
      </p:sp>
      <p:sp>
        <p:nvSpPr>
          <p:cNvPr id="18" name="Shape 16"/>
          <p:cNvSpPr/>
          <p:nvPr/>
        </p:nvSpPr>
        <p:spPr>
          <a:xfrm>
            <a:off x="6521351" y="1919436"/>
            <a:ext cx="5245150" cy="7272189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19" name="Text 17"/>
          <p:cNvSpPr/>
          <p:nvPr/>
        </p:nvSpPr>
        <p:spPr>
          <a:xfrm>
            <a:off x="6788051" y="2167086"/>
            <a:ext cx="518292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150" kern="0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KÖNNEN WIR BAUEN</a:t>
            </a:r>
            <a:endParaRPr lang="en-US" sz="1425" dirty="0"/>
          </a:p>
        </p:txBody>
      </p:sp>
      <p:sp>
        <p:nvSpPr>
          <p:cNvPr id="20" name="Shape 18"/>
          <p:cNvSpPr/>
          <p:nvPr/>
        </p:nvSpPr>
        <p:spPr>
          <a:xfrm>
            <a:off x="6788051" y="2490936"/>
            <a:ext cx="4711750" cy="419100"/>
          </a:xfrm>
          <a:prstGeom prst="rect">
            <a:avLst/>
          </a:prstGeom>
          <a:ln w="9525">
            <a:solidFill>
              <a:srgbClr val="2C2C2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30926" y="2595711"/>
            <a:ext cx="456735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B-1 Intercompany-Abstimmung (inkl. E05)</a:t>
            </a:r>
            <a:endParaRPr lang="en-US" sz="1425" dirty="0"/>
          </a:p>
        </p:txBody>
      </p:sp>
      <p:sp>
        <p:nvSpPr>
          <p:cNvPr id="22" name="Shape 20"/>
          <p:cNvSpPr/>
          <p:nvPr/>
        </p:nvSpPr>
        <p:spPr>
          <a:xfrm>
            <a:off x="6788051" y="2986236"/>
            <a:ext cx="4711750" cy="419100"/>
          </a:xfrm>
          <a:prstGeom prst="rect">
            <a:avLst/>
          </a:prstGeom>
          <a:ln w="9525">
            <a:solidFill>
              <a:srgbClr val="2C2C2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30926" y="3091011"/>
            <a:ext cx="456735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B-2 Zahllauf mit 4-Augen · B-3 FX-Bewertung</a:t>
            </a:r>
            <a:endParaRPr lang="en-US" sz="1425" dirty="0"/>
          </a:p>
        </p:txBody>
      </p:sp>
      <p:sp>
        <p:nvSpPr>
          <p:cNvPr id="24" name="Shape 22"/>
          <p:cNvSpPr/>
          <p:nvPr/>
        </p:nvSpPr>
        <p:spPr>
          <a:xfrm>
            <a:off x="6788051" y="3481536"/>
            <a:ext cx="4711750" cy="419100"/>
          </a:xfrm>
          <a:prstGeom prst="rect">
            <a:avLst/>
          </a:prstGeom>
          <a:ln w="9525">
            <a:solidFill>
              <a:srgbClr val="2C2C2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30926" y="3586311"/>
            <a:ext cx="456735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B-4 Close-Orchestrierung · B-5 Stammdaten</a:t>
            </a:r>
            <a:endParaRPr lang="en-US" sz="1425" dirty="0"/>
          </a:p>
        </p:txBody>
      </p:sp>
      <p:sp>
        <p:nvSpPr>
          <p:cNvPr id="26" name="Shape 24"/>
          <p:cNvSpPr/>
          <p:nvPr/>
        </p:nvSpPr>
        <p:spPr>
          <a:xfrm>
            <a:off x="6788051" y="3976836"/>
            <a:ext cx="4711750" cy="419100"/>
          </a:xfrm>
          <a:prstGeom prst="rect">
            <a:avLst/>
          </a:prstGeom>
          <a:ln w="9525">
            <a:solidFill>
              <a:srgbClr val="2C2C2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30926" y="4081611"/>
            <a:ext cx="456735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B-6 Steuermeldung · B-7 Prüfernachweis</a:t>
            </a:r>
            <a:endParaRPr lang="en-US" sz="1425" dirty="0"/>
          </a:p>
        </p:txBody>
      </p:sp>
      <p:sp>
        <p:nvSpPr>
          <p:cNvPr id="28" name="Shape 26"/>
          <p:cNvSpPr/>
          <p:nvPr/>
        </p:nvSpPr>
        <p:spPr>
          <a:xfrm>
            <a:off x="6788051" y="4472136"/>
            <a:ext cx="4711750" cy="419100"/>
          </a:xfrm>
          <a:prstGeom prst="rect">
            <a:avLst/>
          </a:prstGeom>
          <a:ln w="9525">
            <a:solidFill>
              <a:srgbClr val="26890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30926" y="4576911"/>
            <a:ext cx="456735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B-8 Rollen-Provisionierung </a:t>
            </a:r>
            <a:pPr algn="l" indent="0" marL="0">
              <a:buNone/>
            </a:pPr>
            <a:r>
              <a:rPr lang="en-US" sz="1425" b="1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</a:t>
            </a:r>
            <a:endParaRPr lang="en-US" sz="1425" dirty="0"/>
          </a:p>
        </p:txBody>
      </p:sp>
      <p:sp>
        <p:nvSpPr>
          <p:cNvPr id="30" name="Text 28"/>
          <p:cNvSpPr/>
          <p:nvPr/>
        </p:nvSpPr>
        <p:spPr>
          <a:xfrm>
            <a:off x="6788051" y="8709273"/>
            <a:ext cx="5182925" cy="272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1275" dirty="0">
                <a:solidFill>
                  <a:srgbClr val="B8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Joule Studio / BTP, Clean-Core-konform Side-by-Side.</a:t>
            </a:r>
            <a:endParaRPr lang="en-US" sz="1275" dirty="0"/>
          </a:p>
        </p:txBody>
      </p:sp>
      <p:sp>
        <p:nvSpPr>
          <p:cNvPr id="31" name="Shape 29"/>
          <p:cNvSpPr/>
          <p:nvPr/>
        </p:nvSpPr>
        <p:spPr>
          <a:xfrm>
            <a:off x="11995100" y="1919436"/>
            <a:ext cx="5245150" cy="7272189"/>
          </a:xfrm>
          <a:prstGeom prst="rect">
            <a:avLst/>
          </a:prstGeom>
          <a:solidFill>
            <a:srgbClr val="F4F5F4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271325" y="2176611"/>
            <a:ext cx="516197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150" kern="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DENKEN WIR AN (12–24 M)</a:t>
            </a:r>
            <a:endParaRPr lang="en-US" sz="1425" dirty="0"/>
          </a:p>
        </p:txBody>
      </p:sp>
      <p:sp>
        <p:nvSpPr>
          <p:cNvPr id="33" name="Shape 31"/>
          <p:cNvSpPr/>
          <p:nvPr/>
        </p:nvSpPr>
        <p:spPr>
          <a:xfrm>
            <a:off x="12271325" y="2500461"/>
            <a:ext cx="46927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2414200" y="2605236"/>
            <a:ext cx="454773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C-1 Buchungskreis-Onboarding End-to-End</a:t>
            </a:r>
            <a:endParaRPr lang="en-US" sz="1425" dirty="0"/>
          </a:p>
        </p:txBody>
      </p:sp>
      <p:sp>
        <p:nvSpPr>
          <p:cNvPr id="35" name="Shape 33"/>
          <p:cNvSpPr/>
          <p:nvPr/>
        </p:nvSpPr>
        <p:spPr>
          <a:xfrm>
            <a:off x="12271325" y="2995761"/>
            <a:ext cx="469270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2414200" y="3100536"/>
            <a:ext cx="4547731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C-2 Treasury-Integrations-Copilot (SAP + Drittlösung + E05)</a:t>
            </a:r>
            <a:endParaRPr lang="en-US" sz="1425" dirty="0"/>
          </a:p>
        </p:txBody>
      </p:sp>
      <p:sp>
        <p:nvSpPr>
          <p:cNvPr id="37" name="Shape 35"/>
          <p:cNvSpPr/>
          <p:nvPr/>
        </p:nvSpPr>
        <p:spPr>
          <a:xfrm>
            <a:off x="12271325" y="3700611"/>
            <a:ext cx="46927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414200" y="3805386"/>
            <a:ext cx="454773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C-3 Autonomer SPV-Abschluss</a:t>
            </a:r>
            <a:endParaRPr lang="en-US" sz="1425" dirty="0"/>
          </a:p>
        </p:txBody>
      </p:sp>
      <p:sp>
        <p:nvSpPr>
          <p:cNvPr id="39" name="Shape 37"/>
          <p:cNvSpPr/>
          <p:nvPr/>
        </p:nvSpPr>
        <p:spPr>
          <a:xfrm>
            <a:off x="12271325" y="4195911"/>
            <a:ext cx="46927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2414200" y="4300686"/>
            <a:ext cx="454773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C-4 Akquisitions-Onboarding</a:t>
            </a:r>
            <a:endParaRPr lang="en-US" sz="1425" dirty="0"/>
          </a:p>
        </p:txBody>
      </p:sp>
      <p:sp>
        <p:nvSpPr>
          <p:cNvPr id="41" name="Text 39"/>
          <p:cNvSpPr/>
          <p:nvPr/>
        </p:nvSpPr>
        <p:spPr>
          <a:xfrm>
            <a:off x="12271325" y="8465046"/>
            <a:ext cx="4833481" cy="507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250"/>
              </a:lnSpc>
              <a:buNone/>
            </a:pPr>
            <a:r>
              <a:rPr lang="en-US" sz="1275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Zusammengesetzt aus A- und B-Bausteinen – keine Luftschlösser.</a:t>
            </a:r>
            <a:endParaRPr lang="en-US" sz="1275" dirty="0"/>
          </a:p>
        </p:txBody>
      </p:sp>
      <p:sp>
        <p:nvSpPr>
          <p:cNvPr id="42" name="Shape 40"/>
          <p:cNvSpPr/>
          <p:nvPr/>
        </p:nvSpPr>
        <p:spPr>
          <a:xfrm>
            <a:off x="1047750" y="9401175"/>
            <a:ext cx="16192500" cy="9525"/>
          </a:xfrm>
          <a:prstGeom prst="rect">
            <a:avLst/>
          </a:prstGeom>
          <a:solidFill>
            <a:srgbClr val="E3E5E4"/>
          </a:solidFill>
          <a:ln/>
        </p:spPr>
      </p:sp>
      <p:sp>
        <p:nvSpPr>
          <p:cNvPr id="43" name="Text 41"/>
          <p:cNvSpPr/>
          <p:nvPr/>
        </p:nvSpPr>
        <p:spPr>
          <a:xfrm>
            <a:off x="1047750" y="9544050"/>
            <a:ext cx="756213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 fertiger SAP-Agent für Cash Application, IC oder Close – Eigenbau + CAMP4 sind der Hauptpfad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4792027" y="9544050"/>
            <a:ext cx="269304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01.09.2026 · Berlin · Vertraulich · 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00100"/>
            <a:ext cx="133350" cy="133350"/>
          </a:xfrm>
          <a:prstGeom prst="rect">
            <a:avLst/>
          </a:prstGeom>
          <a:solidFill>
            <a:srgbClr val="26890D"/>
          </a:solidFill>
          <a:ln/>
        </p:spPr>
      </p:sp>
      <p:sp>
        <p:nvSpPr>
          <p:cNvPr id="3" name="Text 1"/>
          <p:cNvSpPr/>
          <p:nvPr/>
        </p:nvSpPr>
        <p:spPr>
          <a:xfrm>
            <a:off x="1295400" y="762000"/>
            <a:ext cx="364911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225" kern="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VON IHNEN PRIORISIERT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1047750" y="1085850"/>
            <a:ext cx="17811750" cy="5287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407"/>
              </a:lnSpc>
              <a:buNone/>
            </a:pPr>
            <a:r>
              <a:rPr lang="en-US" sz="3450" b="1" spc="-75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Ihre sechs Use Cases: zwei sind sofort GA-fähig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1276350" y="1919436"/>
            <a:ext cx="11239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50" kern="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2476500" y="1919436"/>
            <a:ext cx="790003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50" kern="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9810750" y="1919436"/>
            <a:ext cx="52387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50" kern="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14725650" y="1919436"/>
            <a:ext cx="25146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50" kern="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275" dirty="0"/>
          </a:p>
        </p:txBody>
      </p:sp>
      <p:sp>
        <p:nvSpPr>
          <p:cNvPr id="9" name="Shape 7"/>
          <p:cNvSpPr/>
          <p:nvPr/>
        </p:nvSpPr>
        <p:spPr>
          <a:xfrm>
            <a:off x="1047750" y="2205186"/>
            <a:ext cx="16192500" cy="552450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10" name="Text 8"/>
          <p:cNvSpPr/>
          <p:nvPr/>
        </p:nvSpPr>
        <p:spPr>
          <a:xfrm>
            <a:off x="1276350" y="2357586"/>
            <a:ext cx="1123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D-2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2476500" y="2367111"/>
            <a:ext cx="790003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Bilanz-/Abweichungsanalyse (Vormonat/Vorjahr)</a:t>
            </a:r>
            <a:endParaRPr lang="en-US" sz="1575" dirty="0"/>
          </a:p>
        </p:txBody>
      </p:sp>
      <p:sp>
        <p:nvSpPr>
          <p:cNvPr id="12" name="Text 10"/>
          <p:cNvSpPr/>
          <p:nvPr/>
        </p:nvSpPr>
        <p:spPr>
          <a:xfrm>
            <a:off x="9810750" y="2381399"/>
            <a:ext cx="523875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B8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Analytical Business Insights J88 + Analytical Apps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4725650" y="2376636"/>
            <a:ext cx="25146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 · sofort</a:t>
            </a:r>
            <a:endParaRPr lang="en-US" sz="1425" dirty="0"/>
          </a:p>
        </p:txBody>
      </p:sp>
      <p:sp>
        <p:nvSpPr>
          <p:cNvPr id="14" name="Shape 12"/>
          <p:cNvSpPr/>
          <p:nvPr/>
        </p:nvSpPr>
        <p:spPr>
          <a:xfrm>
            <a:off x="1047750" y="2852886"/>
            <a:ext cx="16192500" cy="552450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15" name="Text 13"/>
          <p:cNvSpPr/>
          <p:nvPr/>
        </p:nvSpPr>
        <p:spPr>
          <a:xfrm>
            <a:off x="1276350" y="3005286"/>
            <a:ext cx="1123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D-5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2476500" y="3014811"/>
            <a:ext cx="790003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Self-Service-Auswertung per natürlicher Frage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9810750" y="3029099"/>
            <a:ext cx="523875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B8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Joule J74 + Enterprise Search J225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4725650" y="3024336"/>
            <a:ext cx="25146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 · sofort</a:t>
            </a:r>
            <a:endParaRPr lang="en-US" sz="1425" dirty="0"/>
          </a:p>
        </p:txBody>
      </p:sp>
      <p:sp>
        <p:nvSpPr>
          <p:cNvPr id="19" name="Shape 17"/>
          <p:cNvSpPr/>
          <p:nvPr/>
        </p:nvSpPr>
        <p:spPr>
          <a:xfrm>
            <a:off x="1047750" y="3500586"/>
            <a:ext cx="16192500" cy="571500"/>
          </a:xfrm>
          <a:prstGeom prst="rect">
            <a:avLst/>
          </a:prstGeom>
          <a:solidFill>
            <a:srgbClr val="F4F5F4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85875" y="3662511"/>
            <a:ext cx="1123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D-1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2486025" y="3672036"/>
            <a:ext cx="787908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CIM: BuKr-Zuordnung per Rechnungsanschrift</a:t>
            </a:r>
            <a:endParaRPr lang="en-US" sz="1575" dirty="0"/>
          </a:p>
        </p:txBody>
      </p:sp>
      <p:sp>
        <p:nvSpPr>
          <p:cNvPr id="22" name="Text 20"/>
          <p:cNvSpPr/>
          <p:nvPr/>
        </p:nvSpPr>
        <p:spPr>
          <a:xfrm>
            <a:off x="9801225" y="3686324"/>
            <a:ext cx="523875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Ariba CIM 4N6 + Document AI + Zuordnungs-Skill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4716125" y="3681561"/>
            <a:ext cx="25146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teils GA / Eigenbau</a:t>
            </a:r>
            <a:endParaRPr lang="en-US" sz="1425" dirty="0"/>
          </a:p>
        </p:txBody>
      </p:sp>
      <p:sp>
        <p:nvSpPr>
          <p:cNvPr id="24" name="Shape 22"/>
          <p:cNvSpPr/>
          <p:nvPr/>
        </p:nvSpPr>
        <p:spPr>
          <a:xfrm>
            <a:off x="1047750" y="4167336"/>
            <a:ext cx="16192500" cy="571500"/>
          </a:xfrm>
          <a:prstGeom prst="rect">
            <a:avLst/>
          </a:prstGeom>
          <a:solidFill>
            <a:srgbClr val="F4F5F4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85875" y="4329261"/>
            <a:ext cx="1123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D-3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2486025" y="4338786"/>
            <a:ext cx="787908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ausstehende Eingangsrechnungen &gt; X €</a:t>
            </a:r>
            <a:endParaRPr lang="en-US" sz="1575" dirty="0"/>
          </a:p>
        </p:txBody>
      </p:sp>
      <p:sp>
        <p:nvSpPr>
          <p:cNvPr id="27" name="Text 25"/>
          <p:cNvSpPr/>
          <p:nvPr/>
        </p:nvSpPr>
        <p:spPr>
          <a:xfrm>
            <a:off x="9801225" y="4353074"/>
            <a:ext cx="523875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Search J225 + Task Automation J1164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4716125" y="4348311"/>
            <a:ext cx="25146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teils GA / Beta</a:t>
            </a:r>
            <a:endParaRPr lang="en-US" sz="1425" dirty="0"/>
          </a:p>
        </p:txBody>
      </p:sp>
      <p:sp>
        <p:nvSpPr>
          <p:cNvPr id="29" name="Shape 27"/>
          <p:cNvSpPr/>
          <p:nvPr/>
        </p:nvSpPr>
        <p:spPr>
          <a:xfrm>
            <a:off x="1047750" y="4834086"/>
            <a:ext cx="16192500" cy="571500"/>
          </a:xfrm>
          <a:prstGeom prst="rect">
            <a:avLst/>
          </a:prstGeom>
          <a:solidFill>
            <a:srgbClr val="F4F5F4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85875" y="4996011"/>
            <a:ext cx="1123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D-4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2486025" y="5005536"/>
            <a:ext cx="787908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Sachliche Kontierungsprüfung (Text vs. Konto)</a:t>
            </a:r>
            <a:endParaRPr lang="en-US" sz="1575" dirty="0"/>
          </a:p>
        </p:txBody>
      </p:sp>
      <p:sp>
        <p:nvSpPr>
          <p:cNvPr id="32" name="Text 30"/>
          <p:cNvSpPr/>
          <p:nvPr/>
        </p:nvSpPr>
        <p:spPr>
          <a:xfrm>
            <a:off x="9801225" y="5019824"/>
            <a:ext cx="523875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Eigenbau auf BTP, LLM-Textabgleich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14716125" y="5015061"/>
            <a:ext cx="25146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Eigenbau</a:t>
            </a:r>
            <a:endParaRPr lang="en-US" sz="1425" dirty="0"/>
          </a:p>
        </p:txBody>
      </p:sp>
      <p:sp>
        <p:nvSpPr>
          <p:cNvPr id="34" name="Shape 32"/>
          <p:cNvSpPr/>
          <p:nvPr/>
        </p:nvSpPr>
        <p:spPr>
          <a:xfrm>
            <a:off x="1047750" y="5500836"/>
            <a:ext cx="16192500" cy="742950"/>
          </a:xfrm>
          <a:prstGeom prst="rect">
            <a:avLst/>
          </a:prstGeom>
          <a:solidFill>
            <a:srgbClr val="F4F5F4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85875" y="5748486"/>
            <a:ext cx="1123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D-6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2486025" y="5758011"/>
            <a:ext cx="787908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Anlagevermögen / CO-Verrechnung</a:t>
            </a:r>
            <a:endParaRPr lang="en-US" sz="1575" dirty="0"/>
          </a:p>
        </p:txBody>
      </p:sp>
      <p:sp>
        <p:nvSpPr>
          <p:cNvPr id="37" name="Text 35"/>
          <p:cNvSpPr/>
          <p:nvPr/>
        </p:nvSpPr>
        <p:spPr>
          <a:xfrm>
            <a:off x="9801225" y="5672286"/>
            <a:ext cx="490537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J298 + J1003 (GA) + SAP-Co-Innovation, Agreement unterschrieben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14716125" y="5662761"/>
            <a:ext cx="23622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GA-Bausteine + SAP-Dialog</a:t>
            </a:r>
            <a:endParaRPr lang="en-US" sz="1425" dirty="0"/>
          </a:p>
        </p:txBody>
      </p:sp>
      <p:sp>
        <p:nvSpPr>
          <p:cNvPr id="39" name="Shape 37"/>
          <p:cNvSpPr/>
          <p:nvPr/>
        </p:nvSpPr>
        <p:spPr>
          <a:xfrm>
            <a:off x="1047750" y="9401175"/>
            <a:ext cx="16192500" cy="9525"/>
          </a:xfrm>
          <a:prstGeom prst="rect">
            <a:avLst/>
          </a:prstGeom>
          <a:solidFill>
            <a:srgbClr val="E3E5E4"/>
          </a:solidFill>
          <a:ln/>
        </p:spPr>
      </p:sp>
      <p:sp>
        <p:nvSpPr>
          <p:cNvPr id="40" name="Text 38"/>
          <p:cNvSpPr/>
          <p:nvPr/>
        </p:nvSpPr>
        <p:spPr>
          <a:xfrm>
            <a:off x="1047750" y="9544050"/>
            <a:ext cx="520027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Kundenseitig benannt – Sponsorship und Bedarf belegt (MD Kap. 5.5)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4792027" y="9544050"/>
            <a:ext cx="269304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01.09.2026 · Berlin · Vertraulich · 23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00100"/>
            <a:ext cx="133350" cy="133350"/>
          </a:xfrm>
          <a:prstGeom prst="rect">
            <a:avLst/>
          </a:prstGeom>
          <a:solidFill>
            <a:srgbClr val="26890D"/>
          </a:solidFill>
          <a:ln/>
        </p:spPr>
      </p:sp>
      <p:sp>
        <p:nvSpPr>
          <p:cNvPr id="3" name="Text 1"/>
          <p:cNvSpPr/>
          <p:nvPr/>
        </p:nvSpPr>
        <p:spPr>
          <a:xfrm>
            <a:off x="1295400" y="762000"/>
            <a:ext cx="255700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225" kern="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PRIORISIERUNG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1047750" y="1085850"/>
            <a:ext cx="17811750" cy="5287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407"/>
              </a:lnSpc>
              <a:buNone/>
            </a:pPr>
            <a:r>
              <a:rPr lang="en-US" sz="3450" b="1" spc="-75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Fünf Quick Wins stechen heraus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1047750" y="8991600"/>
            <a:ext cx="10401300" cy="2857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" name="Shape 4"/>
          <p:cNvSpPr/>
          <p:nvPr/>
        </p:nvSpPr>
        <p:spPr>
          <a:xfrm>
            <a:off x="1047750" y="1919436"/>
            <a:ext cx="28575" cy="7100739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7" name="Text 5"/>
          <p:cNvSpPr/>
          <p:nvPr/>
        </p:nvSpPr>
        <p:spPr>
          <a:xfrm>
            <a:off x="847725" y="1595586"/>
            <a:ext cx="96797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75" kern="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→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9912846" y="9182100"/>
            <a:ext cx="168982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75" kern="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MACHBARKEIT →</a:t>
            </a:r>
            <a:endParaRPr lang="en-US" sz="1275" dirty="0"/>
          </a:p>
        </p:txBody>
      </p:sp>
      <p:sp>
        <p:nvSpPr>
          <p:cNvPr id="9" name="Shape 7"/>
          <p:cNvSpPr/>
          <p:nvPr/>
        </p:nvSpPr>
        <p:spPr>
          <a:xfrm>
            <a:off x="10154692" y="2343745"/>
            <a:ext cx="1087041" cy="400050"/>
          </a:xfrm>
          <a:prstGeom prst="rect">
            <a:avLst/>
          </a:prstGeom>
          <a:solidFill>
            <a:srgbClr val="26890D"/>
          </a:solidFill>
          <a:ln/>
        </p:spPr>
      </p:sp>
      <p:sp>
        <p:nvSpPr>
          <p:cNvPr id="10" name="Text 8"/>
          <p:cNvSpPr/>
          <p:nvPr/>
        </p:nvSpPr>
        <p:spPr>
          <a:xfrm>
            <a:off x="10326142" y="2438995"/>
            <a:ext cx="82034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D-2 · D-5</a:t>
            </a:r>
            <a:endParaRPr lang="en-US" sz="1425" dirty="0"/>
          </a:p>
        </p:txBody>
      </p:sp>
      <p:sp>
        <p:nvSpPr>
          <p:cNvPr id="11" name="Shape 9"/>
          <p:cNvSpPr/>
          <p:nvPr/>
        </p:nvSpPr>
        <p:spPr>
          <a:xfrm>
            <a:off x="8117681" y="2909441"/>
            <a:ext cx="634603" cy="400050"/>
          </a:xfrm>
          <a:prstGeom prst="rect">
            <a:avLst/>
          </a:prstGeom>
          <a:solidFill>
            <a:srgbClr val="26890D"/>
          </a:solidFill>
          <a:ln/>
        </p:spPr>
      </p:sp>
      <p:sp>
        <p:nvSpPr>
          <p:cNvPr id="12" name="Text 10"/>
          <p:cNvSpPr/>
          <p:nvPr/>
        </p:nvSpPr>
        <p:spPr>
          <a:xfrm>
            <a:off x="8289131" y="3004691"/>
            <a:ext cx="36790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A-1</a:t>
            </a:r>
            <a:endParaRPr lang="en-US" sz="1425" dirty="0"/>
          </a:p>
        </p:txBody>
      </p:sp>
      <p:sp>
        <p:nvSpPr>
          <p:cNvPr id="13" name="Shape 11"/>
          <p:cNvSpPr/>
          <p:nvPr/>
        </p:nvSpPr>
        <p:spPr>
          <a:xfrm>
            <a:off x="6872883" y="3758059"/>
            <a:ext cx="634603" cy="400050"/>
          </a:xfrm>
          <a:prstGeom prst="rect">
            <a:avLst/>
          </a:prstGeom>
          <a:solidFill>
            <a:srgbClr val="26890D"/>
          </a:solidFill>
          <a:ln/>
        </p:spPr>
      </p:sp>
      <p:sp>
        <p:nvSpPr>
          <p:cNvPr id="14" name="Text 12"/>
          <p:cNvSpPr/>
          <p:nvPr/>
        </p:nvSpPr>
        <p:spPr>
          <a:xfrm>
            <a:off x="7044333" y="3853309"/>
            <a:ext cx="36790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D-1</a:t>
            </a:r>
            <a:endParaRPr lang="en-US" sz="1425" dirty="0"/>
          </a:p>
        </p:txBody>
      </p:sp>
      <p:sp>
        <p:nvSpPr>
          <p:cNvPr id="15" name="Shape 13"/>
          <p:cNvSpPr/>
          <p:nvPr/>
        </p:nvSpPr>
        <p:spPr>
          <a:xfrm>
            <a:off x="6250484" y="4606826"/>
            <a:ext cx="634603" cy="400050"/>
          </a:xfrm>
          <a:prstGeom prst="rect">
            <a:avLst/>
          </a:prstGeom>
          <a:solidFill>
            <a:srgbClr val="26890D"/>
          </a:solidFill>
          <a:ln/>
        </p:spPr>
      </p:sp>
      <p:sp>
        <p:nvSpPr>
          <p:cNvPr id="16" name="Text 14"/>
          <p:cNvSpPr/>
          <p:nvPr/>
        </p:nvSpPr>
        <p:spPr>
          <a:xfrm>
            <a:off x="6421934" y="4702076"/>
            <a:ext cx="36790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B-8</a:t>
            </a:r>
            <a:endParaRPr lang="en-US" sz="1425" dirty="0"/>
          </a:p>
        </p:txBody>
      </p:sp>
      <p:sp>
        <p:nvSpPr>
          <p:cNvPr id="17" name="Shape 15"/>
          <p:cNvSpPr/>
          <p:nvPr/>
        </p:nvSpPr>
        <p:spPr>
          <a:xfrm>
            <a:off x="4322118" y="2202210"/>
            <a:ext cx="1318320" cy="400050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18" name="Text 16"/>
          <p:cNvSpPr/>
          <p:nvPr/>
        </p:nvSpPr>
        <p:spPr>
          <a:xfrm>
            <a:off x="4493568" y="2297460"/>
            <a:ext cx="105162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A-3 CAMP4</a:t>
            </a:r>
            <a:endParaRPr lang="en-US" sz="1425" dirty="0"/>
          </a:p>
        </p:txBody>
      </p:sp>
      <p:sp>
        <p:nvSpPr>
          <p:cNvPr id="19" name="Shape 17"/>
          <p:cNvSpPr/>
          <p:nvPr/>
        </p:nvSpPr>
        <p:spPr>
          <a:xfrm>
            <a:off x="2567880" y="3050977"/>
            <a:ext cx="1620292" cy="400050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20" name="Text 18"/>
          <p:cNvSpPr/>
          <p:nvPr/>
        </p:nvSpPr>
        <p:spPr>
          <a:xfrm>
            <a:off x="2739330" y="3146227"/>
            <a:ext cx="135359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C-1 Fabrik E2E</a:t>
            </a:r>
            <a:endParaRPr lang="en-US" sz="1425" dirty="0"/>
          </a:p>
        </p:txBody>
      </p:sp>
      <p:sp>
        <p:nvSpPr>
          <p:cNvPr id="21" name="Shape 19"/>
          <p:cNvSpPr/>
          <p:nvPr/>
        </p:nvSpPr>
        <p:spPr>
          <a:xfrm>
            <a:off x="7845921" y="5879753"/>
            <a:ext cx="1528614" cy="419100"/>
          </a:xfrm>
          <a:prstGeom prst="rect">
            <a:avLst/>
          </a:prstGeom>
          <a:solidFill>
            <a:srgbClr val="F4F5F4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26896" y="5984528"/>
            <a:ext cx="124286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B-1 · B-4 · B-5</a:t>
            </a:r>
            <a:endParaRPr lang="en-US" sz="1425" dirty="0"/>
          </a:p>
        </p:txBody>
      </p:sp>
      <p:sp>
        <p:nvSpPr>
          <p:cNvPr id="23" name="Shape 21"/>
          <p:cNvSpPr/>
          <p:nvPr/>
        </p:nvSpPr>
        <p:spPr>
          <a:xfrm>
            <a:off x="5356473" y="6869906"/>
            <a:ext cx="1528614" cy="419100"/>
          </a:xfrm>
          <a:prstGeom prst="rect">
            <a:avLst/>
          </a:prstGeom>
          <a:solidFill>
            <a:srgbClr val="F4F5F4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37448" y="6974681"/>
            <a:ext cx="124286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B-2 · B-3 · B-6</a:t>
            </a:r>
            <a:endParaRPr lang="en-US" sz="1425" dirty="0"/>
          </a:p>
        </p:txBody>
      </p:sp>
      <p:sp>
        <p:nvSpPr>
          <p:cNvPr id="25" name="Text 23"/>
          <p:cNvSpPr/>
          <p:nvPr/>
        </p:nvSpPr>
        <p:spPr>
          <a:xfrm>
            <a:off x="11906250" y="1919436"/>
            <a:ext cx="58674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150" kern="0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TOP-5 QUICK WINS (0–3 MONATE)</a:t>
            </a:r>
            <a:endParaRPr lang="en-US" sz="1425" dirty="0"/>
          </a:p>
        </p:txBody>
      </p:sp>
      <p:sp>
        <p:nvSpPr>
          <p:cNvPr id="26" name="Shape 24"/>
          <p:cNvSpPr/>
          <p:nvPr/>
        </p:nvSpPr>
        <p:spPr>
          <a:xfrm>
            <a:off x="11906250" y="2243286"/>
            <a:ext cx="5334000" cy="504825"/>
          </a:xfrm>
          <a:prstGeom prst="rect">
            <a:avLst/>
          </a:prstGeom>
          <a:solidFill>
            <a:srgbClr val="F4F5F4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125325" y="2386161"/>
            <a:ext cx="505587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D-2 </a:t>
            </a:r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highlight>
                  <a:srgbClr val="F4F5F4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Bilanzanalyse – GA, ohne Buchungsrisiko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11906250" y="2862411"/>
            <a:ext cx="5334000" cy="504825"/>
          </a:xfrm>
          <a:prstGeom prst="rect">
            <a:avLst/>
          </a:prstGeom>
          <a:solidFill>
            <a:srgbClr val="F4F5F4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125325" y="3005286"/>
            <a:ext cx="505587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D-5 </a:t>
            </a:r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highlight>
                  <a:srgbClr val="F4F5F4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Self-Service-Copilot – GA, breite Entlastung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11906250" y="3481536"/>
            <a:ext cx="5334000" cy="504825"/>
          </a:xfrm>
          <a:prstGeom prst="rect">
            <a:avLst/>
          </a:prstGeom>
          <a:solidFill>
            <a:srgbClr val="F4F5F4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125325" y="3624411"/>
            <a:ext cx="505587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A-1 </a:t>
            </a:r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highlight>
                  <a:srgbClr val="F4F5F4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Bank-Statement / Cash Application – Scope aktiv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1906250" y="4100661"/>
            <a:ext cx="5334000" cy="723900"/>
          </a:xfrm>
          <a:prstGeom prst="rect">
            <a:avLst/>
          </a:prstGeom>
          <a:solidFill>
            <a:srgbClr val="F4F5F4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125325" y="4243536"/>
            <a:ext cx="505587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D-1 </a:t>
            </a:r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highlight>
                  <a:srgbClr val="F4F5F4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CIM BuKr-Zuordnung – tägliches Vorsortieren entfällt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11906250" y="4938861"/>
            <a:ext cx="5334000" cy="723900"/>
          </a:xfrm>
          <a:prstGeom prst="rect">
            <a:avLst/>
          </a:prstGeom>
          <a:solidFill>
            <a:srgbClr val="F4F5F4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125325" y="5081736"/>
            <a:ext cx="505587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B-8 </a:t>
            </a:r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highlight>
                  <a:srgbClr val="F4F5F4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Rollen-Provisionierung – Ihr Painpoint, jetzt im Zeitfenster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1906250" y="5834211"/>
            <a:ext cx="5494020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35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Legende: </a:t>
            </a:r>
            <a:pPr algn="l" indent="0" marL="0">
              <a:lnSpc>
                <a:spcPct val="124286"/>
              </a:lnSpc>
              <a:buNone/>
            </a:pPr>
            <a:r>
              <a:rPr lang="en-US" sz="1350" b="1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grün </a:t>
            </a:r>
            <a:pPr algn="l" indent="0" marL="0">
              <a:lnSpc>
                <a:spcPct val="124286"/>
              </a:lnSpc>
              <a:buNone/>
            </a:pPr>
            <a:r>
              <a:rPr lang="en-US" sz="135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Quick Win · </a:t>
            </a:r>
            <a:pPr algn="l" indent="0" marL="0">
              <a:lnSpc>
                <a:spcPct val="124286"/>
              </a:lnSpc>
              <a:buNone/>
            </a:pPr>
            <a:r>
              <a:rPr lang="en-US" sz="13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schwarz </a:t>
            </a:r>
            <a:pPr algn="l" indent="0" marL="0">
              <a:lnSpc>
                <a:spcPct val="124286"/>
              </a:lnSpc>
              <a:buNone/>
            </a:pPr>
            <a:r>
              <a:rPr lang="en-US" sz="135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strategisch · grau = mittelfristig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1047750" y="9401175"/>
            <a:ext cx="16192500" cy="9525"/>
          </a:xfrm>
          <a:prstGeom prst="rect">
            <a:avLst/>
          </a:prstGeom>
          <a:solidFill>
            <a:srgbClr val="E3E5E4"/>
          </a:solidFill>
          <a:ln/>
        </p:spPr>
      </p:sp>
      <p:sp>
        <p:nvSpPr>
          <p:cNvPr id="38" name="Text 36"/>
          <p:cNvSpPr/>
          <p:nvPr/>
        </p:nvSpPr>
        <p:spPr>
          <a:xfrm>
            <a:off x="1047750" y="9544050"/>
            <a:ext cx="450679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Finance &amp; Treasury · Viessmann Generations Group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4792027" y="9544050"/>
            <a:ext cx="269304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01.09.2026 · Berlin · Vertraulich · 24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00100"/>
            <a:ext cx="133350" cy="133350"/>
          </a:xfrm>
          <a:prstGeom prst="rect">
            <a:avLst/>
          </a:prstGeom>
          <a:solidFill>
            <a:srgbClr val="26890D"/>
          </a:solidFill>
          <a:ln/>
        </p:spPr>
      </p:sp>
      <p:sp>
        <p:nvSpPr>
          <p:cNvPr id="3" name="Text 1"/>
          <p:cNvSpPr/>
          <p:nvPr/>
        </p:nvSpPr>
        <p:spPr>
          <a:xfrm>
            <a:off x="1295400" y="762000"/>
            <a:ext cx="180409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225" kern="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ROADMAP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1047750" y="1085850"/>
            <a:ext cx="17811750" cy="5287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407"/>
              </a:lnSpc>
              <a:buNone/>
            </a:pPr>
            <a:r>
              <a:rPr lang="en-US" sz="3450" b="1" spc="-75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Drei Horizonte: Fundament → Kernprozesse → Autonomie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1047750" y="1957536"/>
            <a:ext cx="5397401" cy="590550"/>
          </a:xfrm>
          <a:prstGeom prst="rect">
            <a:avLst/>
          </a:prstGeom>
          <a:solidFill>
            <a:srgbClr val="26890D"/>
          </a:solidFill>
          <a:ln/>
        </p:spPr>
      </p:sp>
      <p:sp>
        <p:nvSpPr>
          <p:cNvPr id="6" name="Text 4"/>
          <p:cNvSpPr/>
          <p:nvPr/>
        </p:nvSpPr>
        <p:spPr>
          <a:xfrm>
            <a:off x="1314450" y="2128986"/>
            <a:ext cx="502592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0–3 Monate · Fundament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047750" y="9163050"/>
            <a:ext cx="5397401" cy="9525"/>
          </a:xfrm>
          <a:prstGeom prst="rect">
            <a:avLst/>
          </a:prstGeom>
          <a:solidFill>
            <a:srgbClr val="E3E5E4"/>
          </a:solidFill>
          <a:ln/>
        </p:spPr>
      </p:sp>
      <p:sp>
        <p:nvSpPr>
          <p:cNvPr id="8" name="Shape 6"/>
          <p:cNvSpPr/>
          <p:nvPr/>
        </p:nvSpPr>
        <p:spPr>
          <a:xfrm>
            <a:off x="1047750" y="2548086"/>
            <a:ext cx="9525" cy="6624489"/>
          </a:xfrm>
          <a:prstGeom prst="rect">
            <a:avLst/>
          </a:prstGeom>
          <a:solidFill>
            <a:srgbClr val="E3E5E4"/>
          </a:solidFill>
          <a:ln/>
        </p:spPr>
      </p:sp>
      <p:sp>
        <p:nvSpPr>
          <p:cNvPr id="9" name="Shape 7"/>
          <p:cNvSpPr/>
          <p:nvPr/>
        </p:nvSpPr>
        <p:spPr>
          <a:xfrm>
            <a:off x="6435626" y="2548086"/>
            <a:ext cx="9525" cy="6624489"/>
          </a:xfrm>
          <a:prstGeom prst="rect">
            <a:avLst/>
          </a:prstGeom>
          <a:solidFill>
            <a:srgbClr val="E3E5E4"/>
          </a:solidFill>
          <a:ln/>
        </p:spPr>
      </p:sp>
      <p:sp>
        <p:nvSpPr>
          <p:cNvPr id="10" name="Text 8"/>
          <p:cNvSpPr/>
          <p:nvPr/>
        </p:nvSpPr>
        <p:spPr>
          <a:xfrm>
            <a:off x="1323975" y="2776686"/>
            <a:ext cx="5329446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909"/>
              </a:lnSpc>
              <a:buNone/>
            </a:pPr>
            <a:r>
              <a:rPr lang="en-US" sz="142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D-2 + D-5 </a:t>
            </a:r>
            <a:pPr algn="l" indent="0" marL="0">
              <a:lnSpc>
                <a:spcPct val="120909"/>
              </a:lnSpc>
              <a:buNone/>
            </a:pPr>
            <a:r>
              <a:rPr lang="en-US" sz="142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aktivieren und Team anlernen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1323975" y="3144292"/>
            <a:ext cx="4990299" cy="5447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909"/>
              </a:lnSpc>
              <a:buNone/>
            </a:pPr>
            <a:r>
              <a:rPr lang="en-US" sz="142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A-1 / A-2 </a:t>
            </a:r>
            <a:pPr algn="l" indent="0" marL="0">
              <a:lnSpc>
                <a:spcPct val="120909"/>
              </a:lnSpc>
              <a:buNone/>
            </a:pPr>
            <a:r>
              <a:rPr lang="en-US" sz="142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4X8/J78 ausreizen, Payment Advices GA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1323975" y="3765203"/>
            <a:ext cx="5329446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909"/>
              </a:lnSpc>
              <a:buNone/>
            </a:pPr>
            <a:r>
              <a:rPr lang="en-US" sz="142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B-8 </a:t>
            </a:r>
            <a:pPr algn="l" indent="0" marL="0">
              <a:lnSpc>
                <a:spcPct val="120909"/>
              </a:lnSpc>
              <a:buNone/>
            </a:pPr>
            <a:r>
              <a:rPr lang="en-US" sz="142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Rollenprojekt andocken, Rollen-Set je Template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1323975" y="4132808"/>
            <a:ext cx="5329446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909"/>
              </a:lnSpc>
              <a:buNone/>
            </a:pPr>
            <a:r>
              <a:rPr lang="en-US" sz="142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B-5 </a:t>
            </a:r>
            <a:pPr algn="l" indent="0" marL="0">
              <a:lnSpc>
                <a:spcPct val="120909"/>
              </a:lnSpc>
              <a:buNone/>
            </a:pPr>
            <a:r>
              <a:rPr lang="en-US" sz="142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Stammdaten-Guardrails · Governance-Gates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1323975" y="8481120"/>
            <a:ext cx="4990299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275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Voraussetzung: Business AI Platform, AI-Units (OF-6), Datenqualität</a:t>
            </a:r>
            <a:endParaRPr lang="en-US" sz="1275" dirty="0"/>
          </a:p>
        </p:txBody>
      </p:sp>
      <p:sp>
        <p:nvSpPr>
          <p:cNvPr id="15" name="Shape 13"/>
          <p:cNvSpPr/>
          <p:nvPr/>
        </p:nvSpPr>
        <p:spPr>
          <a:xfrm>
            <a:off x="6445151" y="1957536"/>
            <a:ext cx="5397550" cy="590550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16" name="Text 14"/>
          <p:cNvSpPr/>
          <p:nvPr/>
        </p:nvSpPr>
        <p:spPr>
          <a:xfrm>
            <a:off x="6711851" y="2128986"/>
            <a:ext cx="502607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3–12 Monate · Kernprozesse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6445151" y="9163050"/>
            <a:ext cx="5397550" cy="9525"/>
          </a:xfrm>
          <a:prstGeom prst="rect">
            <a:avLst/>
          </a:prstGeom>
          <a:solidFill>
            <a:srgbClr val="E3E5E4"/>
          </a:solidFill>
          <a:ln/>
        </p:spPr>
      </p:sp>
      <p:sp>
        <p:nvSpPr>
          <p:cNvPr id="18" name="Shape 16"/>
          <p:cNvSpPr/>
          <p:nvPr/>
        </p:nvSpPr>
        <p:spPr>
          <a:xfrm>
            <a:off x="6445151" y="2548086"/>
            <a:ext cx="9525" cy="6624489"/>
          </a:xfrm>
          <a:prstGeom prst="rect">
            <a:avLst/>
          </a:prstGeom>
          <a:solidFill>
            <a:srgbClr val="E3E5E4"/>
          </a:solidFill>
          <a:ln/>
        </p:spPr>
      </p:sp>
      <p:sp>
        <p:nvSpPr>
          <p:cNvPr id="19" name="Shape 17"/>
          <p:cNvSpPr/>
          <p:nvPr/>
        </p:nvSpPr>
        <p:spPr>
          <a:xfrm>
            <a:off x="11833175" y="2548086"/>
            <a:ext cx="9525" cy="6624489"/>
          </a:xfrm>
          <a:prstGeom prst="rect">
            <a:avLst/>
          </a:prstGeom>
          <a:solidFill>
            <a:srgbClr val="E3E5E4"/>
          </a:solidFill>
          <a:ln/>
        </p:spPr>
      </p:sp>
      <p:sp>
        <p:nvSpPr>
          <p:cNvPr id="20" name="Text 18"/>
          <p:cNvSpPr/>
          <p:nvPr/>
        </p:nvSpPr>
        <p:spPr>
          <a:xfrm>
            <a:off x="6721376" y="2776686"/>
            <a:ext cx="4990453" cy="5447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909"/>
              </a:lnSpc>
              <a:buNone/>
            </a:pPr>
            <a:r>
              <a:rPr lang="en-US" sz="142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D-1 </a:t>
            </a:r>
            <a:pPr algn="l" indent="0" marL="0">
              <a:lnSpc>
                <a:spcPct val="120909"/>
              </a:lnSpc>
              <a:buNone/>
            </a:pPr>
            <a:r>
              <a:rPr lang="en-US" sz="142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CIM-Zuordnung produktiv · </a:t>
            </a:r>
            <a:pPr algn="l" indent="0" marL="0">
              <a:lnSpc>
                <a:spcPct val="120909"/>
              </a:lnSpc>
              <a:buNone/>
            </a:pPr>
            <a:r>
              <a:rPr lang="en-US" sz="142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D-3/D-4 </a:t>
            </a:r>
            <a:pPr algn="l" indent="0" marL="0">
              <a:lnSpc>
                <a:spcPct val="120909"/>
              </a:lnSpc>
              <a:buNone/>
            </a:pPr>
            <a:r>
              <a:rPr lang="en-US" sz="142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+ Kontierungsprüfung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6721376" y="3397597"/>
            <a:ext cx="5329610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909"/>
              </a:lnSpc>
              <a:buNone/>
            </a:pPr>
            <a:r>
              <a:rPr lang="en-US" sz="142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B-1 </a:t>
            </a:r>
            <a:pPr algn="l" indent="0" marL="0">
              <a:lnSpc>
                <a:spcPct val="120909"/>
              </a:lnSpc>
              <a:buNone/>
            </a:pPr>
            <a:r>
              <a:rPr lang="en-US" sz="142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 (inkl. E05) · </a:t>
            </a:r>
            <a:pPr algn="l" indent="0" marL="0">
              <a:lnSpc>
                <a:spcPct val="120909"/>
              </a:lnSpc>
              <a:buNone/>
            </a:pPr>
            <a:r>
              <a:rPr lang="en-US" sz="142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B-4 </a:t>
            </a:r>
            <a:pPr algn="l" indent="0" marL="0">
              <a:lnSpc>
                <a:spcPct val="120909"/>
              </a:lnSpc>
              <a:buNone/>
            </a:pPr>
            <a:r>
              <a:rPr lang="en-US" sz="142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Close-Orchestrierung</a:t>
            </a:r>
            <a:endParaRPr lang="en-US" sz="1425" dirty="0"/>
          </a:p>
        </p:txBody>
      </p:sp>
      <p:sp>
        <p:nvSpPr>
          <p:cNvPr id="22" name="Text 20"/>
          <p:cNvSpPr/>
          <p:nvPr/>
        </p:nvSpPr>
        <p:spPr>
          <a:xfrm>
            <a:off x="6721376" y="3765203"/>
            <a:ext cx="5329610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909"/>
              </a:lnSpc>
              <a:buNone/>
            </a:pPr>
            <a:r>
              <a:rPr lang="en-US" sz="142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B-2/B-3/B-6 </a:t>
            </a:r>
            <a:pPr algn="l" indent="0" marL="0">
              <a:lnSpc>
                <a:spcPct val="120909"/>
              </a:lnSpc>
              <a:buNone/>
            </a:pPr>
            <a:r>
              <a:rPr lang="en-US" sz="142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Zahllauf, FX, Steuer – mit Freigabe</a:t>
            </a:r>
            <a:endParaRPr lang="en-US" sz="1425" dirty="0"/>
          </a:p>
        </p:txBody>
      </p:sp>
      <p:sp>
        <p:nvSpPr>
          <p:cNvPr id="23" name="Text 21"/>
          <p:cNvSpPr/>
          <p:nvPr/>
        </p:nvSpPr>
        <p:spPr>
          <a:xfrm>
            <a:off x="6721376" y="4132808"/>
            <a:ext cx="5329610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909"/>
              </a:lnSpc>
              <a:buNone/>
            </a:pPr>
            <a:r>
              <a:rPr lang="en-US" sz="142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A-3 </a:t>
            </a:r>
            <a:pPr algn="l" indent="0" marL="0">
              <a:lnSpc>
                <a:spcPct val="120909"/>
              </a:lnSpc>
              <a:buNone/>
            </a:pPr>
            <a:r>
              <a:rPr lang="en-US" sz="142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CAMP4-Pilot: Template T1, erste agentische Anlage</a:t>
            </a:r>
            <a:endParaRPr lang="en-US" sz="1425" dirty="0"/>
          </a:p>
        </p:txBody>
      </p:sp>
      <p:sp>
        <p:nvSpPr>
          <p:cNvPr id="24" name="Text 22"/>
          <p:cNvSpPr/>
          <p:nvPr/>
        </p:nvSpPr>
        <p:spPr>
          <a:xfrm>
            <a:off x="6721376" y="8707785"/>
            <a:ext cx="5329610" cy="264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275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Voraussetzung: Joule-Studio-Reife, BTP-Extensibility, Enablement</a:t>
            </a:r>
            <a:endParaRPr lang="en-US" sz="1275" dirty="0"/>
          </a:p>
        </p:txBody>
      </p:sp>
      <p:sp>
        <p:nvSpPr>
          <p:cNvPr id="25" name="Shape 23"/>
          <p:cNvSpPr/>
          <p:nvPr/>
        </p:nvSpPr>
        <p:spPr>
          <a:xfrm>
            <a:off x="11842700" y="1957536"/>
            <a:ext cx="5397550" cy="590550"/>
          </a:xfrm>
          <a:prstGeom prst="rect">
            <a:avLst/>
          </a:prstGeom>
          <a:solidFill>
            <a:srgbClr val="8A908A"/>
          </a:solidFill>
          <a:ln/>
        </p:spPr>
      </p:sp>
      <p:sp>
        <p:nvSpPr>
          <p:cNvPr id="26" name="Text 24"/>
          <p:cNvSpPr/>
          <p:nvPr/>
        </p:nvSpPr>
        <p:spPr>
          <a:xfrm>
            <a:off x="12109400" y="2128986"/>
            <a:ext cx="502607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12–24 Monate · Autonomie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1842700" y="9163050"/>
            <a:ext cx="5397550" cy="9525"/>
          </a:xfrm>
          <a:prstGeom prst="rect">
            <a:avLst/>
          </a:prstGeom>
          <a:solidFill>
            <a:srgbClr val="E3E5E4"/>
          </a:solidFill>
          <a:ln/>
        </p:spPr>
      </p:sp>
      <p:sp>
        <p:nvSpPr>
          <p:cNvPr id="28" name="Shape 26"/>
          <p:cNvSpPr/>
          <p:nvPr/>
        </p:nvSpPr>
        <p:spPr>
          <a:xfrm>
            <a:off x="11842700" y="2548086"/>
            <a:ext cx="9525" cy="6624489"/>
          </a:xfrm>
          <a:prstGeom prst="rect">
            <a:avLst/>
          </a:prstGeom>
          <a:solidFill>
            <a:srgbClr val="E3E5E4"/>
          </a:solidFill>
          <a:ln/>
        </p:spPr>
      </p:sp>
      <p:sp>
        <p:nvSpPr>
          <p:cNvPr id="29" name="Shape 27"/>
          <p:cNvSpPr/>
          <p:nvPr/>
        </p:nvSpPr>
        <p:spPr>
          <a:xfrm>
            <a:off x="17230725" y="2548086"/>
            <a:ext cx="9525" cy="6624489"/>
          </a:xfrm>
          <a:prstGeom prst="rect">
            <a:avLst/>
          </a:prstGeom>
          <a:solidFill>
            <a:srgbClr val="E3E5E4"/>
          </a:solidFill>
          <a:ln/>
        </p:spPr>
      </p:sp>
      <p:sp>
        <p:nvSpPr>
          <p:cNvPr id="30" name="Text 28"/>
          <p:cNvSpPr/>
          <p:nvPr/>
        </p:nvSpPr>
        <p:spPr>
          <a:xfrm>
            <a:off x="12118925" y="2776686"/>
            <a:ext cx="5329610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909"/>
              </a:lnSpc>
              <a:buNone/>
            </a:pPr>
            <a:r>
              <a:rPr lang="en-US" sz="142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C-1 </a:t>
            </a:r>
            <a:pPr algn="l" indent="0" marL="0">
              <a:lnSpc>
                <a:spcPct val="120909"/>
              </a:lnSpc>
              <a:buNone/>
            </a:pPr>
            <a:r>
              <a:rPr lang="en-US" sz="142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Buchungskreis-Fabrik End-to-End über T1–T4</a:t>
            </a:r>
            <a:endParaRPr lang="en-US" sz="1425" dirty="0"/>
          </a:p>
        </p:txBody>
      </p:sp>
      <p:sp>
        <p:nvSpPr>
          <p:cNvPr id="31" name="Text 29"/>
          <p:cNvSpPr/>
          <p:nvPr/>
        </p:nvSpPr>
        <p:spPr>
          <a:xfrm>
            <a:off x="12118925" y="3144292"/>
            <a:ext cx="5329610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909"/>
              </a:lnSpc>
              <a:buNone/>
            </a:pPr>
            <a:r>
              <a:rPr lang="en-US" sz="142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C-2 </a:t>
            </a:r>
            <a:pPr algn="l" indent="0" marL="0">
              <a:lnSpc>
                <a:spcPct val="120909"/>
              </a:lnSpc>
              <a:buNone/>
            </a:pPr>
            <a:r>
              <a:rPr lang="en-US" sz="142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Treasury-Copilot über SAP + Drittlösung + E05</a:t>
            </a:r>
            <a:endParaRPr lang="en-US" sz="1425" dirty="0"/>
          </a:p>
        </p:txBody>
      </p:sp>
      <p:sp>
        <p:nvSpPr>
          <p:cNvPr id="32" name="Text 30"/>
          <p:cNvSpPr/>
          <p:nvPr/>
        </p:nvSpPr>
        <p:spPr>
          <a:xfrm>
            <a:off x="12118925" y="3511897"/>
            <a:ext cx="4990453" cy="5447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909"/>
              </a:lnSpc>
              <a:buNone/>
            </a:pPr>
            <a:r>
              <a:rPr lang="en-US" sz="142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C-3/C-4 </a:t>
            </a:r>
            <a:pPr algn="l" indent="0" marL="0">
              <a:lnSpc>
                <a:spcPct val="120909"/>
              </a:lnSpc>
              <a:buNone/>
            </a:pPr>
            <a:r>
              <a:rPr lang="en-US" sz="142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autonomer SPV-Abschluss, Akquisitions-Onboarding – kontrollierte Piloten</a:t>
            </a:r>
            <a:endParaRPr lang="en-US" sz="1425" dirty="0"/>
          </a:p>
        </p:txBody>
      </p:sp>
      <p:sp>
        <p:nvSpPr>
          <p:cNvPr id="33" name="Text 31"/>
          <p:cNvSpPr/>
          <p:nvPr/>
        </p:nvSpPr>
        <p:spPr>
          <a:xfrm>
            <a:off x="12118925" y="8707785"/>
            <a:ext cx="5329610" cy="264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275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Voraussetzung: reife Bausteine, AI Agent Hub, Prüferakzeptanz</a:t>
            </a:r>
            <a:endParaRPr lang="en-US" sz="1275" dirty="0"/>
          </a:p>
        </p:txBody>
      </p:sp>
      <p:sp>
        <p:nvSpPr>
          <p:cNvPr id="34" name="Shape 32"/>
          <p:cNvSpPr/>
          <p:nvPr/>
        </p:nvSpPr>
        <p:spPr>
          <a:xfrm>
            <a:off x="1047750" y="9401175"/>
            <a:ext cx="16192500" cy="9525"/>
          </a:xfrm>
          <a:prstGeom prst="rect">
            <a:avLst/>
          </a:prstGeom>
          <a:solidFill>
            <a:srgbClr val="E3E5E4"/>
          </a:solidFill>
          <a:ln/>
        </p:spPr>
      </p:sp>
      <p:sp>
        <p:nvSpPr>
          <p:cNvPr id="35" name="Text 33"/>
          <p:cNvSpPr/>
          <p:nvPr/>
        </p:nvSpPr>
        <p:spPr>
          <a:xfrm>
            <a:off x="1047750" y="9544050"/>
            <a:ext cx="738614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Reihenfolge wichtiger als absolute Termine · Change-Kapazität des 7er-Teams ist der kritische Pfad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4792027" y="9544050"/>
            <a:ext cx="269304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01.09.2026 · Berlin · Vertraulich · 25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00100"/>
            <a:ext cx="133350" cy="133350"/>
          </a:xfrm>
          <a:prstGeom prst="rect">
            <a:avLst/>
          </a:prstGeom>
          <a:solidFill>
            <a:srgbClr val="26890D"/>
          </a:solidFill>
          <a:ln/>
        </p:spPr>
      </p:sp>
      <p:sp>
        <p:nvSpPr>
          <p:cNvPr id="3" name="Text 1"/>
          <p:cNvSpPr/>
          <p:nvPr/>
        </p:nvSpPr>
        <p:spPr>
          <a:xfrm>
            <a:off x="1295400" y="762000"/>
            <a:ext cx="229670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225" kern="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GOVERNANCE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1047750" y="1085850"/>
            <a:ext cx="17811750" cy="5287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407"/>
              </a:lnSpc>
              <a:buNone/>
            </a:pPr>
            <a:r>
              <a:rPr lang="en-US" sz="3450" b="1" spc="-75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Vier Leitplanken – allen voran: kein autonomer Zahlungsverkehr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1047750" y="1957536"/>
            <a:ext cx="7981950" cy="1485900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2243286"/>
            <a:ext cx="806767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4-Augen-Prinzip &amp; SoD</a:t>
            </a:r>
            <a:endParaRPr lang="en-US" sz="1725" dirty="0"/>
          </a:p>
        </p:txBody>
      </p:sp>
      <p:sp>
        <p:nvSpPr>
          <p:cNvPr id="7" name="Text 5"/>
          <p:cNvSpPr/>
          <p:nvPr/>
        </p:nvSpPr>
        <p:spPr>
          <a:xfrm>
            <a:off x="1371600" y="2595711"/>
            <a:ext cx="7554278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45"/>
              </a:lnSpc>
              <a:buNone/>
            </a:pPr>
            <a:r>
              <a:rPr lang="en-US" sz="1425" dirty="0">
                <a:solidFill>
                  <a:srgbClr val="B8B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Zahlläufe und Massen-Stammdatenaktionen nur mit Freigabe. Agenten-Identitäten unterliegen derselben SoD-Kontrolle wie Menschen.</a:t>
            </a:r>
            <a:endParaRPr lang="en-US" sz="1425" dirty="0"/>
          </a:p>
        </p:txBody>
      </p:sp>
      <p:sp>
        <p:nvSpPr>
          <p:cNvPr id="8" name="Shape 6"/>
          <p:cNvSpPr/>
          <p:nvPr/>
        </p:nvSpPr>
        <p:spPr>
          <a:xfrm>
            <a:off x="9258300" y="1957536"/>
            <a:ext cx="7981950" cy="1485900"/>
          </a:xfrm>
          <a:prstGeom prst="rect">
            <a:avLst/>
          </a:prstGeom>
          <a:solidFill>
            <a:srgbClr val="F4F5F4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91675" y="2252811"/>
            <a:ext cx="804672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Core</a:t>
            </a:r>
            <a:endParaRPr lang="en-US" sz="1725" dirty="0"/>
          </a:p>
        </p:txBody>
      </p:sp>
      <p:sp>
        <p:nvSpPr>
          <p:cNvPr id="10" name="Text 8"/>
          <p:cNvSpPr/>
          <p:nvPr/>
        </p:nvSpPr>
        <p:spPr>
          <a:xfrm>
            <a:off x="9591675" y="2605236"/>
            <a:ext cx="7534656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45"/>
              </a:lnSpc>
              <a:buNone/>
            </a:pPr>
            <a:r>
              <a:rPr lang="en-US" sz="1425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Keine Kernmodifikation. Eigenbau Side-by-Side auf BTP über freigegebene APIs, Konfiguration nur über CBC/SSCUI.</a:t>
            </a:r>
            <a:endParaRPr lang="en-US" sz="1425" dirty="0"/>
          </a:p>
        </p:txBody>
      </p:sp>
      <p:sp>
        <p:nvSpPr>
          <p:cNvPr id="11" name="Shape 9"/>
          <p:cNvSpPr/>
          <p:nvPr/>
        </p:nvSpPr>
        <p:spPr>
          <a:xfrm>
            <a:off x="1047750" y="3672036"/>
            <a:ext cx="7981950" cy="1485900"/>
          </a:xfrm>
          <a:prstGeom prst="rect">
            <a:avLst/>
          </a:prstGeom>
          <a:solidFill>
            <a:srgbClr val="F4F5F4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81125" y="3967311"/>
            <a:ext cx="804672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Datenqualität zuerst</a:t>
            </a:r>
            <a:endParaRPr lang="en-US" sz="1725" dirty="0"/>
          </a:p>
        </p:txBody>
      </p:sp>
      <p:sp>
        <p:nvSpPr>
          <p:cNvPr id="13" name="Text 11"/>
          <p:cNvSpPr/>
          <p:nvPr/>
        </p:nvSpPr>
        <p:spPr>
          <a:xfrm>
            <a:off x="1381125" y="4319736"/>
            <a:ext cx="7534656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45"/>
              </a:lnSpc>
              <a:buNone/>
            </a:pPr>
            <a:r>
              <a:rPr lang="en-US" sz="1425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 Agent ist besser als seine Datenbasis. BP-, Bank- und GL-Bereinigung vor breitem Rollout – Lehre aus den Vorfällen.</a:t>
            </a:r>
            <a:endParaRPr lang="en-US" sz="1425" dirty="0"/>
          </a:p>
        </p:txBody>
      </p:sp>
      <p:sp>
        <p:nvSpPr>
          <p:cNvPr id="14" name="Shape 12"/>
          <p:cNvSpPr/>
          <p:nvPr/>
        </p:nvSpPr>
        <p:spPr>
          <a:xfrm>
            <a:off x="9258300" y="3672036"/>
            <a:ext cx="7981950" cy="1485900"/>
          </a:xfrm>
          <a:prstGeom prst="rect">
            <a:avLst/>
          </a:prstGeom>
          <a:solidFill>
            <a:srgbClr val="F4F5F4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91675" y="3967311"/>
            <a:ext cx="804672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Nachweis &amp; EU AI Act</a:t>
            </a:r>
            <a:endParaRPr lang="en-US" sz="1725" dirty="0"/>
          </a:p>
        </p:txBody>
      </p:sp>
      <p:sp>
        <p:nvSpPr>
          <p:cNvPr id="16" name="Text 14"/>
          <p:cNvSpPr/>
          <p:nvPr/>
        </p:nvSpPr>
        <p:spPr>
          <a:xfrm>
            <a:off x="9591675" y="4319736"/>
            <a:ext cx="7534656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45"/>
              </a:lnSpc>
              <a:buNone/>
            </a:pPr>
            <a:r>
              <a:rPr lang="en-US" sz="1425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 agentische Buchung revisionssicher nachvollziehbar (HGB/IFRS). Risikoklassifizierung nach EU AI Act zu bewerten [OF-8].</a:t>
            </a:r>
            <a:endParaRPr lang="en-US" sz="1425" dirty="0"/>
          </a:p>
        </p:txBody>
      </p:sp>
      <p:sp>
        <p:nvSpPr>
          <p:cNvPr id="17" name="Shape 15"/>
          <p:cNvSpPr/>
          <p:nvPr/>
        </p:nvSpPr>
        <p:spPr>
          <a:xfrm>
            <a:off x="1047750" y="9401175"/>
            <a:ext cx="16192500" cy="9525"/>
          </a:xfrm>
          <a:prstGeom prst="rect">
            <a:avLst/>
          </a:prstGeom>
          <a:solidFill>
            <a:srgbClr val="E3E5E4"/>
          </a:solidFill>
          <a:ln/>
        </p:spPr>
      </p:sp>
      <p:sp>
        <p:nvSpPr>
          <p:cNvPr id="18" name="Text 16"/>
          <p:cNvSpPr/>
          <p:nvPr/>
        </p:nvSpPr>
        <p:spPr>
          <a:xfrm>
            <a:off x="1047750" y="9544050"/>
            <a:ext cx="450679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Finance &amp; Treasury · Viessmann Generations Group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792027" y="9544050"/>
            <a:ext cx="269304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01.09.2026 · Berlin · Vertraulich · 26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00100"/>
            <a:ext cx="133350" cy="133350"/>
          </a:xfrm>
          <a:prstGeom prst="rect">
            <a:avLst/>
          </a:prstGeom>
          <a:solidFill>
            <a:srgbClr val="26890D"/>
          </a:solidFill>
          <a:ln/>
        </p:spPr>
      </p:sp>
      <p:sp>
        <p:nvSpPr>
          <p:cNvPr id="3" name="Text 1"/>
          <p:cNvSpPr/>
          <p:nvPr/>
        </p:nvSpPr>
        <p:spPr>
          <a:xfrm>
            <a:off x="1295400" y="762000"/>
            <a:ext cx="671951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225" kern="0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INTERAKTION 3 · ARBEITSFOLIE, WIRD LIVE BEFÜLLT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1047750" y="1085850"/>
            <a:ext cx="17811750" cy="5287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407"/>
              </a:lnSpc>
              <a:buNone/>
            </a:pPr>
            <a:r>
              <a:rPr lang="en-US" sz="3450" b="1" spc="-75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Priorisierung: Was starten wir zuerst?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1047750" y="1881336"/>
            <a:ext cx="16192500" cy="5900589"/>
          </a:xfrm>
          <a:prstGeom prst="rect">
            <a:avLst/>
          </a:prstGeom>
          <a:ln w="19050">
            <a:solidFill>
              <a:srgbClr val="11111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6800" y="4822031"/>
            <a:ext cx="8077200" cy="9525"/>
          </a:xfrm>
          <a:prstGeom prst="rect">
            <a:avLst/>
          </a:prstGeom>
          <a:solidFill>
            <a:srgbClr val="B8BDB8"/>
          </a:solidFill>
          <a:ln/>
        </p:spPr>
      </p:sp>
      <p:sp>
        <p:nvSpPr>
          <p:cNvPr id="7" name="Shape 5"/>
          <p:cNvSpPr/>
          <p:nvPr/>
        </p:nvSpPr>
        <p:spPr>
          <a:xfrm>
            <a:off x="9134475" y="1900386"/>
            <a:ext cx="9525" cy="2931170"/>
          </a:xfrm>
          <a:prstGeom prst="rect">
            <a:avLst/>
          </a:prstGeom>
          <a:solidFill>
            <a:srgbClr val="B8BDB8"/>
          </a:solidFill>
          <a:ln/>
        </p:spPr>
      </p:sp>
      <p:sp>
        <p:nvSpPr>
          <p:cNvPr id="8" name="Text 6"/>
          <p:cNvSpPr/>
          <p:nvPr/>
        </p:nvSpPr>
        <p:spPr>
          <a:xfrm>
            <a:off x="1257300" y="2033736"/>
            <a:ext cx="517932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75" kern="0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HOHER NUTZEN · GERINGER AUFWAND → SOFORT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9144000" y="4822031"/>
            <a:ext cx="8077200" cy="9525"/>
          </a:xfrm>
          <a:prstGeom prst="rect">
            <a:avLst/>
          </a:prstGeom>
          <a:solidFill>
            <a:srgbClr val="B8BDB8"/>
          </a:solidFill>
          <a:ln/>
        </p:spPr>
      </p:sp>
      <p:sp>
        <p:nvSpPr>
          <p:cNvPr id="10" name="Text 8"/>
          <p:cNvSpPr/>
          <p:nvPr/>
        </p:nvSpPr>
        <p:spPr>
          <a:xfrm>
            <a:off x="9334500" y="2033736"/>
            <a:ext cx="481261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75" kern="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HOHER NUTZEN · HOHER AUFWAND → PLANEN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134475" y="4831556"/>
            <a:ext cx="9525" cy="2931319"/>
          </a:xfrm>
          <a:prstGeom prst="rect">
            <a:avLst/>
          </a:prstGeom>
          <a:solidFill>
            <a:srgbClr val="B8BDB8"/>
          </a:solidFill>
          <a:ln/>
        </p:spPr>
      </p:sp>
      <p:sp>
        <p:nvSpPr>
          <p:cNvPr id="12" name="Text 10"/>
          <p:cNvSpPr/>
          <p:nvPr/>
        </p:nvSpPr>
        <p:spPr>
          <a:xfrm>
            <a:off x="1257300" y="4964906"/>
            <a:ext cx="665697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75" kern="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GERINGER NUTZEN · GERINGER AUFWAND → OPPORTUNISTISCH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334500" y="4964906"/>
            <a:ext cx="515853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75" kern="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GERINGER NUTZEN · HOHER AUFWAND → LASSEN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 rot="-5400000">
            <a:off x="455637" y="4831556"/>
            <a:ext cx="109537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50" kern="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NUTZEN →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8541023" y="7915275"/>
            <a:ext cx="13265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50" kern="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AUFWAND →</a:t>
            </a:r>
            <a:endParaRPr lang="en-US" sz="1275" dirty="0"/>
          </a:p>
        </p:txBody>
      </p:sp>
      <p:sp>
        <p:nvSpPr>
          <p:cNvPr id="16" name="Text 14"/>
          <p:cNvSpPr/>
          <p:nvPr/>
        </p:nvSpPr>
        <p:spPr>
          <a:xfrm>
            <a:off x="1047750" y="8281987"/>
            <a:ext cx="11811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75" kern="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KÄRTCHEN: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2343150" y="8162925"/>
            <a:ext cx="1920032" cy="438150"/>
          </a:xfrm>
          <a:prstGeom prst="rect">
            <a:avLst/>
          </a:prstGeom>
          <a:solidFill>
            <a:srgbClr val="26890D"/>
          </a:solidFill>
          <a:ln/>
        </p:spPr>
      </p:sp>
      <p:sp>
        <p:nvSpPr>
          <p:cNvPr id="18" name="Text 16"/>
          <p:cNvSpPr/>
          <p:nvPr/>
        </p:nvSpPr>
        <p:spPr>
          <a:xfrm>
            <a:off x="2533650" y="8277225"/>
            <a:ext cx="161523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D-2 Bilanzanalyse</a:t>
            </a:r>
            <a:endParaRPr lang="en-US" sz="1425" dirty="0"/>
          </a:p>
        </p:txBody>
      </p:sp>
      <p:sp>
        <p:nvSpPr>
          <p:cNvPr id="19" name="Shape 17"/>
          <p:cNvSpPr/>
          <p:nvPr/>
        </p:nvSpPr>
        <p:spPr>
          <a:xfrm>
            <a:off x="4377482" y="8162925"/>
            <a:ext cx="1759148" cy="438150"/>
          </a:xfrm>
          <a:prstGeom prst="rect">
            <a:avLst/>
          </a:prstGeom>
          <a:solidFill>
            <a:srgbClr val="26890D"/>
          </a:solidFill>
          <a:ln/>
        </p:spPr>
      </p:sp>
      <p:sp>
        <p:nvSpPr>
          <p:cNvPr id="20" name="Text 18"/>
          <p:cNvSpPr/>
          <p:nvPr/>
        </p:nvSpPr>
        <p:spPr>
          <a:xfrm>
            <a:off x="4567982" y="8277225"/>
            <a:ext cx="145434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D-5 Self-Service</a:t>
            </a:r>
            <a:endParaRPr lang="en-US" sz="1425" dirty="0"/>
          </a:p>
        </p:txBody>
      </p:sp>
      <p:sp>
        <p:nvSpPr>
          <p:cNvPr id="21" name="Shape 19"/>
          <p:cNvSpPr/>
          <p:nvPr/>
        </p:nvSpPr>
        <p:spPr>
          <a:xfrm>
            <a:off x="6250930" y="8162925"/>
            <a:ext cx="1868984" cy="438150"/>
          </a:xfrm>
          <a:prstGeom prst="rect">
            <a:avLst/>
          </a:prstGeom>
          <a:solidFill>
            <a:srgbClr val="26890D"/>
          </a:solidFill>
          <a:ln/>
        </p:spPr>
      </p:sp>
      <p:sp>
        <p:nvSpPr>
          <p:cNvPr id="22" name="Text 20"/>
          <p:cNvSpPr/>
          <p:nvPr/>
        </p:nvSpPr>
        <p:spPr>
          <a:xfrm>
            <a:off x="6441430" y="8277225"/>
            <a:ext cx="156418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A-1 Kontoauszug</a:t>
            </a:r>
            <a:endParaRPr lang="en-US" sz="1425" dirty="0"/>
          </a:p>
        </p:txBody>
      </p:sp>
      <p:sp>
        <p:nvSpPr>
          <p:cNvPr id="23" name="Shape 21"/>
          <p:cNvSpPr/>
          <p:nvPr/>
        </p:nvSpPr>
        <p:spPr>
          <a:xfrm>
            <a:off x="8234214" y="8162925"/>
            <a:ext cx="2069753" cy="438150"/>
          </a:xfrm>
          <a:prstGeom prst="rect">
            <a:avLst/>
          </a:prstGeom>
          <a:solidFill>
            <a:srgbClr val="26890D"/>
          </a:solidFill>
          <a:ln/>
        </p:spPr>
      </p:sp>
      <p:sp>
        <p:nvSpPr>
          <p:cNvPr id="24" name="Text 22"/>
          <p:cNvSpPr/>
          <p:nvPr/>
        </p:nvSpPr>
        <p:spPr>
          <a:xfrm>
            <a:off x="8424714" y="8277225"/>
            <a:ext cx="176495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D-1 CIM-Zuordnung</a:t>
            </a:r>
            <a:endParaRPr lang="en-US" sz="1425" dirty="0"/>
          </a:p>
        </p:txBody>
      </p:sp>
      <p:sp>
        <p:nvSpPr>
          <p:cNvPr id="25" name="Shape 23"/>
          <p:cNvSpPr/>
          <p:nvPr/>
        </p:nvSpPr>
        <p:spPr>
          <a:xfrm>
            <a:off x="10418266" y="8162925"/>
            <a:ext cx="1275904" cy="438150"/>
          </a:xfrm>
          <a:prstGeom prst="rect">
            <a:avLst/>
          </a:prstGeom>
          <a:solidFill>
            <a:srgbClr val="26890D"/>
          </a:solidFill>
          <a:ln/>
        </p:spPr>
      </p:sp>
      <p:sp>
        <p:nvSpPr>
          <p:cNvPr id="26" name="Text 24"/>
          <p:cNvSpPr/>
          <p:nvPr/>
        </p:nvSpPr>
        <p:spPr>
          <a:xfrm>
            <a:off x="10608766" y="8277225"/>
            <a:ext cx="97110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B-8 Rollen</a:t>
            </a:r>
            <a:endParaRPr lang="en-US" sz="1425" dirty="0"/>
          </a:p>
        </p:txBody>
      </p:sp>
      <p:sp>
        <p:nvSpPr>
          <p:cNvPr id="27" name="Shape 25"/>
          <p:cNvSpPr/>
          <p:nvPr/>
        </p:nvSpPr>
        <p:spPr>
          <a:xfrm>
            <a:off x="11808470" y="8162925"/>
            <a:ext cx="1909614" cy="438150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28" name="Text 26"/>
          <p:cNvSpPr/>
          <p:nvPr/>
        </p:nvSpPr>
        <p:spPr>
          <a:xfrm>
            <a:off x="11998970" y="8277225"/>
            <a:ext cx="160481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B-1 Intercompany</a:t>
            </a:r>
            <a:endParaRPr lang="en-US" sz="1425" dirty="0"/>
          </a:p>
        </p:txBody>
      </p:sp>
      <p:sp>
        <p:nvSpPr>
          <p:cNvPr id="29" name="Shape 27"/>
          <p:cNvSpPr/>
          <p:nvPr/>
        </p:nvSpPr>
        <p:spPr>
          <a:xfrm>
            <a:off x="13832384" y="8162925"/>
            <a:ext cx="1215777" cy="438150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30" name="Text 28"/>
          <p:cNvSpPr/>
          <p:nvPr/>
        </p:nvSpPr>
        <p:spPr>
          <a:xfrm>
            <a:off x="14022884" y="8277225"/>
            <a:ext cx="91097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B-4 Close</a:t>
            </a:r>
            <a:endParaRPr lang="en-US" sz="1425" dirty="0"/>
          </a:p>
        </p:txBody>
      </p:sp>
      <p:sp>
        <p:nvSpPr>
          <p:cNvPr id="31" name="Shape 29"/>
          <p:cNvSpPr/>
          <p:nvPr/>
        </p:nvSpPr>
        <p:spPr>
          <a:xfrm>
            <a:off x="15162461" y="8162925"/>
            <a:ext cx="1808857" cy="438150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32" name="Text 30"/>
          <p:cNvSpPr/>
          <p:nvPr/>
        </p:nvSpPr>
        <p:spPr>
          <a:xfrm>
            <a:off x="15352961" y="8277225"/>
            <a:ext cx="150405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A-3 CAMP4-Pilot</a:t>
            </a:r>
            <a:endParaRPr lang="en-US" sz="1425" dirty="0"/>
          </a:p>
        </p:txBody>
      </p:sp>
      <p:sp>
        <p:nvSpPr>
          <p:cNvPr id="33" name="Shape 31"/>
          <p:cNvSpPr/>
          <p:nvPr/>
        </p:nvSpPr>
        <p:spPr>
          <a:xfrm>
            <a:off x="1047750" y="8715375"/>
            <a:ext cx="1904405" cy="457200"/>
          </a:xfrm>
          <a:prstGeom prst="rect">
            <a:avLst/>
          </a:prstGeom>
          <a:solidFill>
            <a:srgbClr val="F4F5F4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247775" y="8839200"/>
            <a:ext cx="158055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eigene ergänzen</a:t>
            </a:r>
            <a:endParaRPr lang="en-US" sz="1425" dirty="0"/>
          </a:p>
        </p:txBody>
      </p:sp>
      <p:sp>
        <p:nvSpPr>
          <p:cNvPr id="35" name="Shape 33"/>
          <p:cNvSpPr/>
          <p:nvPr/>
        </p:nvSpPr>
        <p:spPr>
          <a:xfrm>
            <a:off x="1047750" y="9401175"/>
            <a:ext cx="16192500" cy="9525"/>
          </a:xfrm>
          <a:prstGeom prst="rect">
            <a:avLst/>
          </a:prstGeom>
          <a:solidFill>
            <a:srgbClr val="E3E5E4"/>
          </a:solidFill>
          <a:ln/>
        </p:spPr>
      </p:sp>
      <p:sp>
        <p:nvSpPr>
          <p:cNvPr id="36" name="Text 34"/>
          <p:cNvSpPr/>
          <p:nvPr/>
        </p:nvSpPr>
        <p:spPr>
          <a:xfrm>
            <a:off x="1047750" y="9544050"/>
            <a:ext cx="450679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Finance &amp; Treasury · Viessmann Generations Group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4792027" y="9544050"/>
            <a:ext cx="269304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01.09.2026 · Berlin · Vertraulich · 27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00100"/>
            <a:ext cx="133350" cy="133350"/>
          </a:xfrm>
          <a:prstGeom prst="rect">
            <a:avLst/>
          </a:prstGeom>
          <a:solidFill>
            <a:srgbClr val="26890D"/>
          </a:solidFill>
          <a:ln/>
        </p:spPr>
      </p:sp>
      <p:sp>
        <p:nvSpPr>
          <p:cNvPr id="3" name="Text 1"/>
          <p:cNvSpPr/>
          <p:nvPr/>
        </p:nvSpPr>
        <p:spPr>
          <a:xfrm>
            <a:off x="1295400" y="762000"/>
            <a:ext cx="424011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225" kern="0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PARKPLATZ · WIRD LIVE BEFÜLLT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1047750" y="1085850"/>
            <a:ext cx="17811750" cy="5287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407"/>
              </a:lnSpc>
              <a:buNone/>
            </a:pPr>
            <a:r>
              <a:rPr lang="en-US" sz="3450" b="1" spc="-75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wir heute nicht klären, geht nicht verloren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1047750" y="1957536"/>
            <a:ext cx="8096250" cy="7215039"/>
          </a:xfrm>
          <a:prstGeom prst="rect">
            <a:avLst/>
          </a:prstGeom>
          <a:ln w="19050">
            <a:solidFill>
              <a:srgbClr val="26890D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066800" y="2481411"/>
            <a:ext cx="8058150" cy="9525"/>
          </a:xfrm>
          <a:prstGeom prst="rect">
            <a:avLst/>
          </a:prstGeom>
          <a:solidFill>
            <a:srgbClr val="E3E5E4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2128986"/>
            <a:ext cx="784269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50" kern="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OFFENER PUNKT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144000" y="9153525"/>
            <a:ext cx="4048125" cy="19050"/>
          </a:xfrm>
          <a:prstGeom prst="rect">
            <a:avLst/>
          </a:prstGeom>
          <a:solidFill>
            <a:srgbClr val="26890D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0" y="1957536"/>
            <a:ext cx="4048125" cy="19050"/>
          </a:xfrm>
          <a:prstGeom prst="rect">
            <a:avLst/>
          </a:prstGeom>
          <a:solidFill>
            <a:srgbClr val="26890D"/>
          </a:solidFill>
          <a:ln/>
        </p:spPr>
      </p:sp>
      <p:sp>
        <p:nvSpPr>
          <p:cNvPr id="10" name="Shape 8"/>
          <p:cNvSpPr/>
          <p:nvPr/>
        </p:nvSpPr>
        <p:spPr>
          <a:xfrm>
            <a:off x="13173075" y="1957536"/>
            <a:ext cx="19050" cy="7215039"/>
          </a:xfrm>
          <a:prstGeom prst="rect">
            <a:avLst/>
          </a:prstGeom>
          <a:solidFill>
            <a:srgbClr val="26890D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0" y="2481411"/>
            <a:ext cx="4029075" cy="9525"/>
          </a:xfrm>
          <a:prstGeom prst="rect">
            <a:avLst/>
          </a:prstGeom>
          <a:solidFill>
            <a:srgbClr val="E3E5E4"/>
          </a:solidFill>
          <a:ln/>
        </p:spPr>
      </p:sp>
      <p:sp>
        <p:nvSpPr>
          <p:cNvPr id="12" name="Text 10"/>
          <p:cNvSpPr/>
          <p:nvPr/>
        </p:nvSpPr>
        <p:spPr>
          <a:xfrm>
            <a:off x="9372600" y="2128986"/>
            <a:ext cx="369274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50" kern="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3192125" y="9153525"/>
            <a:ext cx="4048125" cy="19050"/>
          </a:xfrm>
          <a:prstGeom prst="rect">
            <a:avLst/>
          </a:prstGeom>
          <a:solidFill>
            <a:srgbClr val="26890D"/>
          </a:solidFill>
          <a:ln/>
        </p:spPr>
      </p:sp>
      <p:sp>
        <p:nvSpPr>
          <p:cNvPr id="14" name="Shape 12"/>
          <p:cNvSpPr/>
          <p:nvPr/>
        </p:nvSpPr>
        <p:spPr>
          <a:xfrm>
            <a:off x="13192125" y="1957536"/>
            <a:ext cx="4048125" cy="19050"/>
          </a:xfrm>
          <a:prstGeom prst="rect">
            <a:avLst/>
          </a:prstGeom>
          <a:solidFill>
            <a:srgbClr val="26890D"/>
          </a:solidFill>
          <a:ln/>
        </p:spPr>
      </p:sp>
      <p:sp>
        <p:nvSpPr>
          <p:cNvPr id="15" name="Shape 13"/>
          <p:cNvSpPr/>
          <p:nvPr/>
        </p:nvSpPr>
        <p:spPr>
          <a:xfrm>
            <a:off x="17221200" y="1957536"/>
            <a:ext cx="19050" cy="7215039"/>
          </a:xfrm>
          <a:prstGeom prst="rect">
            <a:avLst/>
          </a:prstGeom>
          <a:solidFill>
            <a:srgbClr val="26890D"/>
          </a:solidFill>
          <a:ln/>
        </p:spPr>
      </p:sp>
      <p:sp>
        <p:nvSpPr>
          <p:cNvPr id="16" name="Shape 14"/>
          <p:cNvSpPr/>
          <p:nvPr/>
        </p:nvSpPr>
        <p:spPr>
          <a:xfrm>
            <a:off x="13192125" y="2481411"/>
            <a:ext cx="4029075" cy="9525"/>
          </a:xfrm>
          <a:prstGeom prst="rect">
            <a:avLst/>
          </a:prstGeom>
          <a:solidFill>
            <a:srgbClr val="E3E5E4"/>
          </a:solidFill>
          <a:ln/>
        </p:spPr>
      </p:sp>
      <p:sp>
        <p:nvSpPr>
          <p:cNvPr id="17" name="Text 15"/>
          <p:cNvSpPr/>
          <p:nvPr/>
        </p:nvSpPr>
        <p:spPr>
          <a:xfrm>
            <a:off x="13420725" y="2128986"/>
            <a:ext cx="369274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50" kern="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BIS WANN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1047750" y="9401175"/>
            <a:ext cx="16192500" cy="9525"/>
          </a:xfrm>
          <a:prstGeom prst="rect">
            <a:avLst/>
          </a:prstGeom>
          <a:solidFill>
            <a:srgbClr val="E3E5E4"/>
          </a:solidFill>
          <a:ln/>
        </p:spPr>
      </p:sp>
      <p:sp>
        <p:nvSpPr>
          <p:cNvPr id="19" name="Text 17"/>
          <p:cNvSpPr/>
          <p:nvPr/>
        </p:nvSpPr>
        <p:spPr>
          <a:xfrm>
            <a:off x="1047750" y="9544050"/>
            <a:ext cx="450679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Finance &amp; Treasury · Viessmann Generations Group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4792027" y="9544050"/>
            <a:ext cx="269304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01.09.2026 · Berlin · Vertraulich · 28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00100"/>
            <a:ext cx="133350" cy="133350"/>
          </a:xfrm>
          <a:prstGeom prst="rect">
            <a:avLst/>
          </a:prstGeom>
          <a:solidFill>
            <a:srgbClr val="26890D"/>
          </a:solidFill>
          <a:ln/>
        </p:spPr>
      </p:sp>
      <p:sp>
        <p:nvSpPr>
          <p:cNvPr id="3" name="Text 1"/>
          <p:cNvSpPr/>
          <p:nvPr/>
        </p:nvSpPr>
        <p:spPr>
          <a:xfrm>
            <a:off x="1295400" y="762000"/>
            <a:ext cx="251591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225" kern="0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NÄCHSTE SCHRITTE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1047750" y="1085850"/>
            <a:ext cx="17811750" cy="5287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407"/>
              </a:lnSpc>
              <a:buNone/>
            </a:pPr>
            <a:r>
              <a:rPr lang="en-US" sz="3450" b="1" spc="-7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Vier konkrete Züge in den nächsten vier Wochen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1047750" y="1995636"/>
            <a:ext cx="7981950" cy="1152525"/>
          </a:xfrm>
          <a:prstGeom prst="rect">
            <a:avLst/>
          </a:prstGeom>
          <a:ln w="9525">
            <a:solidFill>
              <a:srgbClr val="2C2C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62075" y="2271861"/>
            <a:ext cx="351681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667"/>
              </a:lnSpc>
              <a:buNone/>
            </a:pPr>
            <a:r>
              <a:rPr lang="en-US" sz="3900" b="1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1866156" y="2271861"/>
            <a:ext cx="7054696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Kurz-Workshop Restpunkte: </a:t>
            </a:r>
            <a:pPr algn="l" indent="0" marL="0">
              <a:lnSpc>
                <a:spcPct val="131250"/>
              </a:lnSpc>
              <a:buNone/>
            </a:pPr>
            <a:r>
              <a:rPr lang="en-US" sz="1575" dirty="0">
                <a:solidFill>
                  <a:srgbClr val="D7DB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Volumina (OF-4), Durchlaufzeit &amp; Verantwortliche (OF-5), Template-Zuordnung (OF-3), EU AI Act (OF-8)</a:t>
            </a:r>
            <a:endParaRPr lang="en-US" sz="1575" dirty="0"/>
          </a:p>
        </p:txBody>
      </p:sp>
      <p:sp>
        <p:nvSpPr>
          <p:cNvPr id="8" name="Shape 6"/>
          <p:cNvSpPr/>
          <p:nvPr/>
        </p:nvSpPr>
        <p:spPr>
          <a:xfrm>
            <a:off x="9258300" y="1995636"/>
            <a:ext cx="7981950" cy="1152525"/>
          </a:xfrm>
          <a:prstGeom prst="rect">
            <a:avLst/>
          </a:prstGeom>
          <a:ln w="9525">
            <a:solidFill>
              <a:srgbClr val="2C2C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72625" y="2271861"/>
            <a:ext cx="351681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667"/>
              </a:lnSpc>
              <a:buNone/>
            </a:pPr>
            <a:r>
              <a:rPr lang="en-US" sz="3900" b="1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10076706" y="2271861"/>
            <a:ext cx="7054696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Datenqualitäts-Assessment </a:t>
            </a:r>
            <a:pPr algn="l" indent="0" marL="0">
              <a:lnSpc>
                <a:spcPct val="131250"/>
              </a:lnSpc>
              <a:buNone/>
            </a:pPr>
            <a:r>
              <a:rPr lang="en-US" sz="1575" dirty="0">
                <a:solidFill>
                  <a:srgbClr val="D7DB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 / Bank / GL – die Lehre aus BP-Löschjob und FX-Vorfall, vor jedem Rollout</a:t>
            </a:r>
            <a:endParaRPr lang="en-US" sz="1575" dirty="0"/>
          </a:p>
        </p:txBody>
      </p:sp>
      <p:sp>
        <p:nvSpPr>
          <p:cNvPr id="11" name="Shape 9"/>
          <p:cNvSpPr/>
          <p:nvPr/>
        </p:nvSpPr>
        <p:spPr>
          <a:xfrm>
            <a:off x="1047750" y="3376761"/>
            <a:ext cx="7981950" cy="1152525"/>
          </a:xfrm>
          <a:prstGeom prst="rect">
            <a:avLst/>
          </a:prstGeom>
          <a:ln w="9525">
            <a:solidFill>
              <a:srgbClr val="2C2C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62075" y="3652986"/>
            <a:ext cx="351681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667"/>
              </a:lnSpc>
              <a:buNone/>
            </a:pPr>
            <a:r>
              <a:rPr lang="en-US" sz="3900" b="1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900" dirty="0"/>
          </a:p>
        </p:txBody>
      </p:sp>
      <p:sp>
        <p:nvSpPr>
          <p:cNvPr id="13" name="Text 11"/>
          <p:cNvSpPr/>
          <p:nvPr/>
        </p:nvSpPr>
        <p:spPr>
          <a:xfrm>
            <a:off x="1866156" y="3652986"/>
            <a:ext cx="7054696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Quick-Win-Start: </a:t>
            </a:r>
            <a:pPr algn="l" indent="0" marL="0">
              <a:lnSpc>
                <a:spcPct val="131250"/>
              </a:lnSpc>
              <a:buNone/>
            </a:pPr>
            <a:r>
              <a:rPr lang="en-US" sz="1575" dirty="0">
                <a:solidFill>
                  <a:srgbClr val="D7DB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D-2 + D-5 aktivieren; Pilot A-1 (Kontoauszug) und A-2 (Payment Advices, GA) aufsetzen</a:t>
            </a:r>
            <a:endParaRPr lang="en-US" sz="1575" dirty="0"/>
          </a:p>
        </p:txBody>
      </p:sp>
      <p:sp>
        <p:nvSpPr>
          <p:cNvPr id="14" name="Shape 12"/>
          <p:cNvSpPr/>
          <p:nvPr/>
        </p:nvSpPr>
        <p:spPr>
          <a:xfrm>
            <a:off x="9258300" y="3376761"/>
            <a:ext cx="7981950" cy="1152525"/>
          </a:xfrm>
          <a:prstGeom prst="rect">
            <a:avLst/>
          </a:prstGeom>
          <a:ln w="9525">
            <a:solidFill>
              <a:srgbClr val="2C2C2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72625" y="3652986"/>
            <a:ext cx="351681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667"/>
              </a:lnSpc>
              <a:buNone/>
            </a:pPr>
            <a:r>
              <a:rPr lang="en-US" sz="3900" b="1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900" dirty="0"/>
          </a:p>
        </p:txBody>
      </p:sp>
      <p:sp>
        <p:nvSpPr>
          <p:cNvPr id="16" name="Text 14"/>
          <p:cNvSpPr/>
          <p:nvPr/>
        </p:nvSpPr>
        <p:spPr>
          <a:xfrm>
            <a:off x="10076706" y="3652986"/>
            <a:ext cx="7054696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CAMP4-Template-Design T1 </a:t>
            </a:r>
            <a:pPr algn="l" indent="0" marL="0">
              <a:lnSpc>
                <a:spcPct val="131250"/>
              </a:lnSpc>
              <a:buNone/>
            </a:pPr>
            <a:r>
              <a:rPr lang="en-US" sz="1575" dirty="0">
                <a:solidFill>
                  <a:srgbClr val="D7DB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 Basis Ihres Runbooks initiieren – und die gemeinsame Entwicklung (OF-9) konkretisieren</a:t>
            </a:r>
            <a:endParaRPr lang="en-US" sz="1575" dirty="0"/>
          </a:p>
        </p:txBody>
      </p:sp>
      <p:sp>
        <p:nvSpPr>
          <p:cNvPr id="17" name="Shape 15"/>
          <p:cNvSpPr/>
          <p:nvPr/>
        </p:nvSpPr>
        <p:spPr>
          <a:xfrm>
            <a:off x="1047750" y="9334500"/>
            <a:ext cx="16192500" cy="9525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18" name="Text 16"/>
          <p:cNvSpPr/>
          <p:nvPr/>
        </p:nvSpPr>
        <p:spPr>
          <a:xfrm>
            <a:off x="1047750" y="9515475"/>
            <a:ext cx="310968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A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Vielen Dank · Moritz Göthel · Deloitte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4485888" y="9515475"/>
            <a:ext cx="302979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A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01.09.2026 · Berlin · Vertraulich · 29</a:t>
            </a:r>
            <a:endParaRPr lang="en-US" sz="13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4010025"/>
            <a:ext cx="135503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ANHANG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4505325"/>
            <a:ext cx="17811750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200" b="1" spc="-22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047750" y="5781675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ohne Gast · Steckbriefe · Offene Fragen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047750" y="9334500"/>
            <a:ext cx="16192500" cy="9525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6" name="Text 4"/>
          <p:cNvSpPr/>
          <p:nvPr/>
        </p:nvSpPr>
        <p:spPr>
          <a:xfrm>
            <a:off x="1047750" y="9515475"/>
            <a:ext cx="507029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A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Finance &amp; Treasury · Viessmann Generations Group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7049452" y="9515475"/>
            <a:ext cx="26699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A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3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00100"/>
            <a:ext cx="133350" cy="133350"/>
          </a:xfrm>
          <a:prstGeom prst="rect">
            <a:avLst/>
          </a:prstGeom>
          <a:solidFill>
            <a:srgbClr val="26890D"/>
          </a:solidFill>
          <a:ln/>
        </p:spPr>
      </p:sp>
      <p:sp>
        <p:nvSpPr>
          <p:cNvPr id="3" name="Text 1"/>
          <p:cNvSpPr/>
          <p:nvPr/>
        </p:nvSpPr>
        <p:spPr>
          <a:xfrm>
            <a:off x="1295400" y="762000"/>
            <a:ext cx="656071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225" kern="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· AGENDA VARIANTE B (OHNE GASTBLOCK)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1047750" y="1085850"/>
            <a:ext cx="17811750" cy="5287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407"/>
              </a:lnSpc>
              <a:buNone/>
            </a:pPr>
            <a:r>
              <a:rPr lang="en-US" sz="3450" b="1" spc="-75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Ohne Gast: mehr Diskussion, gleiche Dramaturgie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1047750" y="1995636"/>
            <a:ext cx="16192500" cy="609600"/>
          </a:xfrm>
          <a:prstGeom prst="rect">
            <a:avLst/>
          </a:prstGeom>
          <a:solidFill>
            <a:srgbClr val="F4F5F4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3975" y="2176611"/>
            <a:ext cx="23050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0:00 – 0:10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3648075" y="2176611"/>
            <a:ext cx="1083373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Begrüßung · Ziele · Agenda · Erwartungen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3725525" y="2200424"/>
            <a:ext cx="356235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50" kern="0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INTERAKTION 1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047750" y="2738586"/>
            <a:ext cx="16192500" cy="609600"/>
          </a:xfrm>
          <a:prstGeom prst="rect">
            <a:avLst/>
          </a:prstGeom>
          <a:solidFill>
            <a:srgbClr val="F4F5F4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23975" y="2919561"/>
            <a:ext cx="23050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0:10 – 0:25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3648075" y="2919561"/>
            <a:ext cx="1083373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Ausgangslage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047750" y="3481536"/>
            <a:ext cx="16192500" cy="609600"/>
          </a:xfrm>
          <a:prstGeom prst="rect">
            <a:avLst/>
          </a:prstGeom>
          <a:solidFill>
            <a:srgbClr val="F4F5F4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23975" y="3662511"/>
            <a:ext cx="23050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0:25 – 0:55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3648075" y="3662511"/>
            <a:ext cx="1083373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Kernblock 1: Hebel &amp; Buchungskreis-Fabrik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047750" y="4224486"/>
            <a:ext cx="16192500" cy="609600"/>
          </a:xfrm>
          <a:prstGeom prst="rect">
            <a:avLst/>
          </a:prstGeom>
          <a:ln w="9525">
            <a:solidFill>
              <a:srgbClr val="B8BDB8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1323975" y="4405461"/>
            <a:ext cx="23050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0:55 – 1:05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3648075" y="4405461"/>
            <a:ext cx="1083373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047750" y="4967436"/>
            <a:ext cx="16192500" cy="590550"/>
          </a:xfrm>
          <a:prstGeom prst="rect">
            <a:avLst/>
          </a:prstGeom>
          <a:solidFill>
            <a:srgbClr val="26890D"/>
          </a:solidFill>
          <a:ln/>
        </p:spPr>
      </p:sp>
      <p:sp>
        <p:nvSpPr>
          <p:cNvPr id="19" name="Text 17"/>
          <p:cNvSpPr/>
          <p:nvPr/>
        </p:nvSpPr>
        <p:spPr>
          <a:xfrm>
            <a:off x="1314450" y="5138886"/>
            <a:ext cx="23050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1:05 – 1:20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3638550" y="5138886"/>
            <a:ext cx="108546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Vertiefte Leitfragen-Diskussion + Steckbriefe A-1 / B-8 (Backup)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3735050" y="5162699"/>
            <a:ext cx="356235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STATT GASTBLOCK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1047750" y="5691336"/>
            <a:ext cx="16192500" cy="609600"/>
          </a:xfrm>
          <a:prstGeom prst="rect">
            <a:avLst/>
          </a:prstGeom>
          <a:solidFill>
            <a:srgbClr val="F4F5F4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23975" y="5872311"/>
            <a:ext cx="23050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1:20 – 1:40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3648075" y="5872311"/>
            <a:ext cx="1083373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Kernblock 2: Landkarte · Use Cases · Roadmap (inkl. BTP-Brücke)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047750" y="6434286"/>
            <a:ext cx="16192500" cy="609600"/>
          </a:xfrm>
          <a:prstGeom prst="rect">
            <a:avLst/>
          </a:prstGeom>
          <a:solidFill>
            <a:srgbClr val="F4F5F4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23975" y="6615261"/>
            <a:ext cx="23050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1:40 – 2:00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3648075" y="6615261"/>
            <a:ext cx="1083373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Priorisierung live (verlängert) · Parkplatz · Nächste Schritte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13725525" y="6639074"/>
            <a:ext cx="356235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50" kern="0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INTERAKTION 3+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1047750" y="9401175"/>
            <a:ext cx="16192500" cy="9525"/>
          </a:xfrm>
          <a:prstGeom prst="rect">
            <a:avLst/>
          </a:prstGeom>
          <a:solidFill>
            <a:srgbClr val="E3E5E4"/>
          </a:solidFill>
          <a:ln/>
        </p:spPr>
      </p:sp>
      <p:sp>
        <p:nvSpPr>
          <p:cNvPr id="30" name="Text 28"/>
          <p:cNvSpPr/>
          <p:nvPr/>
        </p:nvSpPr>
        <p:spPr>
          <a:xfrm>
            <a:off x="1047750" y="9544050"/>
            <a:ext cx="450679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Finance &amp; Treasury · Viessmann Generations Group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4792027" y="9544050"/>
            <a:ext cx="269304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01.09.2026 · Berlin · Vertraulich · 31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00100"/>
            <a:ext cx="133350" cy="133350"/>
          </a:xfrm>
          <a:prstGeom prst="rect">
            <a:avLst/>
          </a:prstGeom>
          <a:solidFill>
            <a:srgbClr val="26890D"/>
          </a:solidFill>
          <a:ln/>
        </p:spPr>
      </p:sp>
      <p:sp>
        <p:nvSpPr>
          <p:cNvPr id="3" name="Text 1"/>
          <p:cNvSpPr/>
          <p:nvPr/>
        </p:nvSpPr>
        <p:spPr>
          <a:xfrm>
            <a:off x="1295400" y="762000"/>
            <a:ext cx="289408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225" kern="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· STECKBRIEF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1047750" y="1085850"/>
            <a:ext cx="17811750" cy="5287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407"/>
              </a:lnSpc>
              <a:buNone/>
            </a:pPr>
            <a:r>
              <a:rPr lang="en-US" sz="3450" b="1" spc="-75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A-1 · Bank-Statement- / Cash-Application-Agent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1047750" y="1957536"/>
            <a:ext cx="7981950" cy="1381125"/>
          </a:xfrm>
          <a:prstGeom prst="rect">
            <a:avLst/>
          </a:prstGeom>
          <a:solidFill>
            <a:srgbClr val="F4F5F4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43025" y="2214711"/>
            <a:ext cx="813054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50" kern="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343025" y="2509986"/>
            <a:ext cx="761314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43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Manuelle, fehleranfällige Kontoauszugsverarbeitung; Monatsend-Engpass mit blockierenden Upload-Fehlern (Ticket dokumentiert).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258300" y="1957536"/>
            <a:ext cx="7981950" cy="1381125"/>
          </a:xfrm>
          <a:prstGeom prst="rect">
            <a:avLst/>
          </a:prstGeom>
          <a:solidFill>
            <a:srgbClr val="F4F5F4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53575" y="2214711"/>
            <a:ext cx="813054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50" kern="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AKTION &amp; AUTONOMIE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553575" y="2509986"/>
            <a:ext cx="761314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43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Auto-Matching Zahlungseingang ↔ offener Posten, Ausnahmen zur Klärung → </a:t>
            </a:r>
            <a:pPr algn="l" indent="0" marL="0">
              <a:lnSpc>
                <a:spcPct val="130435"/>
              </a:lnSpc>
              <a:buNone/>
            </a:pPr>
            <a:r>
              <a:rPr lang="en-US" sz="1500" b="1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ausführen mit Freigabe</a:t>
            </a:r>
            <a:pPr algn="l" indent="0" marL="0">
              <a:lnSpc>
                <a:spcPct val="13043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047750" y="3567261"/>
            <a:ext cx="7981950" cy="1381125"/>
          </a:xfrm>
          <a:prstGeom prst="rect">
            <a:avLst/>
          </a:prstGeom>
          <a:solidFill>
            <a:srgbClr val="F4F5F4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43025" y="3824436"/>
            <a:ext cx="813054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50" kern="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343025" y="4119711"/>
            <a:ext cx="761314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43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4X8 + J78 ausreizen; Situation Handling (31N) für Ausnahmen; Cash Management Agent sobald GA.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258300" y="3567261"/>
            <a:ext cx="7981950" cy="1381125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15" name="Text 13"/>
          <p:cNvSpPr/>
          <p:nvPr/>
        </p:nvSpPr>
        <p:spPr>
          <a:xfrm>
            <a:off x="9544050" y="3814911"/>
            <a:ext cx="815149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50" kern="0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NUTZEN / AUFWAND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544050" y="4110186"/>
            <a:ext cx="7632763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435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Nutzen hoch – täglicher Prozess × 101 Entitäten. Aufwand M (Standard) bis L (Custom-Ergänzung).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047750" y="9401175"/>
            <a:ext cx="16192500" cy="9525"/>
          </a:xfrm>
          <a:prstGeom prst="rect">
            <a:avLst/>
          </a:prstGeom>
          <a:solidFill>
            <a:srgbClr val="E3E5E4"/>
          </a:solidFill>
          <a:ln/>
        </p:spPr>
      </p:sp>
      <p:sp>
        <p:nvSpPr>
          <p:cNvPr id="18" name="Text 16"/>
          <p:cNvSpPr/>
          <p:nvPr/>
        </p:nvSpPr>
        <p:spPr>
          <a:xfrm>
            <a:off x="1047750" y="9544050"/>
            <a:ext cx="450679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Finance &amp; Treasury · Viessmann Generations Group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792027" y="9544050"/>
            <a:ext cx="269304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01.09.2026 · Berlin · Vertraulich · 32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00100"/>
            <a:ext cx="133350" cy="133350"/>
          </a:xfrm>
          <a:prstGeom prst="rect">
            <a:avLst/>
          </a:prstGeom>
          <a:solidFill>
            <a:srgbClr val="26890D"/>
          </a:solidFill>
          <a:ln/>
        </p:spPr>
      </p:sp>
      <p:sp>
        <p:nvSpPr>
          <p:cNvPr id="3" name="Text 1"/>
          <p:cNvSpPr/>
          <p:nvPr/>
        </p:nvSpPr>
        <p:spPr>
          <a:xfrm>
            <a:off x="1295400" y="762000"/>
            <a:ext cx="565523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225" kern="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· STECKBRIEF · KUNDEN-PAINPOINT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1047750" y="1085850"/>
            <a:ext cx="17811750" cy="5287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407"/>
              </a:lnSpc>
              <a:buNone/>
            </a:pPr>
            <a:r>
              <a:rPr lang="en-US" sz="3450" b="1" spc="-75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B-8 · Rollen- / Berechtigungs-Provisionierungs-Agent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1047750" y="1957536"/>
            <a:ext cx="7981950" cy="1381125"/>
          </a:xfrm>
          <a:prstGeom prst="rect">
            <a:avLst/>
          </a:prstGeom>
          <a:solidFill>
            <a:srgbClr val="F4F5F4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43025" y="2214711"/>
            <a:ext cx="813054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50" kern="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343025" y="2509986"/>
            <a:ext cx="761314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43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Rollen-Erweiterung je neuer Gesellschaft ist ein wiederkehrender manueller Engpass – ohne Rollen ist die Entität buchungs-, aber nicht bedienbar.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258300" y="1957536"/>
            <a:ext cx="7981950" cy="1381125"/>
          </a:xfrm>
          <a:prstGeom prst="rect">
            <a:avLst/>
          </a:prstGeom>
          <a:solidFill>
            <a:srgbClr val="F4F5F4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53575" y="2214711"/>
            <a:ext cx="813054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50" kern="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AKTION &amp; AUTONOMIE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553575" y="2509986"/>
            <a:ext cx="761314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43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Template-Rollen-Set auf zuständige User anwenden, SoD prüfen, Ausnahmen melden → </a:t>
            </a:r>
            <a:pPr algn="l" indent="0" marL="0">
              <a:lnSpc>
                <a:spcPct val="130435"/>
              </a:lnSpc>
              <a:buNone/>
            </a:pPr>
            <a:r>
              <a:rPr lang="en-US" sz="1500" b="1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ausführen mit Freigabe</a:t>
            </a:r>
            <a:pPr algn="l" indent="0" marL="0">
              <a:lnSpc>
                <a:spcPct val="13043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047750" y="3567261"/>
            <a:ext cx="7981950" cy="1381125"/>
          </a:xfrm>
          <a:prstGeom prst="rect">
            <a:avLst/>
          </a:prstGeom>
          <a:solidFill>
            <a:srgbClr val="F4F5F4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43025" y="3824436"/>
            <a:ext cx="813054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50" kern="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VORAUSSETZUNG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343025" y="4119711"/>
            <a:ext cx="761314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435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Vereinfachtes, templatisiertes Rollenmodell (laufendes Projekt = ideales Zeitfenster); Rollen-Set je Entity-Template; SoD-Matrix.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258300" y="3567261"/>
            <a:ext cx="7981950" cy="1381125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15" name="Text 13"/>
          <p:cNvSpPr/>
          <p:nvPr/>
        </p:nvSpPr>
        <p:spPr>
          <a:xfrm>
            <a:off x="9544050" y="3814911"/>
            <a:ext cx="815149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50" kern="0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EINORDNUNG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544050" y="4110186"/>
            <a:ext cx="7632763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435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Pflichtbestandteil des Entity Onboarding (Schritt 6 der Fabrik) – </a:t>
            </a:r>
            <a:pPr algn="l" indent="0" marL="0">
              <a:lnSpc>
                <a:spcPct val="130435"/>
              </a:lnSpc>
              <a:buNone/>
            </a:pPr>
            <a:r>
              <a:rPr lang="en-US" sz="1500" b="1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dem Onboarding, nicht danach </a:t>
            </a:r>
            <a:pPr algn="l" indent="0" marL="0">
              <a:lnSpc>
                <a:spcPct val="130435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Risiko: SoD/Zugriff, Sonderfall ext. Steuerberater.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047750" y="9401175"/>
            <a:ext cx="16192500" cy="9525"/>
          </a:xfrm>
          <a:prstGeom prst="rect">
            <a:avLst/>
          </a:prstGeom>
          <a:solidFill>
            <a:srgbClr val="E3E5E4"/>
          </a:solidFill>
          <a:ln/>
        </p:spPr>
      </p:sp>
      <p:sp>
        <p:nvSpPr>
          <p:cNvPr id="18" name="Text 16"/>
          <p:cNvSpPr/>
          <p:nvPr/>
        </p:nvSpPr>
        <p:spPr>
          <a:xfrm>
            <a:off x="1047750" y="9544050"/>
            <a:ext cx="450679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Finance &amp; Treasury · Viessmann Generations Group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792027" y="9544050"/>
            <a:ext cx="269304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01.09.2026 · Berlin · Vertraulich · 33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00100"/>
            <a:ext cx="133350" cy="133350"/>
          </a:xfrm>
          <a:prstGeom prst="rect">
            <a:avLst/>
          </a:prstGeom>
          <a:solidFill>
            <a:srgbClr val="26890D"/>
          </a:solidFill>
          <a:ln/>
        </p:spPr>
      </p:sp>
      <p:sp>
        <p:nvSpPr>
          <p:cNvPr id="3" name="Text 1"/>
          <p:cNvSpPr/>
          <p:nvPr/>
        </p:nvSpPr>
        <p:spPr>
          <a:xfrm>
            <a:off x="1295400" y="762000"/>
            <a:ext cx="501495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225" kern="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· FRAGENKATALOG (STAND V3)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1047750" y="1085850"/>
            <a:ext cx="17811750" cy="5287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407"/>
              </a:lnSpc>
              <a:buNone/>
            </a:pPr>
            <a:r>
              <a:rPr lang="en-US" sz="3450" b="1" spc="-75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Strukturfragen geklärt – offen sind Volumina und Baselines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1047750" y="1957536"/>
            <a:ext cx="873823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150" kern="0" dirty="0">
                <a:solidFill>
                  <a:srgbClr val="2689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GEKLÄRT (V2/V3)</a:t>
            </a:r>
            <a:endParaRPr lang="en-US" sz="1425" dirty="0"/>
          </a:p>
        </p:txBody>
      </p:sp>
      <p:sp>
        <p:nvSpPr>
          <p:cNvPr id="6" name="Shape 4"/>
          <p:cNvSpPr/>
          <p:nvPr/>
        </p:nvSpPr>
        <p:spPr>
          <a:xfrm>
            <a:off x="1047750" y="2262336"/>
            <a:ext cx="7943850" cy="495300"/>
          </a:xfrm>
          <a:prstGeom prst="rect">
            <a:avLst/>
          </a:prstGeom>
          <a:solidFill>
            <a:srgbClr val="F4F5F4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66825" y="2405211"/>
            <a:ext cx="774401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OF-1 · Produktiv-Scope = DEV-Scope, 101 CC</a:t>
            </a:r>
            <a:endParaRPr lang="en-US" sz="1425" dirty="0"/>
          </a:p>
        </p:txBody>
      </p:sp>
      <p:sp>
        <p:nvSpPr>
          <p:cNvPr id="8" name="Shape 6"/>
          <p:cNvSpPr/>
          <p:nvPr/>
        </p:nvSpPr>
        <p:spPr>
          <a:xfrm>
            <a:off x="1047750" y="2852886"/>
            <a:ext cx="7943850" cy="495300"/>
          </a:xfrm>
          <a:prstGeom prst="rect">
            <a:avLst/>
          </a:prstGeom>
          <a:solidFill>
            <a:srgbClr val="F4F5F4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66825" y="2995761"/>
            <a:ext cx="774401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OF-2/OF-7 · Treasury bewusst via Drittlösung + E05</a:t>
            </a:r>
            <a:endParaRPr lang="en-US" sz="1425" dirty="0"/>
          </a:p>
        </p:txBody>
      </p:sp>
      <p:sp>
        <p:nvSpPr>
          <p:cNvPr id="10" name="Shape 8"/>
          <p:cNvSpPr/>
          <p:nvPr/>
        </p:nvSpPr>
        <p:spPr>
          <a:xfrm>
            <a:off x="1047750" y="3443436"/>
            <a:ext cx="7943850" cy="495300"/>
          </a:xfrm>
          <a:prstGeom prst="rect">
            <a:avLst/>
          </a:prstGeom>
          <a:solidFill>
            <a:srgbClr val="F4F5F4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66825" y="3586311"/>
            <a:ext cx="774401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OF-3 (teilw.) · Serien-SPVs dominieren</a:t>
            </a:r>
            <a:endParaRPr lang="en-US" sz="1425" dirty="0"/>
          </a:p>
        </p:txBody>
      </p:sp>
      <p:sp>
        <p:nvSpPr>
          <p:cNvPr id="12" name="Shape 10"/>
          <p:cNvSpPr/>
          <p:nvPr/>
        </p:nvSpPr>
        <p:spPr>
          <a:xfrm>
            <a:off x="1047750" y="4033986"/>
            <a:ext cx="7943850" cy="495300"/>
          </a:xfrm>
          <a:prstGeom prst="rect">
            <a:avLst/>
          </a:prstGeom>
          <a:solidFill>
            <a:srgbClr val="F4F5F4"/>
          </a:solidFill>
          <a:ln w="9525">
            <a:solidFill>
              <a:srgbClr val="E3E5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66825" y="4176861"/>
            <a:ext cx="774401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Headcount · 7 intern + externer Steuerberater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9296400" y="1957536"/>
            <a:ext cx="873823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150" kern="0" dirty="0">
                <a:solidFill>
                  <a:srgbClr val="8A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OFFEN → HEUTE / KURZ-WORKSHOP</a:t>
            </a:r>
            <a:endParaRPr lang="en-US" sz="1425" dirty="0"/>
          </a:p>
        </p:txBody>
      </p:sp>
      <p:sp>
        <p:nvSpPr>
          <p:cNvPr id="15" name="Shape 13"/>
          <p:cNvSpPr/>
          <p:nvPr/>
        </p:nvSpPr>
        <p:spPr>
          <a:xfrm>
            <a:off x="9296400" y="2262336"/>
            <a:ext cx="7943850" cy="495300"/>
          </a:xfrm>
          <a:prstGeom prst="rect">
            <a:avLst/>
          </a:prstGeom>
          <a:ln w="9525">
            <a:solidFill>
              <a:srgbClr val="26890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15475" y="2405211"/>
            <a:ext cx="774401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OF-4 · Transaktionsvolumina pro Monat</a:t>
            </a:r>
            <a:endParaRPr lang="en-US" sz="1425" dirty="0"/>
          </a:p>
        </p:txBody>
      </p:sp>
      <p:sp>
        <p:nvSpPr>
          <p:cNvPr id="17" name="Shape 15"/>
          <p:cNvSpPr/>
          <p:nvPr/>
        </p:nvSpPr>
        <p:spPr>
          <a:xfrm>
            <a:off x="9296400" y="2852886"/>
            <a:ext cx="7943850" cy="495300"/>
          </a:xfrm>
          <a:prstGeom prst="rect">
            <a:avLst/>
          </a:prstGeom>
          <a:ln w="9525">
            <a:solidFill>
              <a:srgbClr val="26890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15475" y="2995761"/>
            <a:ext cx="774401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OF-5 · Gemessene Durchlaufzeit BuKr-Anlage</a:t>
            </a:r>
            <a:endParaRPr lang="en-US" sz="1425" dirty="0"/>
          </a:p>
        </p:txBody>
      </p:sp>
      <p:sp>
        <p:nvSpPr>
          <p:cNvPr id="19" name="Shape 17"/>
          <p:cNvSpPr/>
          <p:nvPr/>
        </p:nvSpPr>
        <p:spPr>
          <a:xfrm>
            <a:off x="9296400" y="3443436"/>
            <a:ext cx="7943850" cy="495300"/>
          </a:xfrm>
          <a:prstGeom prst="rect">
            <a:avLst/>
          </a:prstGeom>
          <a:ln w="9525">
            <a:solidFill>
              <a:srgbClr val="26890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15475" y="3586311"/>
            <a:ext cx="774401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OF-3 · Exakte Template-Zuordnung der 101 Entitäten</a:t>
            </a:r>
            <a:endParaRPr lang="en-US" sz="1425" dirty="0"/>
          </a:p>
        </p:txBody>
      </p:sp>
      <p:sp>
        <p:nvSpPr>
          <p:cNvPr id="21" name="Shape 19"/>
          <p:cNvSpPr/>
          <p:nvPr/>
        </p:nvSpPr>
        <p:spPr>
          <a:xfrm>
            <a:off x="9296400" y="4033986"/>
            <a:ext cx="7943850" cy="495300"/>
          </a:xfrm>
          <a:prstGeom prst="rect">
            <a:avLst/>
          </a:prstGeom>
          <a:ln w="9525">
            <a:solidFill>
              <a:srgbClr val="26890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15475" y="4176861"/>
            <a:ext cx="774401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OF-6 · AI-Units-/Lizenzmodell (mit SAP in Verhandlung)</a:t>
            </a:r>
            <a:endParaRPr lang="en-US" sz="1425" dirty="0"/>
          </a:p>
        </p:txBody>
      </p:sp>
      <p:sp>
        <p:nvSpPr>
          <p:cNvPr id="23" name="Shape 21"/>
          <p:cNvSpPr/>
          <p:nvPr/>
        </p:nvSpPr>
        <p:spPr>
          <a:xfrm>
            <a:off x="9296400" y="4624536"/>
            <a:ext cx="7943850" cy="495300"/>
          </a:xfrm>
          <a:prstGeom prst="rect">
            <a:avLst/>
          </a:prstGeom>
          <a:ln w="9525">
            <a:solidFill>
              <a:srgbClr val="26890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15475" y="4767411"/>
            <a:ext cx="774401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OF-8 · EU-AI-Act-Einordnung · OF-9 · CAMP4-Kollaboration</a:t>
            </a:r>
            <a:endParaRPr lang="en-US" sz="1425" dirty="0"/>
          </a:p>
        </p:txBody>
      </p:sp>
      <p:sp>
        <p:nvSpPr>
          <p:cNvPr id="25" name="Shape 23"/>
          <p:cNvSpPr/>
          <p:nvPr/>
        </p:nvSpPr>
        <p:spPr>
          <a:xfrm>
            <a:off x="1047750" y="9401175"/>
            <a:ext cx="16192500" cy="9525"/>
          </a:xfrm>
          <a:prstGeom prst="rect">
            <a:avLst/>
          </a:prstGeom>
          <a:solidFill>
            <a:srgbClr val="E3E5E4"/>
          </a:solidFill>
          <a:ln/>
        </p:spPr>
      </p:sp>
      <p:sp>
        <p:nvSpPr>
          <p:cNvPr id="26" name="Text 24"/>
          <p:cNvSpPr/>
          <p:nvPr/>
        </p:nvSpPr>
        <p:spPr>
          <a:xfrm>
            <a:off x="1047750" y="9544050"/>
            <a:ext cx="450679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Finance &amp; Treasury · Viessmann Generations Group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4792027" y="9544050"/>
            <a:ext cx="269304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01.09.2026 · Berlin · Vertraulich · 34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2026-08-26T11:12:02Z</dcterms:created>
  <dcterms:modified xsi:type="dcterms:W3CDTF">2026-08-26T11:12:02Z</dcterms:modified>
</cp:coreProperties>
</file>
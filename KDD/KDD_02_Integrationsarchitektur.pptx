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10" r:id="rId3"/>
    <p:sldId id="31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68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D756F-AEE0-4FCC-94CC-F2A2FE279A9C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D2F69-D563-4D35-BD94-ADE744863C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07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KDD_FI_002 Integrationsarchitektur – Langfassung und Quellen</a:t>
            </a:r>
          </a:p>
          <a:p>
            <a:r>
              <a:t>Leitfall 3-396 SD-045 (Scope Item 2EQ Sale of Services): ATLED/Unicad liefert monatlich Ausweisdaten für den Ausweisabrechnungslauf; heute manueller Import über Z-Programm ZOM01, das in S/4HANA Cloud Public Edition nicht existiert. Lösungsvorschlag im Requirement: BTP Integration Suite verbindet sich mit der ATLED-Schnittstelle (REST/SOAP), Verkaufsaufträge werden über die Standard-OData-API API_SALES_ORDER_SRV (A_SalesOrder) angelegt; Fehlerprotokoll und Retry nativ; Voraussetzung ATLED-API-Dokumentation (Klärung mit Unicad/Zeus); Akzeptanzkriterium: KDD für Schnittstellenautomatisierung verabschiedet, Summenabgleich Vorlauf vs. Fakturaliste.</a:t>
            </a:r>
          </a:p>
          <a:p>
            <a:r>
              <a:t>Weitere Schnittstellen ohne Standard-App: 3-192 FI-AA-02-03 Membrane (permanente Inventur, Barcode je Anlage, Übergabe Anlagennummer als Inventarnummer, Rückmeldung der Inventurergebnisse; in J62/BFH/J58 keine Standard-App); 3-197 FI-AA-04-03 Beschaffung mit Anlagenkontierung (Onventis, evtl. Ablösung durch Ariba; Einkauf kontiert ca. 80 % der Bestellanforderungen; PO-Übergabe und Kontierungsobjekt zu prüfen); 3-102 Endrechnungskennzeichen mit offenem Integrationspunkt Cosware/RE-FX (automatische Weiterberechnung GAP). Plattformbedarf aus KDD_FI_003 (Kassenautomaten, Recon Hub), KDD_FI_004 (Duma, Billing), KDD_FI_008 (Payroll), KDD_FI_001 (SuccessFactors), KDD_FI_005 (DMS).</a:t>
            </a:r>
          </a:p>
          <a:p>
            <a:r>
              <a:t>Standard-Alternative für ATLED: App "Verkaufsaufträge importieren" (Spreadsheet-Upload) in S/4HANA Cloud; erfüllt die Anlage von Verkaufsaufträgen, nicht die Automatisierung.</a:t>
            </a:r>
          </a:p>
          <a:p>
            <a:r>
              <a:t>Offene Punkte: ATLED-API-Dokumentation; Onventis vs. Ariba (Einkaufsstream; entscheidet über Schnittstellen 3-197 und Stammdatenführung 3-162); Scope Cosware/RE-FX; Volumen je Schnittstelle (nicht dokumentiert); Betriebsmodell und Verantwortliche; Lizenzumfang Integration Suite im Vertrag.</a:t>
            </a:r>
          </a:p>
          <a:p>
            <a:r>
              <a:t>Nicht Teil dieser KDD: fachliche Ablösung einzelner Drittsysteme (KDD_FI_003, 004, 005, 009).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1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Bewertungsdetails KDD_FI_002. Option 1 (empfohlen): SAP Integration Suite (Cloud Integration, API Management optional, Event Mesh bei Bedarf) auf SAP BTP; iFlows je Schnittstelle; Verkaufsauftragsanlage über API_SALES_ORDER_SRV; Kommunikationsvereinbarungen in S/4HANA Cloud (Communication Arrangements); Monitoring in der Suite plus Alerting; Betrieb durch DUS-IT oder Partner. Clean Core vollständig gewahrt; Upgrade-Fähigkeit hoch (freigegebene APIs mit Versionierung). Aufwand: Plattformaufbau einmalig gering bis mittel; je iFlow gering bis mittel. Lizenz: Integration Suite Subskription bzw. BTP-Credits (Vertrag prüfen).</a:t>
            </a:r>
          </a:p>
          <a:p>
            <a:r>
              <a:t>Option 2: Standard-Import-Apps und Dateiübergaben (SFTP) sowie Direktaufrufe der S/4HANA-APIs durch Hersteller. Kein BTP; aber manuelle Schritte, verteilte Sicherheitslogik, kein zentrales Monitoring. Für Massen- und zeitkritische Schnittstellen (Payroll, Kassenautomaten) nicht geeignet.</a:t>
            </a:r>
          </a:p>
          <a:p>
            <a:r>
              <a:t>Entscheidungslevel Programm: betrifft mehrere Streams (SD, MM/Einkauf, FI, Anlagenmanagement) und die IT-Architektur.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8006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1C52-7FBE-CA5C-9D8A-9DC71D28A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4096C-6005-1D98-1C99-6DE18AC6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B05A-7B11-2CD0-52F3-2A607AAA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7246A-3DDC-72C2-1CF5-242C9D4E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6D9F-62AA-3412-260E-73BEACD1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0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7B95-58C1-0092-88AE-9F42026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4310-506C-058F-7D9A-F9DECD86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69856-300F-79AF-2653-C5E9CB67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4023-AA65-D62E-104F-C87A18F7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32BE-9756-C9D1-C9E6-F25EFA2B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77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E114-150F-F569-7016-1D8CB4F1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6CDDC-ED61-C11E-2745-80C2CCD1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DC58-3A28-7FE9-2756-6A3DF82F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733D-DF76-C9FF-71BB-7BDCC0C8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9CC83-5822-95DB-1C09-64F295B3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73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78E0-D5D0-E9E4-DC71-B92835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7518-E309-B75D-091B-0BF3DF38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2C398-BBE4-83CC-C4F5-0186580DC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806A8-DD5B-1B50-DEC8-F2F3F978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C2D29-8F5D-1A78-BE31-CCF40F0C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1282E-6B40-EB6C-CCB8-D861F28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75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B65E-0C50-27A4-EED6-11C76EF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CBB1-7021-54B3-D1A5-4742E8C9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C233-06A6-4B67-AA4C-4E6F92E2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6103D-02C9-A368-06CF-65BE97ABB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7DB28-B8F1-5DC2-BC84-4EE864A1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C773B-5DE9-5B07-A78B-077A717C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2AD15-6B20-174A-3FC4-0FCA2C69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5349-9910-7CE8-2565-3DC7411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5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513B-8634-9564-12B7-09A8AD9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13F59-4CE7-9EB6-C064-9FD9585D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FE2A-1C88-E7EE-16B4-EF7CF3CB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FFAF4-9A79-BE25-D271-EDEA7C69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9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A8D56-6209-A554-F243-0294FA2D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DC15C-F87A-FDBF-9327-4ACCBE80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2F02-D792-9181-0537-33CD9435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83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AE7E-EAAD-0121-203B-8F9E4341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EF0A-7FE8-DC73-81F4-AF8F7A23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B88EE-B04A-5B46-5C45-966B98B4B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21E3-C46A-59BD-56FF-31C3440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653B-88C9-460A-F38B-CE0B290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9F927-7B94-B81B-F4F0-72183D6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B7F5-7D20-EAF9-C287-CA5F59F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99566-7401-929A-6B63-8B9526601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205D3-534C-6459-BDAD-9D1ACE5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29E50-23F8-9C27-D504-F884B61E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F6B9-F595-2405-333D-2372B031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5F31-31B2-E176-C06A-CE2C932E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67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F58-2457-8765-C1E4-33522405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2E72-8DAD-F53A-15AA-F74D9FFFF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C530-BA88-CDAD-6921-EF37688C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7FB8E-597E-32F0-B099-C7CCB7AF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15BC-4E6F-4A8B-A07F-BC2C09EE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25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24FFF-BFB9-6AE1-4227-8494BB30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B09BC-BD16-75FE-57B7-67F3B663E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FAE6-0507-F26A-30A0-786BD078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42B1-A2E8-C5F2-4EC2-21D53172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DE23B-47D6-3F4B-8758-898026EB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86B8-C5EB-4D1C-8576-41565F759DA0}" type="datetime1">
              <a:rPr lang="de-DE" smtClean="0"/>
              <a:t>28.09.2026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7428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9192B-2FB6-136B-9D45-F0A2814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4C63-0A94-DB12-78A5-BD1FF2E5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6285-B3A7-52CB-0CD8-AE7A8CE6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2C37-C622-A1A9-DAD2-7D1AC4985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2922-5E28-DA6A-72E5-63B795466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1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A581-A593-DEDB-28C7-5C141CAF6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4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335CC9-8519-ABE5-718C-2CAA3DF1D8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335CC9-8519-ABE5-718C-2CAA3DF1D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22A7051-C82A-8347-2070-9F6608D5BCC6}"/>
              </a:ext>
            </a:extLst>
          </p:cNvPr>
          <p:cNvGrpSpPr/>
          <p:nvPr/>
        </p:nvGrpSpPr>
        <p:grpSpPr>
          <a:xfrm>
            <a:off x="2887489" y="1235014"/>
            <a:ext cx="2761772" cy="594684"/>
            <a:chOff x="2887205" y="1235014"/>
            <a:chExt cx="2244156" cy="594684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0C4E0D73-7A7D-F51E-9020-27B7F17C7F6D}"/>
                </a:ext>
              </a:extLst>
            </p:cNvPr>
            <p:cNvSpPr>
              <a:spLocks/>
            </p:cNvSpPr>
            <p:nvPr/>
          </p:nvSpPr>
          <p:spPr>
            <a:xfrm>
              <a:off x="2887205" y="1361907"/>
              <a:ext cx="2244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Finance mit Verkauf, Einkauf, Anlagen</a:t>
              </a:r>
            </a:p>
          </p:txBody>
        </p:sp>
        <p:sp>
          <p:nvSpPr>
            <p:cNvPr id="9" name="Rechteck 4">
              <a:extLst>
                <a:ext uri="{FF2B5EF4-FFF2-40B4-BE49-F238E27FC236}">
                  <a16:creationId xmlns:a16="http://schemas.microsoft.com/office/drawing/2014/main" id="{F90AF579-E54A-06B3-78C4-3766BE2CB782}"/>
                </a:ext>
              </a:extLst>
            </p:cNvPr>
            <p:cNvSpPr>
              <a:spLocks/>
            </p:cNvSpPr>
            <p:nvPr/>
          </p:nvSpPr>
          <p:spPr>
            <a:xfrm>
              <a:off x="2977883" y="1235014"/>
              <a:ext cx="20628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Workstream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52F971-A493-5255-0BA0-5C2F6AC88871}"/>
              </a:ext>
            </a:extLst>
          </p:cNvPr>
          <p:cNvGrpSpPr>
            <a:grpSpLocks/>
          </p:cNvGrpSpPr>
          <p:nvPr/>
        </p:nvGrpSpPr>
        <p:grpSpPr>
          <a:xfrm>
            <a:off x="5706871" y="1235014"/>
            <a:ext cx="2268063" cy="594684"/>
            <a:chOff x="5644894" y="1235014"/>
            <a:chExt cx="2268063" cy="594684"/>
          </a:xfrm>
        </p:grpSpPr>
        <p:sp>
          <p:nvSpPr>
            <p:cNvPr id="11" name="Rechteck 5">
              <a:extLst>
                <a:ext uri="{FF2B5EF4-FFF2-40B4-BE49-F238E27FC236}">
                  <a16:creationId xmlns:a16="http://schemas.microsoft.com/office/drawing/2014/main" id="{8E9705B5-7FC0-F94F-503C-22A679BE4FEB}"/>
                </a:ext>
              </a:extLst>
            </p:cNvPr>
            <p:cNvSpPr>
              <a:spLocks/>
            </p:cNvSpPr>
            <p:nvPr/>
          </p:nvSpPr>
          <p:spPr>
            <a:xfrm>
              <a:off x="5644894" y="1361907"/>
              <a:ext cx="226806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2" name="Rechteck 4">
              <a:extLst>
                <a:ext uri="{FF2B5EF4-FFF2-40B4-BE49-F238E27FC236}">
                  <a16:creationId xmlns:a16="http://schemas.microsoft.com/office/drawing/2014/main" id="{C3C1EC19-8D34-748E-0409-EE530BBED087}"/>
                </a:ext>
              </a:extLst>
            </p:cNvPr>
            <p:cNvSpPr>
              <a:spLocks/>
            </p:cNvSpPr>
            <p:nvPr/>
          </p:nvSpPr>
          <p:spPr>
            <a:xfrm>
              <a:off x="574692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dirty="0">
                  <a:solidFill>
                    <a:prstClr val="white"/>
                  </a:solidFill>
                  <a:latin typeface="Aptos"/>
                </a:rPr>
                <a:t>Process Owner</a:t>
              </a:r>
            </a:p>
          </p:txBody>
        </p:sp>
      </p:grpSp>
      <p:sp>
        <p:nvSpPr>
          <p:cNvPr id="14" name="Rechteck 5">
            <a:extLst>
              <a:ext uri="{FF2B5EF4-FFF2-40B4-BE49-F238E27FC236}">
                <a16:creationId xmlns:a16="http://schemas.microsoft.com/office/drawing/2014/main" id="{7388826D-31E9-6CA9-B690-347426987188}"/>
              </a:ext>
            </a:extLst>
          </p:cNvPr>
          <p:cNvSpPr>
            <a:spLocks/>
          </p:cNvSpPr>
          <p:nvPr/>
        </p:nvSpPr>
        <p:spPr>
          <a:xfrm>
            <a:off x="5154825" y="5683121"/>
            <a:ext cx="6535526" cy="46779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20990A-E550-6A16-A7B9-F423A6723E71}"/>
              </a:ext>
            </a:extLst>
          </p:cNvPr>
          <p:cNvGrpSpPr>
            <a:grpSpLocks/>
          </p:cNvGrpSpPr>
          <p:nvPr/>
        </p:nvGrpSpPr>
        <p:grpSpPr>
          <a:xfrm>
            <a:off x="6287732" y="1965467"/>
            <a:ext cx="1693834" cy="594684"/>
            <a:chOff x="6281100" y="1965467"/>
            <a:chExt cx="1693834" cy="594684"/>
          </a:xfrm>
        </p:grpSpPr>
        <p:sp>
          <p:nvSpPr>
            <p:cNvPr id="21" name="Rechteck 5">
              <a:extLst>
                <a:ext uri="{FF2B5EF4-FFF2-40B4-BE49-F238E27FC236}">
                  <a16:creationId xmlns:a16="http://schemas.microsoft.com/office/drawing/2014/main" id="{23898B92-FF74-70AE-4E74-C737D9A60D77}"/>
                </a:ext>
              </a:extLst>
            </p:cNvPr>
            <p:cNvSpPr>
              <a:spLocks/>
            </p:cNvSpPr>
            <p:nvPr/>
          </p:nvSpPr>
          <p:spPr>
            <a:xfrm>
              <a:off x="6281100" y="2092360"/>
              <a:ext cx="169383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28.09.2026</a:t>
              </a: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B88EE354-0127-BF4A-FE1C-C832AA1294CA}"/>
                </a:ext>
              </a:extLst>
            </p:cNvPr>
            <p:cNvSpPr>
              <a:spLocks/>
            </p:cNvSpPr>
            <p:nvPr/>
          </p:nvSpPr>
          <p:spPr>
            <a:xfrm>
              <a:off x="6331227" y="1965467"/>
              <a:ext cx="1542339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Erstellungsdatum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B9E5D9-01C5-2DB0-0AF5-01775B381BD9}"/>
              </a:ext>
            </a:extLst>
          </p:cNvPr>
          <p:cNvGrpSpPr/>
          <p:nvPr/>
        </p:nvGrpSpPr>
        <p:grpSpPr>
          <a:xfrm>
            <a:off x="8028551" y="1965467"/>
            <a:ext cx="2467644" cy="594684"/>
            <a:chOff x="8028551" y="1965467"/>
            <a:chExt cx="2467644" cy="594684"/>
          </a:xfrm>
        </p:grpSpPr>
        <p:sp>
          <p:nvSpPr>
            <p:cNvPr id="24" name="Rechteck 5">
              <a:extLst>
                <a:ext uri="{FF2B5EF4-FFF2-40B4-BE49-F238E27FC236}">
                  <a16:creationId xmlns:a16="http://schemas.microsoft.com/office/drawing/2014/main" id="{5566E2DE-D0D8-62AE-E5BC-C1A610A9A99A}"/>
                </a:ext>
              </a:extLst>
            </p:cNvPr>
            <p:cNvSpPr>
              <a:spLocks/>
            </p:cNvSpPr>
            <p:nvPr/>
          </p:nvSpPr>
          <p:spPr>
            <a:xfrm>
              <a:off x="8028551" y="2092360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25" name="Rechteck 4">
              <a:extLst>
                <a:ext uri="{FF2B5EF4-FFF2-40B4-BE49-F238E27FC236}">
                  <a16:creationId xmlns:a16="http://schemas.microsoft.com/office/drawing/2014/main" id="{BE29E289-931C-7FF0-96F7-870F9C7AD3DF}"/>
                </a:ext>
              </a:extLst>
            </p:cNvPr>
            <p:cNvSpPr>
              <a:spLocks/>
            </p:cNvSpPr>
            <p:nvPr/>
          </p:nvSpPr>
          <p:spPr>
            <a:xfrm>
              <a:off x="8165730" y="1965467"/>
              <a:ext cx="219658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DAB-Entscheidungsdatum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C28EBC-B503-C577-34DA-BEE9B41FD3A3}"/>
              </a:ext>
            </a:extLst>
          </p:cNvPr>
          <p:cNvGrpSpPr/>
          <p:nvPr/>
        </p:nvGrpSpPr>
        <p:grpSpPr>
          <a:xfrm>
            <a:off x="6468423" y="6311296"/>
            <a:ext cx="3527027" cy="341733"/>
            <a:chOff x="6270692" y="6228939"/>
            <a:chExt cx="4204447" cy="39771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D08AC6-2A2E-4107-31E8-24F90592C62F}"/>
                </a:ext>
              </a:extLst>
            </p:cNvPr>
            <p:cNvGrpSpPr/>
            <p:nvPr/>
          </p:nvGrpSpPr>
          <p:grpSpPr>
            <a:xfrm>
              <a:off x="6270692" y="6228939"/>
              <a:ext cx="920053" cy="397713"/>
              <a:chOff x="5097605" y="6350439"/>
              <a:chExt cx="920053" cy="397713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2699F9-5058-F484-F607-BFED5A1ADF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1633" y="6350439"/>
                <a:ext cx="192000" cy="191997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EEF96D-803D-0178-EC24-B2548DAAA307}"/>
                  </a:ext>
                </a:extLst>
              </p:cNvPr>
              <p:cNvSpPr txBox="1"/>
              <p:nvPr/>
            </p:nvSpPr>
            <p:spPr bwMode="gray">
              <a:xfrm>
                <a:off x="5097605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Freigegeben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1C27154-250C-3EF0-9A73-EC13D2B9B01A}"/>
                </a:ext>
              </a:extLst>
            </p:cNvPr>
            <p:cNvGrpSpPr/>
            <p:nvPr/>
          </p:nvGrpSpPr>
          <p:grpSpPr>
            <a:xfrm>
              <a:off x="8528594" y="6228939"/>
              <a:ext cx="920053" cy="397713"/>
              <a:chOff x="7325747" y="6350439"/>
              <a:chExt cx="920053" cy="39771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2248C4-CBC6-766F-3567-05A0790592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89774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FF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EC7BB7-0329-6A93-61FB-07AA24E80C2C}"/>
                  </a:ext>
                </a:extLst>
              </p:cNvPr>
              <p:cNvSpPr txBox="1"/>
              <p:nvPr/>
            </p:nvSpPr>
            <p:spPr bwMode="gray">
              <a:xfrm>
                <a:off x="7325747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In Bearbeitung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F4D6A2B-7DB0-F586-AF12-3E039DE65AA2}"/>
                </a:ext>
              </a:extLst>
            </p:cNvPr>
            <p:cNvGrpSpPr/>
            <p:nvPr/>
          </p:nvGrpSpPr>
          <p:grpSpPr>
            <a:xfrm>
              <a:off x="9555086" y="6228939"/>
              <a:ext cx="920053" cy="397713"/>
              <a:chOff x="8382000" y="6350439"/>
              <a:chExt cx="920053" cy="397713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CEBFEE-2058-3613-C0A4-3835E2A4CE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746026" y="6350439"/>
                <a:ext cx="192000" cy="191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93FE-C57A-BE28-46BE-D56696F68CB3}"/>
                  </a:ext>
                </a:extLst>
              </p:cNvPr>
              <p:cNvSpPr txBox="1"/>
              <p:nvPr/>
            </p:nvSpPr>
            <p:spPr bwMode="gray">
              <a:xfrm>
                <a:off x="8382000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Nicht gestartet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7AA520-A128-4C0F-21FA-B012B6151493}"/>
                </a:ext>
              </a:extLst>
            </p:cNvPr>
            <p:cNvGrpSpPr/>
            <p:nvPr/>
          </p:nvGrpSpPr>
          <p:grpSpPr>
            <a:xfrm>
              <a:off x="7297183" y="6228939"/>
              <a:ext cx="1124971" cy="397713"/>
              <a:chOff x="6104776" y="6350439"/>
              <a:chExt cx="1124971" cy="39771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E6778D-3105-038F-23ED-B31FC2528C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71261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5C03F-ABA1-70D7-10D6-EE60EFF47C76}"/>
                  </a:ext>
                </a:extLst>
              </p:cNvPr>
              <p:cNvSpPr txBox="1"/>
              <p:nvPr/>
            </p:nvSpPr>
            <p:spPr bwMode="gray">
              <a:xfrm>
                <a:off x="6104776" y="6542436"/>
                <a:ext cx="1124971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Bereit zur Freigabe</a:t>
                </a:r>
              </a:p>
            </p:txBody>
          </p:sp>
        </p:grp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351D90E6-0087-9AFA-3EC6-40CE50F09810}"/>
              </a:ext>
            </a:extLst>
          </p:cNvPr>
          <p:cNvSpPr/>
          <p:nvPr/>
        </p:nvSpPr>
        <p:spPr bwMode="gray">
          <a:xfrm>
            <a:off x="10764284" y="1597589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</a:pPr>
            <a:endParaRPr lang="de-DE" sz="1400" b="1">
              <a:solidFill>
                <a:prstClr val="white"/>
              </a:solidFill>
              <a:latin typeface="Aptos"/>
            </a:endParaRP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5CBC0FBE-109A-04D7-1C0F-4BE2E919A628}"/>
              </a:ext>
            </a:extLst>
          </p:cNvPr>
          <p:cNvSpPr>
            <a:spLocks/>
          </p:cNvSpPr>
          <p:nvPr/>
        </p:nvSpPr>
        <p:spPr>
          <a:xfrm>
            <a:off x="10569330" y="1358523"/>
            <a:ext cx="1109909" cy="119137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39" name="Rechteck 4">
            <a:extLst>
              <a:ext uri="{FF2B5EF4-FFF2-40B4-BE49-F238E27FC236}">
                <a16:creationId xmlns:a16="http://schemas.microsoft.com/office/drawing/2014/main" id="{50D1F423-FE0C-8E23-2DE4-C17BF9F6FE95}"/>
              </a:ext>
            </a:extLst>
          </p:cNvPr>
          <p:cNvSpPr>
            <a:spLocks/>
          </p:cNvSpPr>
          <p:nvPr/>
        </p:nvSpPr>
        <p:spPr>
          <a:xfrm>
            <a:off x="10692285" y="1217794"/>
            <a:ext cx="864000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>
                <a:solidFill>
                  <a:prstClr val="white"/>
                </a:solidFill>
                <a:latin typeface="Aptos"/>
              </a:rPr>
              <a:t>Status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BFB563-0978-2EE8-4584-364A102D358E}"/>
              </a:ext>
            </a:extLst>
          </p:cNvPr>
          <p:cNvSpPr/>
          <p:nvPr/>
        </p:nvSpPr>
        <p:spPr bwMode="gray">
          <a:xfrm>
            <a:off x="458788" y="2721140"/>
            <a:ext cx="4593001" cy="343762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950" dirty="0" b="1">
                <a:solidFill>
                  <a:prstClr val="black"/>
                </a:solidFill>
                <a:latin typeface="Aptos"/>
                <a:cs typeface="Arial"/>
              </a:rPr>
              <a:t>Entscheidungsfrage: Wird SAP Integration Suite auf SAP BTP als zentrale Middleware für alle Schnittstellen zwischen S/4HANA Cloud Public Edition und Nicht-SAP-Systemen eingeführt, beginnend mit der Automatisierung der ATLED/Unicad-Ausweisdaten?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Ist Zustand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Anforderungen 3-396 (Leitfall), 3-192, 3-197, Integrationspunkt aus 3-102; Plattformbedarf aus 3-68, 3-182, 3-187, 3-156, 3-207. ATLED/Unicad liefert monatlich Ausweisdaten; heute liest das Z-Programm ZOM01 die Datei manuell ein und erzeugt Verkaufsaufträge. ZOM01 existiert in der Public Edition nicht. Membrane (Inventur), Onventis (Bestellungen mit Anlagenkontierung), Cosware/RE-FX, Duma und Kassenautomaten brauchen ebenfalls Schnittstellen ohne Standard-App.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Auswirkung – Ohne Entscheidung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Jede Schnittstelle würde einzeln gelöst (Datei, SFTP, Direktaufruf durch Hersteller): kein zentrales Monitoring, keine Wiederholungslogik, Leitprinzip „Vorsysteme liefern automatisiert" verfehlt; der ATLED-Abrechnungslauf bliebe manuell und fehleranfällig.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Lösungsvorschläge beschreiben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Option 1: SAP Integration Suite (BTP) als Middleware; ATLED per REST/SOAP abrufen, Verkaufsaufträge über API_SALES_ORDER_SRV anlegen, Fehlerprotokoll und Retry in der Suite. Option 2: keine Middleware; Standard-App „Verkaufsaufträge importieren" per Datei, übrige Systeme per Datei oder Direktaufruf der S/4HANA-APIs durch den Hersteller. Verworfen: Nachbau von ZOM01 als In-App-Erweiterung (Clean-Core-Verstoß).</a:t>
            </a:r>
          </a:p>
        </p:txBody>
      </p:sp>
      <p:sp>
        <p:nvSpPr>
          <p:cNvPr id="55" name="Rechteck 4">
            <a:extLst>
              <a:ext uri="{FF2B5EF4-FFF2-40B4-BE49-F238E27FC236}">
                <a16:creationId xmlns:a16="http://schemas.microsoft.com/office/drawing/2014/main" id="{4B6F9EB1-09FB-A1C8-5001-B876BE075128}"/>
              </a:ext>
            </a:extLst>
          </p:cNvPr>
          <p:cNvSpPr/>
          <p:nvPr/>
        </p:nvSpPr>
        <p:spPr>
          <a:xfrm>
            <a:off x="590499" y="2607270"/>
            <a:ext cx="1872000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KDD Beschreibung</a:t>
            </a:r>
          </a:p>
        </p:txBody>
      </p:sp>
      <p:sp>
        <p:nvSpPr>
          <p:cNvPr id="56" name="Textfeld 4">
            <a:extLst>
              <a:ext uri="{FF2B5EF4-FFF2-40B4-BE49-F238E27FC236}">
                <a16:creationId xmlns:a16="http://schemas.microsoft.com/office/drawing/2014/main" id="{AF302C0D-61C0-0EF0-6BE3-872953E5D2A2}"/>
              </a:ext>
            </a:extLst>
          </p:cNvPr>
          <p:cNvSpPr txBox="1"/>
          <p:nvPr/>
        </p:nvSpPr>
        <p:spPr bwMode="gray">
          <a:xfrm>
            <a:off x="1438557" y="31504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57" name="Textfeld 7">
            <a:extLst>
              <a:ext uri="{FF2B5EF4-FFF2-40B4-BE49-F238E27FC236}">
                <a16:creationId xmlns:a16="http://schemas.microsoft.com/office/drawing/2014/main" id="{7DA2A62C-B50F-D84B-52AC-913814019069}"/>
              </a:ext>
            </a:extLst>
          </p:cNvPr>
          <p:cNvSpPr txBox="1"/>
          <p:nvPr/>
        </p:nvSpPr>
        <p:spPr bwMode="gray">
          <a:xfrm>
            <a:off x="712047" y="30377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BFDAA9-46E4-962B-3AFA-466B74D2D1AA}"/>
              </a:ext>
            </a:extLst>
          </p:cNvPr>
          <p:cNvGrpSpPr>
            <a:grpSpLocks/>
          </p:cNvGrpSpPr>
          <p:nvPr/>
        </p:nvGrpSpPr>
        <p:grpSpPr>
          <a:xfrm>
            <a:off x="2332795" y="1965467"/>
            <a:ext cx="3907953" cy="594684"/>
            <a:chOff x="4516748" y="1965467"/>
            <a:chExt cx="1729532" cy="594684"/>
          </a:xfrm>
        </p:grpSpPr>
        <p:sp>
          <p:nvSpPr>
            <p:cNvPr id="27" name="Rechteck 5">
              <a:extLst>
                <a:ext uri="{FF2B5EF4-FFF2-40B4-BE49-F238E27FC236}">
                  <a16:creationId xmlns:a16="http://schemas.microsoft.com/office/drawing/2014/main" id="{0EA4EC20-7BB5-41ED-DCE8-FAA0B09E13C6}"/>
                </a:ext>
              </a:extLst>
            </p:cNvPr>
            <p:cNvSpPr>
              <a:spLocks/>
            </p:cNvSpPr>
            <p:nvPr/>
          </p:nvSpPr>
          <p:spPr>
            <a:xfrm>
              <a:off x="4516748" y="2092360"/>
              <a:ext cx="1729532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950" dirty="0">
                  <a:solidFill>
                    <a:prstClr val="black"/>
                  </a:solidFill>
                  <a:latin typeface="Aptos"/>
                  <a:cs typeface="Arial"/>
                </a:rPr>
                <a:t>Plattform für KDD_FI_001/003/004/005/008; Verkauf (ATLED); Einkauf (Onventis/Ariba); Membrane; Cosware/RE-FX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D08DC-D3D4-7B96-D04B-08C2E65753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572361" y="1965467"/>
              <a:ext cx="1618307" cy="247016"/>
            </a:xfrm>
            <a:prstGeom prst="rect">
              <a:avLst/>
            </a:prstGeom>
            <a:solidFill>
              <a:srgbClr val="065185"/>
            </a:solidFill>
            <a:ln>
              <a:noFill/>
            </a:ln>
          </p:spPr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7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Schnittstellen zu anderen Projekten/Streams</a:t>
              </a:r>
              <a:endParaRPr lang="de-DE" sz="1300" b="1" baseline="30000" noProof="0" dirty="0">
                <a:solidFill>
                  <a:prstClr val="white"/>
                </a:solidFill>
                <a:latin typeface="Aptos"/>
              </a:endParaRPr>
            </a:p>
          </p:txBody>
        </p:sp>
      </p:grpSp>
      <p:sp>
        <p:nvSpPr>
          <p:cNvPr id="62" name="Rechteck 5">
            <a:extLst>
              <a:ext uri="{FF2B5EF4-FFF2-40B4-BE49-F238E27FC236}">
                <a16:creationId xmlns:a16="http://schemas.microsoft.com/office/drawing/2014/main" id="{F79A5E9C-D3A0-C955-4B7E-781506C4C00D}"/>
              </a:ext>
            </a:extLst>
          </p:cNvPr>
          <p:cNvSpPr/>
          <p:nvPr/>
        </p:nvSpPr>
        <p:spPr>
          <a:xfrm>
            <a:off x="8478166" y="2721140"/>
            <a:ext cx="3201071" cy="791727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48000" bIns="64000" numCol="1" rtlCol="0" anchor="t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SzPct val="100000"/>
              <a:defRPr/>
            </a:pPr>
            <a:r>
              <a:rPr lang="de-DE" sz="950" dirty="0">
                <a:solidFill>
                  <a:prstClr val="black"/>
                </a:solidFill>
                <a:latin typeface="Aptos"/>
                <a:cs typeface="Arial"/>
              </a:rPr>
              <a:t>Offen. Entscheider: offen. Datum: offen. Anforderung 3-396 verlangt ausdrücklich eine verabschiedete KDD.</a:t>
            </a:r>
          </a:p>
        </p:txBody>
      </p:sp>
      <p:sp>
        <p:nvSpPr>
          <p:cNvPr id="63" name="Rechteck 4">
            <a:extLst>
              <a:ext uri="{FF2B5EF4-FFF2-40B4-BE49-F238E27FC236}">
                <a16:creationId xmlns:a16="http://schemas.microsoft.com/office/drawing/2014/main" id="{842A5091-D58B-1466-2182-4DD4EAFE628E}"/>
              </a:ext>
            </a:extLst>
          </p:cNvPr>
          <p:cNvSpPr/>
          <p:nvPr/>
        </p:nvSpPr>
        <p:spPr>
          <a:xfrm>
            <a:off x="8663853" y="2595002"/>
            <a:ext cx="2257591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 getroffen</a:t>
            </a:r>
          </a:p>
        </p:txBody>
      </p:sp>
      <p:sp>
        <p:nvSpPr>
          <p:cNvPr id="64" name="Textfeld 24">
            <a:extLst>
              <a:ext uri="{FF2B5EF4-FFF2-40B4-BE49-F238E27FC236}">
                <a16:creationId xmlns:a16="http://schemas.microsoft.com/office/drawing/2014/main" id="{84AB3BEB-28DD-5665-8B36-C67B55A748F3}"/>
              </a:ext>
            </a:extLst>
          </p:cNvPr>
          <p:cNvSpPr txBox="1"/>
          <p:nvPr/>
        </p:nvSpPr>
        <p:spPr bwMode="gray">
          <a:xfrm>
            <a:off x="1801811" y="32218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C5493A8C-16DD-5863-33ED-0A1DEE36566C}"/>
              </a:ext>
            </a:extLst>
          </p:cNvPr>
          <p:cNvSpPr/>
          <p:nvPr/>
        </p:nvSpPr>
        <p:spPr bwMode="gray">
          <a:xfrm>
            <a:off x="5153941" y="3751738"/>
            <a:ext cx="6525296" cy="187124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Empfehlung: Option 1. Eine Middleware für alle Nicht-SAP-Schnittstellen (ATLED, Kassenautomaten/Recon Hub, Duma/Sky Billing, Membrane, Onventis oder Ariba, Payroll, DMS) statt Einzellösungen. Freigegebene S/4HANA-APIs (OData/SOAP) sichern Clean Core und Upgrade-Fähigkeit; Monitoring, Alerting und Retry sind zentral. Der ATLED-Leitfall ersetzt die manuelle Freigabe-E-Mail der Ausweisstelle durch einen triggerbasierten Lauf mit Summenabgleich.</a:t>
            </a:r>
          </a:p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Auswirkungen bei Umsetzung: Prozess: Ausweisabrechnung läuft ohne manuellen Upload, Abgleich Vorlauf gegen Fakturaliste bleibt Kontrollschritt. Organisation: Integrationsbetrieb (Monitoring, Incident-Prozess) bei DUS-IT oder Partner; Herstellerkoordination je Vorsystem. Integration: Kommunikationsvereinbarungen und technische Benutzer in S/4HANA Cloud, IAS/Zertifikate. Daten: Stammdatenmapping (Kunden, Materialien/Leistungen, Projekte) je Schnittstelle. Berechtigungen: Kommunikationsbenutzer mit minimalen Scopes, Nachvollziehbarkeit in der Suite.</a:t>
            </a:r>
          </a:p>
        </p:txBody>
      </p:sp>
      <p:sp>
        <p:nvSpPr>
          <p:cNvPr id="66" name="Rechteck 4">
            <a:extLst>
              <a:ext uri="{FF2B5EF4-FFF2-40B4-BE49-F238E27FC236}">
                <a16:creationId xmlns:a16="http://schemas.microsoft.com/office/drawing/2014/main" id="{24B85655-4A51-16E1-361D-C5B341D194A2}"/>
              </a:ext>
            </a:extLst>
          </p:cNvPr>
          <p:cNvSpPr/>
          <p:nvPr/>
        </p:nvSpPr>
        <p:spPr>
          <a:xfrm>
            <a:off x="5339628" y="3625579"/>
            <a:ext cx="2381223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Lösungsempfehlung</a:t>
            </a:r>
          </a:p>
        </p:txBody>
      </p:sp>
      <p:sp>
        <p:nvSpPr>
          <p:cNvPr id="68" name="Rechteck 5">
            <a:extLst>
              <a:ext uri="{FF2B5EF4-FFF2-40B4-BE49-F238E27FC236}">
                <a16:creationId xmlns:a16="http://schemas.microsoft.com/office/drawing/2014/main" id="{DEE2A3B3-7DC0-3486-7ECE-69053AE3F629}"/>
              </a:ext>
            </a:extLst>
          </p:cNvPr>
          <p:cNvSpPr/>
          <p:nvPr/>
        </p:nvSpPr>
        <p:spPr>
          <a:xfrm>
            <a:off x="5153941" y="2724878"/>
            <a:ext cx="3201071" cy="78798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128000" bIns="64000" rtlCol="0" anchor="t" anchorCtr="0"/>
          <a:lstStyle/>
          <a:p>
            <a:pPr defTabSz="1624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ATLED-API-Dokumentation (Unicad/Zeus); Entscheidung Onventis vs. Ariba (Einkauf); Schnittstelleninventar mit Volumen; Betriebsmodell BTP (DUS-IT oder Partner); Lizenzumfang Integration Suite</a:t>
            </a:r>
          </a:p>
        </p:txBody>
      </p:sp>
      <p:sp>
        <p:nvSpPr>
          <p:cNvPr id="69" name="Rechteck 4">
            <a:extLst>
              <a:ext uri="{FF2B5EF4-FFF2-40B4-BE49-F238E27FC236}">
                <a16:creationId xmlns:a16="http://schemas.microsoft.com/office/drawing/2014/main" id="{25E6C380-2F70-B650-394B-C372DFB7B449}"/>
              </a:ext>
            </a:extLst>
          </p:cNvPr>
          <p:cNvSpPr/>
          <p:nvPr/>
        </p:nvSpPr>
        <p:spPr>
          <a:xfrm>
            <a:off x="5339628" y="2601237"/>
            <a:ext cx="2813615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Entscheidungsvoraussetzungen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7A247-81CF-00BB-6584-E25038769436}"/>
              </a:ext>
            </a:extLst>
          </p:cNvPr>
          <p:cNvGrpSpPr/>
          <p:nvPr/>
        </p:nvGrpSpPr>
        <p:grpSpPr>
          <a:xfrm>
            <a:off x="457200" y="1235014"/>
            <a:ext cx="2347613" cy="594684"/>
            <a:chOff x="457200" y="1235014"/>
            <a:chExt cx="2347613" cy="59468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BE50952-10BF-9781-F8C8-9E8BD1695C27}"/>
                </a:ext>
              </a:extLst>
            </p:cNvPr>
            <p:cNvSpPr>
              <a:spLocks/>
            </p:cNvSpPr>
            <p:nvPr/>
          </p:nvSpPr>
          <p:spPr>
            <a:xfrm>
              <a:off x="457200" y="1361907"/>
              <a:ext cx="234761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100" dirty="0">
                  <a:solidFill>
                    <a:prstClr val="black"/>
                  </a:solidFill>
                  <a:latin typeface="Aptos"/>
                  <a:cs typeface="Arial"/>
                </a:rPr>
                <a:t>KDD_FI_002</a:t>
              </a:r>
            </a:p>
          </p:txBody>
        </p:sp>
        <p:sp>
          <p:nvSpPr>
            <p:cNvPr id="84" name="Rechteck 4">
              <a:extLst>
                <a:ext uri="{FF2B5EF4-FFF2-40B4-BE49-F238E27FC236}">
                  <a16:creationId xmlns:a16="http://schemas.microsoft.com/office/drawing/2014/main" id="{478DE72E-7086-4B29-3D6D-FD6B3C70A73E}"/>
                </a:ext>
              </a:extLst>
            </p:cNvPr>
            <p:cNvSpPr>
              <a:spLocks/>
            </p:cNvSpPr>
            <p:nvPr/>
          </p:nvSpPr>
          <p:spPr>
            <a:xfrm>
              <a:off x="59900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>
                  <a:solidFill>
                    <a:prstClr val="white"/>
                  </a:solidFill>
                  <a:latin typeface="Aptos"/>
                </a:rPr>
                <a:t>#ID</a:t>
              </a:r>
            </a:p>
          </p:txBody>
        </p:sp>
      </p:grpSp>
      <p:sp>
        <p:nvSpPr>
          <p:cNvPr id="85" name="Rechteck 4">
            <a:extLst>
              <a:ext uri="{FF2B5EF4-FFF2-40B4-BE49-F238E27FC236}">
                <a16:creationId xmlns:a16="http://schemas.microsoft.com/office/drawing/2014/main" id="{74CF2AE7-CEFA-40B0-C816-CB214DEC16EE}"/>
              </a:ext>
            </a:extLst>
          </p:cNvPr>
          <p:cNvSpPr>
            <a:spLocks/>
          </p:cNvSpPr>
          <p:nvPr/>
        </p:nvSpPr>
        <p:spPr>
          <a:xfrm>
            <a:off x="6046810" y="5563101"/>
            <a:ext cx="4751556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algn="ctr"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300" b="1" noProof="0" dirty="0">
                <a:solidFill>
                  <a:prstClr val="white"/>
                </a:solidFill>
                <a:latin typeface="Aptos"/>
              </a:rPr>
              <a:t>Risiko Gesamt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73B14AB3-3A4A-E6E2-37DF-94749A4B77DD}"/>
              </a:ext>
            </a:extLst>
          </p:cNvPr>
          <p:cNvSpPr txBox="1">
            <a:spLocks/>
          </p:cNvSpPr>
          <p:nvPr/>
        </p:nvSpPr>
        <p:spPr bwMode="gray">
          <a:xfrm>
            <a:off x="501651" y="317501"/>
            <a:ext cx="11188700" cy="3340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defTabSz="914377">
              <a:defRPr/>
            </a:pPr>
            <a:endParaRPr lang="de-DE" b="1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8E27B-D237-5244-991F-72A51904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KDD_FI_002: Integrationsarchitektur für Nicht-SAP-Schnittstellen</a:t>
            </a:r>
            <a:endParaRPr lang="de-DE" sz="2600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AF7C6B-39EA-B196-2FE8-BB4BF4479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1/2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34E241-5F5B-D77E-1F76-06675FBCE216}"/>
              </a:ext>
            </a:extLst>
          </p:cNvPr>
          <p:cNvGrpSpPr/>
          <p:nvPr/>
        </p:nvGrpSpPr>
        <p:grpSpPr>
          <a:xfrm>
            <a:off x="6854330" y="5870252"/>
            <a:ext cx="881301" cy="237326"/>
            <a:chOff x="3154852" y="2031715"/>
            <a:chExt cx="868104" cy="23732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49E281-2096-9D66-4A6A-7DDAA33C21C2}"/>
                </a:ext>
              </a:extLst>
            </p:cNvPr>
            <p:cNvSpPr txBox="1"/>
            <p:nvPr/>
          </p:nvSpPr>
          <p:spPr>
            <a:xfrm>
              <a:off x="3484897" y="2080821"/>
              <a:ext cx="538059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dirty="0">
                  <a:solidFill>
                    <a:prstClr val="black"/>
                  </a:solidFill>
                  <a:latin typeface="Aptos"/>
                </a:rPr>
                <a:t>Niedrig</a:t>
              </a:r>
              <a:endParaRPr lang="de-DE" sz="1200" noProof="0" dirty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C762B5-F04B-13E3-B2D1-9D02B8536D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54852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CA9872-0EE5-C398-5549-DD67DA3E0A0D}"/>
              </a:ext>
            </a:extLst>
          </p:cNvPr>
          <p:cNvGrpSpPr/>
          <p:nvPr/>
        </p:nvGrpSpPr>
        <p:grpSpPr>
          <a:xfrm>
            <a:off x="7899009" y="5870252"/>
            <a:ext cx="764844" cy="237326"/>
            <a:chOff x="4349537" y="2031715"/>
            <a:chExt cx="753391" cy="23732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3E62B2-36DC-0D9E-EBCD-2406C47F0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8DA3D6-91FA-0E9B-39E8-A5F53A862141}"/>
                </a:ext>
              </a:extLst>
            </p:cNvPr>
            <p:cNvSpPr txBox="1"/>
            <p:nvPr/>
          </p:nvSpPr>
          <p:spPr>
            <a:xfrm>
              <a:off x="4679581" y="2088219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Mittel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C6F30-EBB1-8D02-A15A-4B404290E0F8}"/>
              </a:ext>
            </a:extLst>
          </p:cNvPr>
          <p:cNvGrpSpPr/>
          <p:nvPr/>
        </p:nvGrpSpPr>
        <p:grpSpPr>
          <a:xfrm>
            <a:off x="8967492" y="5870252"/>
            <a:ext cx="840973" cy="237326"/>
            <a:chOff x="4349537" y="2031715"/>
            <a:chExt cx="828379" cy="23732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D1288CA-6C3F-BC57-574E-644A65530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E4147EF-EADB-9B2F-C293-02A6D3243347}"/>
                </a:ext>
              </a:extLst>
            </p:cNvPr>
            <p:cNvSpPr txBox="1"/>
            <p:nvPr/>
          </p:nvSpPr>
          <p:spPr>
            <a:xfrm>
              <a:off x="4679581" y="2088219"/>
              <a:ext cx="498335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Hoch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D0BE2B-55ED-BEB9-9B2C-29C4A8F3E135}"/>
              </a:ext>
            </a:extLst>
          </p:cNvPr>
          <p:cNvGrpSpPr>
            <a:grpSpLocks/>
          </p:cNvGrpSpPr>
          <p:nvPr/>
        </p:nvGrpSpPr>
        <p:grpSpPr>
          <a:xfrm>
            <a:off x="8028550" y="1245006"/>
            <a:ext cx="2467644" cy="594684"/>
            <a:chOff x="8010966" y="1245006"/>
            <a:chExt cx="2467644" cy="594684"/>
          </a:xfrm>
        </p:grpSpPr>
        <p:sp>
          <p:nvSpPr>
            <p:cNvPr id="103" name="Rechteck 5">
              <a:extLst>
                <a:ext uri="{FF2B5EF4-FFF2-40B4-BE49-F238E27FC236}">
                  <a16:creationId xmlns:a16="http://schemas.microsoft.com/office/drawing/2014/main" id="{1099008F-38C6-C4C0-FDEE-20DFFFDB1710}"/>
                </a:ext>
              </a:extLst>
            </p:cNvPr>
            <p:cNvSpPr>
              <a:spLocks/>
            </p:cNvSpPr>
            <p:nvPr/>
          </p:nvSpPr>
          <p:spPr>
            <a:xfrm>
              <a:off x="8010966" y="1371899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04" name="Rechteck 4">
              <a:extLst>
                <a:ext uri="{FF2B5EF4-FFF2-40B4-BE49-F238E27FC236}">
                  <a16:creationId xmlns:a16="http://schemas.microsoft.com/office/drawing/2014/main" id="{DEB75E23-A8DF-C388-19E0-DDCCC7193982}"/>
                </a:ext>
              </a:extLst>
            </p:cNvPr>
            <p:cNvSpPr>
              <a:spLocks/>
            </p:cNvSpPr>
            <p:nvPr/>
          </p:nvSpPr>
          <p:spPr>
            <a:xfrm>
              <a:off x="8131230" y="1245006"/>
              <a:ext cx="222711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Product Manager (IT)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3EE4B-538E-B68D-AC6C-120AFFCDA837}"/>
              </a:ext>
            </a:extLst>
          </p:cNvPr>
          <p:cNvGrpSpPr>
            <a:grpSpLocks/>
          </p:cNvGrpSpPr>
          <p:nvPr/>
        </p:nvGrpSpPr>
        <p:grpSpPr>
          <a:xfrm>
            <a:off x="462504" y="1965467"/>
            <a:ext cx="1797156" cy="594684"/>
            <a:chOff x="462504" y="1965467"/>
            <a:chExt cx="1797156" cy="594684"/>
          </a:xfrm>
        </p:grpSpPr>
        <p:sp>
          <p:nvSpPr>
            <p:cNvPr id="19" name="Rechteck 5">
              <a:extLst>
                <a:ext uri="{FF2B5EF4-FFF2-40B4-BE49-F238E27FC236}">
                  <a16:creationId xmlns:a16="http://schemas.microsoft.com/office/drawing/2014/main" id="{AC0B860D-46DB-0CCA-7845-050C7BA23290}"/>
                </a:ext>
              </a:extLst>
            </p:cNvPr>
            <p:cNvSpPr>
              <a:spLocks/>
            </p:cNvSpPr>
            <p:nvPr/>
          </p:nvSpPr>
          <p:spPr>
            <a:xfrm>
              <a:off x="462504" y="2092360"/>
              <a:ext cx="1797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Schnittstellen</a:t>
              </a:r>
            </a:p>
          </p:txBody>
        </p:sp>
        <p:sp>
          <p:nvSpPr>
            <p:cNvPr id="20" name="Rechteck 4">
              <a:extLst>
                <a:ext uri="{FF2B5EF4-FFF2-40B4-BE49-F238E27FC236}">
                  <a16:creationId xmlns:a16="http://schemas.microsoft.com/office/drawing/2014/main" id="{D76750D2-6BE9-156F-E70E-6F9619D7FD76}"/>
                </a:ext>
              </a:extLst>
            </p:cNvPr>
            <p:cNvSpPr>
              <a:spLocks/>
            </p:cNvSpPr>
            <p:nvPr/>
          </p:nvSpPr>
          <p:spPr>
            <a:xfrm>
              <a:off x="571060" y="1965467"/>
              <a:ext cx="1580043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Gap Klassifizierung</a:t>
              </a:r>
            </a:p>
          </p:txBody>
        </p:sp>
      </p:grp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C71A78E-19A4-C569-CBA9-557E182D4E5A}"/>
              </a:ext>
            </a:extLst>
          </p:cNvPr>
          <p:cNvSpPr/>
          <p:nvPr/>
        </p:nvSpPr>
        <p:spPr>
          <a:xfrm>
            <a:off x="-468998" y="1647884"/>
            <a:ext cx="914400" cy="612648"/>
          </a:xfrm>
          <a:prstGeom prst="wedgeRectCallout">
            <a:avLst>
              <a:gd name="adj1" fmla="val 97270"/>
              <a:gd name="adj2" fmla="val 522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Schnittstellen, Formulare, Workflow, Reports, Entwicklungen</a:t>
            </a:r>
          </a:p>
        </p:txBody>
      </p:sp>
    </p:spTree>
    <p:extLst>
      <p:ext uri="{BB962C8B-B14F-4D97-AF65-F5344CB8AC3E}">
        <p14:creationId xmlns:p14="http://schemas.microsoft.com/office/powerpoint/2010/main" val="35584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BB7-49D6-8DB4-A769-3F8EC955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0990094-4325-B4B5-9AC3-4DAD50FF3B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90094-4325-B4B5-9AC3-4DAD50FF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Table 15">
            <a:extLst>
              <a:ext uri="{FF2B5EF4-FFF2-40B4-BE49-F238E27FC236}">
                <a16:creationId xmlns:a16="http://schemas.microsoft.com/office/drawing/2014/main" id="{DC5D319F-1DA0-03CE-6F9B-54B0E331F93E}"/>
              </a:ext>
            </a:extLst>
          </p:cNvPr>
          <p:cNvGraphicFramePr>
            <a:graphicFrameLocks noGrp="1"/>
          </p:cNvGraphicFramePr>
          <p:nvPr/>
        </p:nvGraphicFramePr>
        <p:xfrm>
          <a:off x="530224" y="1890249"/>
          <a:ext cx="11131548" cy="420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58">
                  <a:extLst>
                    <a:ext uri="{9D8B030D-6E8A-4147-A177-3AD203B41FA5}">
                      <a16:colId xmlns:a16="http://schemas.microsoft.com/office/drawing/2014/main" val="2465504791"/>
                    </a:ext>
                  </a:extLst>
                </a:gridCol>
                <a:gridCol w="4595240">
                  <a:extLst>
                    <a:ext uri="{9D8B030D-6E8A-4147-A177-3AD203B41FA5}">
                      <a16:colId xmlns:a16="http://schemas.microsoft.com/office/drawing/2014/main" val="277774230"/>
                    </a:ext>
                  </a:extLst>
                </a:gridCol>
                <a:gridCol w="4710050">
                  <a:extLst>
                    <a:ext uri="{9D8B030D-6E8A-4147-A177-3AD203B41FA5}">
                      <a16:colId xmlns:a16="http://schemas.microsoft.com/office/drawing/2014/main" val="3689036292"/>
                    </a:ext>
                  </a:extLst>
                </a:gridCol>
              </a:tblGrid>
              <a:tr h="312790">
                <a:tc>
                  <a:txBody>
                    <a:bodyPr/>
                    <a:lstStyle/>
                    <a:p>
                      <a:pPr algn="l" rtl="0"/>
                      <a:endParaRPr lang="de-DE" sz="1100" noProof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 anchor="ctr">
                    <a:lnL w="12700" cmpd="sng">
                      <a:noFill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100" dirty="0" b="1">
                          <a:solidFill>
                            <a:schemeClr val="bg1"/>
                          </a:solidFill>
                        </a:rPr>
                        <a:t>Option 1 – SAP Integration Suite als Middleware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b="1">
                          <a:solidFill>
                            <a:schemeClr val="tx2"/>
                          </a:solidFill>
                        </a:rPr>
                        <a:t>Option 2 – Keine Middleware: Datei-Import, Direktanbindung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77960"/>
                  </a:ext>
                </a:extLst>
              </a:tr>
              <a:tr h="263386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Entscheidungslevel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1820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Vorteile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Ein Werkzeug für alle Schnittstellen: Mapping, Monitoring, Retry, Fehlerprotokoll (3-396)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Clean Core: nur freigegebene APIs, keine In-App-Codierung, upgradesicher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Wiederverwendbar für Kassenautomaten, Duma, Membrane, Onventis/Ariba, Payroll, DMS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Keine Zusatzlizenz, kein BTP-Betrieb; Standard-Import-App für Verkaufsaufträge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Schnell umsetzbar für ATLED (Datei statt Z-Programm), keine Herstellerabhängigkeit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Volle Upgrade-Fähigkeit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62161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Nachteile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BTP-Subaccount, Integration-Suite-Lizenz und Betrieb (Skills) erforderlich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Jede Schnittstelle braucht Herstellerbeteiligung (API-Dokumentation, Tests)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Middleware wird geschäftskritisch (Abrechnungsläufe), Verfügbarkeit sichern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Manuelle Schritte bleiben (Datei erzeugen, hochladen, prüfen), Leitprinzip verfehlt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 zentrales Monitoring; Fehler und Wiederholungen je Schnittstelle verschieden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Direktaufrufe durch Hersteller verteilen Sicherheits- und Zugriffslogik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0984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Beschreibung </a:t>
                      </a:r>
                      <a:br>
                        <a:rPr lang="de-DE" sz="1100" noProof="0" dirty="0">
                          <a:solidFill>
                            <a:schemeClr val="tx2"/>
                          </a:solidFill>
                        </a:rPr>
                      </a:br>
                      <a:r>
                        <a:rPr lang="de-DE" sz="1000" noProof="0" dirty="0">
                          <a:solidFill>
                            <a:schemeClr val="tx2"/>
                          </a:solidFill>
                        </a:rPr>
                        <a:t>(bei der Einführung)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ATLED-API von Unicad/Zeus nicht dokumentiert oder nicht per BTP erreichbar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Schnittstellenumfang wächst (Inventar unvollständig), Priorisierung nötig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Wildwuchs an Punkt-zu-Punkt-Lösungen; spätere Konsolidierung teuer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Dateiformate der Vorsysteme müssen exakt zu Standard-Templates passen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12769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(Kosten)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Lizenz Integration Suite (ggf. im Cloud-Vertrag enthalten, zu prüfen) plus Betrieb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Aufwand je iFlow gering bis mittel, Gesamtaufwand vom Inventar abhängig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Niedrige Einmalkosten; dauerhaft manuelle Aufwände in Ausweisstelle und Buchhaltung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Fehlerkosten bei falschen oder vergessenen Uploads (Erlösrisiko)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1007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(Zeit)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ATLED bis Go-Live nur bei früher API-Freigabe; Fallback Datei-Import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Übrige Schnittstellen nach Kritikalität staffeln (Payroll, Kassenautomaten zuerst)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 Zeitrisiko für Go-Live; spätere Automatisierung startet von Null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5045"/>
                  </a:ext>
                </a:extLst>
              </a:tr>
              <a:tr h="631730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Zusätzliche Informationen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Standard-Integrationscontent (SuccessFactors, Ariba) nutzbar; Betrieb rund um Abrechnungsläufe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Offener Punkt: Onventis vs. Ariba (Einkauf) entscheidet über 3-197 und 3-162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Für Payroll (KDD_FI_008) und Kassenautomaten (KDD_FI_003) kaum tragfähig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Widerspricht dem Zielbild automatisierter Vorsysteme in 3-396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0576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Im Standard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de-DE" sz="90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4956"/>
                  </a:ext>
                </a:extLst>
              </a:tr>
            </a:tbl>
          </a:graphicData>
        </a:graphic>
      </p:graphicFrame>
      <p:sp>
        <p:nvSpPr>
          <p:cNvPr id="109" name="Rectangle 19">
            <a:extLst>
              <a:ext uri="{FF2B5EF4-FFF2-40B4-BE49-F238E27FC236}">
                <a16:creationId xmlns:a16="http://schemas.microsoft.com/office/drawing/2014/main" id="{2C98933A-32AC-EB90-553A-D1A724A7A7F6}"/>
              </a:ext>
            </a:extLst>
          </p:cNvPr>
          <p:cNvSpPr/>
          <p:nvPr/>
        </p:nvSpPr>
        <p:spPr bwMode="gray">
          <a:xfrm>
            <a:off x="530224" y="1641849"/>
            <a:ext cx="11131550" cy="44382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46" indent="-171446"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/>
            </a:pPr>
            <a:endParaRPr lang="de-DE" sz="800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110" name="Rechteck 4">
            <a:extLst>
              <a:ext uri="{FF2B5EF4-FFF2-40B4-BE49-F238E27FC236}">
                <a16:creationId xmlns:a16="http://schemas.microsoft.com/office/drawing/2014/main" id="{BB5ABD07-36A7-7773-01EB-1C9C2C74D9AB}"/>
              </a:ext>
            </a:extLst>
          </p:cNvPr>
          <p:cNvSpPr/>
          <p:nvPr/>
        </p:nvSpPr>
        <p:spPr>
          <a:xfrm>
            <a:off x="631191" y="1517650"/>
            <a:ext cx="3341623" cy="248400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600" b="1" noProof="0">
                <a:solidFill>
                  <a:srgbClr val="FFFFFF"/>
                </a:solidFill>
                <a:latin typeface="Aptos"/>
              </a:rPr>
              <a:t>Bewertung aus funktionaler Sicht</a:t>
            </a:r>
          </a:p>
        </p:txBody>
      </p:sp>
      <p:sp>
        <p:nvSpPr>
          <p:cNvPr id="111" name="Stern mit 5 Zacken 6">
            <a:extLst>
              <a:ext uri="{FF2B5EF4-FFF2-40B4-BE49-F238E27FC236}">
                <a16:creationId xmlns:a16="http://schemas.microsoft.com/office/drawing/2014/main" id="{1B992603-608F-49A8-13D7-205717688C42}"/>
              </a:ext>
            </a:extLst>
          </p:cNvPr>
          <p:cNvSpPr/>
          <p:nvPr/>
        </p:nvSpPr>
        <p:spPr bwMode="gray">
          <a:xfrm>
            <a:off x="6457139" y="1972055"/>
            <a:ext cx="210053" cy="16673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40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2" name="Stern mit 5 Zacken 8">
            <a:extLst>
              <a:ext uri="{FF2B5EF4-FFF2-40B4-BE49-F238E27FC236}">
                <a16:creationId xmlns:a16="http://schemas.microsoft.com/office/drawing/2014/main" id="{4CC90495-5912-6136-B00A-3D7E8A3A1568}"/>
              </a:ext>
            </a:extLst>
          </p:cNvPr>
          <p:cNvSpPr/>
          <p:nvPr/>
        </p:nvSpPr>
        <p:spPr bwMode="gray">
          <a:xfrm>
            <a:off x="8565700" y="6472205"/>
            <a:ext cx="192021" cy="18319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05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3" name="TextBox 116">
            <a:extLst>
              <a:ext uri="{FF2B5EF4-FFF2-40B4-BE49-F238E27FC236}">
                <a16:creationId xmlns:a16="http://schemas.microsoft.com/office/drawing/2014/main" id="{7F3CB932-B013-037C-409D-3A8F7BC5B011}"/>
              </a:ext>
            </a:extLst>
          </p:cNvPr>
          <p:cNvSpPr txBox="1"/>
          <p:nvPr/>
        </p:nvSpPr>
        <p:spPr bwMode="gray">
          <a:xfrm>
            <a:off x="8202256" y="6476839"/>
            <a:ext cx="3097405" cy="171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  <a:buClr>
                <a:srgbClr val="0341D2"/>
              </a:buClr>
              <a:defRPr/>
            </a:pPr>
            <a:r>
              <a:rPr lang="de-DE" sz="900" noProof="0">
                <a:solidFill>
                  <a:srgbClr val="414048"/>
                </a:solidFill>
                <a:latin typeface="Aptos"/>
              </a:rPr>
              <a:t>Präferierte Lösung  vom Produkt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A1457-33E1-E6EB-35A4-E9916C33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KDD_FI_002: Integrationsarchitektur für Nicht-SAP-Schnittstellen</a:t>
            </a:r>
            <a:endParaRPr lang="de-DE" sz="2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F39F7-095E-3E70-B598-C8EA04E8A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2/2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53A0B-8604-DD08-1F47-6DE8BEDEB334}"/>
              </a:ext>
            </a:extLst>
          </p:cNvPr>
          <p:cNvGrpSpPr>
            <a:grpSpLocks/>
          </p:cNvGrpSpPr>
          <p:nvPr/>
        </p:nvGrpSpPr>
        <p:grpSpPr>
          <a:xfrm>
            <a:off x="3662986" y="5724136"/>
            <a:ext cx="1967562" cy="237326"/>
            <a:chOff x="3202497" y="2010259"/>
            <a:chExt cx="1967562" cy="2373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3C4472-9F08-77A2-5CD2-3BC2CFAC6E57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0E617-E779-0885-C379-08D8D8DEC4C8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 dirty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74D867-4CC1-378E-EB90-46F9C35FB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D99BFF-CCD8-3B2F-8305-99E1376F8867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6204A0-7A86-C888-2638-B5A401BF4D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70785C-45F8-4900-EF98-CD819B2FB9EB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DD0675-9E12-4C66-5047-B02764F0E970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F157EB-6FD4-A786-C546-26DA1752AA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564F0A-2352-6C5F-521F-4BC62F441786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6352A8-E84D-C510-30C8-C0295AC09011}"/>
              </a:ext>
            </a:extLst>
          </p:cNvPr>
          <p:cNvGrpSpPr>
            <a:grpSpLocks/>
          </p:cNvGrpSpPr>
          <p:nvPr/>
        </p:nvGrpSpPr>
        <p:grpSpPr>
          <a:xfrm>
            <a:off x="8402040" y="5724136"/>
            <a:ext cx="1967562" cy="237326"/>
            <a:chOff x="3202497" y="2010259"/>
            <a:chExt cx="1967562" cy="2373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66B3FF-46AD-3CE6-8091-45E50BC14363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0123AC-2B3E-DF91-0D13-903A395DB715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0C5624-0B06-05A1-C532-C2CDB8460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35DA7F-0AAF-10ED-B925-6DEABFF140C1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9FDD30-2637-AB2D-DA4C-FC31F1D4EB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0FD539-9E66-1F0A-97B0-D442088AEEF4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3DDE16-4276-8A1A-6FAE-219546A6DF88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FB3366-50A0-7586-4631-42C7506BD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AFA620-8BAD-438C-6764-535C965A7BC5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681850-B0F6-582E-0C44-3B41D5C36A2D}"/>
              </a:ext>
            </a:extLst>
          </p:cNvPr>
          <p:cNvGrpSpPr/>
          <p:nvPr/>
        </p:nvGrpSpPr>
        <p:grpSpPr>
          <a:xfrm>
            <a:off x="2558086" y="2254140"/>
            <a:ext cx="4366970" cy="183200"/>
            <a:chOff x="2558086" y="2254140"/>
            <a:chExt cx="4366970" cy="1832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7A8ED-95A7-8BA5-8B2D-697C01C10072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A5BC27-5CBE-DE2E-4982-736ED065CD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7D4E5B3-3A01-2A35-7BDB-E4DF108D4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89C65F-9EB7-FE61-5763-C63858E0A439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33B0C2-9F3F-5F72-CCFE-C8808FF4B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83F5A1-A713-3E49-36A8-0ED7002821AB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077E97-CC89-1425-7AD0-BCB06FBF5A02}"/>
              </a:ext>
            </a:extLst>
          </p:cNvPr>
          <p:cNvGrpSpPr/>
          <p:nvPr/>
        </p:nvGrpSpPr>
        <p:grpSpPr>
          <a:xfrm>
            <a:off x="7152194" y="2254140"/>
            <a:ext cx="4366970" cy="183200"/>
            <a:chOff x="2558086" y="2254140"/>
            <a:chExt cx="4366970" cy="1832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10F36E5-6ED5-5348-BF14-5136A0F490C0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D8FF0C-D16A-8BD0-4E09-F3FA37BE8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D9BCE-BE5D-6C43-1069-B69BD6F6CB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F4F726-6740-DDE4-0A51-A81C2A57189A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F064AA-C262-8B9C-905A-8DD6897B1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DD4B07-F9A1-C0DA-6940-15D1AFA63600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775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.potx" id="{D406F015-C4A6-497A-AC86-E6DDF7021F55}" vid="{ABC6D58B-546C-4A7B-8391-0BA4DD46A2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357</Words>
  <Application>Microsoft Office PowerPoint</Application>
  <PresentationFormat>Widescreen</PresentationFormat>
  <Paragraphs>89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Wingdings</vt:lpstr>
      <vt:lpstr>Office Theme</vt:lpstr>
      <vt:lpstr>think-cell Slide</vt:lpstr>
      <vt:lpstr>PowerPoint Presentation</vt:lpstr>
      <vt:lpstr>KDD_[WS]_00X </vt:lpstr>
      <vt:lpstr>KDD_[WS]_00X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Goethel, Moritz</dc:creator>
  <cp:lastModifiedBy>Goethel, Moritz</cp:lastModifiedBy>
  <cp:revision>1</cp:revision>
  <dcterms:created xsi:type="dcterms:W3CDTF">2026-09-28T18:20:36Z</dcterms:created>
  <dcterms:modified xsi:type="dcterms:W3CDTF">2026-09-28T18:21:47Z</dcterms:modified>
</cp:coreProperties>
</file>
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embeddings/oleObject2.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310" r:id="rId3"/>
    <p:sldId id="311"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showGuides="1">
      <p:cViewPr varScale="1">
        <p:scale>
          <a:sx n="89" d="100"/>
          <a:sy n="89" d="100"/>
        </p:scale>
        <p:origin x="168" y="57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4D756F-AEE0-4FCC-94CC-F2A2FE279A9C}" type="datetimeFigureOut">
              <a:rPr lang="de-DE" smtClean="0"/>
              <a:t>28.09.2026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1D2F69-D563-4D35-BD94-ADE744863CDE}" type="slidenum">
              <a:rPr lang="de-DE" smtClean="0"/>
              <a:t>‹#›</a:t>
            </a:fld>
            <a:endParaRPr lang="de-DE"/>
          </a:p>
        </p:txBody>
      </p:sp>
    </p:spTree>
    <p:extLst>
      <p:ext uri="{BB962C8B-B14F-4D97-AF65-F5344CB8AC3E}">
        <p14:creationId xmlns:p14="http://schemas.microsoft.com/office/powerpoint/2010/main" val="4149070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r>
              <a:t>KDD_FI_004 Airport-Billing – Langfassung und Quellen</a:t>
            </a:r>
          </a:p>
          <a:p>
            <a:r>
              <a:t>3-181 FI-BILL-01-01 Sky-Billing-Komplexität in Subscription Billing (High, WRICEF Interface/Enhancement): Fakturierung der Flughafenleistungen über die komplexe Lösung Sky Billing mit Abstellzeiten, Rollwegzeiten, Maintenance-Interaktionen und vielfältigen Preiskomponenten; Anforderung: Prozesse genau vermessen, dann Abbildung in SAP S/4HANA Subscription Billing gestalten; Akzeptanz: Prozesse vollständig aufgenommen, Abbildungskonzept liegt vor, wesentliche Preiskomponenten prototypisch fakturierbar.</a:t>
            </a:r>
          </a:p>
          <a:p>
            <a:r>
              <a:t>3-182 FI-BILL-01-03 Tägliche Stammdaten-Aktualisierung Billing (High, Interface): Stammdaten ändern sich täglich (z. B. Triebwerksänderungen aus Duma); Integration in die Billing-Prozesse, Integrationsweg im Projekt zu klären. In KDD_Analyse_Ergebnis als eigenständiger BTP-Punkt geführt; hier gebündelt, weil der Integrationsweg vom Zielsystem des Ratings abhängt.</a:t>
            </a:r>
          </a:p>
          <a:p>
            <a:r>
              <a:t>Nicht aus den Dokumenten ableitbar: Betreiber und technische Basis von Sky Billing (eigenständiges Produkt oder Eigenentwicklung im R/3), Rechnungsvolumen, Anzahl Airlines und Leistungsarten, Entgeltordnung und Preiskomponenten im Detail, Systemname des AODB. Diese Punkte sind Voraussetzung der Vermessung.</a:t>
            </a:r>
          </a:p>
          <a:p>
            <a:r>
              <a:t>Standardbezug: SAP Subscription Billing ist eine separat lizenzierte SAP-Cloud-Lösung (SAP BTP) für abonnement- und nutzungsbasierte Abrechnung; Integration in S/4HANA Cloud Public Edition über Scope Item 57Z (Subscription Management with Sales Billing; ID zu verifizieren). Convergent Invoicing (BRIM) steht in der Public Edition nicht zur Verfügung.</a:t>
            </a:r>
          </a:p>
          <a:p>
            <a:r>
              <a:t>Offene Punkte: Ergebnis der Vermessung; Lizenz Subscription Billing; Rollen Fachbereich; Fakturaformulare (Verkauf, SD-021 etc.); Umgang mit Rückrechnungen/Korrekturen; Parallellaufkonzept.</a:t>
            </a:r>
          </a:p>
        </p:txBody>
      </p:sp>
      <p:sp>
        <p:nvSpPr>
          <p:cNvPr id="4" name="Slide Number Placeholder 3"/>
          <p:cNvSpPr>
            <a:spLocks noGrp="1"/>
          </p:cNvSpPr>
          <p:nvPr>
            <p:ph type="sldNum" sz="quarter" idx="5"/>
          </p:nvPr>
        </p:nvSpPr>
        <p:spPr/>
        <p:txBody>
          <a:bodyPr/>
          <a:lstStyle/>
          <a:p>
            <a:fld id="{A7D27F94-F7BA-47BD-A073-1C69180C86B3}" type="slidenum">
              <a:rPr lang="de-DE" smtClean="0"/>
              <a:pPr/>
              <a:t>2</a:t>
            </a:fld>
            <a:endParaRPr lang="de-DE"/>
          </a:p>
        </p:txBody>
      </p:sp>
    </p:spTree>
    <p:extLst>
      <p:ext uri="{BB962C8B-B14F-4D97-AF65-F5344CB8AC3E}">
        <p14:creationId xmlns:p14="http://schemas.microsoft.com/office/powerpoint/2010/main" val="2935112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r>
              <a:t>Bewertungsdetails KDD_FI_004. Option 1 (empfohlen, unter Vorbehalt): SAP Subscription Billing als Rating-Engine; Vorsysteme (Duma/AODB) liefern täglich Nutzungsdatensätze (Landung, Abstellzeit, Rollweg, Pax, Maintenance) je Airline; Rate-Pläne bilden Preiskomponenten; Rechnungsvorschläge nach S/4HANA Cloud (Faktura, Debitorenposten, Erlöskonten, Umsatzsteuer). Clean Core und Upgrade-Fähigkeit hoch. Aufwand hoch (Vermessung, Modellierung, Parallellauf). Lizenz: Subscription Billing separat. Betrieb: Monitoring der Nutzungsdatenströme, Stammdatensynchronisation Kunden/Produkte.</a:t>
            </a:r>
          </a:p>
          <a:p>
            <a:r>
              <a:t>Option 2: Sky Billing bleibt, liefert Fakturapositionen je Kunde/Leistung an S/4HANA Cloud (SD-Faktura über API oder Debitorenrechnung über Journal-Entry-API); Duma bleibt an Sky Billing. Voraussetzung: eigenständige Lauffähigkeit nach R/3-Abschaltung. Aufwand gering bis mittel, Zeitrisiko gering, strategisch nur Übergang.</a:t>
            </a:r>
          </a:p>
          <a:p>
            <a:r>
              <a:t>Entscheidungslevel Programm: erlöskritisch, betrifft Aviation, Verkauf, Finance und IT-Architektur.</a:t>
            </a:r>
          </a:p>
        </p:txBody>
      </p:sp>
      <p:sp>
        <p:nvSpPr>
          <p:cNvPr id="4" name="Slide Number Placeholder 3"/>
          <p:cNvSpPr>
            <a:spLocks noGrp="1"/>
          </p:cNvSpPr>
          <p:nvPr>
            <p:ph type="sldNum" sz="quarter" idx="5"/>
          </p:nvPr>
        </p:nvSpPr>
        <p:spPr/>
        <p:txBody>
          <a:bodyPr/>
          <a:lstStyle/>
          <a:p>
            <a:fld id="{A7D27F94-F7BA-47BD-A073-1C69180C86B3}" type="slidenum">
              <a:rPr lang="de-DE" smtClean="0"/>
              <a:pPr/>
              <a:t>3</a:t>
            </a:fld>
            <a:endParaRPr lang="de-DE"/>
          </a:p>
        </p:txBody>
      </p:sp>
    </p:spTree>
    <p:extLst>
      <p:ext uri="{BB962C8B-B14F-4D97-AF65-F5344CB8AC3E}">
        <p14:creationId xmlns:p14="http://schemas.microsoft.com/office/powerpoint/2010/main" val="2838800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11C52-7FBE-CA5C-9D8A-9DC71D28A7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3F44096C-6005-1D98-1C99-6DE18AC69B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F722B05A-7B11-2CD0-52F3-2A607AAAE47C}"/>
              </a:ext>
            </a:extLst>
          </p:cNvPr>
          <p:cNvSpPr>
            <a:spLocks noGrp="1"/>
          </p:cNvSpPr>
          <p:nvPr>
            <p:ph type="dt" sz="half" idx="10"/>
          </p:nvPr>
        </p:nvSpPr>
        <p:spPr/>
        <p:txBody>
          <a:bodyPr/>
          <a:lstStyle/>
          <a:p>
            <a:fld id="{9053E870-7110-4F8F-A886-D181623AF643}" type="datetimeFigureOut">
              <a:rPr lang="de-DE" smtClean="0"/>
              <a:t>28.09.2026</a:t>
            </a:fld>
            <a:endParaRPr lang="de-DE"/>
          </a:p>
        </p:txBody>
      </p:sp>
      <p:sp>
        <p:nvSpPr>
          <p:cNvPr id="5" name="Footer Placeholder 4">
            <a:extLst>
              <a:ext uri="{FF2B5EF4-FFF2-40B4-BE49-F238E27FC236}">
                <a16:creationId xmlns:a16="http://schemas.microsoft.com/office/drawing/2014/main" id="{0797246A-3DDC-72C2-1CF5-242C9D4E31CA}"/>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D2E16D9F-62AA-3412-260E-73BEACD1DDDC}"/>
              </a:ext>
            </a:extLst>
          </p:cNvPr>
          <p:cNvSpPr>
            <a:spLocks noGrp="1"/>
          </p:cNvSpPr>
          <p:nvPr>
            <p:ph type="sldNum" sz="quarter" idx="12"/>
          </p:nvPr>
        </p:nvSpPr>
        <p:spPr/>
        <p:txBody>
          <a:bodyPr/>
          <a:lstStyle/>
          <a:p>
            <a:fld id="{BEBE964E-F132-479F-94BD-F84A15E55C33}" type="slidenum">
              <a:rPr lang="de-DE" smtClean="0"/>
              <a:t>‹#›</a:t>
            </a:fld>
            <a:endParaRPr lang="de-DE"/>
          </a:p>
        </p:txBody>
      </p:sp>
    </p:spTree>
    <p:extLst>
      <p:ext uri="{BB962C8B-B14F-4D97-AF65-F5344CB8AC3E}">
        <p14:creationId xmlns:p14="http://schemas.microsoft.com/office/powerpoint/2010/main" val="571045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37B95-58C1-0092-88AE-9F42026BA284}"/>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DAB54310-506C-058F-7D9A-F9DECD86F1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D3669856-300F-79AF-2653-C5E9CB6796FA}"/>
              </a:ext>
            </a:extLst>
          </p:cNvPr>
          <p:cNvSpPr>
            <a:spLocks noGrp="1"/>
          </p:cNvSpPr>
          <p:nvPr>
            <p:ph type="dt" sz="half" idx="10"/>
          </p:nvPr>
        </p:nvSpPr>
        <p:spPr/>
        <p:txBody>
          <a:bodyPr/>
          <a:lstStyle/>
          <a:p>
            <a:fld id="{9053E870-7110-4F8F-A886-D181623AF643}" type="datetimeFigureOut">
              <a:rPr lang="de-DE" smtClean="0"/>
              <a:t>28.09.2026</a:t>
            </a:fld>
            <a:endParaRPr lang="de-DE"/>
          </a:p>
        </p:txBody>
      </p:sp>
      <p:sp>
        <p:nvSpPr>
          <p:cNvPr id="5" name="Footer Placeholder 4">
            <a:extLst>
              <a:ext uri="{FF2B5EF4-FFF2-40B4-BE49-F238E27FC236}">
                <a16:creationId xmlns:a16="http://schemas.microsoft.com/office/drawing/2014/main" id="{81384023-AA65-D62E-104F-C87A18F7D728}"/>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E2ED32BE-9756-C9D1-C9E6-F25EFA2BDDC7}"/>
              </a:ext>
            </a:extLst>
          </p:cNvPr>
          <p:cNvSpPr>
            <a:spLocks noGrp="1"/>
          </p:cNvSpPr>
          <p:nvPr>
            <p:ph type="sldNum" sz="quarter" idx="12"/>
          </p:nvPr>
        </p:nvSpPr>
        <p:spPr/>
        <p:txBody>
          <a:bodyPr/>
          <a:lstStyle/>
          <a:p>
            <a:fld id="{BEBE964E-F132-479F-94BD-F84A15E55C33}" type="slidenum">
              <a:rPr lang="de-DE" smtClean="0"/>
              <a:t>‹#›</a:t>
            </a:fld>
            <a:endParaRPr lang="de-DE"/>
          </a:p>
        </p:txBody>
      </p:sp>
    </p:spTree>
    <p:extLst>
      <p:ext uri="{BB962C8B-B14F-4D97-AF65-F5344CB8AC3E}">
        <p14:creationId xmlns:p14="http://schemas.microsoft.com/office/powerpoint/2010/main" val="719778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3E114-150F-F569-7016-1D8CB4F131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11D6CDDC-ED61-C11E-2745-80C2CCD149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D4DC58-3A28-7FE9-2756-6A3DF82FE508}"/>
              </a:ext>
            </a:extLst>
          </p:cNvPr>
          <p:cNvSpPr>
            <a:spLocks noGrp="1"/>
          </p:cNvSpPr>
          <p:nvPr>
            <p:ph type="dt" sz="half" idx="10"/>
          </p:nvPr>
        </p:nvSpPr>
        <p:spPr/>
        <p:txBody>
          <a:bodyPr/>
          <a:lstStyle/>
          <a:p>
            <a:fld id="{9053E870-7110-4F8F-A886-D181623AF643}" type="datetimeFigureOut">
              <a:rPr lang="de-DE" smtClean="0"/>
              <a:t>28.09.2026</a:t>
            </a:fld>
            <a:endParaRPr lang="de-DE"/>
          </a:p>
        </p:txBody>
      </p:sp>
      <p:sp>
        <p:nvSpPr>
          <p:cNvPr id="5" name="Footer Placeholder 4">
            <a:extLst>
              <a:ext uri="{FF2B5EF4-FFF2-40B4-BE49-F238E27FC236}">
                <a16:creationId xmlns:a16="http://schemas.microsoft.com/office/drawing/2014/main" id="{01D1733D-DF76-C9FF-71BB-7BDCC0C85996}"/>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6419CC83-5822-95DB-1C09-64F295B3BC32}"/>
              </a:ext>
            </a:extLst>
          </p:cNvPr>
          <p:cNvSpPr>
            <a:spLocks noGrp="1"/>
          </p:cNvSpPr>
          <p:nvPr>
            <p:ph type="sldNum" sz="quarter" idx="12"/>
          </p:nvPr>
        </p:nvSpPr>
        <p:spPr/>
        <p:txBody>
          <a:bodyPr/>
          <a:lstStyle/>
          <a:p>
            <a:fld id="{BEBE964E-F132-479F-94BD-F84A15E55C33}" type="slidenum">
              <a:rPr lang="de-DE" smtClean="0"/>
              <a:t>‹#›</a:t>
            </a:fld>
            <a:endParaRPr lang="de-DE"/>
          </a:p>
        </p:txBody>
      </p:sp>
    </p:spTree>
    <p:extLst>
      <p:ext uri="{BB962C8B-B14F-4D97-AF65-F5344CB8AC3E}">
        <p14:creationId xmlns:p14="http://schemas.microsoft.com/office/powerpoint/2010/main" val="771738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D78E0-D5D0-E9E4-DC71-B928356B3CCF}"/>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45897518-E309-B75D-091B-0BF3DF38FC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2922C398-BBE4-83CC-C4F5-0186580DCA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D26806A8-DD5B-1B50-DEC8-F2F3F97896A3}"/>
              </a:ext>
            </a:extLst>
          </p:cNvPr>
          <p:cNvSpPr>
            <a:spLocks noGrp="1"/>
          </p:cNvSpPr>
          <p:nvPr>
            <p:ph type="dt" sz="half" idx="10"/>
          </p:nvPr>
        </p:nvSpPr>
        <p:spPr/>
        <p:txBody>
          <a:bodyPr/>
          <a:lstStyle/>
          <a:p>
            <a:fld id="{9053E870-7110-4F8F-A886-D181623AF643}" type="datetimeFigureOut">
              <a:rPr lang="de-DE" smtClean="0"/>
              <a:t>28.09.2026</a:t>
            </a:fld>
            <a:endParaRPr lang="de-DE"/>
          </a:p>
        </p:txBody>
      </p:sp>
      <p:sp>
        <p:nvSpPr>
          <p:cNvPr id="6" name="Footer Placeholder 5">
            <a:extLst>
              <a:ext uri="{FF2B5EF4-FFF2-40B4-BE49-F238E27FC236}">
                <a16:creationId xmlns:a16="http://schemas.microsoft.com/office/drawing/2014/main" id="{BB7C2D29-8F5D-1A78-BE31-CCF40F0C28D3}"/>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7171282E-6B40-EB6C-CCB8-D861F289A834}"/>
              </a:ext>
            </a:extLst>
          </p:cNvPr>
          <p:cNvSpPr>
            <a:spLocks noGrp="1"/>
          </p:cNvSpPr>
          <p:nvPr>
            <p:ph type="sldNum" sz="quarter" idx="12"/>
          </p:nvPr>
        </p:nvSpPr>
        <p:spPr/>
        <p:txBody>
          <a:bodyPr/>
          <a:lstStyle/>
          <a:p>
            <a:fld id="{BEBE964E-F132-479F-94BD-F84A15E55C33}" type="slidenum">
              <a:rPr lang="de-DE" smtClean="0"/>
              <a:t>‹#›</a:t>
            </a:fld>
            <a:endParaRPr lang="de-DE"/>
          </a:p>
        </p:txBody>
      </p:sp>
    </p:spTree>
    <p:extLst>
      <p:ext uri="{BB962C8B-B14F-4D97-AF65-F5344CB8AC3E}">
        <p14:creationId xmlns:p14="http://schemas.microsoft.com/office/powerpoint/2010/main" val="1862750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CB65E-0C50-27A4-EED6-11C76EFE85AB}"/>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CE5BCBB1-7021-54B3-D1A5-4742E8C927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F3C233-06A6-4B67-AA4C-4E6F92E2D9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A456103D-02C9-A368-06CF-65BE97ABBB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47DB28-B8F1-5DC2-BC84-4EE864A198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972C773B-5DE9-5B07-A78B-077A717C83BF}"/>
              </a:ext>
            </a:extLst>
          </p:cNvPr>
          <p:cNvSpPr>
            <a:spLocks noGrp="1"/>
          </p:cNvSpPr>
          <p:nvPr>
            <p:ph type="dt" sz="half" idx="10"/>
          </p:nvPr>
        </p:nvSpPr>
        <p:spPr/>
        <p:txBody>
          <a:bodyPr/>
          <a:lstStyle/>
          <a:p>
            <a:fld id="{9053E870-7110-4F8F-A886-D181623AF643}" type="datetimeFigureOut">
              <a:rPr lang="de-DE" smtClean="0"/>
              <a:t>28.09.2026</a:t>
            </a:fld>
            <a:endParaRPr lang="de-DE"/>
          </a:p>
        </p:txBody>
      </p:sp>
      <p:sp>
        <p:nvSpPr>
          <p:cNvPr id="8" name="Footer Placeholder 7">
            <a:extLst>
              <a:ext uri="{FF2B5EF4-FFF2-40B4-BE49-F238E27FC236}">
                <a16:creationId xmlns:a16="http://schemas.microsoft.com/office/drawing/2014/main" id="{8CC2AD15-6B20-174A-3FC4-0FCA2C69E35C}"/>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12AE5349-9910-7CE8-2565-3DC7411FB678}"/>
              </a:ext>
            </a:extLst>
          </p:cNvPr>
          <p:cNvSpPr>
            <a:spLocks noGrp="1"/>
          </p:cNvSpPr>
          <p:nvPr>
            <p:ph type="sldNum" sz="quarter" idx="12"/>
          </p:nvPr>
        </p:nvSpPr>
        <p:spPr/>
        <p:txBody>
          <a:bodyPr/>
          <a:lstStyle/>
          <a:p>
            <a:fld id="{BEBE964E-F132-479F-94BD-F84A15E55C33}" type="slidenum">
              <a:rPr lang="de-DE" smtClean="0"/>
              <a:t>‹#›</a:t>
            </a:fld>
            <a:endParaRPr lang="de-DE"/>
          </a:p>
        </p:txBody>
      </p:sp>
    </p:spTree>
    <p:extLst>
      <p:ext uri="{BB962C8B-B14F-4D97-AF65-F5344CB8AC3E}">
        <p14:creationId xmlns:p14="http://schemas.microsoft.com/office/powerpoint/2010/main" val="2164353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A513B-8634-9564-12B7-09A8AD9D7BEE}"/>
              </a:ext>
            </a:extLst>
          </p:cNvPr>
          <p:cNvSpPr>
            <a:spLocks noGrp="1"/>
          </p:cNvSpPr>
          <p:nvPr>
            <p:ph type="title"/>
          </p:nvPr>
        </p:nvSpPr>
        <p:spPr/>
        <p:txBody>
          <a:bodyPr/>
          <a:lstStyle/>
          <a:p>
            <a:r>
              <a:rPr lang="en-US"/>
              <a:t>Click to edit Master title style</a:t>
            </a:r>
            <a:endParaRPr lang="de-DE" dirty="0"/>
          </a:p>
        </p:txBody>
      </p:sp>
      <p:sp>
        <p:nvSpPr>
          <p:cNvPr id="3" name="Date Placeholder 2">
            <a:extLst>
              <a:ext uri="{FF2B5EF4-FFF2-40B4-BE49-F238E27FC236}">
                <a16:creationId xmlns:a16="http://schemas.microsoft.com/office/drawing/2014/main" id="{67C13F59-4CE7-9EB6-C064-9FD9585D12A9}"/>
              </a:ext>
            </a:extLst>
          </p:cNvPr>
          <p:cNvSpPr>
            <a:spLocks noGrp="1"/>
          </p:cNvSpPr>
          <p:nvPr>
            <p:ph type="dt" sz="half" idx="10"/>
          </p:nvPr>
        </p:nvSpPr>
        <p:spPr/>
        <p:txBody>
          <a:bodyPr/>
          <a:lstStyle/>
          <a:p>
            <a:fld id="{9053E870-7110-4F8F-A886-D181623AF643}" type="datetimeFigureOut">
              <a:rPr lang="de-DE" smtClean="0"/>
              <a:t>28.09.2026</a:t>
            </a:fld>
            <a:endParaRPr lang="de-DE"/>
          </a:p>
        </p:txBody>
      </p:sp>
      <p:sp>
        <p:nvSpPr>
          <p:cNvPr id="4" name="Footer Placeholder 3">
            <a:extLst>
              <a:ext uri="{FF2B5EF4-FFF2-40B4-BE49-F238E27FC236}">
                <a16:creationId xmlns:a16="http://schemas.microsoft.com/office/drawing/2014/main" id="{5EC9FE2A-1C88-E7EE-16B4-EF7CF3CBF83E}"/>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A54FFAF4-9A79-BE25-D271-EDEA7C695977}"/>
              </a:ext>
            </a:extLst>
          </p:cNvPr>
          <p:cNvSpPr>
            <a:spLocks noGrp="1"/>
          </p:cNvSpPr>
          <p:nvPr>
            <p:ph type="sldNum" sz="quarter" idx="12"/>
          </p:nvPr>
        </p:nvSpPr>
        <p:spPr/>
        <p:txBody>
          <a:bodyPr/>
          <a:lstStyle/>
          <a:p>
            <a:fld id="{BEBE964E-F132-479F-94BD-F84A15E55C33}" type="slidenum">
              <a:rPr lang="de-DE" smtClean="0"/>
              <a:t>‹#›</a:t>
            </a:fld>
            <a:endParaRPr lang="de-DE"/>
          </a:p>
        </p:txBody>
      </p:sp>
    </p:spTree>
    <p:extLst>
      <p:ext uri="{BB962C8B-B14F-4D97-AF65-F5344CB8AC3E}">
        <p14:creationId xmlns:p14="http://schemas.microsoft.com/office/powerpoint/2010/main" val="2343796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3A8D56-6209-A554-F243-0294FA2DF328}"/>
              </a:ext>
            </a:extLst>
          </p:cNvPr>
          <p:cNvSpPr>
            <a:spLocks noGrp="1"/>
          </p:cNvSpPr>
          <p:nvPr>
            <p:ph type="dt" sz="half" idx="10"/>
          </p:nvPr>
        </p:nvSpPr>
        <p:spPr/>
        <p:txBody>
          <a:bodyPr/>
          <a:lstStyle/>
          <a:p>
            <a:fld id="{9053E870-7110-4F8F-A886-D181623AF643}" type="datetimeFigureOut">
              <a:rPr lang="de-DE" smtClean="0"/>
              <a:t>28.09.2026</a:t>
            </a:fld>
            <a:endParaRPr lang="de-DE"/>
          </a:p>
        </p:txBody>
      </p:sp>
      <p:sp>
        <p:nvSpPr>
          <p:cNvPr id="3" name="Footer Placeholder 2">
            <a:extLst>
              <a:ext uri="{FF2B5EF4-FFF2-40B4-BE49-F238E27FC236}">
                <a16:creationId xmlns:a16="http://schemas.microsoft.com/office/drawing/2014/main" id="{C97DC15C-F87A-FDBF-9327-4ACCBE808D8D}"/>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A3022F02-D792-9181-0537-33CD9435811D}"/>
              </a:ext>
            </a:extLst>
          </p:cNvPr>
          <p:cNvSpPr>
            <a:spLocks noGrp="1"/>
          </p:cNvSpPr>
          <p:nvPr>
            <p:ph type="sldNum" sz="quarter" idx="12"/>
          </p:nvPr>
        </p:nvSpPr>
        <p:spPr/>
        <p:txBody>
          <a:bodyPr/>
          <a:lstStyle/>
          <a:p>
            <a:fld id="{BEBE964E-F132-479F-94BD-F84A15E55C33}" type="slidenum">
              <a:rPr lang="de-DE" smtClean="0"/>
              <a:t>‹#›</a:t>
            </a:fld>
            <a:endParaRPr lang="de-DE"/>
          </a:p>
        </p:txBody>
      </p:sp>
    </p:spTree>
    <p:extLst>
      <p:ext uri="{BB962C8B-B14F-4D97-AF65-F5344CB8AC3E}">
        <p14:creationId xmlns:p14="http://schemas.microsoft.com/office/powerpoint/2010/main" val="2530830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CAE7E-EAAD-0121-203B-8F9E4341D8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506BEF0A-7FE8-DC73-81F4-AF8F7A232C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ED6B88EE-B04A-5B46-5C45-966B98B4B4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D421E3-C46A-59BD-56FF-31C344086BA1}"/>
              </a:ext>
            </a:extLst>
          </p:cNvPr>
          <p:cNvSpPr>
            <a:spLocks noGrp="1"/>
          </p:cNvSpPr>
          <p:nvPr>
            <p:ph type="dt" sz="half" idx="10"/>
          </p:nvPr>
        </p:nvSpPr>
        <p:spPr/>
        <p:txBody>
          <a:bodyPr/>
          <a:lstStyle/>
          <a:p>
            <a:fld id="{9053E870-7110-4F8F-A886-D181623AF643}" type="datetimeFigureOut">
              <a:rPr lang="de-DE" smtClean="0"/>
              <a:t>28.09.2026</a:t>
            </a:fld>
            <a:endParaRPr lang="de-DE"/>
          </a:p>
        </p:txBody>
      </p:sp>
      <p:sp>
        <p:nvSpPr>
          <p:cNvPr id="6" name="Footer Placeholder 5">
            <a:extLst>
              <a:ext uri="{FF2B5EF4-FFF2-40B4-BE49-F238E27FC236}">
                <a16:creationId xmlns:a16="http://schemas.microsoft.com/office/drawing/2014/main" id="{FE2D653B-88C9-460A-F38B-CE0B29004C32}"/>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9D49F927-7B94-B81B-F4F0-72183D68EBE4}"/>
              </a:ext>
            </a:extLst>
          </p:cNvPr>
          <p:cNvSpPr>
            <a:spLocks noGrp="1"/>
          </p:cNvSpPr>
          <p:nvPr>
            <p:ph type="sldNum" sz="quarter" idx="12"/>
          </p:nvPr>
        </p:nvSpPr>
        <p:spPr/>
        <p:txBody>
          <a:bodyPr/>
          <a:lstStyle/>
          <a:p>
            <a:fld id="{BEBE964E-F132-479F-94BD-F84A15E55C33}" type="slidenum">
              <a:rPr lang="de-DE" smtClean="0"/>
              <a:t>‹#›</a:t>
            </a:fld>
            <a:endParaRPr lang="de-DE"/>
          </a:p>
        </p:txBody>
      </p:sp>
    </p:spTree>
    <p:extLst>
      <p:ext uri="{BB962C8B-B14F-4D97-AF65-F5344CB8AC3E}">
        <p14:creationId xmlns:p14="http://schemas.microsoft.com/office/powerpoint/2010/main" val="2137899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3B7F5-7D20-EAF9-C287-CA5F59F710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dirty="0"/>
          </a:p>
        </p:txBody>
      </p:sp>
      <p:sp>
        <p:nvSpPr>
          <p:cNvPr id="3" name="Picture Placeholder 2">
            <a:extLst>
              <a:ext uri="{FF2B5EF4-FFF2-40B4-BE49-F238E27FC236}">
                <a16:creationId xmlns:a16="http://schemas.microsoft.com/office/drawing/2014/main" id="{31F99566-7401-929A-6B63-8B95266017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de-DE"/>
          </a:p>
        </p:txBody>
      </p:sp>
      <p:sp>
        <p:nvSpPr>
          <p:cNvPr id="4" name="Text Placeholder 3">
            <a:extLst>
              <a:ext uri="{FF2B5EF4-FFF2-40B4-BE49-F238E27FC236}">
                <a16:creationId xmlns:a16="http://schemas.microsoft.com/office/drawing/2014/main" id="{7D6205D3-534C-6459-BDAD-9D1ACE538F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C29E50-23F8-9C27-D504-F884B61E0D49}"/>
              </a:ext>
            </a:extLst>
          </p:cNvPr>
          <p:cNvSpPr>
            <a:spLocks noGrp="1"/>
          </p:cNvSpPr>
          <p:nvPr>
            <p:ph type="dt" sz="half" idx="10"/>
          </p:nvPr>
        </p:nvSpPr>
        <p:spPr/>
        <p:txBody>
          <a:bodyPr/>
          <a:lstStyle/>
          <a:p>
            <a:fld id="{9053E870-7110-4F8F-A886-D181623AF643}" type="datetimeFigureOut">
              <a:rPr lang="de-DE" smtClean="0"/>
              <a:t>28.09.2026</a:t>
            </a:fld>
            <a:endParaRPr lang="de-DE"/>
          </a:p>
        </p:txBody>
      </p:sp>
      <p:sp>
        <p:nvSpPr>
          <p:cNvPr id="6" name="Footer Placeholder 5">
            <a:extLst>
              <a:ext uri="{FF2B5EF4-FFF2-40B4-BE49-F238E27FC236}">
                <a16:creationId xmlns:a16="http://schemas.microsoft.com/office/drawing/2014/main" id="{589EF6B9-F595-2405-333D-2372B03177AA}"/>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A6635F31-31B2-E176-C06A-CE2C932E44EB}"/>
              </a:ext>
            </a:extLst>
          </p:cNvPr>
          <p:cNvSpPr>
            <a:spLocks noGrp="1"/>
          </p:cNvSpPr>
          <p:nvPr>
            <p:ph type="sldNum" sz="quarter" idx="12"/>
          </p:nvPr>
        </p:nvSpPr>
        <p:spPr/>
        <p:txBody>
          <a:bodyPr/>
          <a:lstStyle/>
          <a:p>
            <a:fld id="{BEBE964E-F132-479F-94BD-F84A15E55C33}" type="slidenum">
              <a:rPr lang="de-DE" smtClean="0"/>
              <a:t>‹#›</a:t>
            </a:fld>
            <a:endParaRPr lang="de-DE"/>
          </a:p>
        </p:txBody>
      </p:sp>
    </p:spTree>
    <p:extLst>
      <p:ext uri="{BB962C8B-B14F-4D97-AF65-F5344CB8AC3E}">
        <p14:creationId xmlns:p14="http://schemas.microsoft.com/office/powerpoint/2010/main" val="3618675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E4F58-2457-8765-C1E4-335224053619}"/>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CFD52E72-8DAD-F53A-15AA-F74D9FFFF4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Date Placeholder 3">
            <a:extLst>
              <a:ext uri="{FF2B5EF4-FFF2-40B4-BE49-F238E27FC236}">
                <a16:creationId xmlns:a16="http://schemas.microsoft.com/office/drawing/2014/main" id="{9C39C530-BA88-CDAD-6921-EF37688CE208}"/>
              </a:ext>
            </a:extLst>
          </p:cNvPr>
          <p:cNvSpPr>
            <a:spLocks noGrp="1"/>
          </p:cNvSpPr>
          <p:nvPr>
            <p:ph type="dt" sz="half" idx="10"/>
          </p:nvPr>
        </p:nvSpPr>
        <p:spPr/>
        <p:txBody>
          <a:bodyPr/>
          <a:lstStyle/>
          <a:p>
            <a:fld id="{9053E870-7110-4F8F-A886-D181623AF643}" type="datetimeFigureOut">
              <a:rPr lang="de-DE" smtClean="0"/>
              <a:t>28.09.2026</a:t>
            </a:fld>
            <a:endParaRPr lang="de-DE"/>
          </a:p>
        </p:txBody>
      </p:sp>
      <p:sp>
        <p:nvSpPr>
          <p:cNvPr id="5" name="Footer Placeholder 4">
            <a:extLst>
              <a:ext uri="{FF2B5EF4-FFF2-40B4-BE49-F238E27FC236}">
                <a16:creationId xmlns:a16="http://schemas.microsoft.com/office/drawing/2014/main" id="{4257FB8E-597E-32F0-B099-C7CCB7AF506A}"/>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113915BC-4E6F-4A8B-A07F-BC2C09EEEB39}"/>
              </a:ext>
            </a:extLst>
          </p:cNvPr>
          <p:cNvSpPr>
            <a:spLocks noGrp="1"/>
          </p:cNvSpPr>
          <p:nvPr>
            <p:ph type="sldNum" sz="quarter" idx="12"/>
          </p:nvPr>
        </p:nvSpPr>
        <p:spPr/>
        <p:txBody>
          <a:bodyPr/>
          <a:lstStyle/>
          <a:p>
            <a:fld id="{BEBE964E-F132-479F-94BD-F84A15E55C33}" type="slidenum">
              <a:rPr lang="de-DE" smtClean="0"/>
              <a:t>‹#›</a:t>
            </a:fld>
            <a:endParaRPr lang="de-DE"/>
          </a:p>
        </p:txBody>
      </p:sp>
    </p:spTree>
    <p:extLst>
      <p:ext uri="{BB962C8B-B14F-4D97-AF65-F5344CB8AC3E}">
        <p14:creationId xmlns:p14="http://schemas.microsoft.com/office/powerpoint/2010/main" val="795255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624FFF-BFB9-6AE1-4227-8494BB3089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C1BB09BC-BD16-75FE-57B7-67F3B663EC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E796FAE6-0507-F26A-30A0-786BD078A291}"/>
              </a:ext>
            </a:extLst>
          </p:cNvPr>
          <p:cNvSpPr>
            <a:spLocks noGrp="1"/>
          </p:cNvSpPr>
          <p:nvPr>
            <p:ph type="dt" sz="half" idx="10"/>
          </p:nvPr>
        </p:nvSpPr>
        <p:spPr/>
        <p:txBody>
          <a:bodyPr/>
          <a:lstStyle/>
          <a:p>
            <a:fld id="{9053E870-7110-4F8F-A886-D181623AF643}" type="datetimeFigureOut">
              <a:rPr lang="de-DE" smtClean="0"/>
              <a:t>28.09.2026</a:t>
            </a:fld>
            <a:endParaRPr lang="de-DE"/>
          </a:p>
        </p:txBody>
      </p:sp>
      <p:sp>
        <p:nvSpPr>
          <p:cNvPr id="5" name="Footer Placeholder 4">
            <a:extLst>
              <a:ext uri="{FF2B5EF4-FFF2-40B4-BE49-F238E27FC236}">
                <a16:creationId xmlns:a16="http://schemas.microsoft.com/office/drawing/2014/main" id="{D9C642B1-A2E8-C5F2-4EC2-21D53172D152}"/>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701DE23B-47D6-3F4B-8758-898026EBF867}"/>
              </a:ext>
            </a:extLst>
          </p:cNvPr>
          <p:cNvSpPr>
            <a:spLocks noGrp="1"/>
          </p:cNvSpPr>
          <p:nvPr>
            <p:ph type="sldNum" sz="quarter" idx="12"/>
          </p:nvPr>
        </p:nvSpPr>
        <p:spPr/>
        <p:txBody>
          <a:bodyPr/>
          <a:lstStyle/>
          <a:p>
            <a:fld id="{BEBE964E-F132-479F-94BD-F84A15E55C33}" type="slidenum">
              <a:rPr lang="de-DE" smtClean="0"/>
              <a:t>‹#›</a:t>
            </a:fld>
            <a:endParaRPr lang="de-DE"/>
          </a:p>
        </p:txBody>
      </p:sp>
    </p:spTree>
    <p:extLst>
      <p:ext uri="{BB962C8B-B14F-4D97-AF65-F5344CB8AC3E}">
        <p14:creationId xmlns:p14="http://schemas.microsoft.com/office/powerpoint/2010/main" val="2935929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el +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F68CC7-DDFA-0E93-A378-CF69B12C1831}"/>
              </a:ext>
            </a:extLst>
          </p:cNvPr>
          <p:cNvSpPr>
            <a:spLocks noGrp="1"/>
          </p:cNvSpPr>
          <p:nvPr>
            <p:ph type="title" hasCustomPrompt="1"/>
          </p:nvPr>
        </p:nvSpPr>
        <p:spPr/>
        <p:txBody>
          <a:bodyPr/>
          <a:lstStyle>
            <a:lvl1pPr>
              <a:defRPr/>
            </a:lvl1pPr>
          </a:lstStyle>
          <a:p>
            <a:r>
              <a:rPr lang="de-DE" dirty="0"/>
              <a:t>Headline</a:t>
            </a:r>
          </a:p>
        </p:txBody>
      </p:sp>
      <p:sp>
        <p:nvSpPr>
          <p:cNvPr id="3" name="Inhaltsplatzhalter 2">
            <a:extLst>
              <a:ext uri="{FF2B5EF4-FFF2-40B4-BE49-F238E27FC236}">
                <a16:creationId xmlns:a16="http://schemas.microsoft.com/office/drawing/2014/main" id="{E6D49BFA-C956-82ED-16F4-BB75FE81822B}"/>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E781AFB-FD54-1295-2013-E5DF82B1F71E}"/>
              </a:ext>
            </a:extLst>
          </p:cNvPr>
          <p:cNvSpPr>
            <a:spLocks noGrp="1"/>
          </p:cNvSpPr>
          <p:nvPr>
            <p:ph type="dt" sz="half" idx="10"/>
          </p:nvPr>
        </p:nvSpPr>
        <p:spPr/>
        <p:txBody>
          <a:bodyPr/>
          <a:lstStyle/>
          <a:p>
            <a:fld id="{615B86B8-C5EB-4D1C-8576-41565F759DA0}" type="datetime1">
              <a:rPr lang="de-DE" smtClean="0"/>
              <a:t>28.09.2026</a:t>
            </a:fld>
            <a:endParaRPr lang="de-DE"/>
          </a:p>
        </p:txBody>
      </p:sp>
      <p:sp>
        <p:nvSpPr>
          <p:cNvPr id="5" name="Fußzeilenplatzhalter 4">
            <a:extLst>
              <a:ext uri="{FF2B5EF4-FFF2-40B4-BE49-F238E27FC236}">
                <a16:creationId xmlns:a16="http://schemas.microsoft.com/office/drawing/2014/main" id="{C2D15462-695C-B690-2B8E-757D88436B55}"/>
              </a:ext>
            </a:extLst>
          </p:cNvPr>
          <p:cNvSpPr>
            <a:spLocks noGrp="1"/>
          </p:cNvSpPr>
          <p:nvPr>
            <p:ph type="ftr" sz="quarter" idx="11"/>
          </p:nvPr>
        </p:nvSpPr>
        <p:spPr/>
        <p:txBody>
          <a:bodyPr/>
          <a:lstStyle/>
          <a:p>
            <a:r>
              <a:rPr lang="de-DE"/>
              <a:t>Präsentationstitel  |</a:t>
            </a:r>
          </a:p>
        </p:txBody>
      </p:sp>
      <p:sp>
        <p:nvSpPr>
          <p:cNvPr id="6" name="Foliennummernplatzhalter 5">
            <a:extLst>
              <a:ext uri="{FF2B5EF4-FFF2-40B4-BE49-F238E27FC236}">
                <a16:creationId xmlns:a16="http://schemas.microsoft.com/office/drawing/2014/main" id="{3FE58975-2BEF-27A2-8717-812027CAF04D}"/>
              </a:ext>
            </a:extLst>
          </p:cNvPr>
          <p:cNvSpPr>
            <a:spLocks noGrp="1"/>
          </p:cNvSpPr>
          <p:nvPr>
            <p:ph type="sldNum" sz="quarter" idx="12"/>
          </p:nvPr>
        </p:nvSpPr>
        <p:spPr/>
        <p:txBody>
          <a:bodyPr/>
          <a:lstStyle/>
          <a:p>
            <a:fld id="{2CD2E227-8C9F-455E-A65F-728E63FC57B1}" type="slidenum">
              <a:rPr lang="de-DE" smtClean="0"/>
              <a:t>‹#›</a:t>
            </a:fld>
            <a:endParaRPr lang="de-DE"/>
          </a:p>
        </p:txBody>
      </p:sp>
      <p:sp>
        <p:nvSpPr>
          <p:cNvPr id="9" name="Textplatzhalter 8">
            <a:extLst>
              <a:ext uri="{FF2B5EF4-FFF2-40B4-BE49-F238E27FC236}">
                <a16:creationId xmlns:a16="http://schemas.microsoft.com/office/drawing/2014/main" id="{E14DAFB8-7299-9D70-1273-8B7C695FB76F}"/>
              </a:ext>
            </a:extLst>
          </p:cNvPr>
          <p:cNvSpPr>
            <a:spLocks noGrp="1"/>
          </p:cNvSpPr>
          <p:nvPr>
            <p:ph type="body" sz="quarter" idx="13" hasCustomPrompt="1"/>
          </p:nvPr>
        </p:nvSpPr>
        <p:spPr>
          <a:xfrm>
            <a:off x="515938" y="824055"/>
            <a:ext cx="11160125" cy="392604"/>
          </a:xfrm>
        </p:spPr>
        <p:txBody>
          <a:bodyPr/>
          <a:lstStyle>
            <a:lvl1pPr marL="0" indent="0">
              <a:lnSpc>
                <a:spcPts val="2500"/>
              </a:lnSpc>
              <a:spcAft>
                <a:spcPts val="0"/>
              </a:spcAft>
              <a:buNone/>
              <a:defRPr sz="2000"/>
            </a:lvl1pPr>
            <a:lvl2pPr marL="198000" indent="0">
              <a:buNone/>
              <a:defRPr/>
            </a:lvl2pPr>
            <a:lvl3pPr marL="396000" indent="0">
              <a:buNone/>
              <a:defRPr/>
            </a:lvl3pPr>
            <a:lvl4pPr marL="594000" indent="0">
              <a:buNone/>
              <a:defRPr/>
            </a:lvl4pPr>
            <a:lvl5pPr marL="792000" indent="0">
              <a:buNone/>
              <a:defRPr/>
            </a:lvl5pPr>
          </a:lstStyle>
          <a:p>
            <a:pPr lvl="0"/>
            <a:r>
              <a:rPr lang="de-DE" dirty="0" err="1"/>
              <a:t>Subline</a:t>
            </a:r>
            <a:endParaRPr lang="de-DE" dirty="0"/>
          </a:p>
        </p:txBody>
      </p:sp>
    </p:spTree>
    <p:extLst>
      <p:ext uri="{BB962C8B-B14F-4D97-AF65-F5344CB8AC3E}">
        <p14:creationId xmlns:p14="http://schemas.microsoft.com/office/powerpoint/2010/main" val="6607428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C9192B-2FB6-136B-9D45-F0A2814AD5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dirty="0"/>
          </a:p>
        </p:txBody>
      </p:sp>
      <p:sp>
        <p:nvSpPr>
          <p:cNvPr id="3" name="Text Placeholder 2">
            <a:extLst>
              <a:ext uri="{FF2B5EF4-FFF2-40B4-BE49-F238E27FC236}">
                <a16:creationId xmlns:a16="http://schemas.microsoft.com/office/drawing/2014/main" id="{571D4C63-0A94-DB12-78A5-BD1FF2E5F3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Date Placeholder 3">
            <a:extLst>
              <a:ext uri="{FF2B5EF4-FFF2-40B4-BE49-F238E27FC236}">
                <a16:creationId xmlns:a16="http://schemas.microsoft.com/office/drawing/2014/main" id="{2B636285-B3A7-52CB-0CD8-AE7A8CE6C4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53E870-7110-4F8F-A886-D181623AF643}" type="datetimeFigureOut">
              <a:rPr lang="de-DE" smtClean="0"/>
              <a:t>28.09.2026</a:t>
            </a:fld>
            <a:endParaRPr lang="de-DE"/>
          </a:p>
        </p:txBody>
      </p:sp>
      <p:sp>
        <p:nvSpPr>
          <p:cNvPr id="5" name="Footer Placeholder 4">
            <a:extLst>
              <a:ext uri="{FF2B5EF4-FFF2-40B4-BE49-F238E27FC236}">
                <a16:creationId xmlns:a16="http://schemas.microsoft.com/office/drawing/2014/main" id="{F11A2C37-C622-A1A9-DAD2-7D1AC49850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Slide Number Placeholder 5">
            <a:extLst>
              <a:ext uri="{FF2B5EF4-FFF2-40B4-BE49-F238E27FC236}">
                <a16:creationId xmlns:a16="http://schemas.microsoft.com/office/drawing/2014/main" id="{B6B32922-5E28-DA6A-72E5-63B795466B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BE964E-F132-479F-94BD-F84A15E55C33}" type="slidenum">
              <a:rPr lang="de-DE" smtClean="0"/>
              <a:t>‹#›</a:t>
            </a:fld>
            <a:endParaRPr lang="de-DE"/>
          </a:p>
        </p:txBody>
      </p:sp>
    </p:spTree>
    <p:extLst>
      <p:ext uri="{BB962C8B-B14F-4D97-AF65-F5344CB8AC3E}">
        <p14:creationId xmlns:p14="http://schemas.microsoft.com/office/powerpoint/2010/main" val="2684128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12.xml"/><Relationship Id="rId3" Type="http://schemas.openxmlformats.org/officeDocument/2006/relationships/notesSlide" Target="../notesSlides/notesSlide1.xml"/><Relationship Id="rId4" Type="http://schemas.openxmlformats.org/officeDocument/2006/relationships/oleObject" Target="../embeddings/oleObject1.bin"/><Relationship Id="rId5" Type="http://schemas.openxmlformats.org/officeDocument/2006/relationships/image" Target="../media/image1.emf"/></Relationships>
</file>

<file path=ppt/slides/_rels/slide3.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2.xml"/><Relationship Id="rId3" Type="http://schemas.openxmlformats.org/officeDocument/2006/relationships/notesSlide" Target="../notesSlides/notesSlide2.xml"/><Relationship Id="rId4" Type="http://schemas.openxmlformats.org/officeDocument/2006/relationships/oleObject" Target="../embeddings/oleObject2.bin"/><Relationship Id="rId5"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8A581-A593-DEDB-28C7-5C141CAF6E2C}"/>
              </a:ext>
            </a:extLst>
          </p:cNvPr>
          <p:cNvSpPr>
            <a:spLocks noGrp="1"/>
          </p:cNvSpPr>
          <p:nvPr>
            <p:ph type="ctrTitle"/>
          </p:nvPr>
        </p:nvSpPr>
        <p:spPr/>
        <p:txBody>
          <a:bodyPr/>
          <a:lstStyle/>
          <a:p>
            <a:endParaRPr lang="de-DE"/>
          </a:p>
        </p:txBody>
      </p:sp>
      <p:sp>
        <p:nvSpPr>
          <p:cNvPr id="3" name="Subtitle 2">
            <a:extLst>
              <a:ext uri="{FF2B5EF4-FFF2-40B4-BE49-F238E27FC236}">
                <a16:creationId xmlns:a16="http://schemas.microsoft.com/office/drawing/2014/main" id="{44A6DD60-50CF-94FE-15B8-20580E1911B8}"/>
              </a:ext>
            </a:extLst>
          </p:cNvPr>
          <p:cNvSpPr>
            <a:spLocks noGrp="1"/>
          </p:cNvSpPr>
          <p:nvPr>
            <p:ph type="subTitle" idx="1"/>
          </p:nvPr>
        </p:nvSpPr>
        <p:spPr/>
        <p:txBody>
          <a:bodyPr/>
          <a:lstStyle/>
          <a:p>
            <a:endParaRPr lang="de-DE"/>
          </a:p>
        </p:txBody>
      </p:sp>
    </p:spTree>
    <p:extLst>
      <p:ext uri="{BB962C8B-B14F-4D97-AF65-F5344CB8AC3E}">
        <p14:creationId xmlns:p14="http://schemas.microsoft.com/office/powerpoint/2010/main" val="136942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5335CC9-8519-ABE5-718C-2CAA3DF1D851}"/>
              </a:ext>
            </a:extLst>
          </p:cNvPr>
          <p:cNvGraphicFramePr>
            <a:graphicFrameLocks/>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84" imgH="484" progId="TCLayout.ActiveDocument.1">
                  <p:embed/>
                </p:oleObj>
              </mc:Choice>
              <mc:Fallback>
                <p:oleObj name="think-cell Slide" r:id="rId4" imgW="484" imgH="484" progId="TCLayout.ActiveDocument.1">
                  <p:embed/>
                  <p:pic>
                    <p:nvPicPr>
                      <p:cNvPr id="7" name="think-cell data - do not delete" hidden="1">
                        <a:extLst>
                          <a:ext uri="{FF2B5EF4-FFF2-40B4-BE49-F238E27FC236}">
                            <a16:creationId xmlns:a16="http://schemas.microsoft.com/office/drawing/2014/main" id="{25335CC9-8519-ABE5-718C-2CAA3DF1D851}"/>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grpSp>
        <p:nvGrpSpPr>
          <p:cNvPr id="15" name="Group 14">
            <a:extLst>
              <a:ext uri="{FF2B5EF4-FFF2-40B4-BE49-F238E27FC236}">
                <a16:creationId xmlns:a16="http://schemas.microsoft.com/office/drawing/2014/main" id="{A22A7051-C82A-8347-2070-9F6608D5BCC6}"/>
              </a:ext>
            </a:extLst>
          </p:cNvPr>
          <p:cNvGrpSpPr/>
          <p:nvPr/>
        </p:nvGrpSpPr>
        <p:grpSpPr>
          <a:xfrm>
            <a:off x="2887489" y="1235014"/>
            <a:ext cx="2761772" cy="594684"/>
            <a:chOff x="2887205" y="1235014"/>
            <a:chExt cx="2244156" cy="594684"/>
          </a:xfrm>
        </p:grpSpPr>
        <p:sp>
          <p:nvSpPr>
            <p:cNvPr id="8" name="Rechteck 5">
              <a:extLst>
                <a:ext uri="{FF2B5EF4-FFF2-40B4-BE49-F238E27FC236}">
                  <a16:creationId xmlns:a16="http://schemas.microsoft.com/office/drawing/2014/main" id="{0C4E0D73-7A7D-F51E-9020-27B7F17C7F6D}"/>
                </a:ext>
              </a:extLst>
            </p:cNvPr>
            <p:cNvSpPr>
              <a:spLocks/>
            </p:cNvSpPr>
            <p:nvPr/>
          </p:nvSpPr>
          <p:spPr>
            <a:xfrm>
              <a:off x="2887205" y="1361907"/>
              <a:ext cx="2244156" cy="467791"/>
            </a:xfrm>
            <a:prstGeom prst="rect">
              <a:avLst/>
            </a:prstGeom>
            <a:noFill/>
            <a:ln w="952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8000" tIns="256000" rIns="128000" bIns="64000" rtlCol="0" anchor="ctr" anchorCtr="0"/>
            <a:lstStyle/>
            <a:p>
              <a:pPr defTabSz="1624829">
                <a:lnSpc>
                  <a:spcPct val="90000"/>
                </a:lnSpc>
                <a:spcBef>
                  <a:spcPts val="533"/>
                </a:spcBef>
                <a:buClr>
                  <a:srgbClr val="FF6600"/>
                </a:buClr>
                <a:buSzPct val="100000"/>
                <a:defRPr/>
              </a:pPr>
              <a:r>
                <a:rPr lang="de-DE" sz="1050" dirty="0">
                  <a:solidFill>
                    <a:prstClr val="black"/>
                  </a:solidFill>
                  <a:latin typeface="Aptos"/>
                  <a:cs typeface="Arial"/>
                </a:rPr>
                <a:t>Finance, Verkauf (SD), Aviation</a:t>
              </a:r>
            </a:p>
          </p:txBody>
        </p:sp>
        <p:sp>
          <p:nvSpPr>
            <p:cNvPr id="9" name="Rechteck 4">
              <a:extLst>
                <a:ext uri="{FF2B5EF4-FFF2-40B4-BE49-F238E27FC236}">
                  <a16:creationId xmlns:a16="http://schemas.microsoft.com/office/drawing/2014/main" id="{F90AF579-E54A-06B3-78C4-3766BE2CB782}"/>
                </a:ext>
              </a:extLst>
            </p:cNvPr>
            <p:cNvSpPr>
              <a:spLocks/>
            </p:cNvSpPr>
            <p:nvPr/>
          </p:nvSpPr>
          <p:spPr>
            <a:xfrm>
              <a:off x="2977883" y="1235014"/>
              <a:ext cx="2062800" cy="247016"/>
            </a:xfrm>
            <a:prstGeom prst="rect">
              <a:avLst/>
            </a:prstGeom>
            <a:solidFill>
              <a:srgbClr val="065185"/>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defTabSz="1624829">
                <a:lnSpc>
                  <a:spcPct val="90000"/>
                </a:lnSpc>
                <a:spcBef>
                  <a:spcPts val="1067"/>
                </a:spcBef>
                <a:defRPr/>
              </a:pPr>
              <a:r>
                <a:rPr lang="de-DE" sz="1300" b="1" noProof="0" dirty="0">
                  <a:solidFill>
                    <a:prstClr val="white"/>
                  </a:solidFill>
                  <a:latin typeface="Aptos"/>
                </a:rPr>
                <a:t>Workstream</a:t>
              </a:r>
            </a:p>
          </p:txBody>
        </p:sp>
      </p:grpSp>
      <p:grpSp>
        <p:nvGrpSpPr>
          <p:cNvPr id="13" name="Group 12">
            <a:extLst>
              <a:ext uri="{FF2B5EF4-FFF2-40B4-BE49-F238E27FC236}">
                <a16:creationId xmlns:a16="http://schemas.microsoft.com/office/drawing/2014/main" id="{E052F971-A493-5255-0BA0-5C2F6AC88871}"/>
              </a:ext>
            </a:extLst>
          </p:cNvPr>
          <p:cNvGrpSpPr>
            <a:grpSpLocks/>
          </p:cNvGrpSpPr>
          <p:nvPr/>
        </p:nvGrpSpPr>
        <p:grpSpPr>
          <a:xfrm>
            <a:off x="5706871" y="1235014"/>
            <a:ext cx="2268063" cy="594684"/>
            <a:chOff x="5644894" y="1235014"/>
            <a:chExt cx="2268063" cy="594684"/>
          </a:xfrm>
        </p:grpSpPr>
        <p:sp>
          <p:nvSpPr>
            <p:cNvPr id="11" name="Rechteck 5">
              <a:extLst>
                <a:ext uri="{FF2B5EF4-FFF2-40B4-BE49-F238E27FC236}">
                  <a16:creationId xmlns:a16="http://schemas.microsoft.com/office/drawing/2014/main" id="{8E9705B5-7FC0-F94F-503C-22A679BE4FEB}"/>
                </a:ext>
              </a:extLst>
            </p:cNvPr>
            <p:cNvSpPr>
              <a:spLocks/>
            </p:cNvSpPr>
            <p:nvPr/>
          </p:nvSpPr>
          <p:spPr>
            <a:xfrm>
              <a:off x="5644894" y="1361907"/>
              <a:ext cx="2268063" cy="467791"/>
            </a:xfrm>
            <a:prstGeom prst="rect">
              <a:avLst/>
            </a:prstGeom>
            <a:noFill/>
            <a:ln w="952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8000" tIns="256000" rIns="128000" bIns="108000" rtlCol="0" anchor="ctr" anchorCtr="0"/>
            <a:lstStyle/>
            <a:p>
              <a:pPr defTabSz="1624829">
                <a:lnSpc>
                  <a:spcPct val="90000"/>
                </a:lnSpc>
                <a:spcBef>
                  <a:spcPts val="533"/>
                </a:spcBef>
                <a:buClr>
                  <a:srgbClr val="FF6600"/>
                </a:buClr>
                <a:buSzPct val="100000"/>
                <a:defRPr/>
              </a:pPr>
              <a:r>
                <a:rPr lang="de-DE" sz="1050" dirty="0">
                  <a:solidFill>
                    <a:prstClr val="black"/>
                  </a:solidFill>
                  <a:latin typeface="Aptos"/>
                  <a:cs typeface="Arial"/>
                </a:rPr>
                <a:t>offen</a:t>
              </a:r>
            </a:p>
          </p:txBody>
        </p:sp>
        <p:sp>
          <p:nvSpPr>
            <p:cNvPr id="12" name="Rechteck 4">
              <a:extLst>
                <a:ext uri="{FF2B5EF4-FFF2-40B4-BE49-F238E27FC236}">
                  <a16:creationId xmlns:a16="http://schemas.microsoft.com/office/drawing/2014/main" id="{C3C1EC19-8D34-748E-0409-EE530BBED087}"/>
                </a:ext>
              </a:extLst>
            </p:cNvPr>
            <p:cNvSpPr>
              <a:spLocks/>
            </p:cNvSpPr>
            <p:nvPr/>
          </p:nvSpPr>
          <p:spPr>
            <a:xfrm>
              <a:off x="5746926" y="1235014"/>
              <a:ext cx="2064000" cy="247016"/>
            </a:xfrm>
            <a:prstGeom prst="rect">
              <a:avLst/>
            </a:prstGeom>
            <a:solidFill>
              <a:srgbClr val="065185"/>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defTabSz="1624829">
                <a:lnSpc>
                  <a:spcPct val="90000"/>
                </a:lnSpc>
                <a:spcBef>
                  <a:spcPts val="1067"/>
                </a:spcBef>
                <a:defRPr/>
              </a:pPr>
              <a:r>
                <a:rPr lang="de-DE" sz="1300" b="1" dirty="0">
                  <a:solidFill>
                    <a:prstClr val="white"/>
                  </a:solidFill>
                  <a:latin typeface="Aptos"/>
                </a:rPr>
                <a:t>Process Owner</a:t>
              </a:r>
            </a:p>
          </p:txBody>
        </p:sp>
      </p:grpSp>
      <p:sp>
        <p:nvSpPr>
          <p:cNvPr id="14" name="Rechteck 5">
            <a:extLst>
              <a:ext uri="{FF2B5EF4-FFF2-40B4-BE49-F238E27FC236}">
                <a16:creationId xmlns:a16="http://schemas.microsoft.com/office/drawing/2014/main" id="{7388826D-31E9-6CA9-B690-347426987188}"/>
              </a:ext>
            </a:extLst>
          </p:cNvPr>
          <p:cNvSpPr>
            <a:spLocks/>
          </p:cNvSpPr>
          <p:nvPr/>
        </p:nvSpPr>
        <p:spPr>
          <a:xfrm>
            <a:off x="5154825" y="5683121"/>
            <a:ext cx="6535526" cy="467791"/>
          </a:xfrm>
          <a:prstGeom prst="rect">
            <a:avLst/>
          </a:prstGeom>
          <a:noFill/>
          <a:ln w="952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8000" tIns="256000" rIns="128000" bIns="64000" rtlCol="0" anchor="ctr" anchorCtr="0"/>
          <a:lstStyle/>
          <a:p>
            <a:pPr defTabSz="1624829">
              <a:lnSpc>
                <a:spcPct val="90000"/>
              </a:lnSpc>
              <a:spcBef>
                <a:spcPts val="533"/>
              </a:spcBef>
              <a:buClr>
                <a:srgbClr val="FF6600"/>
              </a:buClr>
              <a:buSzPct val="100000"/>
              <a:defRPr/>
            </a:pPr>
            <a:endParaRPr lang="de-DE" sz="1200" noProof="0">
              <a:solidFill>
                <a:prstClr val="black"/>
              </a:solidFill>
              <a:latin typeface="Aptos"/>
            </a:endParaRPr>
          </a:p>
        </p:txBody>
      </p:sp>
      <p:grpSp>
        <p:nvGrpSpPr>
          <p:cNvPr id="53" name="Group 52">
            <a:extLst>
              <a:ext uri="{FF2B5EF4-FFF2-40B4-BE49-F238E27FC236}">
                <a16:creationId xmlns:a16="http://schemas.microsoft.com/office/drawing/2014/main" id="{2720990A-E550-6A16-A7B9-F423A6723E71}"/>
              </a:ext>
            </a:extLst>
          </p:cNvPr>
          <p:cNvGrpSpPr>
            <a:grpSpLocks/>
          </p:cNvGrpSpPr>
          <p:nvPr/>
        </p:nvGrpSpPr>
        <p:grpSpPr>
          <a:xfrm>
            <a:off x="6287732" y="1965467"/>
            <a:ext cx="1693834" cy="594684"/>
            <a:chOff x="6281100" y="1965467"/>
            <a:chExt cx="1693834" cy="594684"/>
          </a:xfrm>
        </p:grpSpPr>
        <p:sp>
          <p:nvSpPr>
            <p:cNvPr id="21" name="Rechteck 5">
              <a:extLst>
                <a:ext uri="{FF2B5EF4-FFF2-40B4-BE49-F238E27FC236}">
                  <a16:creationId xmlns:a16="http://schemas.microsoft.com/office/drawing/2014/main" id="{23898B92-FF74-70AE-4E74-C737D9A60D77}"/>
                </a:ext>
              </a:extLst>
            </p:cNvPr>
            <p:cNvSpPr>
              <a:spLocks/>
            </p:cNvSpPr>
            <p:nvPr/>
          </p:nvSpPr>
          <p:spPr>
            <a:xfrm>
              <a:off x="6281100" y="2092360"/>
              <a:ext cx="1693834" cy="467791"/>
            </a:xfrm>
            <a:prstGeom prst="rect">
              <a:avLst/>
            </a:prstGeom>
            <a:noFill/>
            <a:ln w="952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8000" tIns="256000" rIns="128000" bIns="108000" rtlCol="0" anchor="ctr" anchorCtr="0"/>
            <a:lstStyle/>
            <a:p>
              <a:pPr defTabSz="1624829">
                <a:lnSpc>
                  <a:spcPct val="90000"/>
                </a:lnSpc>
                <a:spcBef>
                  <a:spcPts val="533"/>
                </a:spcBef>
                <a:buClr>
                  <a:srgbClr val="FF6600"/>
                </a:buClr>
                <a:buSzPct val="100000"/>
                <a:defRPr/>
              </a:pPr>
              <a:r>
                <a:rPr lang="de-DE" sz="1050" dirty="0">
                  <a:solidFill>
                    <a:prstClr val="black"/>
                  </a:solidFill>
                  <a:latin typeface="Aptos"/>
                  <a:cs typeface="Arial"/>
                </a:rPr>
                <a:t>28.09.2026</a:t>
              </a:r>
            </a:p>
          </p:txBody>
        </p:sp>
        <p:sp>
          <p:nvSpPr>
            <p:cNvPr id="22" name="Rechteck 4">
              <a:extLst>
                <a:ext uri="{FF2B5EF4-FFF2-40B4-BE49-F238E27FC236}">
                  <a16:creationId xmlns:a16="http://schemas.microsoft.com/office/drawing/2014/main" id="{B88EE354-0127-BF4A-FE1C-C832AA1294CA}"/>
                </a:ext>
              </a:extLst>
            </p:cNvPr>
            <p:cNvSpPr>
              <a:spLocks/>
            </p:cNvSpPr>
            <p:nvPr/>
          </p:nvSpPr>
          <p:spPr>
            <a:xfrm>
              <a:off x="6331227" y="1965467"/>
              <a:ext cx="1542339" cy="247016"/>
            </a:xfrm>
            <a:prstGeom prst="rect">
              <a:avLst/>
            </a:prstGeom>
            <a:solidFill>
              <a:srgbClr val="065185"/>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defTabSz="1624829">
                <a:lnSpc>
                  <a:spcPct val="90000"/>
                </a:lnSpc>
                <a:spcBef>
                  <a:spcPts val="1067"/>
                </a:spcBef>
                <a:defRPr/>
              </a:pPr>
              <a:r>
                <a:rPr lang="de-DE" sz="1300" b="1" noProof="0" dirty="0">
                  <a:solidFill>
                    <a:prstClr val="white"/>
                  </a:solidFill>
                  <a:latin typeface="Aptos"/>
                </a:rPr>
                <a:t>Erstellungsdatum</a:t>
              </a:r>
            </a:p>
          </p:txBody>
        </p:sp>
      </p:grpSp>
      <p:grpSp>
        <p:nvGrpSpPr>
          <p:cNvPr id="67" name="Group 66">
            <a:extLst>
              <a:ext uri="{FF2B5EF4-FFF2-40B4-BE49-F238E27FC236}">
                <a16:creationId xmlns:a16="http://schemas.microsoft.com/office/drawing/2014/main" id="{67B9E5D9-01C5-2DB0-0AF5-01775B381BD9}"/>
              </a:ext>
            </a:extLst>
          </p:cNvPr>
          <p:cNvGrpSpPr/>
          <p:nvPr/>
        </p:nvGrpSpPr>
        <p:grpSpPr>
          <a:xfrm>
            <a:off x="8028551" y="1965467"/>
            <a:ext cx="2467644" cy="594684"/>
            <a:chOff x="8028551" y="1965467"/>
            <a:chExt cx="2467644" cy="594684"/>
          </a:xfrm>
        </p:grpSpPr>
        <p:sp>
          <p:nvSpPr>
            <p:cNvPr id="24" name="Rechteck 5">
              <a:extLst>
                <a:ext uri="{FF2B5EF4-FFF2-40B4-BE49-F238E27FC236}">
                  <a16:creationId xmlns:a16="http://schemas.microsoft.com/office/drawing/2014/main" id="{5566E2DE-D0D8-62AE-E5BC-C1A610A9A99A}"/>
                </a:ext>
              </a:extLst>
            </p:cNvPr>
            <p:cNvSpPr>
              <a:spLocks/>
            </p:cNvSpPr>
            <p:nvPr/>
          </p:nvSpPr>
          <p:spPr>
            <a:xfrm>
              <a:off x="8028551" y="2092360"/>
              <a:ext cx="2467644" cy="467791"/>
            </a:xfrm>
            <a:prstGeom prst="rect">
              <a:avLst/>
            </a:prstGeom>
            <a:noFill/>
            <a:ln w="952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8000" tIns="256000" rIns="128000" bIns="64000" rtlCol="0" anchor="ctr" anchorCtr="0"/>
            <a:lstStyle/>
            <a:p>
              <a:pPr defTabSz="1624829">
                <a:lnSpc>
                  <a:spcPct val="90000"/>
                </a:lnSpc>
                <a:spcBef>
                  <a:spcPts val="533"/>
                </a:spcBef>
                <a:buClr>
                  <a:srgbClr val="FF6600"/>
                </a:buClr>
                <a:buSzPct val="100000"/>
                <a:defRPr/>
              </a:pPr>
              <a:r>
                <a:rPr lang="de-DE" sz="1050" dirty="0">
                  <a:solidFill>
                    <a:prstClr val="black"/>
                  </a:solidFill>
                  <a:latin typeface="Aptos"/>
                  <a:cs typeface="Arial"/>
                </a:rPr>
                <a:t>offen</a:t>
              </a:r>
            </a:p>
          </p:txBody>
        </p:sp>
        <p:sp>
          <p:nvSpPr>
            <p:cNvPr id="25" name="Rechteck 4">
              <a:extLst>
                <a:ext uri="{FF2B5EF4-FFF2-40B4-BE49-F238E27FC236}">
                  <a16:creationId xmlns:a16="http://schemas.microsoft.com/office/drawing/2014/main" id="{BE29E289-931C-7FF0-96F7-870F9C7AD3DF}"/>
                </a:ext>
              </a:extLst>
            </p:cNvPr>
            <p:cNvSpPr>
              <a:spLocks/>
            </p:cNvSpPr>
            <p:nvPr/>
          </p:nvSpPr>
          <p:spPr>
            <a:xfrm>
              <a:off x="8165730" y="1965467"/>
              <a:ext cx="2196587" cy="247016"/>
            </a:xfrm>
            <a:prstGeom prst="rect">
              <a:avLst/>
            </a:prstGeom>
            <a:solidFill>
              <a:srgbClr val="065185"/>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defTabSz="1624829">
                <a:lnSpc>
                  <a:spcPct val="90000"/>
                </a:lnSpc>
                <a:spcBef>
                  <a:spcPts val="1067"/>
                </a:spcBef>
                <a:defRPr/>
              </a:pPr>
              <a:r>
                <a:rPr lang="de-DE" sz="1300" b="1" noProof="0" dirty="0">
                  <a:solidFill>
                    <a:prstClr val="white"/>
                  </a:solidFill>
                  <a:latin typeface="Aptos"/>
                </a:rPr>
                <a:t>DAB-Entscheidungsdatum</a:t>
              </a:r>
            </a:p>
          </p:txBody>
        </p:sp>
      </p:grpSp>
      <p:grpSp>
        <p:nvGrpSpPr>
          <p:cNvPr id="41" name="Group 40">
            <a:extLst>
              <a:ext uri="{FF2B5EF4-FFF2-40B4-BE49-F238E27FC236}">
                <a16:creationId xmlns:a16="http://schemas.microsoft.com/office/drawing/2014/main" id="{87C28EBC-B503-C577-34DA-BEE9B41FD3A3}"/>
              </a:ext>
            </a:extLst>
          </p:cNvPr>
          <p:cNvGrpSpPr/>
          <p:nvPr/>
        </p:nvGrpSpPr>
        <p:grpSpPr>
          <a:xfrm>
            <a:off x="6468423" y="6311296"/>
            <a:ext cx="3527027" cy="341733"/>
            <a:chOff x="6270692" y="6228939"/>
            <a:chExt cx="4204447" cy="397713"/>
          </a:xfrm>
        </p:grpSpPr>
        <p:grpSp>
          <p:nvGrpSpPr>
            <p:cNvPr id="93" name="Group 92">
              <a:extLst>
                <a:ext uri="{FF2B5EF4-FFF2-40B4-BE49-F238E27FC236}">
                  <a16:creationId xmlns:a16="http://schemas.microsoft.com/office/drawing/2014/main" id="{25D08AC6-2A2E-4107-31E8-24F90592C62F}"/>
                </a:ext>
              </a:extLst>
            </p:cNvPr>
            <p:cNvGrpSpPr/>
            <p:nvPr/>
          </p:nvGrpSpPr>
          <p:grpSpPr>
            <a:xfrm>
              <a:off x="6270692" y="6228939"/>
              <a:ext cx="920053" cy="397713"/>
              <a:chOff x="5097605" y="6350439"/>
              <a:chExt cx="920053" cy="397713"/>
            </a:xfrm>
          </p:grpSpPr>
          <p:sp>
            <p:nvSpPr>
              <p:cNvPr id="29" name="Oval 28">
                <a:extLst>
                  <a:ext uri="{FF2B5EF4-FFF2-40B4-BE49-F238E27FC236}">
                    <a16:creationId xmlns:a16="http://schemas.microsoft.com/office/drawing/2014/main" id="{C52699F9-5058-F484-F607-BFED5A1ADF0C}"/>
                  </a:ext>
                </a:extLst>
              </p:cNvPr>
              <p:cNvSpPr>
                <a:spLocks noChangeAspect="1"/>
              </p:cNvSpPr>
              <p:nvPr/>
            </p:nvSpPr>
            <p:spPr bwMode="gray">
              <a:xfrm>
                <a:off x="5461633" y="6350439"/>
                <a:ext cx="192000" cy="191997"/>
              </a:xfrm>
              <a:prstGeom prst="ellipse">
                <a:avLst/>
              </a:prstGeom>
              <a:solidFill>
                <a:srgbClr val="00B050"/>
              </a:solidFill>
              <a:ln>
                <a:solidFill>
                  <a:srgbClr val="00B050"/>
                </a:solidFill>
              </a:ln>
            </p:spPr>
            <p:txBody>
              <a:bodyPr rot="0" spcFirstLastPara="0" vertOverflow="overflow" horzOverflow="overflow" vert="horz" wrap="square" lIns="96000" tIns="96000" rIns="96000" bIns="96000" numCol="1" spcCol="0" rtlCol="0" fromWordArt="0" anchor="ctr" anchorCtr="0" forceAA="0" compatLnSpc="1">
                <a:prstTxWarp prst="textNoShape">
                  <a:avLst/>
                </a:prstTxWarp>
                <a:noAutofit/>
              </a:bodyPr>
              <a:lstStyle/>
              <a:p>
                <a:pPr algn="ctr" defTabSz="1219108">
                  <a:spcBef>
                    <a:spcPts val="800"/>
                  </a:spcBef>
                  <a:spcAft>
                    <a:spcPts val="800"/>
                  </a:spcAft>
                  <a:defRPr/>
                </a:pPr>
                <a:endParaRPr lang="de-DE" sz="1400" b="1" noProof="0">
                  <a:solidFill>
                    <a:prstClr val="white"/>
                  </a:solidFill>
                  <a:latin typeface="Aptos"/>
                </a:endParaRPr>
              </a:p>
            </p:txBody>
          </p:sp>
          <p:sp>
            <p:nvSpPr>
              <p:cNvPr id="30" name="TextBox 29">
                <a:extLst>
                  <a:ext uri="{FF2B5EF4-FFF2-40B4-BE49-F238E27FC236}">
                    <a16:creationId xmlns:a16="http://schemas.microsoft.com/office/drawing/2014/main" id="{D5EEF96D-803D-0178-EC24-B2548DAAA307}"/>
                  </a:ext>
                </a:extLst>
              </p:cNvPr>
              <p:cNvSpPr txBox="1"/>
              <p:nvPr/>
            </p:nvSpPr>
            <p:spPr bwMode="gray">
              <a:xfrm>
                <a:off x="5097605" y="6542436"/>
                <a:ext cx="920053" cy="205716"/>
              </a:xfrm>
              <a:prstGeom prst="rect">
                <a:avLst/>
              </a:prstGeom>
              <a:noFill/>
            </p:spPr>
            <p:txBody>
              <a:bodyPr wrap="square" lIns="0" tIns="0" rIns="0" bIns="0" rtlCol="0" anchor="ctr">
                <a:noAutofit/>
              </a:bodyPr>
              <a:lstStyle/>
              <a:p>
                <a:pPr algn="ctr" defTabSz="1219108">
                  <a:spcBef>
                    <a:spcPts val="800"/>
                  </a:spcBef>
                  <a:spcAft>
                    <a:spcPts val="800"/>
                  </a:spcAft>
                  <a:buClr>
                    <a:srgbClr val="0341D2"/>
                  </a:buClr>
                  <a:defRPr/>
                </a:pPr>
                <a:r>
                  <a:rPr lang="de-DE" sz="800" noProof="0">
                    <a:solidFill>
                      <a:srgbClr val="414048"/>
                    </a:solidFill>
                    <a:latin typeface="Aptos"/>
                  </a:rPr>
                  <a:t>Freigegeben</a:t>
                </a:r>
              </a:p>
            </p:txBody>
          </p:sp>
        </p:grpSp>
        <p:grpSp>
          <p:nvGrpSpPr>
            <p:cNvPr id="91" name="Group 90">
              <a:extLst>
                <a:ext uri="{FF2B5EF4-FFF2-40B4-BE49-F238E27FC236}">
                  <a16:creationId xmlns:a16="http://schemas.microsoft.com/office/drawing/2014/main" id="{81C27154-250C-3EF0-9A73-EC13D2B9B01A}"/>
                </a:ext>
              </a:extLst>
            </p:cNvPr>
            <p:cNvGrpSpPr/>
            <p:nvPr/>
          </p:nvGrpSpPr>
          <p:grpSpPr>
            <a:xfrm>
              <a:off x="8528594" y="6228939"/>
              <a:ext cx="920053" cy="397713"/>
              <a:chOff x="7325747" y="6350439"/>
              <a:chExt cx="920053" cy="397713"/>
            </a:xfrm>
          </p:grpSpPr>
          <p:sp>
            <p:nvSpPr>
              <p:cNvPr id="31" name="Oval 30">
                <a:extLst>
                  <a:ext uri="{FF2B5EF4-FFF2-40B4-BE49-F238E27FC236}">
                    <a16:creationId xmlns:a16="http://schemas.microsoft.com/office/drawing/2014/main" id="{842248C4-CBC6-766F-3567-05A079059261}"/>
                  </a:ext>
                </a:extLst>
              </p:cNvPr>
              <p:cNvSpPr>
                <a:spLocks noChangeAspect="1"/>
              </p:cNvSpPr>
              <p:nvPr/>
            </p:nvSpPr>
            <p:spPr bwMode="gray">
              <a:xfrm>
                <a:off x="7689774" y="6350439"/>
                <a:ext cx="192000" cy="191997"/>
              </a:xfrm>
              <a:prstGeom prst="ellipse">
                <a:avLst/>
              </a:prstGeom>
              <a:solidFill>
                <a:schemeClr val="bg1">
                  <a:lumMod val="95000"/>
                </a:schemeClr>
              </a:solidFill>
              <a:ln>
                <a:solidFill>
                  <a:srgbClr val="FFFF00"/>
                </a:solidFill>
              </a:ln>
            </p:spPr>
            <p:txBody>
              <a:bodyPr rot="0" spcFirstLastPara="0" vertOverflow="overflow" horzOverflow="overflow" vert="horz" wrap="square" lIns="96000" tIns="96000" rIns="96000" bIns="96000" numCol="1" spcCol="0" rtlCol="0" fromWordArt="0" anchor="ctr" anchorCtr="0" forceAA="0" compatLnSpc="1">
                <a:prstTxWarp prst="textNoShape">
                  <a:avLst/>
                </a:prstTxWarp>
                <a:noAutofit/>
              </a:bodyPr>
              <a:lstStyle/>
              <a:p>
                <a:pPr algn="ctr" defTabSz="1219108">
                  <a:spcBef>
                    <a:spcPts val="800"/>
                  </a:spcBef>
                  <a:spcAft>
                    <a:spcPts val="800"/>
                  </a:spcAft>
                  <a:defRPr/>
                </a:pPr>
                <a:endParaRPr lang="de-DE" sz="1400" b="1" noProof="0">
                  <a:solidFill>
                    <a:prstClr val="white"/>
                  </a:solidFill>
                  <a:latin typeface="Aptos"/>
                </a:endParaRPr>
              </a:p>
            </p:txBody>
          </p:sp>
          <p:sp>
            <p:nvSpPr>
              <p:cNvPr id="32" name="TextBox 31">
                <a:extLst>
                  <a:ext uri="{FF2B5EF4-FFF2-40B4-BE49-F238E27FC236}">
                    <a16:creationId xmlns:a16="http://schemas.microsoft.com/office/drawing/2014/main" id="{9CEC7BB7-0329-6A93-61FB-07AA24E80C2C}"/>
                  </a:ext>
                </a:extLst>
              </p:cNvPr>
              <p:cNvSpPr txBox="1"/>
              <p:nvPr/>
            </p:nvSpPr>
            <p:spPr bwMode="gray">
              <a:xfrm>
                <a:off x="7325747" y="6542436"/>
                <a:ext cx="920053" cy="205716"/>
              </a:xfrm>
              <a:prstGeom prst="rect">
                <a:avLst/>
              </a:prstGeom>
              <a:noFill/>
            </p:spPr>
            <p:txBody>
              <a:bodyPr wrap="square" lIns="0" tIns="0" rIns="0" bIns="0" rtlCol="0" anchor="ctr">
                <a:noAutofit/>
              </a:bodyPr>
              <a:lstStyle/>
              <a:p>
                <a:pPr algn="ctr" defTabSz="1219108">
                  <a:spcBef>
                    <a:spcPts val="800"/>
                  </a:spcBef>
                  <a:spcAft>
                    <a:spcPts val="800"/>
                  </a:spcAft>
                  <a:buClr>
                    <a:srgbClr val="0341D2"/>
                  </a:buClr>
                  <a:defRPr/>
                </a:pPr>
                <a:r>
                  <a:rPr lang="de-DE" sz="800" noProof="0">
                    <a:solidFill>
                      <a:srgbClr val="414048"/>
                    </a:solidFill>
                    <a:latin typeface="Aptos"/>
                  </a:rPr>
                  <a:t>In Bearbeitung</a:t>
                </a:r>
              </a:p>
            </p:txBody>
          </p:sp>
        </p:grpSp>
        <p:grpSp>
          <p:nvGrpSpPr>
            <p:cNvPr id="90" name="Group 89">
              <a:extLst>
                <a:ext uri="{FF2B5EF4-FFF2-40B4-BE49-F238E27FC236}">
                  <a16:creationId xmlns:a16="http://schemas.microsoft.com/office/drawing/2014/main" id="{1F4D6A2B-7DB0-F586-AF12-3E039DE65AA2}"/>
                </a:ext>
              </a:extLst>
            </p:cNvPr>
            <p:cNvGrpSpPr/>
            <p:nvPr/>
          </p:nvGrpSpPr>
          <p:grpSpPr>
            <a:xfrm>
              <a:off x="9555086" y="6228939"/>
              <a:ext cx="920053" cy="397713"/>
              <a:chOff x="8382000" y="6350439"/>
              <a:chExt cx="920053" cy="397713"/>
            </a:xfrm>
          </p:grpSpPr>
          <p:sp>
            <p:nvSpPr>
              <p:cNvPr id="33" name="Oval 32">
                <a:extLst>
                  <a:ext uri="{FF2B5EF4-FFF2-40B4-BE49-F238E27FC236}">
                    <a16:creationId xmlns:a16="http://schemas.microsoft.com/office/drawing/2014/main" id="{B5CEBFEE-2058-3613-C0A4-3835E2A4CE48}"/>
                  </a:ext>
                </a:extLst>
              </p:cNvPr>
              <p:cNvSpPr>
                <a:spLocks noChangeAspect="1"/>
              </p:cNvSpPr>
              <p:nvPr/>
            </p:nvSpPr>
            <p:spPr bwMode="gray">
              <a:xfrm>
                <a:off x="8746026" y="6350439"/>
                <a:ext cx="192000" cy="191997"/>
              </a:xfrm>
              <a:prstGeom prst="ellipse">
                <a:avLst/>
              </a:prstGeom>
              <a:solidFill>
                <a:schemeClr val="bg1"/>
              </a:solidFill>
              <a:ln>
                <a:solidFill>
                  <a:srgbClr val="C00000"/>
                </a:solidFill>
              </a:ln>
            </p:spPr>
            <p:txBody>
              <a:bodyPr rot="0" spcFirstLastPara="0" vertOverflow="overflow" horzOverflow="overflow" vert="horz" wrap="square" lIns="96000" tIns="96000" rIns="96000" bIns="96000" numCol="1" spcCol="0" rtlCol="0" fromWordArt="0" anchor="ctr" anchorCtr="0" forceAA="0" compatLnSpc="1">
                <a:prstTxWarp prst="textNoShape">
                  <a:avLst/>
                </a:prstTxWarp>
                <a:noAutofit/>
              </a:bodyPr>
              <a:lstStyle/>
              <a:p>
                <a:pPr algn="ctr" defTabSz="1219108">
                  <a:spcBef>
                    <a:spcPts val="800"/>
                  </a:spcBef>
                  <a:spcAft>
                    <a:spcPts val="800"/>
                  </a:spcAft>
                  <a:defRPr/>
                </a:pPr>
                <a:endParaRPr lang="de-DE" sz="1400" b="1" noProof="0">
                  <a:solidFill>
                    <a:prstClr val="white"/>
                  </a:solidFill>
                  <a:latin typeface="Aptos"/>
                </a:endParaRPr>
              </a:p>
            </p:txBody>
          </p:sp>
          <p:sp>
            <p:nvSpPr>
              <p:cNvPr id="34" name="TextBox 33">
                <a:extLst>
                  <a:ext uri="{FF2B5EF4-FFF2-40B4-BE49-F238E27FC236}">
                    <a16:creationId xmlns:a16="http://schemas.microsoft.com/office/drawing/2014/main" id="{E33F93FE-C57A-BE28-46BE-D56696F68CB3}"/>
                  </a:ext>
                </a:extLst>
              </p:cNvPr>
              <p:cNvSpPr txBox="1"/>
              <p:nvPr/>
            </p:nvSpPr>
            <p:spPr bwMode="gray">
              <a:xfrm>
                <a:off x="8382000" y="6542436"/>
                <a:ext cx="920053" cy="205716"/>
              </a:xfrm>
              <a:prstGeom prst="rect">
                <a:avLst/>
              </a:prstGeom>
              <a:noFill/>
            </p:spPr>
            <p:txBody>
              <a:bodyPr wrap="square" lIns="0" tIns="0" rIns="0" bIns="0" rtlCol="0" anchor="ctr">
                <a:noAutofit/>
              </a:bodyPr>
              <a:lstStyle/>
              <a:p>
                <a:pPr algn="ctr" defTabSz="1219108">
                  <a:spcBef>
                    <a:spcPts val="800"/>
                  </a:spcBef>
                  <a:spcAft>
                    <a:spcPts val="800"/>
                  </a:spcAft>
                  <a:buClr>
                    <a:srgbClr val="0341D2"/>
                  </a:buClr>
                  <a:defRPr/>
                </a:pPr>
                <a:r>
                  <a:rPr lang="de-DE" sz="800" noProof="0">
                    <a:solidFill>
                      <a:srgbClr val="414048"/>
                    </a:solidFill>
                    <a:latin typeface="Aptos"/>
                  </a:rPr>
                  <a:t>Nicht gestartet</a:t>
                </a:r>
              </a:p>
            </p:txBody>
          </p:sp>
        </p:grpSp>
        <p:grpSp>
          <p:nvGrpSpPr>
            <p:cNvPr id="92" name="Group 91">
              <a:extLst>
                <a:ext uri="{FF2B5EF4-FFF2-40B4-BE49-F238E27FC236}">
                  <a16:creationId xmlns:a16="http://schemas.microsoft.com/office/drawing/2014/main" id="{5B7AA520-A128-4C0F-21FA-B012B6151493}"/>
                </a:ext>
              </a:extLst>
            </p:cNvPr>
            <p:cNvGrpSpPr/>
            <p:nvPr/>
          </p:nvGrpSpPr>
          <p:grpSpPr>
            <a:xfrm>
              <a:off x="7297183" y="6228939"/>
              <a:ext cx="1124971" cy="397713"/>
              <a:chOff x="6104776" y="6350439"/>
              <a:chExt cx="1124971" cy="397713"/>
            </a:xfrm>
          </p:grpSpPr>
          <p:sp>
            <p:nvSpPr>
              <p:cNvPr id="35" name="Oval 34">
                <a:extLst>
                  <a:ext uri="{FF2B5EF4-FFF2-40B4-BE49-F238E27FC236}">
                    <a16:creationId xmlns:a16="http://schemas.microsoft.com/office/drawing/2014/main" id="{19E6778D-3105-038F-23ED-B31FC2528CD5}"/>
                  </a:ext>
                </a:extLst>
              </p:cNvPr>
              <p:cNvSpPr>
                <a:spLocks noChangeAspect="1"/>
              </p:cNvSpPr>
              <p:nvPr/>
            </p:nvSpPr>
            <p:spPr bwMode="gray">
              <a:xfrm>
                <a:off x="6571261" y="6350439"/>
                <a:ext cx="192000" cy="191997"/>
              </a:xfrm>
              <a:prstGeom prst="ellipse">
                <a:avLst/>
              </a:prstGeom>
              <a:solidFill>
                <a:schemeClr val="bg1">
                  <a:lumMod val="95000"/>
                </a:schemeClr>
              </a:solidFill>
              <a:ln>
                <a:solidFill>
                  <a:srgbClr val="00B050"/>
                </a:solidFill>
              </a:ln>
            </p:spPr>
            <p:txBody>
              <a:bodyPr rot="0" spcFirstLastPara="0" vertOverflow="overflow" horzOverflow="overflow" vert="horz" wrap="square" lIns="96000" tIns="96000" rIns="96000" bIns="96000" numCol="1" spcCol="0" rtlCol="0" fromWordArt="0" anchor="ctr" anchorCtr="0" forceAA="0" compatLnSpc="1">
                <a:prstTxWarp prst="textNoShape">
                  <a:avLst/>
                </a:prstTxWarp>
                <a:noAutofit/>
              </a:bodyPr>
              <a:lstStyle/>
              <a:p>
                <a:pPr algn="ctr" defTabSz="1219108">
                  <a:spcBef>
                    <a:spcPts val="800"/>
                  </a:spcBef>
                  <a:spcAft>
                    <a:spcPts val="800"/>
                  </a:spcAft>
                  <a:defRPr/>
                </a:pPr>
                <a:endParaRPr lang="de-DE" sz="1400" b="1" noProof="0">
                  <a:solidFill>
                    <a:prstClr val="white"/>
                  </a:solidFill>
                  <a:latin typeface="Aptos"/>
                </a:endParaRPr>
              </a:p>
            </p:txBody>
          </p:sp>
          <p:sp>
            <p:nvSpPr>
              <p:cNvPr id="36" name="TextBox 35">
                <a:extLst>
                  <a:ext uri="{FF2B5EF4-FFF2-40B4-BE49-F238E27FC236}">
                    <a16:creationId xmlns:a16="http://schemas.microsoft.com/office/drawing/2014/main" id="{A055C03F-ABA1-70D7-10D6-EE60EFF47C76}"/>
                  </a:ext>
                </a:extLst>
              </p:cNvPr>
              <p:cNvSpPr txBox="1"/>
              <p:nvPr/>
            </p:nvSpPr>
            <p:spPr bwMode="gray">
              <a:xfrm>
                <a:off x="6104776" y="6542436"/>
                <a:ext cx="1124971" cy="205716"/>
              </a:xfrm>
              <a:prstGeom prst="rect">
                <a:avLst/>
              </a:prstGeom>
              <a:noFill/>
            </p:spPr>
            <p:txBody>
              <a:bodyPr wrap="square" lIns="0" tIns="0" rIns="0" bIns="0" rtlCol="0" anchor="ctr">
                <a:noAutofit/>
              </a:bodyPr>
              <a:lstStyle/>
              <a:p>
                <a:pPr algn="ctr" defTabSz="1219108">
                  <a:spcBef>
                    <a:spcPts val="800"/>
                  </a:spcBef>
                  <a:spcAft>
                    <a:spcPts val="800"/>
                  </a:spcAft>
                  <a:buClr>
                    <a:srgbClr val="0341D2"/>
                  </a:buClr>
                  <a:defRPr/>
                </a:pPr>
                <a:r>
                  <a:rPr lang="de-DE" sz="800" noProof="0">
                    <a:solidFill>
                      <a:srgbClr val="414048"/>
                    </a:solidFill>
                    <a:latin typeface="Aptos"/>
                  </a:rPr>
                  <a:t>Bereit zur Freigabe</a:t>
                </a:r>
              </a:p>
            </p:txBody>
          </p:sp>
        </p:grpSp>
      </p:grpSp>
      <p:sp>
        <p:nvSpPr>
          <p:cNvPr id="37" name="Oval 36">
            <a:extLst>
              <a:ext uri="{FF2B5EF4-FFF2-40B4-BE49-F238E27FC236}">
                <a16:creationId xmlns:a16="http://schemas.microsoft.com/office/drawing/2014/main" id="{351D90E6-0087-9AFA-3EC6-40CE50F09810}"/>
              </a:ext>
            </a:extLst>
          </p:cNvPr>
          <p:cNvSpPr/>
          <p:nvPr/>
        </p:nvSpPr>
        <p:spPr bwMode="gray">
          <a:xfrm>
            <a:off x="10764284" y="1597589"/>
            <a:ext cx="720000" cy="720000"/>
          </a:xfrm>
          <a:prstGeom prst="ellipse">
            <a:avLst/>
          </a:prstGeom>
          <a:solidFill>
            <a:schemeClr val="bg1"/>
          </a:solidFill>
          <a:ln>
            <a:solidFill>
              <a:srgbClr val="C00000"/>
            </a:solidFill>
          </a:ln>
        </p:spPr>
        <p:txBody>
          <a:bodyPr rot="0" spcFirstLastPara="0" vertOverflow="overflow" horzOverflow="overflow" vert="horz" wrap="square" lIns="96000" tIns="96000" rIns="96000" bIns="96000" numCol="1" spcCol="0" rtlCol="0" fromWordArt="0" anchor="ctr" anchorCtr="0" forceAA="0" compatLnSpc="1">
            <a:prstTxWarp prst="textNoShape">
              <a:avLst/>
            </a:prstTxWarp>
            <a:noAutofit/>
          </a:bodyPr>
          <a:lstStyle/>
          <a:p>
            <a:pPr algn="ctr" defTabSz="1219108">
              <a:spcBef>
                <a:spcPts val="800"/>
              </a:spcBef>
              <a:spcAft>
                <a:spcPts val="800"/>
              </a:spcAft>
            </a:pPr>
            <a:endParaRPr lang="de-DE" sz="1400" b="1">
              <a:solidFill>
                <a:prstClr val="white"/>
              </a:solidFill>
              <a:latin typeface="Aptos"/>
            </a:endParaRPr>
          </a:p>
        </p:txBody>
      </p:sp>
      <p:sp>
        <p:nvSpPr>
          <p:cNvPr id="38" name="Rechteck 5">
            <a:extLst>
              <a:ext uri="{FF2B5EF4-FFF2-40B4-BE49-F238E27FC236}">
                <a16:creationId xmlns:a16="http://schemas.microsoft.com/office/drawing/2014/main" id="{5CBC0FBE-109A-04D7-1C0F-4BE2E919A628}"/>
              </a:ext>
            </a:extLst>
          </p:cNvPr>
          <p:cNvSpPr>
            <a:spLocks/>
          </p:cNvSpPr>
          <p:nvPr/>
        </p:nvSpPr>
        <p:spPr>
          <a:xfrm>
            <a:off x="10569330" y="1358523"/>
            <a:ext cx="1109909" cy="1191371"/>
          </a:xfrm>
          <a:prstGeom prst="rect">
            <a:avLst/>
          </a:prstGeom>
          <a:noFill/>
          <a:ln w="952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8000" tIns="256000" rIns="128000" bIns="64000" rtlCol="0" anchor="ctr" anchorCtr="0"/>
          <a:lstStyle/>
          <a:p>
            <a:pPr defTabSz="1624829">
              <a:lnSpc>
                <a:spcPct val="90000"/>
              </a:lnSpc>
              <a:spcBef>
                <a:spcPts val="533"/>
              </a:spcBef>
              <a:buClr>
                <a:srgbClr val="FF6600"/>
              </a:buClr>
              <a:buSzPct val="100000"/>
              <a:defRPr/>
            </a:pPr>
            <a:endParaRPr lang="de-DE" sz="1200" noProof="0">
              <a:solidFill>
                <a:prstClr val="black"/>
              </a:solidFill>
              <a:latin typeface="Aptos"/>
            </a:endParaRPr>
          </a:p>
        </p:txBody>
      </p:sp>
      <p:sp>
        <p:nvSpPr>
          <p:cNvPr id="39" name="Rechteck 4">
            <a:extLst>
              <a:ext uri="{FF2B5EF4-FFF2-40B4-BE49-F238E27FC236}">
                <a16:creationId xmlns:a16="http://schemas.microsoft.com/office/drawing/2014/main" id="{50D1F423-FE0C-8E23-2DE4-C17BF9F6FE95}"/>
              </a:ext>
            </a:extLst>
          </p:cNvPr>
          <p:cNvSpPr>
            <a:spLocks/>
          </p:cNvSpPr>
          <p:nvPr/>
        </p:nvSpPr>
        <p:spPr>
          <a:xfrm>
            <a:off x="10692285" y="1217794"/>
            <a:ext cx="864000" cy="247016"/>
          </a:xfrm>
          <a:prstGeom prst="rect">
            <a:avLst/>
          </a:prstGeom>
          <a:solidFill>
            <a:srgbClr val="065185"/>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defTabSz="1624829">
              <a:lnSpc>
                <a:spcPct val="90000"/>
              </a:lnSpc>
              <a:spcBef>
                <a:spcPts val="1067"/>
              </a:spcBef>
              <a:defRPr/>
            </a:pPr>
            <a:r>
              <a:rPr lang="de-DE" sz="1400" b="1" noProof="0">
                <a:solidFill>
                  <a:prstClr val="white"/>
                </a:solidFill>
                <a:latin typeface="Aptos"/>
              </a:rPr>
              <a:t>Status</a:t>
            </a:r>
          </a:p>
        </p:txBody>
      </p:sp>
      <p:sp>
        <p:nvSpPr>
          <p:cNvPr id="54" name="Rectangle 53">
            <a:extLst>
              <a:ext uri="{FF2B5EF4-FFF2-40B4-BE49-F238E27FC236}">
                <a16:creationId xmlns:a16="http://schemas.microsoft.com/office/drawing/2014/main" id="{F7BFB563-0978-2EE8-4584-364A102D358E}"/>
              </a:ext>
            </a:extLst>
          </p:cNvPr>
          <p:cNvSpPr/>
          <p:nvPr/>
        </p:nvSpPr>
        <p:spPr bwMode="gray">
          <a:xfrm>
            <a:off x="458788" y="2721140"/>
            <a:ext cx="4593001" cy="3437620"/>
          </a:xfrm>
          <a:prstGeom prst="rect">
            <a:avLst/>
          </a:prstGeom>
          <a:noFill/>
          <a:ln>
            <a:solidFill>
              <a:schemeClr val="tx2">
                <a:lumMod val="60000"/>
                <a:lumOff val="40000"/>
              </a:schemeClr>
            </a:solidFill>
          </a:ln>
        </p:spPr>
        <p:txBody>
          <a:bodyPr rot="0" spcFirstLastPara="0" vertOverflow="overflow" horzOverflow="overflow" vert="horz" wrap="square" lIns="72000" tIns="180000" rIns="72000" bIns="72000" numCol="1" spcCol="0" rtlCol="0" fromWordArt="0" anchor="t" anchorCtr="0" forceAA="0" compatLnSpc="1">
            <a:prstTxWarp prst="textNoShape">
              <a:avLst/>
            </a:prstTxWarp>
            <a:noAutofit/>
          </a:bodyPr>
          <a:lstStyle/>
          <a:p>
            <a:pPr defTabSz="914377">
              <a:spcBef>
                <a:spcPts val="100"/>
              </a:spcBef>
              <a:spcAft>
                <a:spcPts val="100"/>
              </a:spcAft>
              <a:buClr>
                <a:srgbClr val="FF6600"/>
              </a:buClr>
              <a:defRPr/>
            </a:pPr>
            <a:r>
              <a:rPr lang="de-DE" sz="950" dirty="0" b="1">
                <a:solidFill>
                  <a:prstClr val="black"/>
                </a:solidFill>
                <a:latin typeface="Aptos"/>
                <a:cs typeface="Arial"/>
              </a:rPr>
              <a:t>Entscheidungsfrage: Wird die Abrechnung der Flughafenleistungen (Sky Billing) in SAP Subscription Billing mit Integration nach S/4HANA Cloud neu abgebildet, oder bleibt Sky Billing als Rating-Engine und liefert Fakturaergebnisse an S/4HANA Cloud?</a:t>
            </a:r>
          </a:p>
          <a:p>
            <a:pPr defTabSz="914377">
              <a:spcBef>
                <a:spcPts val="100"/>
              </a:spcBef>
              <a:spcAft>
                <a:spcPts val="100"/>
              </a:spcAft>
              <a:buClr>
                <a:srgbClr val="FF6600"/>
              </a:buClr>
              <a:defRPr/>
            </a:pPr>
            <a:r>
              <a:rPr lang="de-DE" sz="1100" dirty="0" b="1" u="sng">
                <a:solidFill>
                  <a:prstClr val="black"/>
                </a:solidFill>
                <a:latin typeface="Aptos"/>
                <a:cs typeface="Arial"/>
              </a:rPr>
              <a:t>Ist Zustand</a:t>
            </a:r>
          </a:p>
          <a:p>
            <a:pPr defTabSz="914377">
              <a:spcBef>
                <a:spcPts val="100"/>
              </a:spcBef>
              <a:spcAft>
                <a:spcPts val="100"/>
              </a:spcAft>
              <a:buClr>
                <a:srgbClr val="FF6600"/>
              </a:buClr>
              <a:defRPr/>
            </a:pPr>
            <a:r>
              <a:rPr lang="de-DE" sz="850" dirty="0">
                <a:solidFill>
                  <a:prstClr val="black"/>
                </a:solidFill>
                <a:latin typeface="Aptos"/>
                <a:cs typeface="Arial"/>
              </a:rPr>
              <a:t>Anforderungen 3-181 und 3-182. Die Fakturierung der Flughafenleistungen läuft heute über Sky Billing mit Abstellzeiten, Rollwegzeiten, Maintenance-Interaktionen und vielfältigen Preiskomponenten. Stammdaten ändern sich täglich (z. B. Triebwerkswechsel aus Duma). Die Prozesse sollen vermessen und dann in SAP Subscription Billing abgebildet werden. Ob Sky Billing ein eigenständiges System oder eine Eigenentwicklung im abzulösenden R/3 ist, geht aus den Dokumenten nicht hervor.</a:t>
            </a:r>
          </a:p>
          <a:p>
            <a:pPr defTabSz="914377">
              <a:spcBef>
                <a:spcPts val="100"/>
              </a:spcBef>
              <a:spcAft>
                <a:spcPts val="100"/>
              </a:spcAft>
              <a:buClr>
                <a:srgbClr val="FF6600"/>
              </a:buClr>
              <a:defRPr/>
            </a:pPr>
            <a:r>
              <a:rPr lang="de-DE" sz="1100" dirty="0" b="1" u="sng">
                <a:solidFill>
                  <a:prstClr val="black"/>
                </a:solidFill>
                <a:latin typeface="Aptos"/>
                <a:cs typeface="Arial"/>
              </a:rPr>
              <a:t>Auswirkung – Ohne Entscheidung</a:t>
            </a:r>
          </a:p>
          <a:p>
            <a:pPr defTabSz="914377">
              <a:spcBef>
                <a:spcPts val="100"/>
              </a:spcBef>
              <a:spcAft>
                <a:spcPts val="100"/>
              </a:spcAft>
              <a:buClr>
                <a:srgbClr val="FF6600"/>
              </a:buClr>
              <a:defRPr/>
            </a:pPr>
            <a:r>
              <a:rPr lang="de-DE" sz="850" dirty="0">
                <a:solidFill>
                  <a:prstClr val="black"/>
                </a:solidFill>
                <a:latin typeface="Aptos"/>
                <a:cs typeface="Arial"/>
              </a:rPr>
              <a:t>Ohne Zielarchitektur und Integrationsweg für den erlöskritischsten Prozess können Vermessung, Duma-Schnittstelle und SD-Design (Kunden, Leistungen, Preise) nicht starten; Erlösverluste oder verspätete Fakturen zum Go-Live drohen.</a:t>
            </a:r>
          </a:p>
          <a:p>
            <a:pPr defTabSz="914377">
              <a:spcBef>
                <a:spcPts val="100"/>
              </a:spcBef>
              <a:spcAft>
                <a:spcPts val="100"/>
              </a:spcAft>
              <a:buClr>
                <a:srgbClr val="FF6600"/>
              </a:buClr>
              <a:defRPr/>
            </a:pPr>
            <a:r>
              <a:rPr lang="de-DE" sz="1100" dirty="0" b="1" u="sng">
                <a:solidFill>
                  <a:prstClr val="black"/>
                </a:solidFill>
                <a:latin typeface="Aptos"/>
                <a:cs typeface="Arial"/>
              </a:rPr>
              <a:t>Lösungsvorschläge beschreiben</a:t>
            </a:r>
          </a:p>
          <a:p>
            <a:pPr defTabSz="914377">
              <a:spcBef>
                <a:spcPts val="100"/>
              </a:spcBef>
              <a:spcAft>
                <a:spcPts val="100"/>
              </a:spcAft>
              <a:buClr>
                <a:srgbClr val="FF6600"/>
              </a:buClr>
              <a:defRPr/>
            </a:pPr>
            <a:r>
              <a:rPr lang="de-DE" sz="850" dirty="0">
                <a:solidFill>
                  <a:prstClr val="black"/>
                </a:solidFill>
                <a:latin typeface="Aptos"/>
                <a:cs typeface="Arial"/>
              </a:rPr>
              <a:t>Option 1: Rating in SAP Subscription Billing (Nutzungsdaten je Flugbewegung aus Duma/Vorsystemen), Übergabe an S/4HANA Cloud über Standard-Integration (Scope Item 57Z, zu verifizieren) für Faktura, Debitoren, Erlöse. Option 2: Sky Billing bleibt Rating-Engine (sofern eigenständig lauffähig), Fakturapositionen je Kunde per Integration Suite in SD-Faktura oder Debitoren. Verworfen: Nachbau der Regellogik in der SD-Preisfindung (nicht abbildbar).</a:t>
            </a:r>
          </a:p>
        </p:txBody>
      </p:sp>
      <p:sp>
        <p:nvSpPr>
          <p:cNvPr id="55" name="Rechteck 4">
            <a:extLst>
              <a:ext uri="{FF2B5EF4-FFF2-40B4-BE49-F238E27FC236}">
                <a16:creationId xmlns:a16="http://schemas.microsoft.com/office/drawing/2014/main" id="{4B6F9EB1-09FB-A1C8-5001-B876BE075128}"/>
              </a:ext>
            </a:extLst>
          </p:cNvPr>
          <p:cNvSpPr/>
          <p:nvPr/>
        </p:nvSpPr>
        <p:spPr>
          <a:xfrm>
            <a:off x="590499" y="2607270"/>
            <a:ext cx="1872000" cy="247016"/>
          </a:xfrm>
          <a:prstGeom prst="rect">
            <a:avLst/>
          </a:prstGeom>
          <a:solidFill>
            <a:schemeClr val="bg1"/>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defTabSz="1624829">
              <a:lnSpc>
                <a:spcPct val="90000"/>
              </a:lnSpc>
              <a:spcBef>
                <a:spcPts val="1067"/>
              </a:spcBef>
              <a:defRPr/>
            </a:pPr>
            <a:r>
              <a:rPr lang="de-DE" sz="1400" b="1" noProof="0" dirty="0">
                <a:solidFill>
                  <a:srgbClr val="414048"/>
                </a:solidFill>
                <a:latin typeface="Aptos"/>
              </a:rPr>
              <a:t>KDD Beschreibung</a:t>
            </a:r>
          </a:p>
        </p:txBody>
      </p:sp>
      <p:sp>
        <p:nvSpPr>
          <p:cNvPr id="56" name="Textfeld 4">
            <a:extLst>
              <a:ext uri="{FF2B5EF4-FFF2-40B4-BE49-F238E27FC236}">
                <a16:creationId xmlns:a16="http://schemas.microsoft.com/office/drawing/2014/main" id="{AF302C0D-61C0-0EF0-6BE3-872953E5D2A2}"/>
              </a:ext>
            </a:extLst>
          </p:cNvPr>
          <p:cNvSpPr txBox="1"/>
          <p:nvPr/>
        </p:nvSpPr>
        <p:spPr bwMode="gray">
          <a:xfrm>
            <a:off x="1438557" y="3150489"/>
            <a:ext cx="0" cy="0"/>
          </a:xfrm>
          <a:prstGeom prst="rect">
            <a:avLst/>
          </a:prstGeom>
          <a:noFill/>
        </p:spPr>
        <p:txBody>
          <a:bodyPr wrap="none" lIns="0" tIns="0" rIns="0" bIns="0" rtlCol="0">
            <a:noAutofit/>
          </a:bodyPr>
          <a:lstStyle/>
          <a:p>
            <a:pPr defTabSz="914377">
              <a:spcBef>
                <a:spcPts val="600"/>
              </a:spcBef>
              <a:spcAft>
                <a:spcPts val="600"/>
              </a:spcAft>
              <a:buClr>
                <a:srgbClr val="0341D2"/>
              </a:buClr>
              <a:defRPr/>
            </a:pPr>
            <a:endParaRPr lang="de-DE" sz="1400" b="1" noProof="0">
              <a:solidFill>
                <a:srgbClr val="414048"/>
              </a:solidFill>
              <a:latin typeface="Aptos"/>
            </a:endParaRPr>
          </a:p>
        </p:txBody>
      </p:sp>
      <p:sp>
        <p:nvSpPr>
          <p:cNvPr id="57" name="Textfeld 7">
            <a:extLst>
              <a:ext uri="{FF2B5EF4-FFF2-40B4-BE49-F238E27FC236}">
                <a16:creationId xmlns:a16="http://schemas.microsoft.com/office/drawing/2014/main" id="{7DA2A62C-B50F-D84B-52AC-913814019069}"/>
              </a:ext>
            </a:extLst>
          </p:cNvPr>
          <p:cNvSpPr txBox="1"/>
          <p:nvPr/>
        </p:nvSpPr>
        <p:spPr bwMode="gray">
          <a:xfrm>
            <a:off x="712047" y="3037755"/>
            <a:ext cx="0" cy="0"/>
          </a:xfrm>
          <a:prstGeom prst="rect">
            <a:avLst/>
          </a:prstGeom>
          <a:noFill/>
        </p:spPr>
        <p:txBody>
          <a:bodyPr wrap="none" lIns="0" tIns="0" rIns="0" bIns="0" rtlCol="0">
            <a:noAutofit/>
          </a:bodyPr>
          <a:lstStyle/>
          <a:p>
            <a:pPr defTabSz="914377">
              <a:spcBef>
                <a:spcPts val="600"/>
              </a:spcBef>
              <a:spcAft>
                <a:spcPts val="600"/>
              </a:spcAft>
              <a:buClr>
                <a:srgbClr val="0341D2"/>
              </a:buClr>
              <a:defRPr/>
            </a:pPr>
            <a:endParaRPr lang="de-DE" sz="1400" b="1" noProof="0">
              <a:solidFill>
                <a:srgbClr val="414048"/>
              </a:solidFill>
              <a:latin typeface="Aptos"/>
            </a:endParaRPr>
          </a:p>
        </p:txBody>
      </p:sp>
      <p:grpSp>
        <p:nvGrpSpPr>
          <p:cNvPr id="52" name="Group 51">
            <a:extLst>
              <a:ext uri="{FF2B5EF4-FFF2-40B4-BE49-F238E27FC236}">
                <a16:creationId xmlns:a16="http://schemas.microsoft.com/office/drawing/2014/main" id="{8FBFDAA9-46E4-962B-3AFA-466B74D2D1AA}"/>
              </a:ext>
            </a:extLst>
          </p:cNvPr>
          <p:cNvGrpSpPr>
            <a:grpSpLocks/>
          </p:cNvGrpSpPr>
          <p:nvPr/>
        </p:nvGrpSpPr>
        <p:grpSpPr>
          <a:xfrm>
            <a:off x="2332795" y="1965467"/>
            <a:ext cx="3907953" cy="594684"/>
            <a:chOff x="4516748" y="1965467"/>
            <a:chExt cx="1729532" cy="594684"/>
          </a:xfrm>
        </p:grpSpPr>
        <p:sp>
          <p:nvSpPr>
            <p:cNvPr id="27" name="Rechteck 5">
              <a:extLst>
                <a:ext uri="{FF2B5EF4-FFF2-40B4-BE49-F238E27FC236}">
                  <a16:creationId xmlns:a16="http://schemas.microsoft.com/office/drawing/2014/main" id="{0EA4EC20-7BB5-41ED-DCE8-FAA0B09E13C6}"/>
                </a:ext>
              </a:extLst>
            </p:cNvPr>
            <p:cNvSpPr>
              <a:spLocks/>
            </p:cNvSpPr>
            <p:nvPr/>
          </p:nvSpPr>
          <p:spPr>
            <a:xfrm>
              <a:off x="4516748" y="2092360"/>
              <a:ext cx="1729532" cy="467791"/>
            </a:xfrm>
            <a:prstGeom prst="rect">
              <a:avLst/>
            </a:prstGeom>
            <a:noFill/>
            <a:ln w="952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8000" tIns="256000" rIns="128000" bIns="64000" rtlCol="0" anchor="ctr" anchorCtr="0"/>
            <a:lstStyle/>
            <a:p>
              <a:pPr defTabSz="1624829">
                <a:lnSpc>
                  <a:spcPct val="90000"/>
                </a:lnSpc>
                <a:spcBef>
                  <a:spcPts val="533"/>
                </a:spcBef>
                <a:buClr>
                  <a:srgbClr val="FF6600"/>
                </a:buClr>
                <a:buSzPct val="100000"/>
                <a:defRPr/>
              </a:pPr>
              <a:r>
                <a:rPr lang="de-DE" sz="950" dirty="0">
                  <a:solidFill>
                    <a:prstClr val="black"/>
                  </a:solidFill>
                  <a:latin typeface="Aptos"/>
                  <a:cs typeface="Arial"/>
                </a:rPr>
                <a:t>KDD_FI_002; Verkauf (SD-Faktura); Aviation/Flugbetrieb (Duma, Bewegungsdaten); Controlling; Kundenstamm Airlines</a:t>
              </a:r>
            </a:p>
          </p:txBody>
        </p:sp>
        <p:sp>
          <p:nvSpPr>
            <p:cNvPr id="43" name="Rectangle 42">
              <a:extLst>
                <a:ext uri="{FF2B5EF4-FFF2-40B4-BE49-F238E27FC236}">
                  <a16:creationId xmlns:a16="http://schemas.microsoft.com/office/drawing/2014/main" id="{A47D08DC-D3D4-7B96-D04B-08C2E65753EE}"/>
                </a:ext>
              </a:extLst>
            </p:cNvPr>
            <p:cNvSpPr>
              <a:spLocks/>
            </p:cNvSpPr>
            <p:nvPr/>
          </p:nvSpPr>
          <p:spPr bwMode="gray">
            <a:xfrm>
              <a:off x="4572361" y="1965467"/>
              <a:ext cx="1618307" cy="247016"/>
            </a:xfrm>
            <a:prstGeom prst="rect">
              <a:avLst/>
            </a:prstGeom>
            <a:solidFill>
              <a:srgbClr val="065185"/>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defTabSz="914377">
                <a:spcBef>
                  <a:spcPts val="600"/>
                </a:spcBef>
                <a:spcAft>
                  <a:spcPts val="600"/>
                </a:spcAft>
                <a:defRPr/>
              </a:pPr>
              <a:r>
                <a:rPr lang="de-DE" sz="1300" b="1" noProof="0" dirty="0">
                  <a:solidFill>
                    <a:prstClr val="white"/>
                  </a:solidFill>
                  <a:latin typeface="Aptos"/>
                </a:rPr>
                <a:t>Schnittstellen zu anderen Projekten/Streams</a:t>
              </a:r>
              <a:endParaRPr lang="de-DE" sz="1300" b="1" baseline="30000" noProof="0" dirty="0">
                <a:solidFill>
                  <a:prstClr val="white"/>
                </a:solidFill>
                <a:latin typeface="Aptos"/>
              </a:endParaRPr>
            </a:p>
          </p:txBody>
        </p:sp>
      </p:grpSp>
      <p:sp>
        <p:nvSpPr>
          <p:cNvPr id="62" name="Rechteck 5">
            <a:extLst>
              <a:ext uri="{FF2B5EF4-FFF2-40B4-BE49-F238E27FC236}">
                <a16:creationId xmlns:a16="http://schemas.microsoft.com/office/drawing/2014/main" id="{F79A5E9C-D3A0-C955-4B7E-781506C4C00D}"/>
              </a:ext>
            </a:extLst>
          </p:cNvPr>
          <p:cNvSpPr/>
          <p:nvPr/>
        </p:nvSpPr>
        <p:spPr>
          <a:xfrm>
            <a:off x="8478166" y="2721140"/>
            <a:ext cx="3201071" cy="791727"/>
          </a:xfrm>
          <a:prstGeom prst="rect">
            <a:avLst/>
          </a:prstGeom>
          <a:noFill/>
          <a:ln w="952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8000" tIns="144000" rIns="48000" bIns="64000" numCol="1" rtlCol="0" anchor="t" anchorCtr="0"/>
          <a:lstStyle/>
          <a:p>
            <a:pPr defTabSz="1624829">
              <a:lnSpc>
                <a:spcPct val="90000"/>
              </a:lnSpc>
              <a:spcBef>
                <a:spcPts val="533"/>
              </a:spcBef>
              <a:buSzPct val="100000"/>
              <a:defRPr/>
            </a:pPr>
            <a:r>
              <a:rPr lang="de-DE" sz="950" dirty="0">
                <a:solidFill>
                  <a:prstClr val="black"/>
                </a:solidFill>
                <a:latin typeface="Aptos"/>
                <a:cs typeface="Arial"/>
              </a:rPr>
              <a:t>Offen. Entscheider: offen. Datum: offen. Empfehlung steht unter Vorbehalt der Vermessung.</a:t>
            </a:r>
          </a:p>
        </p:txBody>
      </p:sp>
      <p:sp>
        <p:nvSpPr>
          <p:cNvPr id="63" name="Rechteck 4">
            <a:extLst>
              <a:ext uri="{FF2B5EF4-FFF2-40B4-BE49-F238E27FC236}">
                <a16:creationId xmlns:a16="http://schemas.microsoft.com/office/drawing/2014/main" id="{842A5091-D58B-1466-2182-4DD4EAFE628E}"/>
              </a:ext>
            </a:extLst>
          </p:cNvPr>
          <p:cNvSpPr/>
          <p:nvPr/>
        </p:nvSpPr>
        <p:spPr>
          <a:xfrm>
            <a:off x="8663853" y="2595002"/>
            <a:ext cx="2257591" cy="247016"/>
          </a:xfrm>
          <a:prstGeom prst="rect">
            <a:avLst/>
          </a:prstGeom>
          <a:solidFill>
            <a:schemeClr val="bg1"/>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defTabSz="1624829">
              <a:lnSpc>
                <a:spcPct val="90000"/>
              </a:lnSpc>
              <a:spcBef>
                <a:spcPts val="1067"/>
              </a:spcBef>
              <a:defRPr/>
            </a:pPr>
            <a:r>
              <a:rPr lang="de-DE" sz="1400" b="1" noProof="0" dirty="0">
                <a:solidFill>
                  <a:srgbClr val="414048"/>
                </a:solidFill>
                <a:latin typeface="Aptos"/>
              </a:rPr>
              <a:t>Entscheidung getroffen</a:t>
            </a:r>
          </a:p>
        </p:txBody>
      </p:sp>
      <p:sp>
        <p:nvSpPr>
          <p:cNvPr id="64" name="Textfeld 24">
            <a:extLst>
              <a:ext uri="{FF2B5EF4-FFF2-40B4-BE49-F238E27FC236}">
                <a16:creationId xmlns:a16="http://schemas.microsoft.com/office/drawing/2014/main" id="{84AB3BEB-28DD-5665-8B36-C67B55A748F3}"/>
              </a:ext>
            </a:extLst>
          </p:cNvPr>
          <p:cNvSpPr txBox="1"/>
          <p:nvPr/>
        </p:nvSpPr>
        <p:spPr bwMode="gray">
          <a:xfrm>
            <a:off x="1801811" y="3221873"/>
            <a:ext cx="0" cy="0"/>
          </a:xfrm>
          <a:prstGeom prst="rect">
            <a:avLst/>
          </a:prstGeom>
          <a:noFill/>
        </p:spPr>
        <p:txBody>
          <a:bodyPr wrap="none" lIns="0" tIns="0" rIns="0" bIns="0" rtlCol="0">
            <a:noAutofit/>
          </a:bodyPr>
          <a:lstStyle/>
          <a:p>
            <a:pPr defTabSz="914377">
              <a:spcBef>
                <a:spcPts val="600"/>
              </a:spcBef>
              <a:spcAft>
                <a:spcPts val="600"/>
              </a:spcAft>
              <a:buClr>
                <a:srgbClr val="0341D2"/>
              </a:buClr>
              <a:defRPr/>
            </a:pPr>
            <a:endParaRPr lang="de-DE" sz="1400" b="1" noProof="0">
              <a:solidFill>
                <a:srgbClr val="414048"/>
              </a:solidFill>
              <a:latin typeface="Aptos"/>
            </a:endParaRPr>
          </a:p>
        </p:txBody>
      </p:sp>
      <p:sp>
        <p:nvSpPr>
          <p:cNvPr id="65" name="Rectangle 21">
            <a:extLst>
              <a:ext uri="{FF2B5EF4-FFF2-40B4-BE49-F238E27FC236}">
                <a16:creationId xmlns:a16="http://schemas.microsoft.com/office/drawing/2014/main" id="{C5493A8C-16DD-5863-33ED-0A1DEE36566C}"/>
              </a:ext>
            </a:extLst>
          </p:cNvPr>
          <p:cNvSpPr/>
          <p:nvPr/>
        </p:nvSpPr>
        <p:spPr bwMode="gray">
          <a:xfrm>
            <a:off x="5153941" y="3751738"/>
            <a:ext cx="6525296" cy="1871248"/>
          </a:xfrm>
          <a:prstGeom prst="rect">
            <a:avLst/>
          </a:prstGeom>
          <a:noFill/>
          <a:ln>
            <a:solidFill>
              <a:schemeClr val="tx2">
                <a:lumMod val="60000"/>
                <a:lumOff val="40000"/>
              </a:schemeClr>
            </a:solidFill>
          </a:ln>
        </p:spPr>
        <p:txBody>
          <a:bodyPr rot="0" spcFirstLastPara="0" vertOverflow="overflow" horzOverflow="overflow" vert="horz" wrap="square" lIns="72000" tIns="180000" rIns="72000" bIns="72000" numCol="1" spcCol="0" rtlCol="0" fromWordArt="0" anchor="t" anchorCtr="0" forceAA="0" compatLnSpc="1">
            <a:prstTxWarp prst="textNoShape">
              <a:avLst/>
            </a:prstTxWarp>
            <a:noAutofit/>
          </a:bodyPr>
          <a:lstStyle/>
          <a:p>
            <a:pPr defTabSz="914377">
              <a:spcBef>
                <a:spcPts val="200"/>
              </a:spcBef>
              <a:spcAft>
                <a:spcPts val="200"/>
              </a:spcAft>
              <a:buClr>
                <a:srgbClr val="FF6600"/>
              </a:buClr>
              <a:defRPr/>
            </a:pPr>
            <a:r>
              <a:rPr lang="de-DE" sz="900" dirty="0">
                <a:solidFill>
                  <a:prstClr val="black"/>
                </a:solidFill>
                <a:latin typeface="Aptos"/>
                <a:cs typeface="Arial"/>
              </a:rPr>
              <a:t>Empfehlung: Option 1 als Zielbild: Nutzungsbasiertes Rating in SAP Subscription Billing mit vorverarbeiteten Bewegungsdaten (Zeiten, Kategorien aus den Vorsystemen) und Standard-Integration nach S/4HANA Cloud folgt dem Leitprinzip automatisierter Vorsysteme und dem Fit-to-Standard (SD-Faktura, Debitoren, Erlöse im Standard). Bedingung: Die Vermessung bestätigt, dass die Sky-Billing-Regeln als Nutzungsdatensätze mal Rate-Plan darstellbar sind. Ist Sky Billing eigenständig und die Zeit knapp, ist Option 2 der Go-Live-Fallback mit späterer Migration.</a:t>
            </a:r>
          </a:p>
          <a:p>
            <a:pPr defTabSz="914377">
              <a:spcBef>
                <a:spcPts val="200"/>
              </a:spcBef>
              <a:spcAft>
                <a:spcPts val="200"/>
              </a:spcAft>
              <a:buClr>
                <a:srgbClr val="FF6600"/>
              </a:buClr>
              <a:defRPr/>
            </a:pPr>
            <a:r>
              <a:rPr lang="de-DE" sz="900" dirty="0">
                <a:solidFill>
                  <a:prstClr val="black"/>
                </a:solidFill>
                <a:latin typeface="Aptos"/>
                <a:cs typeface="Arial"/>
              </a:rPr>
              <a:t>Auswirkungen bei Umsetzung: Prozess: Bewegungsdaten werden täglich als Nutzungsdatensätze geliefert, Rating und Rechnungsvorschlag in Subscription Billing, Faktura und Zahlungsabwicklung in S/4HANA Cloud. Organisation: Fachbereich Aviation/Billing pflegt Rate-Pläne und Verträge, Buchhaltung Debitoren; neue Rolle Billing-Administrator. Integration: Duma und Vorsysteme per Integration Suite (3-182), Subscription Billing zu S/4HANA über Standard-Content. Daten: Kundenstamm Airlines, Leistungsarten/Produkte, Preiskomponenten migrieren. Berechtigungen: getrennte Rollen für Preispflege, Rating-Freigabe und Faktura.</a:t>
            </a:r>
          </a:p>
        </p:txBody>
      </p:sp>
      <p:sp>
        <p:nvSpPr>
          <p:cNvPr id="66" name="Rechteck 4">
            <a:extLst>
              <a:ext uri="{FF2B5EF4-FFF2-40B4-BE49-F238E27FC236}">
                <a16:creationId xmlns:a16="http://schemas.microsoft.com/office/drawing/2014/main" id="{24B85655-4A51-16E1-361D-C5B341D194A2}"/>
              </a:ext>
            </a:extLst>
          </p:cNvPr>
          <p:cNvSpPr/>
          <p:nvPr/>
        </p:nvSpPr>
        <p:spPr>
          <a:xfrm>
            <a:off x="5339628" y="3625579"/>
            <a:ext cx="2381223" cy="247016"/>
          </a:xfrm>
          <a:prstGeom prst="rect">
            <a:avLst/>
          </a:prstGeom>
          <a:solidFill>
            <a:schemeClr val="bg1"/>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defTabSz="1624829">
              <a:lnSpc>
                <a:spcPct val="90000"/>
              </a:lnSpc>
              <a:spcBef>
                <a:spcPts val="1067"/>
              </a:spcBef>
              <a:defRPr/>
            </a:pPr>
            <a:r>
              <a:rPr lang="de-DE" sz="1400" b="1" noProof="0" dirty="0">
                <a:solidFill>
                  <a:srgbClr val="414048"/>
                </a:solidFill>
                <a:latin typeface="Aptos"/>
              </a:rPr>
              <a:t>Lösungsempfehlung</a:t>
            </a:r>
          </a:p>
        </p:txBody>
      </p:sp>
      <p:sp>
        <p:nvSpPr>
          <p:cNvPr id="68" name="Rechteck 5">
            <a:extLst>
              <a:ext uri="{FF2B5EF4-FFF2-40B4-BE49-F238E27FC236}">
                <a16:creationId xmlns:a16="http://schemas.microsoft.com/office/drawing/2014/main" id="{DEE2A3B3-7DC0-3486-7ECE-69053AE3F629}"/>
              </a:ext>
            </a:extLst>
          </p:cNvPr>
          <p:cNvSpPr/>
          <p:nvPr/>
        </p:nvSpPr>
        <p:spPr>
          <a:xfrm>
            <a:off x="5153941" y="2724878"/>
            <a:ext cx="3201071" cy="787989"/>
          </a:xfrm>
          <a:prstGeom prst="rect">
            <a:avLst/>
          </a:prstGeom>
          <a:noFill/>
          <a:ln w="952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8000" tIns="144000" rIns="128000" bIns="64000" rtlCol="0" anchor="t" anchorCtr="0"/>
          <a:lstStyle/>
          <a:p>
            <a:pPr defTabSz="1624829">
              <a:lnSpc>
                <a:spcPct val="90000"/>
              </a:lnSpc>
              <a:spcBef>
                <a:spcPts val="0"/>
              </a:spcBef>
              <a:spcAft>
                <a:spcPts val="0"/>
              </a:spcAft>
              <a:buSzPct val="100000"/>
              <a:defRPr/>
            </a:pPr>
            <a:r>
              <a:rPr lang="de-DE" sz="850" dirty="0">
                <a:solidFill>
                  <a:prstClr val="black"/>
                </a:solidFill>
                <a:latin typeface="Aptos"/>
                <a:cs typeface="Arial"/>
              </a:rPr>
              <a:t>Vermessung Sky Billing (Regelwerk, Preiskomponenten, Volumen); Lauffähigkeit von Sky Billing nach R/3-Abschaltung; Bewegungsdaten (Duma/AODB) als Nutzungsdatensätze; Lizenz Subscription Billing; Fakturaformulare (Verkauf)</a:t>
            </a:r>
          </a:p>
        </p:txBody>
      </p:sp>
      <p:sp>
        <p:nvSpPr>
          <p:cNvPr id="69" name="Rechteck 4">
            <a:extLst>
              <a:ext uri="{FF2B5EF4-FFF2-40B4-BE49-F238E27FC236}">
                <a16:creationId xmlns:a16="http://schemas.microsoft.com/office/drawing/2014/main" id="{25E6C380-2F70-B650-394B-C372DFB7B449}"/>
              </a:ext>
            </a:extLst>
          </p:cNvPr>
          <p:cNvSpPr/>
          <p:nvPr/>
        </p:nvSpPr>
        <p:spPr>
          <a:xfrm>
            <a:off x="5339628" y="2601237"/>
            <a:ext cx="2813615" cy="247016"/>
          </a:xfrm>
          <a:prstGeom prst="rect">
            <a:avLst/>
          </a:prstGeom>
          <a:solidFill>
            <a:schemeClr val="bg1"/>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defTabSz="1624829">
              <a:lnSpc>
                <a:spcPct val="90000"/>
              </a:lnSpc>
              <a:spcBef>
                <a:spcPts val="1067"/>
              </a:spcBef>
              <a:defRPr/>
            </a:pPr>
            <a:r>
              <a:rPr lang="de-DE" sz="1400" b="1" noProof="0" dirty="0">
                <a:solidFill>
                  <a:srgbClr val="414048"/>
                </a:solidFill>
                <a:latin typeface="Aptos"/>
              </a:rPr>
              <a:t>Entscheidungsvoraussetzungen</a:t>
            </a:r>
          </a:p>
        </p:txBody>
      </p:sp>
      <p:grpSp>
        <p:nvGrpSpPr>
          <p:cNvPr id="16" name="Group 15">
            <a:extLst>
              <a:ext uri="{FF2B5EF4-FFF2-40B4-BE49-F238E27FC236}">
                <a16:creationId xmlns:a16="http://schemas.microsoft.com/office/drawing/2014/main" id="{0E67A247-81CF-00BB-6584-E25038769436}"/>
              </a:ext>
            </a:extLst>
          </p:cNvPr>
          <p:cNvGrpSpPr/>
          <p:nvPr/>
        </p:nvGrpSpPr>
        <p:grpSpPr>
          <a:xfrm>
            <a:off x="457200" y="1235014"/>
            <a:ext cx="2347613" cy="594684"/>
            <a:chOff x="457200" y="1235014"/>
            <a:chExt cx="2347613" cy="594684"/>
          </a:xfrm>
        </p:grpSpPr>
        <p:sp>
          <p:nvSpPr>
            <p:cNvPr id="6" name="Rechteck 5">
              <a:extLst>
                <a:ext uri="{FF2B5EF4-FFF2-40B4-BE49-F238E27FC236}">
                  <a16:creationId xmlns:a16="http://schemas.microsoft.com/office/drawing/2014/main" id="{4BE50952-10BF-9781-F8C8-9E8BD1695C27}"/>
                </a:ext>
              </a:extLst>
            </p:cNvPr>
            <p:cNvSpPr>
              <a:spLocks/>
            </p:cNvSpPr>
            <p:nvPr/>
          </p:nvSpPr>
          <p:spPr>
            <a:xfrm>
              <a:off x="457200" y="1361907"/>
              <a:ext cx="2347613" cy="467791"/>
            </a:xfrm>
            <a:prstGeom prst="rect">
              <a:avLst/>
            </a:prstGeom>
            <a:noFill/>
            <a:ln w="952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8000" tIns="256000" rIns="128000" bIns="64000" rtlCol="0" anchor="ctr" anchorCtr="0"/>
            <a:lstStyle/>
            <a:p>
              <a:pPr defTabSz="1624829">
                <a:lnSpc>
                  <a:spcPct val="90000"/>
                </a:lnSpc>
                <a:spcBef>
                  <a:spcPts val="533"/>
                </a:spcBef>
                <a:buClr>
                  <a:srgbClr val="FF6600"/>
                </a:buClr>
                <a:buSzPct val="100000"/>
                <a:defRPr/>
              </a:pPr>
              <a:r>
                <a:rPr lang="de-DE" sz="1100" dirty="0">
                  <a:solidFill>
                    <a:prstClr val="black"/>
                  </a:solidFill>
                  <a:latin typeface="Aptos"/>
                  <a:cs typeface="Arial"/>
                </a:rPr>
                <a:t>KDD_FI_004</a:t>
              </a:r>
            </a:p>
          </p:txBody>
        </p:sp>
        <p:sp>
          <p:nvSpPr>
            <p:cNvPr id="84" name="Rechteck 4">
              <a:extLst>
                <a:ext uri="{FF2B5EF4-FFF2-40B4-BE49-F238E27FC236}">
                  <a16:creationId xmlns:a16="http://schemas.microsoft.com/office/drawing/2014/main" id="{478DE72E-7086-4B29-3D6D-FD6B3C70A73E}"/>
                </a:ext>
              </a:extLst>
            </p:cNvPr>
            <p:cNvSpPr>
              <a:spLocks/>
            </p:cNvSpPr>
            <p:nvPr/>
          </p:nvSpPr>
          <p:spPr>
            <a:xfrm>
              <a:off x="599006" y="1235014"/>
              <a:ext cx="2064000" cy="247016"/>
            </a:xfrm>
            <a:prstGeom prst="rect">
              <a:avLst/>
            </a:prstGeom>
            <a:solidFill>
              <a:srgbClr val="065185"/>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defTabSz="1624829">
                <a:lnSpc>
                  <a:spcPct val="90000"/>
                </a:lnSpc>
                <a:spcBef>
                  <a:spcPts val="1067"/>
                </a:spcBef>
                <a:defRPr/>
              </a:pPr>
              <a:r>
                <a:rPr lang="de-DE" sz="1300" b="1" noProof="0">
                  <a:solidFill>
                    <a:prstClr val="white"/>
                  </a:solidFill>
                  <a:latin typeface="Aptos"/>
                </a:rPr>
                <a:t>#ID</a:t>
              </a:r>
            </a:p>
          </p:txBody>
        </p:sp>
      </p:grpSp>
      <p:sp>
        <p:nvSpPr>
          <p:cNvPr id="85" name="Rechteck 4">
            <a:extLst>
              <a:ext uri="{FF2B5EF4-FFF2-40B4-BE49-F238E27FC236}">
                <a16:creationId xmlns:a16="http://schemas.microsoft.com/office/drawing/2014/main" id="{74CF2AE7-CEFA-40B0-C816-CB214DEC16EE}"/>
              </a:ext>
            </a:extLst>
          </p:cNvPr>
          <p:cNvSpPr>
            <a:spLocks/>
          </p:cNvSpPr>
          <p:nvPr/>
        </p:nvSpPr>
        <p:spPr>
          <a:xfrm>
            <a:off x="6046810" y="5563101"/>
            <a:ext cx="4751556" cy="247016"/>
          </a:xfrm>
          <a:prstGeom prst="rect">
            <a:avLst/>
          </a:prstGeom>
          <a:solidFill>
            <a:srgbClr val="065185"/>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algn="ctr" defTabSz="1624829">
              <a:lnSpc>
                <a:spcPct val="90000"/>
              </a:lnSpc>
              <a:spcBef>
                <a:spcPts val="1067"/>
              </a:spcBef>
              <a:defRPr/>
            </a:pPr>
            <a:r>
              <a:rPr lang="de-DE" sz="1300" b="1" noProof="0" dirty="0">
                <a:solidFill>
                  <a:prstClr val="white"/>
                </a:solidFill>
                <a:latin typeface="Aptos"/>
              </a:rPr>
              <a:t>Risiko Gesamt</a:t>
            </a:r>
          </a:p>
        </p:txBody>
      </p:sp>
      <p:sp>
        <p:nvSpPr>
          <p:cNvPr id="87" name="Title 2">
            <a:extLst>
              <a:ext uri="{FF2B5EF4-FFF2-40B4-BE49-F238E27FC236}">
                <a16:creationId xmlns:a16="http://schemas.microsoft.com/office/drawing/2014/main" id="{73B14AB3-3A4A-E6E2-37DF-94749A4B77DD}"/>
              </a:ext>
            </a:extLst>
          </p:cNvPr>
          <p:cNvSpPr txBox="1">
            <a:spLocks/>
          </p:cNvSpPr>
          <p:nvPr/>
        </p:nvSpPr>
        <p:spPr bwMode="gray">
          <a:xfrm>
            <a:off x="501651" y="317501"/>
            <a:ext cx="11188700" cy="334099"/>
          </a:xfrm>
          <a:prstGeom prst="rect">
            <a:avLst/>
          </a:prstGeom>
          <a:noFill/>
          <a:ln>
            <a:noFill/>
          </a:ln>
        </p:spPr>
        <p:txBody>
          <a:bodyPr vert="horz" lIns="0" tIns="0" rIns="0" bIns="0" rtlCol="0" anchor="t" anchorCtr="0">
            <a:noAutofit/>
          </a:bodyPr>
          <a:lstStyle>
            <a:lvl1pPr algn="l" defTabSz="914400" rtl="0" eaLnBrk="1" latinLnBrk="0" hangingPunct="1">
              <a:spcBef>
                <a:spcPts val="0"/>
              </a:spcBef>
              <a:spcAft>
                <a:spcPts val="0"/>
              </a:spcAft>
              <a:buNone/>
              <a:defRPr sz="2100" kern="1200">
                <a:solidFill>
                  <a:schemeClr val="tx1"/>
                </a:solidFill>
                <a:latin typeface="Aptos" panose="020B0004020202020204" pitchFamily="34" charset="0"/>
                <a:ea typeface="+mj-ea"/>
                <a:cs typeface="Calibri Light" panose="020F0302020204030204" pitchFamily="34" charset="0"/>
              </a:defRPr>
            </a:lvl1pPr>
          </a:lstStyle>
          <a:p>
            <a:pPr defTabSz="914377">
              <a:defRPr/>
            </a:pPr>
            <a:endParaRPr lang="de-DE" b="1" noProof="0">
              <a:solidFill>
                <a:prstClr val="black"/>
              </a:solidFill>
              <a:latin typeface="Aptos"/>
            </a:endParaRPr>
          </a:p>
        </p:txBody>
      </p:sp>
      <p:sp>
        <p:nvSpPr>
          <p:cNvPr id="2" name="Title 1">
            <a:extLst>
              <a:ext uri="{FF2B5EF4-FFF2-40B4-BE49-F238E27FC236}">
                <a16:creationId xmlns:a16="http://schemas.microsoft.com/office/drawing/2014/main" id="{88C8E27B-D237-5244-991F-72A51904279B}"/>
              </a:ext>
            </a:extLst>
          </p:cNvPr>
          <p:cNvSpPr>
            <a:spLocks noGrp="1"/>
          </p:cNvSpPr>
          <p:nvPr>
            <p:ph type="title"/>
          </p:nvPr>
        </p:nvSpPr>
        <p:spPr/>
        <p:txBody>
          <a:bodyPr vert="horz" rIns="0"/>
          <a:lstStyle/>
          <a:p>
            <a:r>
              <a:rPr lang="de-DE" sz="2600" dirty="0"/>
              <a:t>KDD_FI_004: Airport-Billing: Ablösung Sky Billing</a:t>
            </a:r>
            <a:endParaRPr lang="de-DE" sz="2600" dirty="0"/>
          </a:p>
        </p:txBody>
      </p:sp>
      <p:sp>
        <p:nvSpPr>
          <p:cNvPr id="40" name="Text Placeholder 39">
            <a:extLst>
              <a:ext uri="{FF2B5EF4-FFF2-40B4-BE49-F238E27FC236}">
                <a16:creationId xmlns:a16="http://schemas.microsoft.com/office/drawing/2014/main" id="{08AF7C6B-39EA-B196-2FE8-BB4BF4479256}"/>
              </a:ext>
            </a:extLst>
          </p:cNvPr>
          <p:cNvSpPr>
            <a:spLocks noGrp="1"/>
          </p:cNvSpPr>
          <p:nvPr>
            <p:ph type="body" sz="quarter" idx="13"/>
          </p:nvPr>
        </p:nvSpPr>
        <p:spPr/>
        <p:txBody>
          <a:bodyPr>
            <a:normAutofit fontScale="85000" lnSpcReduction="10000"/>
          </a:bodyPr>
          <a:lstStyle/>
          <a:p>
            <a:r>
              <a:rPr lang="de-DE" dirty="0"/>
              <a:t>1/2</a:t>
            </a:r>
          </a:p>
        </p:txBody>
      </p:sp>
      <p:grpSp>
        <p:nvGrpSpPr>
          <p:cNvPr id="51" name="Group 50">
            <a:extLst>
              <a:ext uri="{FF2B5EF4-FFF2-40B4-BE49-F238E27FC236}">
                <a16:creationId xmlns:a16="http://schemas.microsoft.com/office/drawing/2014/main" id="{5C34E241-5F5B-D77E-1F76-06675FBCE216}"/>
              </a:ext>
            </a:extLst>
          </p:cNvPr>
          <p:cNvGrpSpPr/>
          <p:nvPr/>
        </p:nvGrpSpPr>
        <p:grpSpPr>
          <a:xfrm>
            <a:off x="6854330" y="5870252"/>
            <a:ext cx="881301" cy="237326"/>
            <a:chOff x="3154852" y="2031715"/>
            <a:chExt cx="868104" cy="237325"/>
          </a:xfrm>
        </p:grpSpPr>
        <p:sp>
          <p:nvSpPr>
            <p:cNvPr id="98" name="TextBox 97">
              <a:extLst>
                <a:ext uri="{FF2B5EF4-FFF2-40B4-BE49-F238E27FC236}">
                  <a16:creationId xmlns:a16="http://schemas.microsoft.com/office/drawing/2014/main" id="{EB49E281-2096-9D66-4A6A-7DDAA33C21C2}"/>
                </a:ext>
              </a:extLst>
            </p:cNvPr>
            <p:cNvSpPr txBox="1"/>
            <p:nvPr/>
          </p:nvSpPr>
          <p:spPr>
            <a:xfrm>
              <a:off x="3484897" y="2080821"/>
              <a:ext cx="538059" cy="167224"/>
            </a:xfrm>
            <a:prstGeom prst="rect">
              <a:avLst/>
            </a:prstGeom>
            <a:noFill/>
          </p:spPr>
          <p:txBody>
            <a:bodyPr wrap="square" lIns="0" tIns="0" rIns="0" bIns="0" rtlCol="0" anchor="ctr">
              <a:spAutoFit/>
            </a:bodyPr>
            <a:lstStyle/>
            <a:p>
              <a:pPr defTabSz="1218652">
                <a:lnSpc>
                  <a:spcPct val="90000"/>
                </a:lnSpc>
                <a:spcBef>
                  <a:spcPts val="800"/>
                </a:spcBef>
                <a:defRPr/>
              </a:pPr>
              <a:r>
                <a:rPr lang="de-DE" sz="1200" dirty="0">
                  <a:solidFill>
                    <a:prstClr val="black"/>
                  </a:solidFill>
                  <a:latin typeface="Aptos"/>
                </a:rPr>
                <a:t>Niedrig</a:t>
              </a:r>
              <a:endParaRPr lang="de-DE" sz="1200" noProof="0" dirty="0">
                <a:solidFill>
                  <a:prstClr val="black"/>
                </a:solidFill>
                <a:latin typeface="Aptos"/>
              </a:endParaRPr>
            </a:p>
          </p:txBody>
        </p:sp>
        <p:sp>
          <p:nvSpPr>
            <p:cNvPr id="99" name="Rectangle 98">
              <a:extLst>
                <a:ext uri="{FF2B5EF4-FFF2-40B4-BE49-F238E27FC236}">
                  <a16:creationId xmlns:a16="http://schemas.microsoft.com/office/drawing/2014/main" id="{4FC762B5-F04B-13E3-B2D1-9D02B8536DBD}"/>
                </a:ext>
              </a:extLst>
            </p:cNvPr>
            <p:cNvSpPr>
              <a:spLocks noChangeAspect="1"/>
            </p:cNvSpPr>
            <p:nvPr/>
          </p:nvSpPr>
          <p:spPr>
            <a:xfrm>
              <a:off x="3154852" y="2031715"/>
              <a:ext cx="237324" cy="237325"/>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p>
          </p:txBody>
        </p:sp>
      </p:grpSp>
      <p:grpSp>
        <p:nvGrpSpPr>
          <p:cNvPr id="61" name="Group 60">
            <a:extLst>
              <a:ext uri="{FF2B5EF4-FFF2-40B4-BE49-F238E27FC236}">
                <a16:creationId xmlns:a16="http://schemas.microsoft.com/office/drawing/2014/main" id="{4BCA9872-0EE5-C398-5549-DD67DA3E0A0D}"/>
              </a:ext>
            </a:extLst>
          </p:cNvPr>
          <p:cNvGrpSpPr/>
          <p:nvPr/>
        </p:nvGrpSpPr>
        <p:grpSpPr>
          <a:xfrm>
            <a:off x="7899009" y="5870252"/>
            <a:ext cx="764844" cy="237326"/>
            <a:chOff x="4349537" y="2031715"/>
            <a:chExt cx="753391" cy="237325"/>
          </a:xfrm>
        </p:grpSpPr>
        <p:sp>
          <p:nvSpPr>
            <p:cNvPr id="96" name="Rectangle 95">
              <a:extLst>
                <a:ext uri="{FF2B5EF4-FFF2-40B4-BE49-F238E27FC236}">
                  <a16:creationId xmlns:a16="http://schemas.microsoft.com/office/drawing/2014/main" id="{F63E62B2-36DC-0D9E-EBCD-2406C47F04DB}"/>
                </a:ext>
              </a:extLst>
            </p:cNvPr>
            <p:cNvSpPr>
              <a:spLocks noChangeAspect="1"/>
            </p:cNvSpPr>
            <p:nvPr/>
          </p:nvSpPr>
          <p:spPr>
            <a:xfrm>
              <a:off x="4349537" y="2031715"/>
              <a:ext cx="237324" cy="237325"/>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p>
          </p:txBody>
        </p:sp>
        <p:sp>
          <p:nvSpPr>
            <p:cNvPr id="97" name="TextBox 96">
              <a:extLst>
                <a:ext uri="{FF2B5EF4-FFF2-40B4-BE49-F238E27FC236}">
                  <a16:creationId xmlns:a16="http://schemas.microsoft.com/office/drawing/2014/main" id="{928DA3D6-91FA-0E9B-39E8-A5F53A862141}"/>
                </a:ext>
              </a:extLst>
            </p:cNvPr>
            <p:cNvSpPr txBox="1"/>
            <p:nvPr/>
          </p:nvSpPr>
          <p:spPr>
            <a:xfrm>
              <a:off x="4679581" y="2088219"/>
              <a:ext cx="423347" cy="167224"/>
            </a:xfrm>
            <a:prstGeom prst="rect">
              <a:avLst/>
            </a:prstGeom>
            <a:noFill/>
          </p:spPr>
          <p:txBody>
            <a:bodyPr wrap="square" lIns="0" tIns="0" rIns="0" bIns="0" rtlCol="0" anchor="ctr">
              <a:spAutoFit/>
            </a:bodyPr>
            <a:lstStyle/>
            <a:p>
              <a:pPr defTabSz="1218652">
                <a:lnSpc>
                  <a:spcPct val="90000"/>
                </a:lnSpc>
                <a:spcBef>
                  <a:spcPts val="800"/>
                </a:spcBef>
                <a:defRPr/>
              </a:pPr>
              <a:r>
                <a:rPr lang="de-DE" sz="1200" noProof="0" dirty="0">
                  <a:solidFill>
                    <a:prstClr val="black"/>
                  </a:solidFill>
                  <a:latin typeface="Aptos"/>
                </a:rPr>
                <a:t>Mittel</a:t>
              </a:r>
            </a:p>
          </p:txBody>
        </p:sp>
      </p:grpSp>
      <p:grpSp>
        <p:nvGrpSpPr>
          <p:cNvPr id="83" name="Group 82">
            <a:extLst>
              <a:ext uri="{FF2B5EF4-FFF2-40B4-BE49-F238E27FC236}">
                <a16:creationId xmlns:a16="http://schemas.microsoft.com/office/drawing/2014/main" id="{408C6F30-EBB1-8D02-A15A-4B404290E0F8}"/>
              </a:ext>
            </a:extLst>
          </p:cNvPr>
          <p:cNvGrpSpPr/>
          <p:nvPr/>
        </p:nvGrpSpPr>
        <p:grpSpPr>
          <a:xfrm>
            <a:off x="8967492" y="5870252"/>
            <a:ext cx="840973" cy="237326"/>
            <a:chOff x="4349537" y="2031715"/>
            <a:chExt cx="828379" cy="237325"/>
          </a:xfrm>
        </p:grpSpPr>
        <p:sp>
          <p:nvSpPr>
            <p:cNvPr id="94" name="Rectangle 93">
              <a:extLst>
                <a:ext uri="{FF2B5EF4-FFF2-40B4-BE49-F238E27FC236}">
                  <a16:creationId xmlns:a16="http://schemas.microsoft.com/office/drawing/2014/main" id="{CD1288CA-6C3F-BC57-574E-644A6553006F}"/>
                </a:ext>
              </a:extLst>
            </p:cNvPr>
            <p:cNvSpPr>
              <a:spLocks noChangeAspect="1"/>
            </p:cNvSpPr>
            <p:nvPr/>
          </p:nvSpPr>
          <p:spPr>
            <a:xfrm>
              <a:off x="4349537" y="2031715"/>
              <a:ext cx="237324" cy="237325"/>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r>
                <a:rPr lang="de-DE" sz="1000" dirty="0">
                  <a:solidFill>
                    <a:prstClr val="black"/>
                  </a:solidFill>
                  <a:latin typeface="Aptos"/>
                </a:rPr>
                <a:t>x</a:t>
              </a:r>
            </a:p>
          </p:txBody>
        </p:sp>
        <p:sp>
          <p:nvSpPr>
            <p:cNvPr id="95" name="TextBox 94">
              <a:extLst>
                <a:ext uri="{FF2B5EF4-FFF2-40B4-BE49-F238E27FC236}">
                  <a16:creationId xmlns:a16="http://schemas.microsoft.com/office/drawing/2014/main" id="{FE4147EF-EADB-9B2F-C293-02A6D3243347}"/>
                </a:ext>
              </a:extLst>
            </p:cNvPr>
            <p:cNvSpPr txBox="1"/>
            <p:nvPr/>
          </p:nvSpPr>
          <p:spPr>
            <a:xfrm>
              <a:off x="4679581" y="2088219"/>
              <a:ext cx="498335" cy="167224"/>
            </a:xfrm>
            <a:prstGeom prst="rect">
              <a:avLst/>
            </a:prstGeom>
            <a:noFill/>
          </p:spPr>
          <p:txBody>
            <a:bodyPr wrap="square" lIns="0" tIns="0" rIns="0" bIns="0" rtlCol="0" anchor="ctr">
              <a:spAutoFit/>
            </a:bodyPr>
            <a:lstStyle/>
            <a:p>
              <a:pPr defTabSz="1218652">
                <a:lnSpc>
                  <a:spcPct val="90000"/>
                </a:lnSpc>
                <a:spcBef>
                  <a:spcPts val="800"/>
                </a:spcBef>
                <a:defRPr/>
              </a:pPr>
              <a:r>
                <a:rPr lang="de-DE" sz="1200" noProof="0" dirty="0">
                  <a:solidFill>
                    <a:prstClr val="black"/>
                  </a:solidFill>
                  <a:latin typeface="Aptos"/>
                </a:rPr>
                <a:t>Hoch</a:t>
              </a:r>
            </a:p>
          </p:txBody>
        </p:sp>
      </p:grpSp>
      <p:grpSp>
        <p:nvGrpSpPr>
          <p:cNvPr id="17" name="Group 16">
            <a:extLst>
              <a:ext uri="{FF2B5EF4-FFF2-40B4-BE49-F238E27FC236}">
                <a16:creationId xmlns:a16="http://schemas.microsoft.com/office/drawing/2014/main" id="{A2D0BE2B-55ED-BEB9-9B2C-29C4A8F3E135}"/>
              </a:ext>
            </a:extLst>
          </p:cNvPr>
          <p:cNvGrpSpPr>
            <a:grpSpLocks/>
          </p:cNvGrpSpPr>
          <p:nvPr/>
        </p:nvGrpSpPr>
        <p:grpSpPr>
          <a:xfrm>
            <a:off x="8028550" y="1245006"/>
            <a:ext cx="2467644" cy="594684"/>
            <a:chOff x="8010966" y="1245006"/>
            <a:chExt cx="2467644" cy="594684"/>
          </a:xfrm>
        </p:grpSpPr>
        <p:sp>
          <p:nvSpPr>
            <p:cNvPr id="103" name="Rechteck 5">
              <a:extLst>
                <a:ext uri="{FF2B5EF4-FFF2-40B4-BE49-F238E27FC236}">
                  <a16:creationId xmlns:a16="http://schemas.microsoft.com/office/drawing/2014/main" id="{1099008F-38C6-C4C0-FDEE-20DFFFDB1710}"/>
                </a:ext>
              </a:extLst>
            </p:cNvPr>
            <p:cNvSpPr>
              <a:spLocks/>
            </p:cNvSpPr>
            <p:nvPr/>
          </p:nvSpPr>
          <p:spPr>
            <a:xfrm>
              <a:off x="8010966" y="1371899"/>
              <a:ext cx="2467644" cy="467791"/>
            </a:xfrm>
            <a:prstGeom prst="rect">
              <a:avLst/>
            </a:prstGeom>
            <a:noFill/>
            <a:ln w="952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8000" tIns="256000" rIns="128000" bIns="108000" rtlCol="0" anchor="ctr" anchorCtr="0"/>
            <a:lstStyle/>
            <a:p>
              <a:pPr defTabSz="1624829">
                <a:lnSpc>
                  <a:spcPct val="90000"/>
                </a:lnSpc>
                <a:spcBef>
                  <a:spcPts val="533"/>
                </a:spcBef>
                <a:buClr>
                  <a:srgbClr val="FF6600"/>
                </a:buClr>
                <a:buSzPct val="100000"/>
                <a:defRPr/>
              </a:pPr>
              <a:r>
                <a:rPr lang="de-DE" sz="1050" dirty="0">
                  <a:solidFill>
                    <a:prstClr val="black"/>
                  </a:solidFill>
                  <a:latin typeface="Aptos"/>
                  <a:cs typeface="Arial"/>
                </a:rPr>
                <a:t>offen</a:t>
              </a:r>
            </a:p>
          </p:txBody>
        </p:sp>
        <p:sp>
          <p:nvSpPr>
            <p:cNvPr id="104" name="Rechteck 4">
              <a:extLst>
                <a:ext uri="{FF2B5EF4-FFF2-40B4-BE49-F238E27FC236}">
                  <a16:creationId xmlns:a16="http://schemas.microsoft.com/office/drawing/2014/main" id="{DEB75E23-A8DF-C388-19E0-DDCCC7193982}"/>
                </a:ext>
              </a:extLst>
            </p:cNvPr>
            <p:cNvSpPr>
              <a:spLocks/>
            </p:cNvSpPr>
            <p:nvPr/>
          </p:nvSpPr>
          <p:spPr>
            <a:xfrm>
              <a:off x="8131230" y="1245006"/>
              <a:ext cx="2227117" cy="247016"/>
            </a:xfrm>
            <a:prstGeom prst="rect">
              <a:avLst/>
            </a:prstGeom>
            <a:solidFill>
              <a:srgbClr val="065185"/>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defTabSz="1624829">
                <a:lnSpc>
                  <a:spcPct val="90000"/>
                </a:lnSpc>
                <a:spcBef>
                  <a:spcPts val="1067"/>
                </a:spcBef>
                <a:defRPr/>
              </a:pPr>
              <a:r>
                <a:rPr lang="de-DE" sz="1300" b="1" noProof="0" dirty="0">
                  <a:solidFill>
                    <a:prstClr val="white"/>
                  </a:solidFill>
                  <a:latin typeface="Aptos"/>
                </a:rPr>
                <a:t>Product Manager (IT)</a:t>
              </a:r>
            </a:p>
          </p:txBody>
        </p:sp>
      </p:grpSp>
      <p:grpSp>
        <p:nvGrpSpPr>
          <p:cNvPr id="23" name="Group 22">
            <a:extLst>
              <a:ext uri="{FF2B5EF4-FFF2-40B4-BE49-F238E27FC236}">
                <a16:creationId xmlns:a16="http://schemas.microsoft.com/office/drawing/2014/main" id="{BB23EE4B-538E-B68D-AC6C-120AFFCDA837}"/>
              </a:ext>
            </a:extLst>
          </p:cNvPr>
          <p:cNvGrpSpPr>
            <a:grpSpLocks/>
          </p:cNvGrpSpPr>
          <p:nvPr/>
        </p:nvGrpSpPr>
        <p:grpSpPr>
          <a:xfrm>
            <a:off x="462504" y="1965467"/>
            <a:ext cx="1797156" cy="594684"/>
            <a:chOff x="462504" y="1965467"/>
            <a:chExt cx="1797156" cy="594684"/>
          </a:xfrm>
        </p:grpSpPr>
        <p:sp>
          <p:nvSpPr>
            <p:cNvPr id="19" name="Rechteck 5">
              <a:extLst>
                <a:ext uri="{FF2B5EF4-FFF2-40B4-BE49-F238E27FC236}">
                  <a16:creationId xmlns:a16="http://schemas.microsoft.com/office/drawing/2014/main" id="{AC0B860D-46DB-0CCA-7845-050C7BA23290}"/>
                </a:ext>
              </a:extLst>
            </p:cNvPr>
            <p:cNvSpPr>
              <a:spLocks/>
            </p:cNvSpPr>
            <p:nvPr/>
          </p:nvSpPr>
          <p:spPr>
            <a:xfrm>
              <a:off x="462504" y="2092360"/>
              <a:ext cx="1797156" cy="467791"/>
            </a:xfrm>
            <a:prstGeom prst="rect">
              <a:avLst/>
            </a:prstGeom>
            <a:noFill/>
            <a:ln w="952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8000" tIns="256000" rIns="128000" bIns="64000" rtlCol="0" anchor="ctr" anchorCtr="0"/>
            <a:lstStyle/>
            <a:p>
              <a:pPr defTabSz="1624829">
                <a:lnSpc>
                  <a:spcPct val="90000"/>
                </a:lnSpc>
                <a:spcBef>
                  <a:spcPts val="533"/>
                </a:spcBef>
                <a:buClr>
                  <a:srgbClr val="FF6600"/>
                </a:buClr>
                <a:buSzPct val="100000"/>
                <a:defRPr/>
              </a:pPr>
              <a:r>
                <a:rPr lang="de-DE" sz="1050" dirty="0">
                  <a:solidFill>
                    <a:prstClr val="black"/>
                  </a:solidFill>
                  <a:latin typeface="Aptos"/>
                  <a:cs typeface="Arial"/>
                </a:rPr>
                <a:t>Schnittstellen, Entwicklungen</a:t>
              </a:r>
            </a:p>
          </p:txBody>
        </p:sp>
        <p:sp>
          <p:nvSpPr>
            <p:cNvPr id="20" name="Rechteck 4">
              <a:extLst>
                <a:ext uri="{FF2B5EF4-FFF2-40B4-BE49-F238E27FC236}">
                  <a16:creationId xmlns:a16="http://schemas.microsoft.com/office/drawing/2014/main" id="{D76750D2-6BE9-156F-E70E-6F9619D7FD76}"/>
                </a:ext>
              </a:extLst>
            </p:cNvPr>
            <p:cNvSpPr>
              <a:spLocks/>
            </p:cNvSpPr>
            <p:nvPr/>
          </p:nvSpPr>
          <p:spPr>
            <a:xfrm>
              <a:off x="571060" y="1965467"/>
              <a:ext cx="1580043" cy="247016"/>
            </a:xfrm>
            <a:prstGeom prst="rect">
              <a:avLst/>
            </a:prstGeom>
            <a:solidFill>
              <a:srgbClr val="065185"/>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defTabSz="1624829">
                <a:lnSpc>
                  <a:spcPct val="90000"/>
                </a:lnSpc>
                <a:spcBef>
                  <a:spcPts val="1067"/>
                </a:spcBef>
                <a:defRPr/>
              </a:pPr>
              <a:r>
                <a:rPr lang="de-DE" sz="1300" b="1" noProof="0" dirty="0">
                  <a:solidFill>
                    <a:prstClr val="white"/>
                  </a:solidFill>
                  <a:latin typeface="Aptos"/>
                </a:rPr>
                <a:t>Gap Klassifizierung</a:t>
              </a:r>
            </a:p>
          </p:txBody>
        </p:sp>
      </p:grpSp>
      <p:sp>
        <p:nvSpPr>
          <p:cNvPr id="3" name="Speech Bubble: Rectangle 2">
            <a:extLst>
              <a:ext uri="{FF2B5EF4-FFF2-40B4-BE49-F238E27FC236}">
                <a16:creationId xmlns:a16="http://schemas.microsoft.com/office/drawing/2014/main" id="{DC71A78E-19A4-C569-CBA9-557E182D4E5A}"/>
              </a:ext>
            </a:extLst>
          </p:cNvPr>
          <p:cNvSpPr/>
          <p:nvPr/>
        </p:nvSpPr>
        <p:spPr>
          <a:xfrm>
            <a:off x="-468998" y="1647884"/>
            <a:ext cx="914400" cy="612648"/>
          </a:xfrm>
          <a:prstGeom prst="wedgeRectCallout">
            <a:avLst>
              <a:gd name="adj1" fmla="val 97270"/>
              <a:gd name="adj2" fmla="val 52206"/>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dirty="0"/>
              <a:t>Schnittstellen, Formulare, Workflow, Reports, Entwicklungen</a:t>
            </a:r>
          </a:p>
        </p:txBody>
      </p:sp>
    </p:spTree>
    <p:extLst>
      <p:ext uri="{BB962C8B-B14F-4D97-AF65-F5344CB8AC3E}">
        <p14:creationId xmlns:p14="http://schemas.microsoft.com/office/powerpoint/2010/main" val="3558450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BBB7-49D6-8DB4-A769-3F8EC955580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0990094-4325-B4B5-9AC3-4DAD50FF3BFB}"/>
              </a:ext>
            </a:extLst>
          </p:cNvPr>
          <p:cNvGraphicFramePr>
            <a:graphicFrameLocks/>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84" imgH="484" progId="TCLayout.ActiveDocument.1">
                  <p:embed/>
                </p:oleObj>
              </mc:Choice>
              <mc:Fallback>
                <p:oleObj name="think-cell Slide" r:id="rId4" imgW="484" imgH="484" progId="TCLayout.ActiveDocument.1">
                  <p:embed/>
                  <p:pic>
                    <p:nvPicPr>
                      <p:cNvPr id="5" name="think-cell data - do not delete" hidden="1">
                        <a:extLst>
                          <a:ext uri="{FF2B5EF4-FFF2-40B4-BE49-F238E27FC236}">
                            <a16:creationId xmlns:a16="http://schemas.microsoft.com/office/drawing/2014/main" id="{A0990094-4325-B4B5-9AC3-4DAD50FF3BFB}"/>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graphicFrame>
        <p:nvGraphicFramePr>
          <p:cNvPr id="105" name="Table 15">
            <a:extLst>
              <a:ext uri="{FF2B5EF4-FFF2-40B4-BE49-F238E27FC236}">
                <a16:creationId xmlns:a16="http://schemas.microsoft.com/office/drawing/2014/main" id="{DC5D319F-1DA0-03CE-6F9B-54B0E331F93E}"/>
              </a:ext>
            </a:extLst>
          </p:cNvPr>
          <p:cNvGraphicFramePr>
            <a:graphicFrameLocks noGrp="1"/>
          </p:cNvGraphicFramePr>
          <p:nvPr/>
        </p:nvGraphicFramePr>
        <p:xfrm>
          <a:off x="530224" y="1890249"/>
          <a:ext cx="11131548" cy="4201940"/>
        </p:xfrm>
        <a:graphic>
          <a:graphicData uri="http://schemas.openxmlformats.org/drawingml/2006/table">
            <a:tbl>
              <a:tblPr firstRow="1" bandRow="1">
                <a:tableStyleId>{5C22544A-7EE6-4342-B048-85BDC9FD1C3A}</a:tableStyleId>
              </a:tblPr>
              <a:tblGrid>
                <a:gridCol w="1826258">
                  <a:extLst>
                    <a:ext uri="{9D8B030D-6E8A-4147-A177-3AD203B41FA5}">
                      <a16:colId xmlns:a16="http://schemas.microsoft.com/office/drawing/2014/main" val="2465504791"/>
                    </a:ext>
                  </a:extLst>
                </a:gridCol>
                <a:gridCol w="4595240">
                  <a:extLst>
                    <a:ext uri="{9D8B030D-6E8A-4147-A177-3AD203B41FA5}">
                      <a16:colId xmlns:a16="http://schemas.microsoft.com/office/drawing/2014/main" val="277774230"/>
                    </a:ext>
                  </a:extLst>
                </a:gridCol>
                <a:gridCol w="4710050">
                  <a:extLst>
                    <a:ext uri="{9D8B030D-6E8A-4147-A177-3AD203B41FA5}">
                      <a16:colId xmlns:a16="http://schemas.microsoft.com/office/drawing/2014/main" val="3689036292"/>
                    </a:ext>
                  </a:extLst>
                </a:gridCol>
              </a:tblGrid>
              <a:tr h="312790">
                <a:tc>
                  <a:txBody>
                    <a:bodyPr/>
                    <a:lstStyle/>
                    <a:p>
                      <a:pPr algn="l" rtl="0"/>
                      <a:endParaRPr lang="de-DE" sz="1100" noProof="0">
                        <a:solidFill>
                          <a:schemeClr val="tx2"/>
                        </a:solidFill>
                      </a:endParaRPr>
                    </a:p>
                  </a:txBody>
                  <a:tcPr marL="48000" marR="48000" marT="48000" marB="48000" anchor="ctr">
                    <a:lnL w="12700" cmpd="sng">
                      <a:noFill/>
                    </a:lnL>
                    <a:lnR w="6350" cap="flat" cmpd="sng" algn="ctr">
                      <a:noFill/>
                      <a:prstDash val="sysDash"/>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de-DE" sz="1100" dirty="0" b="1">
                          <a:solidFill>
                            <a:schemeClr val="bg1"/>
                          </a:solidFill>
                        </a:rPr>
                        <a:t>Option 1 – SAP Subscription Billing + S/4HANA Cloud</a:t>
                      </a:r>
                    </a:p>
                  </a:txBody>
                  <a:tcPr marL="48000" marR="48000" marT="48000" marB="4800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6518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100" dirty="0" b="1">
                          <a:solidFill>
                            <a:schemeClr val="tx2"/>
                          </a:solidFill>
                        </a:rPr>
                        <a:t>Option 2 – Sky Billing bleibt, Ergebnisse an S/4HANA</a:t>
                      </a:r>
                    </a:p>
                  </a:txBody>
                  <a:tcPr marL="48000" marR="48000" marT="48000" marB="4800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2677960"/>
                  </a:ext>
                </a:extLst>
              </a:tr>
              <a:tr h="263386">
                <a:tc>
                  <a:txBody>
                    <a:bodyPr/>
                    <a:lstStyle/>
                    <a:p>
                      <a:pPr algn="l" rtl="0"/>
                      <a:r>
                        <a:rPr lang="de-DE" sz="1100" b="1" noProof="0" dirty="0">
                          <a:solidFill>
                            <a:schemeClr val="tx2"/>
                          </a:solidFill>
                        </a:rPr>
                        <a:t>Entscheidungslevel</a:t>
                      </a:r>
                    </a:p>
                  </a:txBody>
                  <a:tcPr marL="48000" marR="48000" marT="48000" marB="4800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8682" rtl="0" eaLnBrk="1" fontAlgn="auto" latinLnBrk="0" hangingPunct="1">
                        <a:lnSpc>
                          <a:spcPct val="100000"/>
                        </a:lnSpc>
                        <a:spcBef>
                          <a:spcPts val="0"/>
                        </a:spcBef>
                        <a:spcAft>
                          <a:spcPts val="0"/>
                        </a:spcAft>
                        <a:buClrTx/>
                        <a:buSzTx/>
                        <a:buFont typeface="Arial"/>
                        <a:buNone/>
                        <a:tabLst/>
                        <a:defRPr/>
                      </a:pPr>
                      <a:endParaRPr lang="de-DE" sz="900" kern="1200" noProof="0" dirty="0">
                        <a:solidFill>
                          <a:schemeClr val="tx2"/>
                        </a:solidFill>
                        <a:latin typeface="+mn-lt"/>
                        <a:ea typeface="+mn-ea"/>
                        <a:cs typeface="+mn-cs"/>
                      </a:endParaRPr>
                    </a:p>
                  </a:txBody>
                  <a:tcPr marL="48000" marR="48000" marT="48000" marB="48000">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F5FE"/>
                    </a:solidFill>
                  </a:tcPr>
                </a:tc>
                <a:tc>
                  <a:txBody>
                    <a:bodyPr/>
                    <a:lstStyle/>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e-DE" sz="900" kern="1200" noProof="0" dirty="0">
                        <a:solidFill>
                          <a:schemeClr val="tx2"/>
                        </a:solidFill>
                        <a:latin typeface="+mn-lt"/>
                        <a:ea typeface="+mn-ea"/>
                        <a:cs typeface="+mn-cs"/>
                      </a:endParaRPr>
                    </a:p>
                  </a:txBody>
                  <a:tcPr marL="48000" marR="48000" marT="48000" marB="48000">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2218204"/>
                  </a:ext>
                </a:extLst>
              </a:tr>
              <a:tr h="496995">
                <a:tc>
                  <a:txBody>
                    <a:bodyPr/>
                    <a:lstStyle/>
                    <a:p>
                      <a:pPr algn="l" rtl="0"/>
                      <a:r>
                        <a:rPr lang="de-DE" sz="1100" b="1" noProof="0" dirty="0">
                          <a:solidFill>
                            <a:schemeClr val="tx2"/>
                          </a:solidFill>
                        </a:rPr>
                        <a:t>Vorteile</a:t>
                      </a:r>
                    </a:p>
                  </a:txBody>
                  <a:tcPr marL="48000" marR="48000" marT="48000" marB="4800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1218682" rtl="0" eaLnBrk="1" fontAlgn="auto" latinLnBrk="0" hangingPunct="1">
                        <a:lnSpc>
                          <a:spcPct val="100000"/>
                        </a:lnSpc>
                        <a:spcBef>
                          <a:spcPts val="0"/>
                        </a:spcBef>
                        <a:spcAft>
                          <a:spcPts val="0"/>
                        </a:spcAft>
                        <a:buClrTx/>
                        <a:buSzTx/>
                        <a:buFont typeface="Arial"/>
                        <a:buChar char="•"/>
                        <a:tabLst/>
                        <a:defRPr/>
                      </a:pPr>
                      <a:r>
                        <a:rPr lang="de-DE" sz="850" dirty="0">
                          <a:solidFill>
                            <a:schemeClr val="tx2"/>
                          </a:solidFill>
                        </a:rPr>
                        <a:t>Zielbild aus 3-181: nutzungsbasiertes Rating, Rate-Pläne je Airline, keine Eigenentwicklung</a:t>
                      </a:r>
                    </a:p>
                    <a:p>
                      <a:pPr marL="171450" marR="0" lvl="0" indent="-171450" algn="l" defTabSz="1218682" rtl="0" eaLnBrk="1" fontAlgn="auto" latinLnBrk="0" hangingPunct="1">
                        <a:lnSpc>
                          <a:spcPct val="100000"/>
                        </a:lnSpc>
                        <a:spcBef>
                          <a:spcPts val="0"/>
                        </a:spcBef>
                        <a:spcAft>
                          <a:spcPts val="0"/>
                        </a:spcAft>
                        <a:buClrTx/>
                        <a:buSzTx/>
                        <a:buFont typeface="Arial"/>
                        <a:buChar char="•"/>
                        <a:tabLst/>
                        <a:defRPr/>
                      </a:pPr>
                      <a:r>
                        <a:rPr lang="de-DE" sz="850" dirty="0">
                          <a:solidFill>
                            <a:schemeClr val="tx2"/>
                          </a:solidFill>
                        </a:rPr>
                        <a:t>Faktura, Debitoren, Erlöse, Reporting im S/4HANA-Standard (Scope Item 57Z, zu verifizieren)</a:t>
                      </a:r>
                    </a:p>
                    <a:p>
                      <a:pPr marL="171450" marR="0" lvl="0" indent="-171450" algn="l" defTabSz="1218682" rtl="0" eaLnBrk="1" fontAlgn="auto" latinLnBrk="0" hangingPunct="1">
                        <a:lnSpc>
                          <a:spcPct val="100000"/>
                        </a:lnSpc>
                        <a:spcBef>
                          <a:spcPts val="0"/>
                        </a:spcBef>
                        <a:spcAft>
                          <a:spcPts val="0"/>
                        </a:spcAft>
                        <a:buClrTx/>
                        <a:buSzTx/>
                        <a:buFont typeface="Arial"/>
                        <a:buChar char="•"/>
                        <a:tabLst/>
                        <a:defRPr/>
                      </a:pPr>
                      <a:r>
                        <a:rPr lang="de-DE" sz="850" dirty="0">
                          <a:solidFill>
                            <a:schemeClr val="tx2"/>
                          </a:solidFill>
                        </a:rPr>
                        <a:t>Tägliche Stamm- und Nutzungsdaten (3-182) über Integration Suite automatisiert</a:t>
                      </a:r>
                    </a:p>
                  </a:txBody>
                  <a:tcPr marL="48000" marR="48000" marT="48000" marB="48000">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E8F5FE"/>
                    </a:solidFill>
                  </a:tcPr>
                </a:tc>
                <a:tc>
                  <a:txBody>
                    <a:bodyPr/>
                    <a:lstStyle/>
                    <a:p>
                      <a:pPr marL="171450" marR="0" lvl="0" indent="-171450" algn="l" defTabSz="1218682" rtl="0" eaLnBrk="1" fontAlgn="auto" latinLnBrk="0" hangingPunct="1">
                        <a:lnSpc>
                          <a:spcPct val="100000"/>
                        </a:lnSpc>
                        <a:spcBef>
                          <a:spcPts val="0"/>
                        </a:spcBef>
                        <a:spcAft>
                          <a:spcPts val="0"/>
                        </a:spcAft>
                        <a:buClrTx/>
                        <a:buSzTx/>
                        <a:buFont typeface="Arial"/>
                        <a:buChar char="•"/>
                        <a:tabLst/>
                        <a:defRPr/>
                      </a:pPr>
                      <a:r>
                        <a:rPr lang="de-DE" sz="850" dirty="0">
                          <a:solidFill>
                            <a:schemeClr val="tx2"/>
                          </a:solidFill>
                        </a:rPr>
                        <a:t>Erprobtes Regelwerk bleibt, geringstes Erlösrisiko zum Go-Live</a:t>
                      </a:r>
                    </a:p>
                    <a:p>
                      <a:pPr marL="171450" marR="0" lvl="0" indent="-171450" algn="l" defTabSz="1218682" rtl="0" eaLnBrk="1" fontAlgn="auto" latinLnBrk="0" hangingPunct="1">
                        <a:lnSpc>
                          <a:spcPct val="100000"/>
                        </a:lnSpc>
                        <a:spcBef>
                          <a:spcPts val="0"/>
                        </a:spcBef>
                        <a:spcAft>
                          <a:spcPts val="0"/>
                        </a:spcAft>
                        <a:buClrTx/>
                        <a:buSzTx/>
                        <a:buFont typeface="Arial"/>
                        <a:buChar char="•"/>
                        <a:tabLst/>
                        <a:defRPr/>
                      </a:pPr>
                      <a:r>
                        <a:rPr lang="de-DE" sz="850" dirty="0">
                          <a:solidFill>
                            <a:schemeClr val="tx2"/>
                          </a:solidFill>
                        </a:rPr>
                        <a:t>Nur eine Ergebnisschnittstelle (Fakturapositionen je Kunde) statt Neuimplementierung</a:t>
                      </a:r>
                    </a:p>
                    <a:p>
                      <a:pPr marL="171450" marR="0" lvl="0" indent="-171450" algn="l" defTabSz="1218682" rtl="0" eaLnBrk="1" fontAlgn="auto" latinLnBrk="0" hangingPunct="1">
                        <a:lnSpc>
                          <a:spcPct val="100000"/>
                        </a:lnSpc>
                        <a:spcBef>
                          <a:spcPts val="0"/>
                        </a:spcBef>
                        <a:spcAft>
                          <a:spcPts val="0"/>
                        </a:spcAft>
                        <a:buClrTx/>
                        <a:buSzTx/>
                        <a:buFont typeface="Arial"/>
                        <a:buChar char="•"/>
                        <a:tabLst/>
                        <a:defRPr/>
                      </a:pPr>
                      <a:r>
                        <a:rPr lang="de-DE" sz="850" dirty="0">
                          <a:solidFill>
                            <a:schemeClr val="tx2"/>
                          </a:solidFill>
                        </a:rPr>
                        <a:t>Duma-Anbindung an Sky Billing bleibt wie heute (3-182 weitgehend unverändert)</a:t>
                      </a:r>
                    </a:p>
                  </a:txBody>
                  <a:tcPr marL="48000" marR="48000" marT="48000" marB="48000">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0862161"/>
                  </a:ext>
                </a:extLst>
              </a:tr>
              <a:tr h="496995">
                <a:tc>
                  <a:txBody>
                    <a:bodyPr/>
                    <a:lstStyle/>
                    <a:p>
                      <a:pPr algn="l" rtl="0"/>
                      <a:r>
                        <a:rPr lang="de-DE" sz="1100" b="1" noProof="0" dirty="0">
                          <a:solidFill>
                            <a:schemeClr val="tx2"/>
                          </a:solidFill>
                        </a:rPr>
                        <a:t>Nachteile</a:t>
                      </a:r>
                    </a:p>
                  </a:txBody>
                  <a:tcPr marL="48000" marR="48000" marT="48000" marB="48000" anchor="ctr">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171450" marR="0" lvl="0" indent="-171450" algn="l" defTabSz="1218682" rtl="0" eaLnBrk="1" fontAlgn="auto" latinLnBrk="0" hangingPunct="1">
                        <a:lnSpc>
                          <a:spcPct val="100000"/>
                        </a:lnSpc>
                        <a:spcBef>
                          <a:spcPts val="0"/>
                        </a:spcBef>
                        <a:spcAft>
                          <a:spcPts val="0"/>
                        </a:spcAft>
                        <a:buClrTx/>
                        <a:buSzTx/>
                        <a:buFont typeface="Arial"/>
                        <a:buChar char="•"/>
                        <a:tabLst/>
                        <a:defRPr/>
                      </a:pPr>
                      <a:r>
                        <a:rPr lang="de-DE" sz="850" dirty="0">
                          <a:solidFill>
                            <a:schemeClr val="tx2"/>
                          </a:solidFill>
                        </a:rPr>
                        <a:t>Zeit- und Maintenance-Regeln müssen vorgelagert in Nutzungsdaten übersetzt werden</a:t>
                      </a:r>
                    </a:p>
                    <a:p>
                      <a:pPr marL="171450" marR="0" lvl="0" indent="-171450" algn="l" defTabSz="1218682" rtl="0" eaLnBrk="1" fontAlgn="auto" latinLnBrk="0" hangingPunct="1">
                        <a:lnSpc>
                          <a:spcPct val="100000"/>
                        </a:lnSpc>
                        <a:spcBef>
                          <a:spcPts val="0"/>
                        </a:spcBef>
                        <a:spcAft>
                          <a:spcPts val="0"/>
                        </a:spcAft>
                        <a:buClrTx/>
                        <a:buSzTx/>
                        <a:buFont typeface="Arial"/>
                        <a:buChar char="•"/>
                        <a:tabLst/>
                        <a:defRPr/>
                      </a:pPr>
                      <a:r>
                        <a:rPr lang="de-DE" sz="850" dirty="0">
                          <a:solidFill>
                            <a:schemeClr val="tx2"/>
                          </a:solidFill>
                        </a:rPr>
                        <a:t>Zusatzlizenz Subscription Billing; neues Werkzeug für Fachbereich und IT</a:t>
                      </a:r>
                    </a:p>
                    <a:p>
                      <a:pPr marL="171450" marR="0" lvl="0" indent="-171450" algn="l" defTabSz="1218682" rtl="0" eaLnBrk="1" fontAlgn="auto" latinLnBrk="0" hangingPunct="1">
                        <a:lnSpc>
                          <a:spcPct val="100000"/>
                        </a:lnSpc>
                        <a:spcBef>
                          <a:spcPts val="0"/>
                        </a:spcBef>
                        <a:spcAft>
                          <a:spcPts val="0"/>
                        </a:spcAft>
                        <a:buClrTx/>
                        <a:buSzTx/>
                        <a:buFont typeface="Arial"/>
                        <a:buChar char="•"/>
                        <a:tabLst/>
                        <a:defRPr/>
                      </a:pPr>
                      <a:r>
                        <a:rPr lang="de-DE" sz="850" dirty="0">
                          <a:solidFill>
                            <a:schemeClr val="tx2"/>
                          </a:solidFill>
                        </a:rPr>
                        <a:t>Erlöskritische Neuimplementierung mit hohem Test- und Parallellaufbedarf</a:t>
                      </a:r>
                    </a:p>
                  </a:txBody>
                  <a:tcPr marL="48000" marR="48000" marT="48000" marB="48000">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8F5FE"/>
                    </a:solidFill>
                  </a:tcPr>
                </a:tc>
                <a:tc>
                  <a:txBody>
                    <a:bodyPr/>
                    <a:lstStyle/>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50" dirty="0">
                          <a:solidFill>
                            <a:schemeClr val="tx2"/>
                          </a:solidFill>
                        </a:rPr>
                        <a:t>Nur möglich, wenn Sky Billing ohne das abzulösende R/3 lauffähig ist (offen)</a:t>
                      </a:r>
                    </a:p>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50" dirty="0">
                          <a:solidFill>
                            <a:schemeClr val="tx2"/>
                          </a:solidFill>
                        </a:rPr>
                        <a:t>Fremdsystem bleibt; Vereinfachung und Fit-to-Standard nicht erreicht</a:t>
                      </a:r>
                    </a:p>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50" dirty="0">
                          <a:solidFill>
                            <a:schemeClr val="tx2"/>
                          </a:solidFill>
                        </a:rPr>
                        <a:t>Zwei Stammdatenwelten (Kunden, Leistungen) synchron zu halten</a:t>
                      </a:r>
                    </a:p>
                  </a:txBody>
                  <a:tcPr marL="48000" marR="48000" marT="48000" marB="48000">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24509843"/>
                  </a:ext>
                </a:extLst>
              </a:tr>
              <a:tr h="496995">
                <a:tc>
                  <a:txBody>
                    <a:bodyPr/>
                    <a:lstStyle/>
                    <a:p>
                      <a:pPr algn="l" rtl="0"/>
                      <a:r>
                        <a:rPr lang="de-DE" sz="1100" b="1" noProof="0" dirty="0">
                          <a:solidFill>
                            <a:schemeClr val="tx2"/>
                          </a:solidFill>
                        </a:rPr>
                        <a:t>Risiko Beschreibung </a:t>
                      </a:r>
                      <a:br>
                        <a:rPr lang="de-DE" sz="1100" noProof="0" dirty="0">
                          <a:solidFill>
                            <a:schemeClr val="tx2"/>
                          </a:solidFill>
                        </a:rPr>
                      </a:br>
                      <a:r>
                        <a:rPr lang="de-DE" sz="1000" noProof="0" dirty="0">
                          <a:solidFill>
                            <a:schemeClr val="tx2"/>
                          </a:solidFill>
                        </a:rPr>
                        <a:t>(bei der Einführung)</a:t>
                      </a:r>
                    </a:p>
                  </a:txBody>
                  <a:tcPr marL="48000" marR="48000" marT="48000" marB="48000" anchor="ctr">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171450" marR="0" lvl="0" indent="-171450" algn="l" defTabSz="1218682" rtl="0" eaLnBrk="1" fontAlgn="auto" latinLnBrk="0" hangingPunct="1">
                        <a:lnSpc>
                          <a:spcPct val="100000"/>
                        </a:lnSpc>
                        <a:spcBef>
                          <a:spcPts val="0"/>
                        </a:spcBef>
                        <a:spcAft>
                          <a:spcPts val="0"/>
                        </a:spcAft>
                        <a:buClrTx/>
                        <a:buSzTx/>
                        <a:buFont typeface="Arial"/>
                        <a:buChar char="•"/>
                        <a:tabLst/>
                        <a:defRPr/>
                      </a:pPr>
                      <a:r>
                        <a:rPr lang="de-DE" sz="850" dirty="0">
                          <a:solidFill>
                            <a:schemeClr val="tx2"/>
                          </a:solidFill>
                        </a:rPr>
                        <a:t>Vermessung zeigt Regeln, die sich nicht als Nutzung mal Rate abbilden lassen</a:t>
                      </a:r>
                    </a:p>
                    <a:p>
                      <a:pPr marL="171450" marR="0" lvl="0" indent="-171450" algn="l" defTabSz="1218682" rtl="0" eaLnBrk="1" fontAlgn="auto" latinLnBrk="0" hangingPunct="1">
                        <a:lnSpc>
                          <a:spcPct val="100000"/>
                        </a:lnSpc>
                        <a:spcBef>
                          <a:spcPts val="0"/>
                        </a:spcBef>
                        <a:spcAft>
                          <a:spcPts val="0"/>
                        </a:spcAft>
                        <a:buClrTx/>
                        <a:buSzTx/>
                        <a:buFont typeface="Arial"/>
                        <a:buChar char="•"/>
                        <a:tabLst/>
                        <a:defRPr/>
                      </a:pPr>
                      <a:r>
                        <a:rPr lang="de-DE" sz="850" dirty="0">
                          <a:solidFill>
                            <a:schemeClr val="tx2"/>
                          </a:solidFill>
                        </a:rPr>
                        <a:t>Datenqualität der Bewegungsdaten (Duma/AODB) bestimmt die Rechnungsqualität</a:t>
                      </a:r>
                    </a:p>
                  </a:txBody>
                  <a:tcPr marL="48000" marR="48000" marT="48000" marB="48000">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8F5FE"/>
                    </a:solidFill>
                  </a:tcPr>
                </a:tc>
                <a:tc>
                  <a:txBody>
                    <a:bodyPr/>
                    <a:lstStyle/>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50" dirty="0">
                          <a:solidFill>
                            <a:schemeClr val="tx2"/>
                          </a:solidFill>
                        </a:rPr>
                        <a:t>Ist Sky Billing eine R/3-Eigenentwicklung, entfällt diese Option</a:t>
                      </a:r>
                    </a:p>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50" dirty="0">
                          <a:solidFill>
                            <a:schemeClr val="tx2"/>
                          </a:solidFill>
                        </a:rPr>
                        <a:t>Schnittstellenformat und Fehlerbehandlung mit dem Betreiber zu klären</a:t>
                      </a:r>
                    </a:p>
                  </a:txBody>
                  <a:tcPr marL="48000" marR="48000" marT="48000" marB="48000">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474212769"/>
                  </a:ext>
                </a:extLst>
              </a:tr>
              <a:tr h="496995">
                <a:tc>
                  <a:txBody>
                    <a:bodyPr/>
                    <a:lstStyle/>
                    <a:p>
                      <a:pPr algn="l" rtl="0"/>
                      <a:r>
                        <a:rPr lang="de-DE" sz="1100" b="1" noProof="0" dirty="0">
                          <a:solidFill>
                            <a:schemeClr val="tx2"/>
                          </a:solidFill>
                        </a:rPr>
                        <a:t>Risiko (Kosten)</a:t>
                      </a:r>
                    </a:p>
                  </a:txBody>
                  <a:tcPr marL="48000" marR="48000" marT="48000" marB="48000" anchor="ctr">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171450" indent="-171450" algn="l" rtl="0">
                        <a:buFont typeface="Arial" panose="020B0604020202020204" pitchFamily="34" charset="0"/>
                        <a:buChar char="•"/>
                      </a:pPr>
                      <a:r>
                        <a:rPr lang="de-DE" sz="850" dirty="0">
                          <a:solidFill>
                            <a:schemeClr val="tx2"/>
                          </a:solidFill>
                        </a:rPr>
                        <a:t>Lizenz Subscription Billing, Implementierung, Parallellauf; Höhe nicht dokumentiert</a:t>
                      </a:r>
                    </a:p>
                    <a:p>
                      <a:pPr marL="171450" indent="-171450" algn="l" rtl="0">
                        <a:buFont typeface="Arial" panose="020B0604020202020204" pitchFamily="34" charset="0"/>
                        <a:buChar char="•"/>
                      </a:pPr>
                      <a:r>
                        <a:rPr lang="de-DE" sz="850" dirty="0">
                          <a:solidFill>
                            <a:schemeClr val="tx2"/>
                          </a:solidFill>
                        </a:rPr>
                        <a:t>Fehlerhafte Abrechnung wirkt direkt auf den Umsatz</a:t>
                      </a:r>
                    </a:p>
                  </a:txBody>
                  <a:tcPr marL="48000" marR="48000" marT="48000" marB="48000">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8F5FE"/>
                    </a:solidFill>
                  </a:tcPr>
                </a:tc>
                <a:tc>
                  <a:txBody>
                    <a:bodyPr/>
                    <a:lstStyle/>
                    <a:p>
                      <a:pPr marL="171450" indent="-171450" algn="l" rtl="0">
                        <a:buFont typeface="Arial" panose="020B0604020202020204" pitchFamily="34" charset="0"/>
                        <a:buChar char="•"/>
                      </a:pPr>
                      <a:r>
                        <a:rPr lang="de-DE" sz="850" dirty="0">
                          <a:solidFill>
                            <a:schemeClr val="tx2"/>
                          </a:solidFill>
                        </a:rPr>
                        <a:t>Laufende Kosten Sky Billing bleiben; Schnittstelle gering bis mittel</a:t>
                      </a:r>
                    </a:p>
                    <a:p>
                      <a:pPr marL="171450" indent="-171450" algn="l" rtl="0">
                        <a:buFont typeface="Arial" panose="020B0604020202020204" pitchFamily="34" charset="0"/>
                        <a:buChar char="•"/>
                      </a:pPr>
                      <a:r>
                        <a:rPr lang="de-DE" sz="850" dirty="0">
                          <a:solidFill>
                            <a:schemeClr val="tx2"/>
                          </a:solidFill>
                        </a:rPr>
                        <a:t>Spätere Migration nach Subscription Billing verursacht zweiten Aufwand</a:t>
                      </a:r>
                    </a:p>
                  </a:txBody>
                  <a:tcPr marL="48000" marR="48000" marT="48000" marB="48000">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2910074"/>
                  </a:ext>
                </a:extLst>
              </a:tr>
              <a:tr h="496995">
                <a:tc>
                  <a:txBody>
                    <a:bodyPr/>
                    <a:lstStyle/>
                    <a:p>
                      <a:pPr algn="l" rtl="0"/>
                      <a:r>
                        <a:rPr lang="de-DE" sz="1100" b="1" noProof="0" dirty="0">
                          <a:solidFill>
                            <a:schemeClr val="tx2"/>
                          </a:solidFill>
                        </a:rPr>
                        <a:t>Risiko (Zeit)</a:t>
                      </a:r>
                    </a:p>
                  </a:txBody>
                  <a:tcPr marL="48000" marR="48000" marT="48000" marB="48000" anchor="ctr">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50" dirty="0">
                          <a:solidFill>
                            <a:schemeClr val="tx2"/>
                          </a:solidFill>
                        </a:rPr>
                        <a:t>Ablösung bis Go-Live nur bei früher Vermessung; sonst Fallback Option 2 zum Go-Live</a:t>
                      </a:r>
                    </a:p>
                  </a:txBody>
                  <a:tcPr marL="48000" marR="48000" marT="48000" marB="48000">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8F5FE"/>
                    </a:solidFill>
                  </a:tcPr>
                </a:tc>
                <a:tc>
                  <a:txBody>
                    <a:bodyPr/>
                    <a:lstStyle/>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50" dirty="0">
                          <a:solidFill>
                            <a:schemeClr val="tx2"/>
                          </a:solidFill>
                        </a:rPr>
                        <a:t>Geringstes Zeitrisiko für Go-Live</a:t>
                      </a:r>
                    </a:p>
                  </a:txBody>
                  <a:tcPr marL="48000" marR="48000" marT="48000" marB="48000">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753445045"/>
                  </a:ext>
                </a:extLst>
              </a:tr>
              <a:tr h="631730">
                <a:tc>
                  <a:txBody>
                    <a:bodyPr/>
                    <a:lstStyle/>
                    <a:p>
                      <a:pPr algn="l" rtl="0"/>
                      <a:r>
                        <a:rPr lang="de-DE" sz="1100" b="1" noProof="0" dirty="0">
                          <a:solidFill>
                            <a:schemeClr val="tx2"/>
                          </a:solidFill>
                        </a:rPr>
                        <a:t>Zusätzliche Informationen</a:t>
                      </a:r>
                    </a:p>
                  </a:txBody>
                  <a:tcPr marL="48000" marR="48000" marT="48000" marB="48000" anchor="ctr">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50" dirty="0">
                          <a:solidFill>
                            <a:schemeClr val="tx2"/>
                          </a:solidFill>
                        </a:rPr>
                        <a:t>Clean Core gewahrt (SaaS plus Standard-Integration); Upgrade-Fähigkeit hoch</a:t>
                      </a:r>
                    </a:p>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50" dirty="0">
                          <a:solidFill>
                            <a:schemeClr val="tx2"/>
                          </a:solidFill>
                        </a:rPr>
                        <a:t>Betrieb: zwei Cloud-Systeme, Monitoring der Nutzungsdatenströme</a:t>
                      </a:r>
                    </a:p>
                  </a:txBody>
                  <a:tcPr marL="48000" marR="48000" marT="48000" marB="48000">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8F5FE"/>
                    </a:solidFill>
                  </a:tcPr>
                </a:tc>
                <a:tc>
                  <a:txBody>
                    <a:bodyPr/>
                    <a:lstStyle/>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50" dirty="0">
                          <a:solidFill>
                            <a:schemeClr val="tx2"/>
                          </a:solidFill>
                        </a:rPr>
                        <a:t>Clean Core gewahrt (Integration über APIs); Upgrade-Fähigkeit hoch</a:t>
                      </a:r>
                    </a:p>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50" dirty="0">
                          <a:solidFill>
                            <a:schemeClr val="tx2"/>
                          </a:solidFill>
                        </a:rPr>
                        <a:t>Als Übergangslösung mit definiertem Enddatum tragfähig</a:t>
                      </a:r>
                    </a:p>
                  </a:txBody>
                  <a:tcPr marL="48000" marR="48000" marT="48000" marB="48000">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80705763"/>
                  </a:ext>
                </a:extLst>
              </a:tr>
              <a:tr h="496995">
                <a:tc>
                  <a:txBody>
                    <a:bodyPr/>
                    <a:lstStyle/>
                    <a:p>
                      <a:pPr algn="l" rtl="0"/>
                      <a:r>
                        <a:rPr lang="de-DE" sz="1100" b="1" noProof="0" dirty="0">
                          <a:solidFill>
                            <a:schemeClr val="tx2"/>
                          </a:solidFill>
                        </a:rPr>
                        <a:t>Im Standard</a:t>
                      </a:r>
                    </a:p>
                  </a:txBody>
                  <a:tcPr marL="48000" marR="48000" marT="48000" marB="48000" anchor="ctr">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171450" marR="0" lvl="0" indent="-171450" algn="l" defTabSz="1218682"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e-DE" sz="900" kern="1200" noProof="0" dirty="0">
                        <a:solidFill>
                          <a:schemeClr val="tx2"/>
                        </a:solidFill>
                        <a:latin typeface="+mn-lt"/>
                        <a:ea typeface="+mn-ea"/>
                        <a:cs typeface="+mn-cs"/>
                      </a:endParaRPr>
                    </a:p>
                  </a:txBody>
                  <a:tcPr marL="48000" marR="48000" marT="48000" marB="48000">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8F5FE"/>
                    </a:solidFill>
                  </a:tcPr>
                </a:tc>
                <a:tc>
                  <a:txBody>
                    <a:bodyPr/>
                    <a:lstStyle/>
                    <a:p>
                      <a:pPr algn="l" rtl="0"/>
                      <a:endParaRPr lang="de-DE" sz="900" noProof="0" dirty="0">
                        <a:solidFill>
                          <a:schemeClr val="tx2"/>
                        </a:solidFill>
                      </a:endParaRPr>
                    </a:p>
                  </a:txBody>
                  <a:tcPr marL="48000" marR="48000" marT="48000" marB="48000">
                    <a:lnL w="6350" cap="flat" cmpd="sng" algn="ctr">
                      <a:solidFill>
                        <a:schemeClr val="bg2"/>
                      </a:solidFill>
                      <a:prstDash val="sysDash"/>
                      <a:round/>
                      <a:headEnd type="none" w="med" len="med"/>
                      <a:tailEnd type="none" w="med" len="med"/>
                    </a:lnL>
                    <a:lnR w="6350" cap="flat" cmpd="sng" algn="ctr">
                      <a:solidFill>
                        <a:schemeClr val="bg2"/>
                      </a:solidFill>
                      <a:prstDash val="sys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5464956"/>
                  </a:ext>
                </a:extLst>
              </a:tr>
            </a:tbl>
          </a:graphicData>
        </a:graphic>
      </p:graphicFrame>
      <p:sp>
        <p:nvSpPr>
          <p:cNvPr id="109" name="Rectangle 19">
            <a:extLst>
              <a:ext uri="{FF2B5EF4-FFF2-40B4-BE49-F238E27FC236}">
                <a16:creationId xmlns:a16="http://schemas.microsoft.com/office/drawing/2014/main" id="{2C98933A-32AC-EB90-553A-D1A724A7A7F6}"/>
              </a:ext>
            </a:extLst>
          </p:cNvPr>
          <p:cNvSpPr/>
          <p:nvPr/>
        </p:nvSpPr>
        <p:spPr bwMode="gray">
          <a:xfrm>
            <a:off x="530224" y="1641849"/>
            <a:ext cx="11131550" cy="4438275"/>
          </a:xfrm>
          <a:prstGeom prst="rect">
            <a:avLst/>
          </a:prstGeom>
          <a:noFill/>
          <a:ln>
            <a:solidFill>
              <a:schemeClr val="tx2">
                <a:lumMod val="60000"/>
                <a:lumOff val="40000"/>
              </a:schemeClr>
            </a:solidFill>
          </a:ln>
        </p:spPr>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71446" indent="-171446" defTabSz="914377">
              <a:spcBef>
                <a:spcPts val="300"/>
              </a:spcBef>
              <a:spcAft>
                <a:spcPts val="300"/>
              </a:spcAft>
              <a:buClr>
                <a:srgbClr val="FF6600"/>
              </a:buClr>
              <a:buFont typeface="Wingdings" panose="05000000000000000000" pitchFamily="2" charset="2"/>
              <a:buChar char="§"/>
              <a:defRPr/>
            </a:pPr>
            <a:endParaRPr lang="de-DE" sz="800" noProof="0">
              <a:solidFill>
                <a:srgbClr val="414048"/>
              </a:solidFill>
              <a:latin typeface="Aptos"/>
            </a:endParaRPr>
          </a:p>
        </p:txBody>
      </p:sp>
      <p:sp>
        <p:nvSpPr>
          <p:cNvPr id="110" name="Rechteck 4">
            <a:extLst>
              <a:ext uri="{FF2B5EF4-FFF2-40B4-BE49-F238E27FC236}">
                <a16:creationId xmlns:a16="http://schemas.microsoft.com/office/drawing/2014/main" id="{BB5ABD07-36A7-7773-01EB-1C9C2C74D9AB}"/>
              </a:ext>
            </a:extLst>
          </p:cNvPr>
          <p:cNvSpPr/>
          <p:nvPr/>
        </p:nvSpPr>
        <p:spPr>
          <a:xfrm>
            <a:off x="631191" y="1517650"/>
            <a:ext cx="3341623" cy="248400"/>
          </a:xfrm>
          <a:prstGeom prst="rect">
            <a:avLst/>
          </a:prstGeom>
          <a:solidFill>
            <a:srgbClr val="065185"/>
          </a:solidFill>
          <a:ln w="9525"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Ins="96000" rtlCol="0" anchor="ctr"/>
          <a:lstStyle/>
          <a:p>
            <a:pPr defTabSz="1624829">
              <a:lnSpc>
                <a:spcPct val="90000"/>
              </a:lnSpc>
              <a:spcBef>
                <a:spcPts val="1067"/>
              </a:spcBef>
              <a:defRPr/>
            </a:pPr>
            <a:r>
              <a:rPr lang="de-DE" sz="1600" b="1" noProof="0">
                <a:solidFill>
                  <a:srgbClr val="FFFFFF"/>
                </a:solidFill>
                <a:latin typeface="Aptos"/>
              </a:rPr>
              <a:t>Bewertung aus funktionaler Sicht</a:t>
            </a:r>
          </a:p>
        </p:txBody>
      </p:sp>
      <p:sp>
        <p:nvSpPr>
          <p:cNvPr id="111" name="Stern mit 5 Zacken 6">
            <a:extLst>
              <a:ext uri="{FF2B5EF4-FFF2-40B4-BE49-F238E27FC236}">
                <a16:creationId xmlns:a16="http://schemas.microsoft.com/office/drawing/2014/main" id="{1B992603-608F-49A8-13D7-205717688C42}"/>
              </a:ext>
            </a:extLst>
          </p:cNvPr>
          <p:cNvSpPr/>
          <p:nvPr/>
        </p:nvSpPr>
        <p:spPr bwMode="gray">
          <a:xfrm>
            <a:off x="6457139" y="1972055"/>
            <a:ext cx="210053" cy="166739"/>
          </a:xfrm>
          <a:prstGeom prst="star5">
            <a:avLst/>
          </a:prstGeom>
          <a:solidFill>
            <a:srgbClr val="111565"/>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14377">
              <a:spcBef>
                <a:spcPts val="600"/>
              </a:spcBef>
              <a:spcAft>
                <a:spcPts val="600"/>
              </a:spcAft>
              <a:defRPr/>
            </a:pPr>
            <a:endParaRPr lang="de-DE" sz="1400" b="1" noProof="0">
              <a:solidFill>
                <a:prstClr val="white"/>
              </a:solidFill>
              <a:latin typeface="Aptos"/>
            </a:endParaRPr>
          </a:p>
        </p:txBody>
      </p:sp>
      <p:sp>
        <p:nvSpPr>
          <p:cNvPr id="112" name="Stern mit 5 Zacken 8">
            <a:extLst>
              <a:ext uri="{FF2B5EF4-FFF2-40B4-BE49-F238E27FC236}">
                <a16:creationId xmlns:a16="http://schemas.microsoft.com/office/drawing/2014/main" id="{4CC90495-5912-6136-B00A-3D7E8A3A1568}"/>
              </a:ext>
            </a:extLst>
          </p:cNvPr>
          <p:cNvSpPr/>
          <p:nvPr/>
        </p:nvSpPr>
        <p:spPr bwMode="gray">
          <a:xfrm>
            <a:off x="8565700" y="6472205"/>
            <a:ext cx="192021" cy="183199"/>
          </a:xfrm>
          <a:prstGeom prst="star5">
            <a:avLst/>
          </a:prstGeom>
          <a:solidFill>
            <a:srgbClr val="111565"/>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14377">
              <a:spcBef>
                <a:spcPts val="600"/>
              </a:spcBef>
              <a:spcAft>
                <a:spcPts val="600"/>
              </a:spcAft>
              <a:defRPr/>
            </a:pPr>
            <a:endParaRPr lang="de-DE" sz="1050" b="1" noProof="0">
              <a:solidFill>
                <a:prstClr val="white"/>
              </a:solidFill>
              <a:latin typeface="Aptos"/>
            </a:endParaRPr>
          </a:p>
        </p:txBody>
      </p:sp>
      <p:sp>
        <p:nvSpPr>
          <p:cNvPr id="113" name="TextBox 116">
            <a:extLst>
              <a:ext uri="{FF2B5EF4-FFF2-40B4-BE49-F238E27FC236}">
                <a16:creationId xmlns:a16="http://schemas.microsoft.com/office/drawing/2014/main" id="{7F3CB932-B013-037C-409D-3A8F7BC5B011}"/>
              </a:ext>
            </a:extLst>
          </p:cNvPr>
          <p:cNvSpPr txBox="1"/>
          <p:nvPr/>
        </p:nvSpPr>
        <p:spPr bwMode="gray">
          <a:xfrm>
            <a:off x="8202256" y="6476839"/>
            <a:ext cx="3097405" cy="171820"/>
          </a:xfrm>
          <a:prstGeom prst="rect">
            <a:avLst/>
          </a:prstGeom>
          <a:noFill/>
        </p:spPr>
        <p:txBody>
          <a:bodyPr wrap="square" lIns="0" tIns="0" rIns="0" bIns="0" rtlCol="0" anchor="ctr">
            <a:noAutofit/>
          </a:bodyPr>
          <a:lstStyle/>
          <a:p>
            <a:pPr algn="ctr" defTabSz="1219108">
              <a:spcBef>
                <a:spcPts val="800"/>
              </a:spcBef>
              <a:spcAft>
                <a:spcPts val="800"/>
              </a:spcAft>
              <a:buClr>
                <a:srgbClr val="0341D2"/>
              </a:buClr>
              <a:defRPr/>
            </a:pPr>
            <a:r>
              <a:rPr lang="de-DE" sz="900" noProof="0">
                <a:solidFill>
                  <a:srgbClr val="414048"/>
                </a:solidFill>
                <a:latin typeface="Aptos"/>
              </a:rPr>
              <a:t>Präferierte Lösung  vom Produkt Team</a:t>
            </a:r>
          </a:p>
        </p:txBody>
      </p:sp>
      <p:sp>
        <p:nvSpPr>
          <p:cNvPr id="7" name="Title 6">
            <a:extLst>
              <a:ext uri="{FF2B5EF4-FFF2-40B4-BE49-F238E27FC236}">
                <a16:creationId xmlns:a16="http://schemas.microsoft.com/office/drawing/2014/main" id="{4CBA1457-33E1-E6EB-35A4-E9916C33E05E}"/>
              </a:ext>
            </a:extLst>
          </p:cNvPr>
          <p:cNvSpPr>
            <a:spLocks noGrp="1"/>
          </p:cNvSpPr>
          <p:nvPr>
            <p:ph type="title"/>
          </p:nvPr>
        </p:nvSpPr>
        <p:spPr/>
        <p:txBody>
          <a:bodyPr vert="horz" rIns="0"/>
          <a:lstStyle/>
          <a:p>
            <a:r>
              <a:rPr lang="de-DE" sz="2600" dirty="0"/>
              <a:t>KDD_FI_004: Airport-Billing: Ablösung Sky Billing</a:t>
            </a:r>
            <a:endParaRPr lang="de-DE" sz="2600" dirty="0"/>
          </a:p>
        </p:txBody>
      </p:sp>
      <p:sp>
        <p:nvSpPr>
          <p:cNvPr id="8" name="Text Placeholder 7">
            <a:extLst>
              <a:ext uri="{FF2B5EF4-FFF2-40B4-BE49-F238E27FC236}">
                <a16:creationId xmlns:a16="http://schemas.microsoft.com/office/drawing/2014/main" id="{CEEF39F7-095E-3E70-B598-C8EA04E8A754}"/>
              </a:ext>
            </a:extLst>
          </p:cNvPr>
          <p:cNvSpPr>
            <a:spLocks noGrp="1"/>
          </p:cNvSpPr>
          <p:nvPr>
            <p:ph type="body" sz="quarter" idx="13"/>
          </p:nvPr>
        </p:nvSpPr>
        <p:spPr/>
        <p:txBody>
          <a:bodyPr>
            <a:normAutofit fontScale="85000" lnSpcReduction="10000"/>
          </a:bodyPr>
          <a:lstStyle/>
          <a:p>
            <a:r>
              <a:rPr lang="de-DE" dirty="0"/>
              <a:t>2/2</a:t>
            </a:r>
          </a:p>
        </p:txBody>
      </p:sp>
      <p:grpSp>
        <p:nvGrpSpPr>
          <p:cNvPr id="9" name="Group 8">
            <a:extLst>
              <a:ext uri="{FF2B5EF4-FFF2-40B4-BE49-F238E27FC236}">
                <a16:creationId xmlns:a16="http://schemas.microsoft.com/office/drawing/2014/main" id="{A3553A0B-8604-DD08-1F47-6DE8BEDEB334}"/>
              </a:ext>
            </a:extLst>
          </p:cNvPr>
          <p:cNvGrpSpPr>
            <a:grpSpLocks/>
          </p:cNvGrpSpPr>
          <p:nvPr/>
        </p:nvGrpSpPr>
        <p:grpSpPr>
          <a:xfrm>
            <a:off x="3662986" y="5724136"/>
            <a:ext cx="1967562" cy="237326"/>
            <a:chOff x="3202497" y="2010259"/>
            <a:chExt cx="1967562" cy="237325"/>
          </a:xfrm>
        </p:grpSpPr>
        <p:grpSp>
          <p:nvGrpSpPr>
            <p:cNvPr id="10" name="Group 9">
              <a:extLst>
                <a:ext uri="{FF2B5EF4-FFF2-40B4-BE49-F238E27FC236}">
                  <a16:creationId xmlns:a16="http://schemas.microsoft.com/office/drawing/2014/main" id="{513C4472-9F08-77A2-5CD2-3BC2CFAC6E57}"/>
                </a:ext>
              </a:extLst>
            </p:cNvPr>
            <p:cNvGrpSpPr/>
            <p:nvPr/>
          </p:nvGrpSpPr>
          <p:grpSpPr>
            <a:xfrm>
              <a:off x="3202497" y="2010259"/>
              <a:ext cx="786794" cy="237325"/>
              <a:chOff x="3154852" y="2031715"/>
              <a:chExt cx="786794" cy="237325"/>
            </a:xfrm>
          </p:grpSpPr>
          <p:sp>
            <p:nvSpPr>
              <p:cNvPr id="17" name="TextBox 16">
                <a:extLst>
                  <a:ext uri="{FF2B5EF4-FFF2-40B4-BE49-F238E27FC236}">
                    <a16:creationId xmlns:a16="http://schemas.microsoft.com/office/drawing/2014/main" id="{EF90E617-E779-0885-C379-08D8D8DEC4C8}"/>
                  </a:ext>
                </a:extLst>
              </p:cNvPr>
              <p:cNvSpPr txBox="1"/>
              <p:nvPr/>
            </p:nvSpPr>
            <p:spPr>
              <a:xfrm>
                <a:off x="3484897" y="2080821"/>
                <a:ext cx="456749" cy="167224"/>
              </a:xfrm>
              <a:prstGeom prst="rect">
                <a:avLst/>
              </a:prstGeom>
              <a:noFill/>
            </p:spPr>
            <p:txBody>
              <a:bodyPr wrap="square" lIns="0" tIns="0" rIns="0" bIns="0" rtlCol="0" anchor="ctr">
                <a:spAutoFit/>
              </a:bodyPr>
              <a:lstStyle/>
              <a:p>
                <a:pPr defTabSz="1218652">
                  <a:lnSpc>
                    <a:spcPct val="90000"/>
                  </a:lnSpc>
                  <a:spcBef>
                    <a:spcPts val="800"/>
                  </a:spcBef>
                  <a:defRPr/>
                </a:pPr>
                <a:r>
                  <a:rPr lang="de-DE" sz="1200" noProof="0" dirty="0">
                    <a:solidFill>
                      <a:prstClr val="black"/>
                    </a:solidFill>
                    <a:latin typeface="Aptos"/>
                  </a:rPr>
                  <a:t>Ja</a:t>
                </a:r>
              </a:p>
            </p:txBody>
          </p:sp>
          <p:sp>
            <p:nvSpPr>
              <p:cNvPr id="18" name="Rectangle 17">
                <a:extLst>
                  <a:ext uri="{FF2B5EF4-FFF2-40B4-BE49-F238E27FC236}">
                    <a16:creationId xmlns:a16="http://schemas.microsoft.com/office/drawing/2014/main" id="{C274D867-4CC1-378E-EB90-46F9C35FB084}"/>
                  </a:ext>
                </a:extLst>
              </p:cNvPr>
              <p:cNvSpPr>
                <a:spLocks noChangeAspect="1"/>
              </p:cNvSpPr>
              <p:nvPr/>
            </p:nvSpPr>
            <p:spPr>
              <a:xfrm>
                <a:off x="3154852" y="2031715"/>
                <a:ext cx="237324" cy="237325"/>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endParaRPr lang="de-DE" sz="1200" noProof="0">
                  <a:solidFill>
                    <a:prstClr val="black"/>
                  </a:solidFill>
                  <a:latin typeface="Aptos"/>
                </a:endParaRPr>
              </a:p>
            </p:txBody>
          </p:sp>
        </p:grpSp>
        <p:grpSp>
          <p:nvGrpSpPr>
            <p:cNvPr id="11" name="Group 10">
              <a:extLst>
                <a:ext uri="{FF2B5EF4-FFF2-40B4-BE49-F238E27FC236}">
                  <a16:creationId xmlns:a16="http://schemas.microsoft.com/office/drawing/2014/main" id="{C9D99BFF-CCD8-3B2F-8305-99E1376F8867}"/>
                </a:ext>
              </a:extLst>
            </p:cNvPr>
            <p:cNvGrpSpPr/>
            <p:nvPr/>
          </p:nvGrpSpPr>
          <p:grpSpPr>
            <a:xfrm>
              <a:off x="3806092" y="2010259"/>
              <a:ext cx="753391" cy="237325"/>
              <a:chOff x="4349537" y="2031715"/>
              <a:chExt cx="753391" cy="237325"/>
            </a:xfrm>
          </p:grpSpPr>
          <p:sp>
            <p:nvSpPr>
              <p:cNvPr id="15" name="Rectangle 14">
                <a:extLst>
                  <a:ext uri="{FF2B5EF4-FFF2-40B4-BE49-F238E27FC236}">
                    <a16:creationId xmlns:a16="http://schemas.microsoft.com/office/drawing/2014/main" id="{5A6204A0-7A86-C888-2638-B5A401BF4DE4}"/>
                  </a:ext>
                </a:extLst>
              </p:cNvPr>
              <p:cNvSpPr>
                <a:spLocks noChangeAspect="1"/>
              </p:cNvSpPr>
              <p:nvPr/>
            </p:nvSpPr>
            <p:spPr>
              <a:xfrm>
                <a:off x="4349537" y="2031715"/>
                <a:ext cx="237324" cy="237325"/>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r>
                  <a:rPr lang="de-DE" sz="1000" dirty="0">
                    <a:solidFill>
                      <a:prstClr val="black"/>
                    </a:solidFill>
                    <a:latin typeface="Aptos"/>
                  </a:rPr>
                  <a:t>x</a:t>
                </a:r>
                <a:endParaRPr lang="de-DE" sz="1200" noProof="0">
                  <a:solidFill>
                    <a:prstClr val="black"/>
                  </a:solidFill>
                  <a:latin typeface="Aptos"/>
                </a:endParaRPr>
              </a:p>
            </p:txBody>
          </p:sp>
          <p:sp>
            <p:nvSpPr>
              <p:cNvPr id="16" name="TextBox 15">
                <a:extLst>
                  <a:ext uri="{FF2B5EF4-FFF2-40B4-BE49-F238E27FC236}">
                    <a16:creationId xmlns:a16="http://schemas.microsoft.com/office/drawing/2014/main" id="{5070785C-45F8-4900-EF98-CD819B2FB9EB}"/>
                  </a:ext>
                </a:extLst>
              </p:cNvPr>
              <p:cNvSpPr txBox="1"/>
              <p:nvPr/>
            </p:nvSpPr>
            <p:spPr>
              <a:xfrm>
                <a:off x="4679581" y="2088219"/>
                <a:ext cx="423347" cy="167224"/>
              </a:xfrm>
              <a:prstGeom prst="rect">
                <a:avLst/>
              </a:prstGeom>
              <a:noFill/>
            </p:spPr>
            <p:txBody>
              <a:bodyPr wrap="square" lIns="0" tIns="0" rIns="0" bIns="0" rtlCol="0" anchor="ctr">
                <a:spAutoFit/>
              </a:bodyPr>
              <a:lstStyle/>
              <a:p>
                <a:pPr defTabSz="1218652">
                  <a:lnSpc>
                    <a:spcPct val="90000"/>
                  </a:lnSpc>
                  <a:spcBef>
                    <a:spcPts val="800"/>
                  </a:spcBef>
                  <a:defRPr/>
                </a:pPr>
                <a:r>
                  <a:rPr lang="de-DE" sz="1200" noProof="0">
                    <a:solidFill>
                      <a:prstClr val="black"/>
                    </a:solidFill>
                    <a:latin typeface="Aptos"/>
                  </a:rPr>
                  <a:t>Nein</a:t>
                </a:r>
              </a:p>
            </p:txBody>
          </p:sp>
        </p:grpSp>
        <p:grpSp>
          <p:nvGrpSpPr>
            <p:cNvPr id="12" name="Group 11">
              <a:extLst>
                <a:ext uri="{FF2B5EF4-FFF2-40B4-BE49-F238E27FC236}">
                  <a16:creationId xmlns:a16="http://schemas.microsoft.com/office/drawing/2014/main" id="{BEDD0675-9E12-4C66-5047-B02764F0E970}"/>
                </a:ext>
              </a:extLst>
            </p:cNvPr>
            <p:cNvGrpSpPr/>
            <p:nvPr/>
          </p:nvGrpSpPr>
          <p:grpSpPr>
            <a:xfrm>
              <a:off x="4552014" y="2010259"/>
              <a:ext cx="618045" cy="237325"/>
              <a:chOff x="4349537" y="2031715"/>
              <a:chExt cx="618045" cy="237325"/>
            </a:xfrm>
          </p:grpSpPr>
          <p:sp>
            <p:nvSpPr>
              <p:cNvPr id="13" name="Rectangle 12">
                <a:extLst>
                  <a:ext uri="{FF2B5EF4-FFF2-40B4-BE49-F238E27FC236}">
                    <a16:creationId xmlns:a16="http://schemas.microsoft.com/office/drawing/2014/main" id="{63F157EB-6FD4-A786-C546-26DA1752AA6D}"/>
                  </a:ext>
                </a:extLst>
              </p:cNvPr>
              <p:cNvSpPr>
                <a:spLocks noChangeAspect="1"/>
              </p:cNvSpPr>
              <p:nvPr/>
            </p:nvSpPr>
            <p:spPr>
              <a:xfrm>
                <a:off x="4349537" y="2031715"/>
                <a:ext cx="237324" cy="237325"/>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endParaRPr lang="de-DE" sz="1200" noProof="0">
                  <a:solidFill>
                    <a:prstClr val="black"/>
                  </a:solidFill>
                  <a:latin typeface="Aptos"/>
                </a:endParaRPr>
              </a:p>
            </p:txBody>
          </p:sp>
          <p:sp>
            <p:nvSpPr>
              <p:cNvPr id="14" name="TextBox 13">
                <a:extLst>
                  <a:ext uri="{FF2B5EF4-FFF2-40B4-BE49-F238E27FC236}">
                    <a16:creationId xmlns:a16="http://schemas.microsoft.com/office/drawing/2014/main" id="{87564F0A-2352-6C5F-521F-4BC62F441786}"/>
                  </a:ext>
                </a:extLst>
              </p:cNvPr>
              <p:cNvSpPr txBox="1"/>
              <p:nvPr/>
            </p:nvSpPr>
            <p:spPr>
              <a:xfrm>
                <a:off x="4679582" y="2088219"/>
                <a:ext cx="288000" cy="167224"/>
              </a:xfrm>
              <a:prstGeom prst="rect">
                <a:avLst/>
              </a:prstGeom>
              <a:noFill/>
            </p:spPr>
            <p:txBody>
              <a:bodyPr wrap="square" lIns="0" tIns="0" rIns="0" bIns="0" rtlCol="0" anchor="ctr">
                <a:spAutoFit/>
              </a:bodyPr>
              <a:lstStyle/>
              <a:p>
                <a:pPr defTabSz="1218652">
                  <a:lnSpc>
                    <a:spcPct val="90000"/>
                  </a:lnSpc>
                  <a:spcBef>
                    <a:spcPts val="800"/>
                  </a:spcBef>
                  <a:defRPr/>
                </a:pPr>
                <a:r>
                  <a:rPr lang="de-DE" sz="1200" noProof="0">
                    <a:solidFill>
                      <a:prstClr val="black"/>
                    </a:solidFill>
                    <a:latin typeface="Aptos"/>
                  </a:rPr>
                  <a:t>n/a</a:t>
                </a:r>
              </a:p>
            </p:txBody>
          </p:sp>
        </p:grpSp>
      </p:grpSp>
      <p:grpSp>
        <p:nvGrpSpPr>
          <p:cNvPr id="19" name="Group 18">
            <a:extLst>
              <a:ext uri="{FF2B5EF4-FFF2-40B4-BE49-F238E27FC236}">
                <a16:creationId xmlns:a16="http://schemas.microsoft.com/office/drawing/2014/main" id="{C26352A8-E84D-C510-30C8-C0295AC09011}"/>
              </a:ext>
            </a:extLst>
          </p:cNvPr>
          <p:cNvGrpSpPr>
            <a:grpSpLocks/>
          </p:cNvGrpSpPr>
          <p:nvPr/>
        </p:nvGrpSpPr>
        <p:grpSpPr>
          <a:xfrm>
            <a:off x="8402040" y="5724136"/>
            <a:ext cx="1967562" cy="237326"/>
            <a:chOff x="3202497" y="2010259"/>
            <a:chExt cx="1967562" cy="237325"/>
          </a:xfrm>
        </p:grpSpPr>
        <p:grpSp>
          <p:nvGrpSpPr>
            <p:cNvPr id="20" name="Group 19">
              <a:extLst>
                <a:ext uri="{FF2B5EF4-FFF2-40B4-BE49-F238E27FC236}">
                  <a16:creationId xmlns:a16="http://schemas.microsoft.com/office/drawing/2014/main" id="{CD66B3FF-46AD-3CE6-8091-45E50BC14363}"/>
                </a:ext>
              </a:extLst>
            </p:cNvPr>
            <p:cNvGrpSpPr/>
            <p:nvPr/>
          </p:nvGrpSpPr>
          <p:grpSpPr>
            <a:xfrm>
              <a:off x="3202497" y="2010259"/>
              <a:ext cx="786794" cy="237325"/>
              <a:chOff x="3154852" y="2031715"/>
              <a:chExt cx="786794" cy="237325"/>
            </a:xfrm>
          </p:grpSpPr>
          <p:sp>
            <p:nvSpPr>
              <p:cNvPr id="27" name="TextBox 26">
                <a:extLst>
                  <a:ext uri="{FF2B5EF4-FFF2-40B4-BE49-F238E27FC236}">
                    <a16:creationId xmlns:a16="http://schemas.microsoft.com/office/drawing/2014/main" id="{C60123AC-2B3E-DF91-0D13-903A395DB715}"/>
                  </a:ext>
                </a:extLst>
              </p:cNvPr>
              <p:cNvSpPr txBox="1"/>
              <p:nvPr/>
            </p:nvSpPr>
            <p:spPr>
              <a:xfrm>
                <a:off x="3484897" y="2080821"/>
                <a:ext cx="456749" cy="167224"/>
              </a:xfrm>
              <a:prstGeom prst="rect">
                <a:avLst/>
              </a:prstGeom>
              <a:noFill/>
            </p:spPr>
            <p:txBody>
              <a:bodyPr wrap="square" lIns="0" tIns="0" rIns="0" bIns="0" rtlCol="0" anchor="ctr">
                <a:spAutoFit/>
              </a:bodyPr>
              <a:lstStyle/>
              <a:p>
                <a:pPr defTabSz="1218652">
                  <a:lnSpc>
                    <a:spcPct val="90000"/>
                  </a:lnSpc>
                  <a:spcBef>
                    <a:spcPts val="800"/>
                  </a:spcBef>
                  <a:defRPr/>
                </a:pPr>
                <a:r>
                  <a:rPr lang="de-DE" sz="1200" noProof="0">
                    <a:solidFill>
                      <a:prstClr val="black"/>
                    </a:solidFill>
                    <a:latin typeface="Aptos"/>
                  </a:rPr>
                  <a:t>Ja</a:t>
                </a:r>
              </a:p>
            </p:txBody>
          </p:sp>
          <p:sp>
            <p:nvSpPr>
              <p:cNvPr id="28" name="Rectangle 27">
                <a:extLst>
                  <a:ext uri="{FF2B5EF4-FFF2-40B4-BE49-F238E27FC236}">
                    <a16:creationId xmlns:a16="http://schemas.microsoft.com/office/drawing/2014/main" id="{AA0C5624-0B06-05A1-C532-C2CDB8460032}"/>
                  </a:ext>
                </a:extLst>
              </p:cNvPr>
              <p:cNvSpPr>
                <a:spLocks noChangeAspect="1"/>
              </p:cNvSpPr>
              <p:nvPr/>
            </p:nvSpPr>
            <p:spPr>
              <a:xfrm>
                <a:off x="3154852" y="2031715"/>
                <a:ext cx="237324" cy="237325"/>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endParaRPr lang="de-DE" sz="1200" noProof="0">
                  <a:solidFill>
                    <a:prstClr val="black"/>
                  </a:solidFill>
                  <a:latin typeface="Aptos"/>
                </a:endParaRPr>
              </a:p>
            </p:txBody>
          </p:sp>
        </p:grpSp>
        <p:grpSp>
          <p:nvGrpSpPr>
            <p:cNvPr id="21" name="Group 20">
              <a:extLst>
                <a:ext uri="{FF2B5EF4-FFF2-40B4-BE49-F238E27FC236}">
                  <a16:creationId xmlns:a16="http://schemas.microsoft.com/office/drawing/2014/main" id="{C435DA7F-0AAF-10ED-B925-6DEABFF140C1}"/>
                </a:ext>
              </a:extLst>
            </p:cNvPr>
            <p:cNvGrpSpPr/>
            <p:nvPr/>
          </p:nvGrpSpPr>
          <p:grpSpPr>
            <a:xfrm>
              <a:off x="3806092" y="2010259"/>
              <a:ext cx="753391" cy="237325"/>
              <a:chOff x="4349537" y="2031715"/>
              <a:chExt cx="753391" cy="237325"/>
            </a:xfrm>
          </p:grpSpPr>
          <p:sp>
            <p:nvSpPr>
              <p:cNvPr id="25" name="Rectangle 24">
                <a:extLst>
                  <a:ext uri="{FF2B5EF4-FFF2-40B4-BE49-F238E27FC236}">
                    <a16:creationId xmlns:a16="http://schemas.microsoft.com/office/drawing/2014/main" id="{899FDD30-2637-AB2D-DA4C-FC31F1D4EB31}"/>
                  </a:ext>
                </a:extLst>
              </p:cNvPr>
              <p:cNvSpPr>
                <a:spLocks noChangeAspect="1"/>
              </p:cNvSpPr>
              <p:nvPr/>
            </p:nvSpPr>
            <p:spPr>
              <a:xfrm>
                <a:off x="4349537" y="2031715"/>
                <a:ext cx="237324" cy="237325"/>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r>
                  <a:rPr lang="de-DE" sz="1000" dirty="0">
                    <a:solidFill>
                      <a:prstClr val="black"/>
                    </a:solidFill>
                    <a:latin typeface="Aptos"/>
                  </a:rPr>
                  <a:t>x</a:t>
                </a:r>
                <a:endParaRPr lang="de-DE" sz="1200" noProof="0">
                  <a:solidFill>
                    <a:prstClr val="black"/>
                  </a:solidFill>
                  <a:latin typeface="Aptos"/>
                </a:endParaRPr>
              </a:p>
            </p:txBody>
          </p:sp>
          <p:sp>
            <p:nvSpPr>
              <p:cNvPr id="26" name="TextBox 25">
                <a:extLst>
                  <a:ext uri="{FF2B5EF4-FFF2-40B4-BE49-F238E27FC236}">
                    <a16:creationId xmlns:a16="http://schemas.microsoft.com/office/drawing/2014/main" id="{270FD539-9E66-1F0A-97B0-D442088AEEF4}"/>
                  </a:ext>
                </a:extLst>
              </p:cNvPr>
              <p:cNvSpPr txBox="1"/>
              <p:nvPr/>
            </p:nvSpPr>
            <p:spPr>
              <a:xfrm>
                <a:off x="4679581" y="2088219"/>
                <a:ext cx="423347" cy="167224"/>
              </a:xfrm>
              <a:prstGeom prst="rect">
                <a:avLst/>
              </a:prstGeom>
              <a:noFill/>
            </p:spPr>
            <p:txBody>
              <a:bodyPr wrap="square" lIns="0" tIns="0" rIns="0" bIns="0" rtlCol="0" anchor="ctr">
                <a:spAutoFit/>
              </a:bodyPr>
              <a:lstStyle/>
              <a:p>
                <a:pPr defTabSz="1218652">
                  <a:lnSpc>
                    <a:spcPct val="90000"/>
                  </a:lnSpc>
                  <a:spcBef>
                    <a:spcPts val="800"/>
                  </a:spcBef>
                  <a:defRPr/>
                </a:pPr>
                <a:r>
                  <a:rPr lang="de-DE" sz="1200" noProof="0">
                    <a:solidFill>
                      <a:prstClr val="black"/>
                    </a:solidFill>
                    <a:latin typeface="Aptos"/>
                  </a:rPr>
                  <a:t>Nein</a:t>
                </a:r>
              </a:p>
            </p:txBody>
          </p:sp>
        </p:grpSp>
        <p:grpSp>
          <p:nvGrpSpPr>
            <p:cNvPr id="22" name="Group 21">
              <a:extLst>
                <a:ext uri="{FF2B5EF4-FFF2-40B4-BE49-F238E27FC236}">
                  <a16:creationId xmlns:a16="http://schemas.microsoft.com/office/drawing/2014/main" id="{143DDE16-4276-8A1A-6FAE-219546A6DF88}"/>
                </a:ext>
              </a:extLst>
            </p:cNvPr>
            <p:cNvGrpSpPr/>
            <p:nvPr/>
          </p:nvGrpSpPr>
          <p:grpSpPr>
            <a:xfrm>
              <a:off x="4552014" y="2010259"/>
              <a:ext cx="618045" cy="237325"/>
              <a:chOff x="4349537" y="2031715"/>
              <a:chExt cx="618045" cy="237325"/>
            </a:xfrm>
          </p:grpSpPr>
          <p:sp>
            <p:nvSpPr>
              <p:cNvPr id="23" name="Rectangle 22">
                <a:extLst>
                  <a:ext uri="{FF2B5EF4-FFF2-40B4-BE49-F238E27FC236}">
                    <a16:creationId xmlns:a16="http://schemas.microsoft.com/office/drawing/2014/main" id="{FDFB3366-50A0-7586-4631-42C7506BDB94}"/>
                  </a:ext>
                </a:extLst>
              </p:cNvPr>
              <p:cNvSpPr>
                <a:spLocks noChangeAspect="1"/>
              </p:cNvSpPr>
              <p:nvPr/>
            </p:nvSpPr>
            <p:spPr>
              <a:xfrm>
                <a:off x="4349537" y="2031715"/>
                <a:ext cx="237324" cy="237325"/>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endParaRPr lang="de-DE" sz="1200" noProof="0">
                  <a:solidFill>
                    <a:prstClr val="black"/>
                  </a:solidFill>
                  <a:latin typeface="Aptos"/>
                </a:endParaRPr>
              </a:p>
            </p:txBody>
          </p:sp>
          <p:sp>
            <p:nvSpPr>
              <p:cNvPr id="24" name="TextBox 23">
                <a:extLst>
                  <a:ext uri="{FF2B5EF4-FFF2-40B4-BE49-F238E27FC236}">
                    <a16:creationId xmlns:a16="http://schemas.microsoft.com/office/drawing/2014/main" id="{ACAFA620-8BAD-438C-6764-535C965A7BC5}"/>
                  </a:ext>
                </a:extLst>
              </p:cNvPr>
              <p:cNvSpPr txBox="1"/>
              <p:nvPr/>
            </p:nvSpPr>
            <p:spPr>
              <a:xfrm>
                <a:off x="4679582" y="2088219"/>
                <a:ext cx="288000" cy="167224"/>
              </a:xfrm>
              <a:prstGeom prst="rect">
                <a:avLst/>
              </a:prstGeom>
              <a:noFill/>
            </p:spPr>
            <p:txBody>
              <a:bodyPr wrap="square" lIns="0" tIns="0" rIns="0" bIns="0" rtlCol="0" anchor="ctr">
                <a:spAutoFit/>
              </a:bodyPr>
              <a:lstStyle/>
              <a:p>
                <a:pPr defTabSz="1218652">
                  <a:lnSpc>
                    <a:spcPct val="90000"/>
                  </a:lnSpc>
                  <a:spcBef>
                    <a:spcPts val="800"/>
                  </a:spcBef>
                  <a:defRPr/>
                </a:pPr>
                <a:r>
                  <a:rPr lang="de-DE" sz="1200" noProof="0">
                    <a:solidFill>
                      <a:prstClr val="black"/>
                    </a:solidFill>
                    <a:latin typeface="Aptos"/>
                  </a:rPr>
                  <a:t>n/a</a:t>
                </a:r>
              </a:p>
            </p:txBody>
          </p:sp>
        </p:grpSp>
      </p:grpSp>
      <p:grpSp>
        <p:nvGrpSpPr>
          <p:cNvPr id="45" name="Group 44">
            <a:extLst>
              <a:ext uri="{FF2B5EF4-FFF2-40B4-BE49-F238E27FC236}">
                <a16:creationId xmlns:a16="http://schemas.microsoft.com/office/drawing/2014/main" id="{44681850-B0F6-582E-0C44-3B41D5C36A2D}"/>
              </a:ext>
            </a:extLst>
          </p:cNvPr>
          <p:cNvGrpSpPr/>
          <p:nvPr/>
        </p:nvGrpSpPr>
        <p:grpSpPr>
          <a:xfrm>
            <a:off x="2558086" y="2254140"/>
            <a:ext cx="4366970" cy="183200"/>
            <a:chOff x="2558086" y="2254140"/>
            <a:chExt cx="4366970" cy="183200"/>
          </a:xfrm>
        </p:grpSpPr>
        <p:sp>
          <p:nvSpPr>
            <p:cNvPr id="43" name="TextBox 42">
              <a:extLst>
                <a:ext uri="{FF2B5EF4-FFF2-40B4-BE49-F238E27FC236}">
                  <a16:creationId xmlns:a16="http://schemas.microsoft.com/office/drawing/2014/main" id="{B6C7A8ED-95A7-8BA5-8B2D-697C01C10072}"/>
                </a:ext>
              </a:extLst>
            </p:cNvPr>
            <p:cNvSpPr txBox="1"/>
            <p:nvPr/>
          </p:nvSpPr>
          <p:spPr>
            <a:xfrm>
              <a:off x="2888131" y="2286891"/>
              <a:ext cx="1055219" cy="139397"/>
            </a:xfrm>
            <a:prstGeom prst="rect">
              <a:avLst/>
            </a:prstGeom>
            <a:noFill/>
          </p:spPr>
          <p:txBody>
            <a:bodyPr wrap="square" lIns="0" tIns="0" rIns="0" bIns="0" rtlCol="0" anchor="ctr">
              <a:spAutoFit/>
            </a:bodyPr>
            <a:lstStyle/>
            <a:p>
              <a:pPr defTabSz="1218652">
                <a:lnSpc>
                  <a:spcPct val="90000"/>
                </a:lnSpc>
                <a:spcBef>
                  <a:spcPts val="800"/>
                </a:spcBef>
                <a:defRPr/>
              </a:pPr>
              <a:r>
                <a:rPr lang="de-DE" sz="1000" noProof="0" dirty="0">
                  <a:solidFill>
                    <a:prstClr val="black"/>
                  </a:solidFill>
                  <a:latin typeface="Aptos"/>
                </a:rPr>
                <a:t>Stream Level</a:t>
              </a:r>
            </a:p>
          </p:txBody>
        </p:sp>
        <p:sp>
          <p:nvSpPr>
            <p:cNvPr id="44" name="Rectangle 43">
              <a:extLst>
                <a:ext uri="{FF2B5EF4-FFF2-40B4-BE49-F238E27FC236}">
                  <a16:creationId xmlns:a16="http://schemas.microsoft.com/office/drawing/2014/main" id="{A9A5BC27-5CBE-DE2E-4982-736ED065CD42}"/>
                </a:ext>
              </a:extLst>
            </p:cNvPr>
            <p:cNvSpPr>
              <a:spLocks noChangeAspect="1"/>
            </p:cNvSpPr>
            <p:nvPr/>
          </p:nvSpPr>
          <p:spPr>
            <a:xfrm>
              <a:off x="2558086" y="2254140"/>
              <a:ext cx="237324" cy="183198"/>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endParaRPr lang="de-DE" sz="1000" noProof="0">
                <a:solidFill>
                  <a:prstClr val="black"/>
                </a:solidFill>
                <a:latin typeface="Aptos"/>
              </a:endParaRPr>
            </a:p>
          </p:txBody>
        </p:sp>
        <p:sp>
          <p:nvSpPr>
            <p:cNvPr id="41" name="Rectangle 40">
              <a:extLst>
                <a:ext uri="{FF2B5EF4-FFF2-40B4-BE49-F238E27FC236}">
                  <a16:creationId xmlns:a16="http://schemas.microsoft.com/office/drawing/2014/main" id="{67D4E5B3-3A01-2A35-7BDB-E4DF108D47FB}"/>
                </a:ext>
              </a:extLst>
            </p:cNvPr>
            <p:cNvSpPr>
              <a:spLocks noChangeAspect="1"/>
            </p:cNvSpPr>
            <p:nvPr/>
          </p:nvSpPr>
          <p:spPr>
            <a:xfrm>
              <a:off x="3987170" y="2254142"/>
              <a:ext cx="237324" cy="183198"/>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r>
                <a:rPr lang="de-DE" sz="1000" dirty="0">
                  <a:solidFill>
                    <a:prstClr val="black"/>
                  </a:solidFill>
                  <a:latin typeface="Aptos"/>
                </a:rPr>
                <a:t>x</a:t>
              </a:r>
              <a:endParaRPr lang="de-DE" sz="1000" noProof="0">
                <a:solidFill>
                  <a:prstClr val="black"/>
                </a:solidFill>
                <a:latin typeface="Aptos"/>
              </a:endParaRPr>
            </a:p>
          </p:txBody>
        </p:sp>
        <p:sp>
          <p:nvSpPr>
            <p:cNvPr id="42" name="TextBox 41">
              <a:extLst>
                <a:ext uri="{FF2B5EF4-FFF2-40B4-BE49-F238E27FC236}">
                  <a16:creationId xmlns:a16="http://schemas.microsoft.com/office/drawing/2014/main" id="{F389C65F-9EB7-FE61-5763-C63858E0A439}"/>
                </a:ext>
              </a:extLst>
            </p:cNvPr>
            <p:cNvSpPr txBox="1"/>
            <p:nvPr/>
          </p:nvSpPr>
          <p:spPr>
            <a:xfrm>
              <a:off x="4317214" y="2292603"/>
              <a:ext cx="949137" cy="139397"/>
            </a:xfrm>
            <a:prstGeom prst="rect">
              <a:avLst/>
            </a:prstGeom>
            <a:noFill/>
          </p:spPr>
          <p:txBody>
            <a:bodyPr wrap="square" lIns="0" tIns="0" rIns="0" bIns="0" rtlCol="0" anchor="ctr">
              <a:spAutoFit/>
            </a:bodyPr>
            <a:lstStyle/>
            <a:p>
              <a:pPr defTabSz="1218652">
                <a:lnSpc>
                  <a:spcPct val="90000"/>
                </a:lnSpc>
                <a:spcBef>
                  <a:spcPts val="800"/>
                </a:spcBef>
                <a:defRPr/>
              </a:pPr>
              <a:r>
                <a:rPr lang="de-DE" sz="1000" noProof="0" dirty="0">
                  <a:solidFill>
                    <a:prstClr val="black"/>
                  </a:solidFill>
                  <a:latin typeface="Aptos"/>
                </a:rPr>
                <a:t>Programm Level</a:t>
              </a:r>
            </a:p>
          </p:txBody>
        </p:sp>
        <p:sp>
          <p:nvSpPr>
            <p:cNvPr id="39" name="Rectangle 38">
              <a:extLst>
                <a:ext uri="{FF2B5EF4-FFF2-40B4-BE49-F238E27FC236}">
                  <a16:creationId xmlns:a16="http://schemas.microsoft.com/office/drawing/2014/main" id="{F833B0C2-9F3F-5F72-CCFE-C8808FF4B4B7}"/>
                </a:ext>
              </a:extLst>
            </p:cNvPr>
            <p:cNvSpPr>
              <a:spLocks noChangeAspect="1"/>
            </p:cNvSpPr>
            <p:nvPr/>
          </p:nvSpPr>
          <p:spPr>
            <a:xfrm>
              <a:off x="5477733" y="2254142"/>
              <a:ext cx="237324" cy="183198"/>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endParaRPr lang="de-DE" sz="1000" noProof="0">
                <a:solidFill>
                  <a:prstClr val="black"/>
                </a:solidFill>
                <a:latin typeface="Aptos"/>
              </a:endParaRPr>
            </a:p>
          </p:txBody>
        </p:sp>
        <p:sp>
          <p:nvSpPr>
            <p:cNvPr id="40" name="TextBox 39">
              <a:extLst>
                <a:ext uri="{FF2B5EF4-FFF2-40B4-BE49-F238E27FC236}">
                  <a16:creationId xmlns:a16="http://schemas.microsoft.com/office/drawing/2014/main" id="{EC83F5A1-A713-3E49-36A8-0ED7002821AB}"/>
                </a:ext>
              </a:extLst>
            </p:cNvPr>
            <p:cNvSpPr txBox="1"/>
            <p:nvPr/>
          </p:nvSpPr>
          <p:spPr>
            <a:xfrm>
              <a:off x="5807777" y="2292603"/>
              <a:ext cx="1117279" cy="139397"/>
            </a:xfrm>
            <a:prstGeom prst="rect">
              <a:avLst/>
            </a:prstGeom>
            <a:noFill/>
          </p:spPr>
          <p:txBody>
            <a:bodyPr wrap="square" lIns="0" tIns="0" rIns="0" bIns="0" rtlCol="0" anchor="ctr">
              <a:spAutoFit/>
            </a:bodyPr>
            <a:lstStyle/>
            <a:p>
              <a:pPr defTabSz="1218652">
                <a:lnSpc>
                  <a:spcPct val="90000"/>
                </a:lnSpc>
                <a:spcBef>
                  <a:spcPts val="800"/>
                </a:spcBef>
                <a:defRPr/>
              </a:pPr>
              <a:r>
                <a:rPr lang="de-DE" sz="1000" dirty="0" err="1">
                  <a:solidFill>
                    <a:prstClr val="black"/>
                  </a:solidFill>
                  <a:latin typeface="Aptos"/>
                </a:rPr>
                <a:t>Supervisory</a:t>
              </a:r>
              <a:r>
                <a:rPr lang="de-DE" sz="1000" dirty="0">
                  <a:solidFill>
                    <a:prstClr val="black"/>
                  </a:solidFill>
                  <a:latin typeface="Aptos"/>
                </a:rPr>
                <a:t> Level</a:t>
              </a:r>
              <a:endParaRPr lang="de-DE" sz="1000" noProof="0" dirty="0">
                <a:solidFill>
                  <a:prstClr val="black"/>
                </a:solidFill>
                <a:latin typeface="Aptos"/>
              </a:endParaRPr>
            </a:p>
          </p:txBody>
        </p:sp>
      </p:grpSp>
      <p:grpSp>
        <p:nvGrpSpPr>
          <p:cNvPr id="46" name="Group 45">
            <a:extLst>
              <a:ext uri="{FF2B5EF4-FFF2-40B4-BE49-F238E27FC236}">
                <a16:creationId xmlns:a16="http://schemas.microsoft.com/office/drawing/2014/main" id="{73077E97-CC89-1425-7AD0-BCB06FBF5A02}"/>
              </a:ext>
            </a:extLst>
          </p:cNvPr>
          <p:cNvGrpSpPr/>
          <p:nvPr/>
        </p:nvGrpSpPr>
        <p:grpSpPr>
          <a:xfrm>
            <a:off x="7152194" y="2254140"/>
            <a:ext cx="4366970" cy="183200"/>
            <a:chOff x="2558086" y="2254140"/>
            <a:chExt cx="4366970" cy="183200"/>
          </a:xfrm>
        </p:grpSpPr>
        <p:sp>
          <p:nvSpPr>
            <p:cNvPr id="47" name="TextBox 46">
              <a:extLst>
                <a:ext uri="{FF2B5EF4-FFF2-40B4-BE49-F238E27FC236}">
                  <a16:creationId xmlns:a16="http://schemas.microsoft.com/office/drawing/2014/main" id="{110F36E5-6ED5-5348-BF14-5136A0F490C0}"/>
                </a:ext>
              </a:extLst>
            </p:cNvPr>
            <p:cNvSpPr txBox="1"/>
            <p:nvPr/>
          </p:nvSpPr>
          <p:spPr>
            <a:xfrm>
              <a:off x="2888131" y="2286891"/>
              <a:ext cx="1055219" cy="139397"/>
            </a:xfrm>
            <a:prstGeom prst="rect">
              <a:avLst/>
            </a:prstGeom>
            <a:noFill/>
          </p:spPr>
          <p:txBody>
            <a:bodyPr wrap="square" lIns="0" tIns="0" rIns="0" bIns="0" rtlCol="0" anchor="ctr">
              <a:spAutoFit/>
            </a:bodyPr>
            <a:lstStyle/>
            <a:p>
              <a:pPr defTabSz="1218652">
                <a:lnSpc>
                  <a:spcPct val="90000"/>
                </a:lnSpc>
                <a:spcBef>
                  <a:spcPts val="800"/>
                </a:spcBef>
                <a:defRPr/>
              </a:pPr>
              <a:r>
                <a:rPr lang="de-DE" sz="1000" noProof="0" dirty="0">
                  <a:solidFill>
                    <a:prstClr val="black"/>
                  </a:solidFill>
                  <a:latin typeface="Aptos"/>
                </a:rPr>
                <a:t>Stream Level</a:t>
              </a:r>
            </a:p>
          </p:txBody>
        </p:sp>
        <p:sp>
          <p:nvSpPr>
            <p:cNvPr id="48" name="Rectangle 47">
              <a:extLst>
                <a:ext uri="{FF2B5EF4-FFF2-40B4-BE49-F238E27FC236}">
                  <a16:creationId xmlns:a16="http://schemas.microsoft.com/office/drawing/2014/main" id="{ACD8FF0C-D16A-8BD0-4E09-F3FA37BE8F0C}"/>
                </a:ext>
              </a:extLst>
            </p:cNvPr>
            <p:cNvSpPr>
              <a:spLocks noChangeAspect="1"/>
            </p:cNvSpPr>
            <p:nvPr/>
          </p:nvSpPr>
          <p:spPr>
            <a:xfrm>
              <a:off x="2558086" y="2254140"/>
              <a:ext cx="237324" cy="183198"/>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endParaRPr lang="de-DE" sz="1000" noProof="0">
                <a:solidFill>
                  <a:prstClr val="black"/>
                </a:solidFill>
                <a:latin typeface="Aptos"/>
              </a:endParaRPr>
            </a:p>
          </p:txBody>
        </p:sp>
        <p:sp>
          <p:nvSpPr>
            <p:cNvPr id="49" name="Rectangle 48">
              <a:extLst>
                <a:ext uri="{FF2B5EF4-FFF2-40B4-BE49-F238E27FC236}">
                  <a16:creationId xmlns:a16="http://schemas.microsoft.com/office/drawing/2014/main" id="{4A0D9BCE-BE5D-6C43-1069-B69BD6F6CB7E}"/>
                </a:ext>
              </a:extLst>
            </p:cNvPr>
            <p:cNvSpPr>
              <a:spLocks noChangeAspect="1"/>
            </p:cNvSpPr>
            <p:nvPr/>
          </p:nvSpPr>
          <p:spPr>
            <a:xfrm>
              <a:off x="3987170" y="2254142"/>
              <a:ext cx="237324" cy="183198"/>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r>
                <a:rPr lang="de-DE" sz="1000" dirty="0">
                  <a:solidFill>
                    <a:prstClr val="black"/>
                  </a:solidFill>
                  <a:latin typeface="Aptos"/>
                </a:rPr>
                <a:t>x</a:t>
              </a:r>
              <a:endParaRPr lang="de-DE" sz="1000" noProof="0">
                <a:solidFill>
                  <a:prstClr val="black"/>
                </a:solidFill>
                <a:latin typeface="Aptos"/>
              </a:endParaRPr>
            </a:p>
          </p:txBody>
        </p:sp>
        <p:sp>
          <p:nvSpPr>
            <p:cNvPr id="50" name="TextBox 49">
              <a:extLst>
                <a:ext uri="{FF2B5EF4-FFF2-40B4-BE49-F238E27FC236}">
                  <a16:creationId xmlns:a16="http://schemas.microsoft.com/office/drawing/2014/main" id="{DBF4F726-6740-DDE4-0A51-A81C2A57189A}"/>
                </a:ext>
              </a:extLst>
            </p:cNvPr>
            <p:cNvSpPr txBox="1"/>
            <p:nvPr/>
          </p:nvSpPr>
          <p:spPr>
            <a:xfrm>
              <a:off x="4317214" y="2292603"/>
              <a:ext cx="949137" cy="139397"/>
            </a:xfrm>
            <a:prstGeom prst="rect">
              <a:avLst/>
            </a:prstGeom>
            <a:noFill/>
          </p:spPr>
          <p:txBody>
            <a:bodyPr wrap="square" lIns="0" tIns="0" rIns="0" bIns="0" rtlCol="0" anchor="ctr">
              <a:spAutoFit/>
            </a:bodyPr>
            <a:lstStyle/>
            <a:p>
              <a:pPr defTabSz="1218652">
                <a:lnSpc>
                  <a:spcPct val="90000"/>
                </a:lnSpc>
                <a:spcBef>
                  <a:spcPts val="800"/>
                </a:spcBef>
                <a:defRPr/>
              </a:pPr>
              <a:r>
                <a:rPr lang="de-DE" sz="1000" noProof="0" dirty="0">
                  <a:solidFill>
                    <a:prstClr val="black"/>
                  </a:solidFill>
                  <a:latin typeface="Aptos"/>
                </a:rPr>
                <a:t>Programm Level</a:t>
              </a:r>
            </a:p>
          </p:txBody>
        </p:sp>
        <p:sp>
          <p:nvSpPr>
            <p:cNvPr id="51" name="Rectangle 50">
              <a:extLst>
                <a:ext uri="{FF2B5EF4-FFF2-40B4-BE49-F238E27FC236}">
                  <a16:creationId xmlns:a16="http://schemas.microsoft.com/office/drawing/2014/main" id="{8FF064AA-C262-8B9C-905A-8DD6897B1D45}"/>
                </a:ext>
              </a:extLst>
            </p:cNvPr>
            <p:cNvSpPr>
              <a:spLocks noChangeAspect="1"/>
            </p:cNvSpPr>
            <p:nvPr/>
          </p:nvSpPr>
          <p:spPr>
            <a:xfrm>
              <a:off x="5477733" y="2254142"/>
              <a:ext cx="237324" cy="183198"/>
            </a:xfrm>
            <a:prstGeom prst="rect">
              <a:avLst/>
            </a:prstGeom>
            <a:noFill/>
            <a:ln w="1270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000" tIns="48000" rIns="48000" bIns="48000" numCol="1" spcCol="0" rtlCol="0" fromWordArt="0" anchor="ctr" anchorCtr="0" forceAA="0" compatLnSpc="1">
              <a:prstTxWarp prst="textNoShape">
                <a:avLst/>
              </a:prstTxWarp>
              <a:noAutofit/>
            </a:bodyPr>
            <a:lstStyle/>
            <a:p>
              <a:pPr algn="ctr" defTabSz="1218652">
                <a:lnSpc>
                  <a:spcPct val="90000"/>
                </a:lnSpc>
                <a:spcBef>
                  <a:spcPts val="800"/>
                </a:spcBef>
                <a:defRPr/>
              </a:pPr>
              <a:endParaRPr lang="de-DE" sz="1000" noProof="0">
                <a:solidFill>
                  <a:prstClr val="black"/>
                </a:solidFill>
                <a:latin typeface="Aptos"/>
              </a:endParaRPr>
            </a:p>
          </p:txBody>
        </p:sp>
        <p:sp>
          <p:nvSpPr>
            <p:cNvPr id="52" name="TextBox 51">
              <a:extLst>
                <a:ext uri="{FF2B5EF4-FFF2-40B4-BE49-F238E27FC236}">
                  <a16:creationId xmlns:a16="http://schemas.microsoft.com/office/drawing/2014/main" id="{32DD4B07-F9A1-C0DA-6940-15D1AFA63600}"/>
                </a:ext>
              </a:extLst>
            </p:cNvPr>
            <p:cNvSpPr txBox="1"/>
            <p:nvPr/>
          </p:nvSpPr>
          <p:spPr>
            <a:xfrm>
              <a:off x="5807777" y="2292603"/>
              <a:ext cx="1117279" cy="139397"/>
            </a:xfrm>
            <a:prstGeom prst="rect">
              <a:avLst/>
            </a:prstGeom>
            <a:noFill/>
          </p:spPr>
          <p:txBody>
            <a:bodyPr wrap="square" lIns="0" tIns="0" rIns="0" bIns="0" rtlCol="0" anchor="ctr">
              <a:spAutoFit/>
            </a:bodyPr>
            <a:lstStyle/>
            <a:p>
              <a:pPr defTabSz="1218652">
                <a:lnSpc>
                  <a:spcPct val="90000"/>
                </a:lnSpc>
                <a:spcBef>
                  <a:spcPts val="800"/>
                </a:spcBef>
                <a:defRPr/>
              </a:pPr>
              <a:r>
                <a:rPr lang="de-DE" sz="1000" dirty="0" err="1">
                  <a:solidFill>
                    <a:prstClr val="black"/>
                  </a:solidFill>
                  <a:latin typeface="Aptos"/>
                </a:rPr>
                <a:t>Supervisory</a:t>
              </a:r>
              <a:r>
                <a:rPr lang="de-DE" sz="1000" dirty="0">
                  <a:solidFill>
                    <a:prstClr val="black"/>
                  </a:solidFill>
                  <a:latin typeface="Aptos"/>
                </a:rPr>
                <a:t> Level</a:t>
              </a:r>
              <a:endParaRPr lang="de-DE" sz="1000" noProof="0" dirty="0">
                <a:solidFill>
                  <a:prstClr val="black"/>
                </a:solidFill>
                <a:latin typeface="Aptos"/>
              </a:endParaRPr>
            </a:p>
          </p:txBody>
        </p:sp>
      </p:grpSp>
    </p:spTree>
    <p:extLst>
      <p:ext uri="{BB962C8B-B14F-4D97-AF65-F5344CB8AC3E}">
        <p14:creationId xmlns:p14="http://schemas.microsoft.com/office/powerpoint/2010/main" val="26947757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efault Theme.potx" id="{D406F015-C4A6-497A-AC86-E6DDF7021F55}" vid="{ABC6D58B-546C-4A7B-8391-0BA4DD46A26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emplate>Default Theme</Template>
  <TotalTime>0</TotalTime>
  <Words>357</Words>
  <Application>Microsoft Office PowerPoint</Application>
  <PresentationFormat>Widescreen</PresentationFormat>
  <Paragraphs>89</Paragraphs>
  <Slides>3</Slides>
  <Notes>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8" baseType="lpstr">
      <vt:lpstr>Aptos</vt:lpstr>
      <vt:lpstr>Arial</vt:lpstr>
      <vt:lpstr>Wingdings</vt:lpstr>
      <vt:lpstr>Office Theme</vt:lpstr>
      <vt:lpstr>think-cell Slide</vt:lpstr>
      <vt:lpstr>PowerPoint Presentation</vt:lpstr>
      <vt:lpstr>KDD_[WS]_00X </vt:lpstr>
      <vt:lpstr>KDD_[WS]_00X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Goethel, Moritz</dc:creator>
  <cp:lastModifiedBy>Goethel, Moritz</cp:lastModifiedBy>
  <cp:revision>1</cp:revision>
  <dcterms:created xsi:type="dcterms:W3CDTF">2026-09-28T18:20:36Z</dcterms:created>
  <dcterms:modified xsi:type="dcterms:W3CDTF">2026-09-28T18:21:47Z</dcterms:modified>
</cp:coreProperties>
</file>
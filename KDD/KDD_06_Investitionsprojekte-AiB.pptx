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310" r:id="rId3"/>
    <p:sldId id="311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68" y="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4D756F-AEE0-4FCC-94CC-F2A2FE279A9C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D2F69-D563-4D35-BD94-ADE744863CD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9070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KDD_FI_006 Investitionsprojekte – Langfassung und Quellen</a:t>
            </a:r>
          </a:p>
          <a:p>
            <a:r>
              <a:t>3-64 CO-032 Projekt-zu-Anlage-Verbuchung und Audit Trail (Controlling Team, Scope Item 35F Project Control – Capital Projects, Status In Approval): Klärungsbedarf zur direkten Verbuchung von Investitionsprojektkosten auf Anlagen statt über die Projektabrechnung, insbesondere Sichtbarkeit des Kreditors für Wirtschaftsprüfer im Anlagenzugangsbeleg. Lösungsvorschlag im Requirement: Investitionsprofil EB0001 unterstützt vorgangsbezogene Abrechnung, Vorgängerbelege inkl. Kreditor werden hinterlegt; CAPEX/OPEX-Aufteilung innerhalb eines Projekts nicht unterstützt. Kommentare: Deep-Dive Anlagen im Bau in Realize verschoben (Turken 16.09.2026); Rücksprache mit Christiane Dohmen in KW 40 (Goethel 25.09.2026).</a:t>
            </a:r>
          </a:p>
          <a:p>
            <a:r>
              <a:t>3-193 FI-AA-03-01 AIB-Erzeugung aus PSP-Elementen (High): PSP-Element vom Typ Investitionsprojekt erzeugt automatisch eine AiB; laut DUS zu viele AiB (je PSP-Element eine); Logik (Anzahl, Zeitpunkt) mit Controlling so gestalten, dass die Menge beherrschbar bleibt und frühzeitige organisatorische Zuordnung möglich ist.</a:t>
            </a:r>
          </a:p>
          <a:p>
            <a:r>
              <a:t>Abhängigkeiten: 3-205 Investitionsfreigabe &lt;300.000 € (KDD_FI_001), 3-197 Beschaffung mit Anlagenkontierung (Kontierungsobjekt Projekt/AiB; KDD_FI_002), 3-206 Migration offener AiB-Posten (KDD_FI_007).</a:t>
            </a:r>
          </a:p>
          <a:p>
            <a:r>
              <a:t>Standardbezug (zu verifizieren im System): In Capital Projects wird die AiB je PSP-Element mit Investitionsprofil bei Freigabe angelegt; Abrechnung periodisch auf AiB und final auf Anlagen; Abrechnung untergeordneter PSP-Elemente auf das übergeordnete Element zu prüfen.</a:t>
            </a:r>
          </a:p>
          <a:p>
            <a:r>
              <a:t>Offene Punkte: Kapitalisierungsrichtlinie, Prüferanforderung im Wortlaut, Projektvolumen, Ergebnis KW 40, Zuständigkeit Controlling-Stream.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112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Bewertungsdetails KDD_FI_006. Option 1 (empfohlen): Investitionsprojekte gemäß 35F; Investitionsprofil (EB0001 oder Kopie) nur auf Maßnahmen-PSP-Elementen; vorgangsbezogene Abrechnung; OPEX auf separaten PSP-Elementen mit Abrechnung auf Kostenstellen; Endabrechnung auf Anlagen der Zielklassen. Clean Core, Standard, keine Lizenzkosten; Aufwand Konzeption und Schulung.</a:t>
            </a:r>
          </a:p>
          <a:p>
            <a:r>
              <a:t>Option 2: Kontierungstyp A in Bestellanforderung/Bestellung/Rechnung direkt auf AiB oder Anlage; Projekte nur planerisch. Verliert Kostensammlung und Budgetsteuerung; für Kleininvestitionen als Ergänzung möglich.</a:t>
            </a:r>
          </a:p>
          <a:p>
            <a:r>
              <a:t>Entscheidungslevel Stream (Finance/Controlling), da Standardprozess und Konfiguration; Eskalation nur bei Konflikt mit Prüferanforderungen.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D27F94-F7BA-47BD-A073-1C69180C86B3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88006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1C52-7FBE-CA5C-9D8A-9DC71D28A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4096C-6005-1D98-1C99-6DE18AC69B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2B05A-7B11-2CD0-52F3-2A607AAA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7246A-3DDC-72C2-1CF5-242C9D4E3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16D9F-62AA-3412-260E-73BEACD1D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04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37B95-58C1-0092-88AE-9F42026B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54310-506C-058F-7D9A-F9DECD86F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69856-300F-79AF-2653-C5E9CB67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84023-AA65-D62E-104F-C87A18F7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D32BE-9756-C9D1-C9E6-F25EFA2BD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977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3E114-150F-F569-7016-1D8CB4F13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6CDDC-ED61-C11E-2745-80C2CCD14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4DC58-3A28-7FE9-2756-6A3DF82FE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1733D-DF76-C9FF-71BB-7BDCC0C8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9CC83-5822-95DB-1C09-64F295B3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738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78E0-D5D0-E9E4-DC71-B928356B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97518-E309-B75D-091B-0BF3DF38F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2C398-BBE4-83CC-C4F5-0186580DC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806A8-DD5B-1B50-DEC8-F2F3F9789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C2D29-8F5D-1A78-BE31-CCF40F0C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1282E-6B40-EB6C-CCB8-D861F289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2750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B65E-0C50-27A4-EED6-11C76EFE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BCBB1-7021-54B3-D1A5-4742E8C92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3C233-06A6-4B67-AA4C-4E6F92E2D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6103D-02C9-A368-06CF-65BE97ABB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7DB28-B8F1-5DC2-BC84-4EE864A19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C773B-5DE9-5B07-A78B-077A717C8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C2AD15-6B20-174A-3FC4-0FCA2C69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AE5349-9910-7CE8-2565-3DC7411F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435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513B-8634-9564-12B7-09A8AD9D7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13F59-4CE7-9EB6-C064-9FD9585D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9FE2A-1C88-E7EE-16B4-EF7CF3CB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FFAF4-9A79-BE25-D271-EDEA7C69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379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3A8D56-6209-A554-F243-0294FA2D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DC15C-F87A-FDBF-9327-4ACCBE80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22F02-D792-9181-0537-33CD94358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0830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AE7E-EAAD-0121-203B-8F9E4341D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BEF0A-7FE8-DC73-81F4-AF8F7A232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B88EE-B04A-5B46-5C45-966B98B4B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421E3-C46A-59BD-56FF-31C344086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653B-88C9-460A-F38B-CE0B2900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9F927-7B94-B81B-F4F0-72183D68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78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B7F5-7D20-EAF9-C287-CA5F59F7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F99566-7401-929A-6B63-8B95266017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205D3-534C-6459-BDAD-9D1ACE538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29E50-23F8-9C27-D504-F884B61E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EF6B9-F595-2405-333D-2372B031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35F31-31B2-E176-C06A-CE2C932E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675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4F58-2457-8765-C1E4-33522405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52E72-8DAD-F53A-15AA-F74D9FFFF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9C530-BA88-CDAD-6921-EF37688CE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7FB8E-597E-32F0-B099-C7CCB7AF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915BC-4E6F-4A8B-A07F-BC2C09EE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255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624FFF-BFB9-6AE1-4227-8494BB308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B09BC-BD16-75FE-57B7-67F3B663E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6FAE6-0507-F26A-30A0-786BD078A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642B1-A2E8-C5F2-4EC2-21D53172D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DE23B-47D6-3F4B-8758-898026EB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5929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+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68CC7-DDFA-0E93-A378-CF69B12C18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49BFA-C956-82ED-16F4-BB75FE818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781AFB-FD54-1295-2013-E5DF82B1F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B86B8-C5EB-4D1C-8576-41565F759DA0}" type="datetime1">
              <a:rPr lang="de-DE" smtClean="0"/>
              <a:t>28.09.2026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15462-695C-B690-2B8E-757D88436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Präsentationstitel  |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E58975-2BEF-27A2-8717-812027CA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2E227-8C9F-455E-A65F-728E63FC57B1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14DAFB8-7299-9D70-1273-8B7C695FB7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824055"/>
            <a:ext cx="11160125" cy="392604"/>
          </a:xfrm>
        </p:spPr>
        <p:txBody>
          <a:bodyPr/>
          <a:lstStyle>
            <a:lvl1pPr marL="0" indent="0">
              <a:lnSpc>
                <a:spcPts val="2500"/>
              </a:lnSpc>
              <a:spcAft>
                <a:spcPts val="0"/>
              </a:spcAft>
              <a:buNone/>
              <a:defRPr sz="2000"/>
            </a:lvl1pPr>
            <a:lvl2pPr marL="198000" indent="0">
              <a:buNone/>
              <a:defRPr/>
            </a:lvl2pPr>
            <a:lvl3pPr marL="396000" indent="0">
              <a:buNone/>
              <a:defRPr/>
            </a:lvl3pPr>
            <a:lvl4pPr marL="594000" indent="0">
              <a:buNone/>
              <a:defRPr/>
            </a:lvl4pPr>
            <a:lvl5pPr marL="792000" indent="0">
              <a:buNone/>
              <a:defRPr/>
            </a:lvl5pPr>
          </a:lstStyle>
          <a:p>
            <a:pPr lvl="0"/>
            <a:r>
              <a:rPr lang="de-DE" dirty="0" err="1"/>
              <a:t>Subline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07428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C9192B-2FB6-136B-9D45-F0A2814A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D4C63-0A94-DB12-78A5-BD1FF2E5F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36285-B3A7-52CB-0CD8-AE7A8CE6C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3E870-7110-4F8F-A886-D181623AF643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A2C37-C622-A1A9-DAD2-7D1AC4985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32922-5E28-DA6A-72E5-63B795466B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BE964E-F132-479F-94BD-F84A15E55C3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12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A581-A593-DEDB-28C7-5C141CAF6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6DD60-50CF-94FE-15B8-20580E1911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94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5335CC9-8519-ABE5-718C-2CAA3DF1D85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335CC9-8519-ABE5-718C-2CAA3DF1D8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A22A7051-C82A-8347-2070-9F6608D5BCC6}"/>
              </a:ext>
            </a:extLst>
          </p:cNvPr>
          <p:cNvGrpSpPr/>
          <p:nvPr/>
        </p:nvGrpSpPr>
        <p:grpSpPr>
          <a:xfrm>
            <a:off x="2887489" y="1235014"/>
            <a:ext cx="2761772" cy="594684"/>
            <a:chOff x="2887205" y="1235014"/>
            <a:chExt cx="2244156" cy="594684"/>
          </a:xfrm>
        </p:grpSpPr>
        <p:sp>
          <p:nvSpPr>
            <p:cNvPr id="8" name="Rechteck 5">
              <a:extLst>
                <a:ext uri="{FF2B5EF4-FFF2-40B4-BE49-F238E27FC236}">
                  <a16:creationId xmlns:a16="http://schemas.microsoft.com/office/drawing/2014/main" id="{0C4E0D73-7A7D-F51E-9020-27B7F17C7F6D}"/>
                </a:ext>
              </a:extLst>
            </p:cNvPr>
            <p:cNvSpPr>
              <a:spLocks/>
            </p:cNvSpPr>
            <p:nvPr/>
          </p:nvSpPr>
          <p:spPr>
            <a:xfrm>
              <a:off x="2887205" y="1361907"/>
              <a:ext cx="2244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Finance (FI-AA) mit Controlling (PS)</a:t>
              </a:r>
            </a:p>
          </p:txBody>
        </p:sp>
        <p:sp>
          <p:nvSpPr>
            <p:cNvPr id="9" name="Rechteck 4">
              <a:extLst>
                <a:ext uri="{FF2B5EF4-FFF2-40B4-BE49-F238E27FC236}">
                  <a16:creationId xmlns:a16="http://schemas.microsoft.com/office/drawing/2014/main" id="{F90AF579-E54A-06B3-78C4-3766BE2CB782}"/>
                </a:ext>
              </a:extLst>
            </p:cNvPr>
            <p:cNvSpPr>
              <a:spLocks/>
            </p:cNvSpPr>
            <p:nvPr/>
          </p:nvSpPr>
          <p:spPr>
            <a:xfrm>
              <a:off x="2977883" y="1235014"/>
              <a:ext cx="20628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Workstream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52F971-A493-5255-0BA0-5C2F6AC88871}"/>
              </a:ext>
            </a:extLst>
          </p:cNvPr>
          <p:cNvGrpSpPr>
            <a:grpSpLocks/>
          </p:cNvGrpSpPr>
          <p:nvPr/>
        </p:nvGrpSpPr>
        <p:grpSpPr>
          <a:xfrm>
            <a:off x="5706871" y="1235014"/>
            <a:ext cx="2268063" cy="594684"/>
            <a:chOff x="5644894" y="1235014"/>
            <a:chExt cx="2268063" cy="594684"/>
          </a:xfrm>
        </p:grpSpPr>
        <p:sp>
          <p:nvSpPr>
            <p:cNvPr id="11" name="Rechteck 5">
              <a:extLst>
                <a:ext uri="{FF2B5EF4-FFF2-40B4-BE49-F238E27FC236}">
                  <a16:creationId xmlns:a16="http://schemas.microsoft.com/office/drawing/2014/main" id="{8E9705B5-7FC0-F94F-503C-22A679BE4FEB}"/>
                </a:ext>
              </a:extLst>
            </p:cNvPr>
            <p:cNvSpPr>
              <a:spLocks/>
            </p:cNvSpPr>
            <p:nvPr/>
          </p:nvSpPr>
          <p:spPr>
            <a:xfrm>
              <a:off x="5644894" y="1361907"/>
              <a:ext cx="226806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12" name="Rechteck 4">
              <a:extLst>
                <a:ext uri="{FF2B5EF4-FFF2-40B4-BE49-F238E27FC236}">
                  <a16:creationId xmlns:a16="http://schemas.microsoft.com/office/drawing/2014/main" id="{C3C1EC19-8D34-748E-0409-EE530BBED087}"/>
                </a:ext>
              </a:extLst>
            </p:cNvPr>
            <p:cNvSpPr>
              <a:spLocks/>
            </p:cNvSpPr>
            <p:nvPr/>
          </p:nvSpPr>
          <p:spPr>
            <a:xfrm>
              <a:off x="574692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dirty="0">
                  <a:solidFill>
                    <a:prstClr val="white"/>
                  </a:solidFill>
                  <a:latin typeface="Aptos"/>
                </a:rPr>
                <a:t>Process Owner</a:t>
              </a:r>
            </a:p>
          </p:txBody>
        </p:sp>
      </p:grpSp>
      <p:sp>
        <p:nvSpPr>
          <p:cNvPr id="14" name="Rechteck 5">
            <a:extLst>
              <a:ext uri="{FF2B5EF4-FFF2-40B4-BE49-F238E27FC236}">
                <a16:creationId xmlns:a16="http://schemas.microsoft.com/office/drawing/2014/main" id="{7388826D-31E9-6CA9-B690-347426987188}"/>
              </a:ext>
            </a:extLst>
          </p:cNvPr>
          <p:cNvSpPr>
            <a:spLocks/>
          </p:cNvSpPr>
          <p:nvPr/>
        </p:nvSpPr>
        <p:spPr>
          <a:xfrm>
            <a:off x="5154825" y="5683121"/>
            <a:ext cx="6535526" cy="46779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720990A-E550-6A16-A7B9-F423A6723E71}"/>
              </a:ext>
            </a:extLst>
          </p:cNvPr>
          <p:cNvGrpSpPr>
            <a:grpSpLocks/>
          </p:cNvGrpSpPr>
          <p:nvPr/>
        </p:nvGrpSpPr>
        <p:grpSpPr>
          <a:xfrm>
            <a:off x="6287732" y="1965467"/>
            <a:ext cx="1693834" cy="594684"/>
            <a:chOff x="6281100" y="1965467"/>
            <a:chExt cx="1693834" cy="594684"/>
          </a:xfrm>
        </p:grpSpPr>
        <p:sp>
          <p:nvSpPr>
            <p:cNvPr id="21" name="Rechteck 5">
              <a:extLst>
                <a:ext uri="{FF2B5EF4-FFF2-40B4-BE49-F238E27FC236}">
                  <a16:creationId xmlns:a16="http://schemas.microsoft.com/office/drawing/2014/main" id="{23898B92-FF74-70AE-4E74-C737D9A60D77}"/>
                </a:ext>
              </a:extLst>
            </p:cNvPr>
            <p:cNvSpPr>
              <a:spLocks/>
            </p:cNvSpPr>
            <p:nvPr/>
          </p:nvSpPr>
          <p:spPr>
            <a:xfrm>
              <a:off x="6281100" y="2092360"/>
              <a:ext cx="169383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28.09.2026</a:t>
              </a:r>
            </a:p>
          </p:txBody>
        </p:sp>
        <p:sp>
          <p:nvSpPr>
            <p:cNvPr id="22" name="Rechteck 4">
              <a:extLst>
                <a:ext uri="{FF2B5EF4-FFF2-40B4-BE49-F238E27FC236}">
                  <a16:creationId xmlns:a16="http://schemas.microsoft.com/office/drawing/2014/main" id="{B88EE354-0127-BF4A-FE1C-C832AA1294CA}"/>
                </a:ext>
              </a:extLst>
            </p:cNvPr>
            <p:cNvSpPr>
              <a:spLocks/>
            </p:cNvSpPr>
            <p:nvPr/>
          </p:nvSpPr>
          <p:spPr>
            <a:xfrm>
              <a:off x="6331227" y="1965467"/>
              <a:ext cx="1542339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Erstellungsdatum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7B9E5D9-01C5-2DB0-0AF5-01775B381BD9}"/>
              </a:ext>
            </a:extLst>
          </p:cNvPr>
          <p:cNvGrpSpPr/>
          <p:nvPr/>
        </p:nvGrpSpPr>
        <p:grpSpPr>
          <a:xfrm>
            <a:off x="8028551" y="1965467"/>
            <a:ext cx="2467644" cy="594684"/>
            <a:chOff x="8028551" y="1965467"/>
            <a:chExt cx="2467644" cy="594684"/>
          </a:xfrm>
        </p:grpSpPr>
        <p:sp>
          <p:nvSpPr>
            <p:cNvPr id="24" name="Rechteck 5">
              <a:extLst>
                <a:ext uri="{FF2B5EF4-FFF2-40B4-BE49-F238E27FC236}">
                  <a16:creationId xmlns:a16="http://schemas.microsoft.com/office/drawing/2014/main" id="{5566E2DE-D0D8-62AE-E5BC-C1A610A9A99A}"/>
                </a:ext>
              </a:extLst>
            </p:cNvPr>
            <p:cNvSpPr>
              <a:spLocks/>
            </p:cNvSpPr>
            <p:nvPr/>
          </p:nvSpPr>
          <p:spPr>
            <a:xfrm>
              <a:off x="8028551" y="2092360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25" name="Rechteck 4">
              <a:extLst>
                <a:ext uri="{FF2B5EF4-FFF2-40B4-BE49-F238E27FC236}">
                  <a16:creationId xmlns:a16="http://schemas.microsoft.com/office/drawing/2014/main" id="{BE29E289-931C-7FF0-96F7-870F9C7AD3DF}"/>
                </a:ext>
              </a:extLst>
            </p:cNvPr>
            <p:cNvSpPr>
              <a:spLocks/>
            </p:cNvSpPr>
            <p:nvPr/>
          </p:nvSpPr>
          <p:spPr>
            <a:xfrm>
              <a:off x="8165730" y="1965467"/>
              <a:ext cx="219658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DAB-Entscheidungsdatum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C28EBC-B503-C577-34DA-BEE9B41FD3A3}"/>
              </a:ext>
            </a:extLst>
          </p:cNvPr>
          <p:cNvGrpSpPr/>
          <p:nvPr/>
        </p:nvGrpSpPr>
        <p:grpSpPr>
          <a:xfrm>
            <a:off x="6468423" y="6311296"/>
            <a:ext cx="3527027" cy="341733"/>
            <a:chOff x="6270692" y="6228939"/>
            <a:chExt cx="4204447" cy="39771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25D08AC6-2A2E-4107-31E8-24F90592C62F}"/>
                </a:ext>
              </a:extLst>
            </p:cNvPr>
            <p:cNvGrpSpPr/>
            <p:nvPr/>
          </p:nvGrpSpPr>
          <p:grpSpPr>
            <a:xfrm>
              <a:off x="6270692" y="6228939"/>
              <a:ext cx="920053" cy="397713"/>
              <a:chOff x="5097605" y="6350439"/>
              <a:chExt cx="920053" cy="397713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52699F9-5058-F484-F607-BFED5A1ADF0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461633" y="6350439"/>
                <a:ext cx="192000" cy="191997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5EEF96D-803D-0178-EC24-B2548DAAA307}"/>
                  </a:ext>
                </a:extLst>
              </p:cNvPr>
              <p:cNvSpPr txBox="1"/>
              <p:nvPr/>
            </p:nvSpPr>
            <p:spPr bwMode="gray">
              <a:xfrm>
                <a:off x="5097605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Freigegeben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81C27154-250C-3EF0-9A73-EC13D2B9B01A}"/>
                </a:ext>
              </a:extLst>
            </p:cNvPr>
            <p:cNvGrpSpPr/>
            <p:nvPr/>
          </p:nvGrpSpPr>
          <p:grpSpPr>
            <a:xfrm>
              <a:off x="8528594" y="6228939"/>
              <a:ext cx="920053" cy="397713"/>
              <a:chOff x="7325747" y="6350439"/>
              <a:chExt cx="920053" cy="397713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42248C4-CBC6-766F-3567-05A07905926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689774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FFFF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CEC7BB7-0329-6A93-61FB-07AA24E80C2C}"/>
                  </a:ext>
                </a:extLst>
              </p:cNvPr>
              <p:cNvSpPr txBox="1"/>
              <p:nvPr/>
            </p:nvSpPr>
            <p:spPr bwMode="gray">
              <a:xfrm>
                <a:off x="7325747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In Bearbeitung</a:t>
                </a: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1F4D6A2B-7DB0-F586-AF12-3E039DE65AA2}"/>
                </a:ext>
              </a:extLst>
            </p:cNvPr>
            <p:cNvGrpSpPr/>
            <p:nvPr/>
          </p:nvGrpSpPr>
          <p:grpSpPr>
            <a:xfrm>
              <a:off x="9555086" y="6228939"/>
              <a:ext cx="920053" cy="397713"/>
              <a:chOff x="8382000" y="6350439"/>
              <a:chExt cx="920053" cy="397713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5CEBFEE-2058-3613-C0A4-3835E2A4CE4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8746026" y="6350439"/>
                <a:ext cx="192000" cy="19199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33F93FE-C57A-BE28-46BE-D56696F68CB3}"/>
                  </a:ext>
                </a:extLst>
              </p:cNvPr>
              <p:cNvSpPr txBox="1"/>
              <p:nvPr/>
            </p:nvSpPr>
            <p:spPr bwMode="gray">
              <a:xfrm>
                <a:off x="8382000" y="6542436"/>
                <a:ext cx="920053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Nicht gestartet</a:t>
                </a: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5B7AA520-A128-4C0F-21FA-B012B6151493}"/>
                </a:ext>
              </a:extLst>
            </p:cNvPr>
            <p:cNvGrpSpPr/>
            <p:nvPr/>
          </p:nvGrpSpPr>
          <p:grpSpPr>
            <a:xfrm>
              <a:off x="7297183" y="6228939"/>
              <a:ext cx="1124971" cy="397713"/>
              <a:chOff x="6104776" y="6350439"/>
              <a:chExt cx="1124971" cy="397713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9E6778D-3105-038F-23ED-B31FC2528CD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571261" y="6350439"/>
                <a:ext cx="192000" cy="191997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00B050"/>
                </a:solidFill>
              </a:ln>
            </p:spPr>
            <p:txBody>
    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defRPr/>
                </a:pPr>
                <a:endParaRPr lang="de-DE" sz="1400" b="1" noProof="0">
                  <a:solidFill>
                    <a:prstClr val="white"/>
                  </a:solidFill>
                  <a:latin typeface="Aptos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55C03F-ABA1-70D7-10D6-EE60EFF47C76}"/>
                  </a:ext>
                </a:extLst>
              </p:cNvPr>
              <p:cNvSpPr txBox="1"/>
              <p:nvPr/>
            </p:nvSpPr>
            <p:spPr bwMode="gray">
              <a:xfrm>
                <a:off x="6104776" y="6542436"/>
                <a:ext cx="1124971" cy="2057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 defTabSz="1219108">
                  <a:spcBef>
                    <a:spcPts val="800"/>
                  </a:spcBef>
                  <a:spcAft>
                    <a:spcPts val="800"/>
                  </a:spcAft>
                  <a:buClr>
                    <a:srgbClr val="0341D2"/>
                  </a:buClr>
                  <a:defRPr/>
                </a:pPr>
                <a:r>
                  <a:rPr lang="de-DE" sz="800" noProof="0">
                    <a:solidFill>
                      <a:srgbClr val="414048"/>
                    </a:solidFill>
                    <a:latin typeface="Aptos"/>
                  </a:rPr>
                  <a:t>Bereit zur Freigabe</a:t>
                </a:r>
              </a:p>
            </p:txBody>
          </p:sp>
        </p:grpSp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351D90E6-0087-9AFA-3EC6-40CE50F09810}"/>
              </a:ext>
            </a:extLst>
          </p:cNvPr>
          <p:cNvSpPr/>
          <p:nvPr/>
        </p:nvSpPr>
        <p:spPr bwMode="gray">
          <a:xfrm>
            <a:off x="10764284" y="1597589"/>
            <a:ext cx="720000" cy="72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rot="0" spcFirstLastPara="0" vertOverflow="overflow" horzOverflow="overflow" vert="horz" wrap="square" lIns="96000" tIns="96000" rIns="96000" bIns="9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</a:pPr>
            <a:endParaRPr lang="de-DE" sz="1400" b="1">
              <a:solidFill>
                <a:prstClr val="white"/>
              </a:solidFill>
              <a:latin typeface="Aptos"/>
            </a:endParaRPr>
          </a:p>
        </p:txBody>
      </p:sp>
      <p:sp>
        <p:nvSpPr>
          <p:cNvPr id="38" name="Rechteck 5">
            <a:extLst>
              <a:ext uri="{FF2B5EF4-FFF2-40B4-BE49-F238E27FC236}">
                <a16:creationId xmlns:a16="http://schemas.microsoft.com/office/drawing/2014/main" id="{5CBC0FBE-109A-04D7-1C0F-4BE2E919A628}"/>
              </a:ext>
            </a:extLst>
          </p:cNvPr>
          <p:cNvSpPr>
            <a:spLocks/>
          </p:cNvSpPr>
          <p:nvPr/>
        </p:nvSpPr>
        <p:spPr>
          <a:xfrm>
            <a:off x="10569330" y="1358523"/>
            <a:ext cx="1109909" cy="1191371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256000" rIns="128000" bIns="64000" rtlCol="0" anchor="ctr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Clr>
                <a:srgbClr val="FF6600"/>
              </a:buClr>
              <a:buSzPct val="100000"/>
              <a:defRPr/>
            </a:pPr>
            <a:endParaRPr lang="de-DE" sz="1200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39" name="Rechteck 4">
            <a:extLst>
              <a:ext uri="{FF2B5EF4-FFF2-40B4-BE49-F238E27FC236}">
                <a16:creationId xmlns:a16="http://schemas.microsoft.com/office/drawing/2014/main" id="{50D1F423-FE0C-8E23-2DE4-C17BF9F6FE95}"/>
              </a:ext>
            </a:extLst>
          </p:cNvPr>
          <p:cNvSpPr>
            <a:spLocks/>
          </p:cNvSpPr>
          <p:nvPr/>
        </p:nvSpPr>
        <p:spPr>
          <a:xfrm>
            <a:off x="10692285" y="1217794"/>
            <a:ext cx="864000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>
                <a:solidFill>
                  <a:prstClr val="white"/>
                </a:solidFill>
                <a:latin typeface="Aptos"/>
              </a:rPr>
              <a:t>Status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7BFB563-0978-2EE8-4584-364A102D358E}"/>
              </a:ext>
            </a:extLst>
          </p:cNvPr>
          <p:cNvSpPr/>
          <p:nvPr/>
        </p:nvSpPr>
        <p:spPr bwMode="gray">
          <a:xfrm>
            <a:off x="458788" y="2721140"/>
            <a:ext cx="4593001" cy="343762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950" dirty="0" b="1">
                <a:solidFill>
                  <a:prstClr val="black"/>
                </a:solidFill>
                <a:latin typeface="Aptos"/>
                <a:cs typeface="Arial"/>
              </a:rPr>
              <a:t>Entscheidungsfrage: Werden Investitionskosten über Investitionsprojekte mit vorgangsbezogener Abrechnung auf wenige Anlagen im Bau geführt, oder direkt auf Anlagen kontiert, und wie werden CAPEX- und OPEX-Anteile getrennt?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Ist Zustand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Anforderungen 3-64 und 3-193. Offen ist, ob Investitionskosten direkt auf Anlagen oder über die Projektabrechnung gebucht werden; Wirtschaftsprüfer erwarten den Kreditor im Anlagenzugangsbeleg. Das Investitionsprofil EB0001 unterstützt die vorgangsbezogene Abrechnung mit Vorgängerbelegen, aber keine CAPEX/OPEX-Trennung im Projekt. Heute entsteht je PSP-Element eine Anlage im Bau (laut DUS zu viele). Deep-Dive in Realize verschoben; Rücksprache mit Christiane Dohmen in KW 40.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Auswirkung – Ohne Entscheidung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Projektstruktur, Investitionsprofil, AiB-Klassen und Kontierungsregeln für Einkauf und Rechnungsprüfung bleiben offen; Migration offener AiB-Posten (KDD_FI_007) und Investitionsfreigabe (KDD_FI_001) sind blockiert; Prüfungsrisiko im ersten Jahresabschluss.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1100" dirty="0" b="1" u="sng">
                <a:solidFill>
                  <a:prstClr val="black"/>
                </a:solidFill>
                <a:latin typeface="Aptos"/>
                <a:cs typeface="Arial"/>
              </a:rPr>
              <a:t>Lösungsvorschläge beschreiben</a:t>
            </a:r>
          </a:p>
          <a:p>
            <a:pPr defTabSz="914377">
              <a:spcBef>
                <a:spcPts val="100"/>
              </a:spcBef>
              <a:spcAft>
                <a:spcPts val="100"/>
              </a:spcAft>
              <a:buClr>
                <a:srgbClr val="FF6600"/>
              </a:buClr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Option 1: Standardprozess Capital Projects (35F): Investitionsprofil nur auf PSP-Elementen, die eine spätere Anlage repräsentieren (eine AiB je Maßnahme), Detailstruktur ohne AiB, vorgangsbezogene Abrechnung liefert Kreditor und Ursprungsbeleg, OPEX auf getrennte, nicht investive PSP-Elemente. Option 2: Direkte Anlagenkontierung in Bestellung und Rechnung (Kontierungstyp A), Projekte nur für Planung und Budget. Verworfen: CAPEX/OPEX-Split im selben PSP-Element per Erweiterung.</a:t>
            </a:r>
          </a:p>
        </p:txBody>
      </p:sp>
      <p:sp>
        <p:nvSpPr>
          <p:cNvPr id="55" name="Rechteck 4">
            <a:extLst>
              <a:ext uri="{FF2B5EF4-FFF2-40B4-BE49-F238E27FC236}">
                <a16:creationId xmlns:a16="http://schemas.microsoft.com/office/drawing/2014/main" id="{4B6F9EB1-09FB-A1C8-5001-B876BE075128}"/>
              </a:ext>
            </a:extLst>
          </p:cNvPr>
          <p:cNvSpPr/>
          <p:nvPr/>
        </p:nvSpPr>
        <p:spPr>
          <a:xfrm>
            <a:off x="590499" y="2607270"/>
            <a:ext cx="1872000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KDD Beschreibung</a:t>
            </a:r>
          </a:p>
        </p:txBody>
      </p:sp>
      <p:sp>
        <p:nvSpPr>
          <p:cNvPr id="56" name="Textfeld 4">
            <a:extLst>
              <a:ext uri="{FF2B5EF4-FFF2-40B4-BE49-F238E27FC236}">
                <a16:creationId xmlns:a16="http://schemas.microsoft.com/office/drawing/2014/main" id="{AF302C0D-61C0-0EF0-6BE3-872953E5D2A2}"/>
              </a:ext>
            </a:extLst>
          </p:cNvPr>
          <p:cNvSpPr txBox="1"/>
          <p:nvPr/>
        </p:nvSpPr>
        <p:spPr bwMode="gray">
          <a:xfrm>
            <a:off x="1438557" y="31504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57" name="Textfeld 7">
            <a:extLst>
              <a:ext uri="{FF2B5EF4-FFF2-40B4-BE49-F238E27FC236}">
                <a16:creationId xmlns:a16="http://schemas.microsoft.com/office/drawing/2014/main" id="{7DA2A62C-B50F-D84B-52AC-913814019069}"/>
              </a:ext>
            </a:extLst>
          </p:cNvPr>
          <p:cNvSpPr txBox="1"/>
          <p:nvPr/>
        </p:nvSpPr>
        <p:spPr bwMode="gray">
          <a:xfrm>
            <a:off x="712047" y="303775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FBFDAA9-46E4-962B-3AFA-466B74D2D1AA}"/>
              </a:ext>
            </a:extLst>
          </p:cNvPr>
          <p:cNvGrpSpPr>
            <a:grpSpLocks/>
          </p:cNvGrpSpPr>
          <p:nvPr/>
        </p:nvGrpSpPr>
        <p:grpSpPr>
          <a:xfrm>
            <a:off x="2332795" y="1965467"/>
            <a:ext cx="3907953" cy="594684"/>
            <a:chOff x="4516748" y="1965467"/>
            <a:chExt cx="1729532" cy="594684"/>
          </a:xfrm>
        </p:grpSpPr>
        <p:sp>
          <p:nvSpPr>
            <p:cNvPr id="27" name="Rechteck 5">
              <a:extLst>
                <a:ext uri="{FF2B5EF4-FFF2-40B4-BE49-F238E27FC236}">
                  <a16:creationId xmlns:a16="http://schemas.microsoft.com/office/drawing/2014/main" id="{0EA4EC20-7BB5-41ED-DCE8-FAA0B09E13C6}"/>
                </a:ext>
              </a:extLst>
            </p:cNvPr>
            <p:cNvSpPr>
              <a:spLocks/>
            </p:cNvSpPr>
            <p:nvPr/>
          </p:nvSpPr>
          <p:spPr>
            <a:xfrm>
              <a:off x="4516748" y="2092360"/>
              <a:ext cx="1729532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950" dirty="0">
                  <a:solidFill>
                    <a:prstClr val="black"/>
                  </a:solidFill>
                  <a:latin typeface="Aptos"/>
                  <a:cs typeface="Arial"/>
                </a:rPr>
                <a:t>Controlling (35F); KDD_FI_007 (Anlagenklassen, AiB-Migration); KDD_FI_001 (3-205); Einkauf (3-197); Wirtschaftsprüfung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47D08DC-D3D4-7B96-D04B-08C2E65753EE}"/>
                </a:ext>
              </a:extLst>
            </p:cNvPr>
            <p:cNvSpPr>
              <a:spLocks/>
            </p:cNvSpPr>
            <p:nvPr/>
          </p:nvSpPr>
          <p:spPr bwMode="gray">
            <a:xfrm>
              <a:off x="4572361" y="1965467"/>
              <a:ext cx="1618307" cy="247016"/>
            </a:xfrm>
            <a:prstGeom prst="rect">
              <a:avLst/>
            </a:prstGeom>
            <a:solidFill>
              <a:srgbClr val="065185"/>
            </a:solidFill>
            <a:ln>
              <a:noFill/>
            </a:ln>
          </p:spPr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377">
                <a:spcBef>
                  <a:spcPts val="600"/>
                </a:spcBef>
                <a:spcAft>
                  <a:spcPts val="600"/>
                </a:spcAft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Schnittstellen zu anderen Projekten/Streams</a:t>
              </a:r>
              <a:endParaRPr lang="de-DE" sz="1300" b="1" baseline="30000" noProof="0" dirty="0">
                <a:solidFill>
                  <a:prstClr val="white"/>
                </a:solidFill>
                <a:latin typeface="Aptos"/>
              </a:endParaRPr>
            </a:p>
          </p:txBody>
        </p:sp>
      </p:grpSp>
      <p:sp>
        <p:nvSpPr>
          <p:cNvPr id="62" name="Rechteck 5">
            <a:extLst>
              <a:ext uri="{FF2B5EF4-FFF2-40B4-BE49-F238E27FC236}">
                <a16:creationId xmlns:a16="http://schemas.microsoft.com/office/drawing/2014/main" id="{F79A5E9C-D3A0-C955-4B7E-781506C4C00D}"/>
              </a:ext>
            </a:extLst>
          </p:cNvPr>
          <p:cNvSpPr/>
          <p:nvPr/>
        </p:nvSpPr>
        <p:spPr>
          <a:xfrm>
            <a:off x="8478166" y="2721140"/>
            <a:ext cx="3201071" cy="791727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48000" bIns="64000" numCol="1" rtlCol="0" anchor="t" anchorCtr="0"/>
          <a:lstStyle/>
          <a:p>
            <a:pPr defTabSz="1624829">
              <a:lnSpc>
                <a:spcPct val="90000"/>
              </a:lnSpc>
              <a:spcBef>
                <a:spcPts val="533"/>
              </a:spcBef>
              <a:buSzPct val="100000"/>
              <a:defRPr/>
            </a:pPr>
            <a:r>
              <a:rPr lang="de-DE" sz="950" dirty="0">
                <a:solidFill>
                  <a:prstClr val="black"/>
                </a:solidFill>
                <a:latin typeface="Aptos"/>
                <a:cs typeface="Arial"/>
              </a:rPr>
              <a:t>Offen. Entscheider: offen. Datum: offen.</a:t>
            </a:r>
          </a:p>
        </p:txBody>
      </p:sp>
      <p:sp>
        <p:nvSpPr>
          <p:cNvPr id="63" name="Rechteck 4">
            <a:extLst>
              <a:ext uri="{FF2B5EF4-FFF2-40B4-BE49-F238E27FC236}">
                <a16:creationId xmlns:a16="http://schemas.microsoft.com/office/drawing/2014/main" id="{842A5091-D58B-1466-2182-4DD4EAFE628E}"/>
              </a:ext>
            </a:extLst>
          </p:cNvPr>
          <p:cNvSpPr/>
          <p:nvPr/>
        </p:nvSpPr>
        <p:spPr>
          <a:xfrm>
            <a:off x="8663853" y="2595002"/>
            <a:ext cx="2257591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 getroffen</a:t>
            </a:r>
          </a:p>
        </p:txBody>
      </p:sp>
      <p:sp>
        <p:nvSpPr>
          <p:cNvPr id="64" name="Textfeld 24">
            <a:extLst>
              <a:ext uri="{FF2B5EF4-FFF2-40B4-BE49-F238E27FC236}">
                <a16:creationId xmlns:a16="http://schemas.microsoft.com/office/drawing/2014/main" id="{84AB3BEB-28DD-5665-8B36-C67B55A748F3}"/>
              </a:ext>
            </a:extLst>
          </p:cNvPr>
          <p:cNvSpPr txBox="1"/>
          <p:nvPr/>
        </p:nvSpPr>
        <p:spPr bwMode="gray">
          <a:xfrm>
            <a:off x="1801811" y="322187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914377">
              <a:spcBef>
                <a:spcPts val="600"/>
              </a:spcBef>
              <a:spcAft>
                <a:spcPts val="600"/>
              </a:spcAft>
              <a:buClr>
                <a:srgbClr val="0341D2"/>
              </a:buClr>
              <a:defRPr/>
            </a:pPr>
            <a:endParaRPr lang="de-DE" sz="1400" b="1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65" name="Rectangle 21">
            <a:extLst>
              <a:ext uri="{FF2B5EF4-FFF2-40B4-BE49-F238E27FC236}">
                <a16:creationId xmlns:a16="http://schemas.microsoft.com/office/drawing/2014/main" id="{C5493A8C-16DD-5863-33ED-0A1DEE36566C}"/>
              </a:ext>
            </a:extLst>
          </p:cNvPr>
          <p:cNvSpPr/>
          <p:nvPr/>
        </p:nvSpPr>
        <p:spPr bwMode="gray">
          <a:xfrm>
            <a:off x="5153941" y="3751738"/>
            <a:ext cx="6525296" cy="1871248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180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377">
              <a:spcBef>
                <a:spcPts val="200"/>
              </a:spcBef>
              <a:spcAft>
                <a:spcPts val="200"/>
              </a:spcAft>
              <a:buClr>
                <a:srgbClr val="FF6600"/>
              </a:buClr>
              <a:defRPr/>
            </a:pPr>
            <a:r>
              <a:rPr lang="de-DE" sz="900" dirty="0">
                <a:solidFill>
                  <a:prstClr val="black"/>
                </a:solidFill>
                <a:latin typeface="Aptos"/>
                <a:cs typeface="Arial"/>
              </a:rPr>
              <a:t>Empfehlung: Option 1. Der Standardprozess mit vorgangsbezogener Abrechnung (EB0001) erfüllt die Prüferanforderung, weil Vorgängerbelege inklusive Kreditor an der Anlagenbewegung hinterlegt sind, und hält die AiB-Menge klein, wenn das Investitionsprofil nur auf Maßnahmenebene gesetzt wird. Die CAPEX/OPEX-Trennung erfolgt über die Projektstruktur (investive und nicht investive PSP-Elemente) statt über eine Erweiterung. Direkte Anlagenkontierung (Option 2) verliert Projektkostenkontrolle und Budgetbezug.</a:t>
            </a:r>
          </a:p>
          <a:p>
            <a:pPr defTabSz="914377">
              <a:spcBef>
                <a:spcPts val="200"/>
              </a:spcBef>
              <a:spcAft>
                <a:spcPts val="200"/>
              </a:spcAft>
              <a:buClr>
                <a:srgbClr val="FF6600"/>
              </a:buClr>
              <a:defRPr/>
            </a:pPr>
            <a:r>
              <a:rPr lang="de-DE" sz="900" dirty="0">
                <a:solidFill>
                  <a:prstClr val="black"/>
                </a:solidFill>
                <a:latin typeface="Aptos"/>
                <a:cs typeface="Arial"/>
              </a:rPr>
              <a:t>Auswirkungen bei Umsetzung: Prozess: Projektvorlage mit Maßnahmen-PSP (AiB) und Detail-PSP; periodische Abrechnung auf AiB, Endabrechnung auf Anlagen; OPEX über eigene PSP-Elemente auf Kostenstellen. Organisation: Controlling pflegt Projektstruktur, Anlagenbuchhaltung die Endabrechnung; Regel je Maßnahme dokumentiert. Integration: Einkauf kontiert PSP-Element statt Anlage (3-197), Investitionsfreigabe vor Projektfreigabe (3-205). Daten: AiB-Klassen und Investitionsprofil (KDD_FI_007), Migration offener AiB je Maßnahme. Berechtigungen: Trennung Projektanlage, Abrechnung, Anlagenaktivierung.</a:t>
            </a:r>
          </a:p>
        </p:txBody>
      </p:sp>
      <p:sp>
        <p:nvSpPr>
          <p:cNvPr id="66" name="Rechteck 4">
            <a:extLst>
              <a:ext uri="{FF2B5EF4-FFF2-40B4-BE49-F238E27FC236}">
                <a16:creationId xmlns:a16="http://schemas.microsoft.com/office/drawing/2014/main" id="{24B85655-4A51-16E1-361D-C5B341D194A2}"/>
              </a:ext>
            </a:extLst>
          </p:cNvPr>
          <p:cNvSpPr/>
          <p:nvPr/>
        </p:nvSpPr>
        <p:spPr>
          <a:xfrm>
            <a:off x="5339628" y="3625579"/>
            <a:ext cx="2381223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Lösungsempfehlung</a:t>
            </a:r>
          </a:p>
        </p:txBody>
      </p:sp>
      <p:sp>
        <p:nvSpPr>
          <p:cNvPr id="68" name="Rechteck 5">
            <a:extLst>
              <a:ext uri="{FF2B5EF4-FFF2-40B4-BE49-F238E27FC236}">
                <a16:creationId xmlns:a16="http://schemas.microsoft.com/office/drawing/2014/main" id="{DEE2A3B3-7DC0-3486-7ECE-69053AE3F629}"/>
              </a:ext>
            </a:extLst>
          </p:cNvPr>
          <p:cNvSpPr/>
          <p:nvPr/>
        </p:nvSpPr>
        <p:spPr>
          <a:xfrm>
            <a:off x="5153941" y="2724878"/>
            <a:ext cx="3201071" cy="787989"/>
          </a:xfrm>
          <a:prstGeom prst="rect">
            <a:avLst/>
          </a:prstGeom>
          <a:noFill/>
          <a:ln w="952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000" tIns="144000" rIns="128000" bIns="64000" rtlCol="0" anchor="t" anchorCtr="0"/>
          <a:lstStyle/>
          <a:p>
            <a:pPr defTabSz="162482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defRPr/>
            </a:pPr>
            <a:r>
              <a:rPr lang="de-DE" sz="850" dirty="0">
                <a:solidFill>
                  <a:prstClr val="black"/>
                </a:solidFill>
                <a:latin typeface="Aptos"/>
                <a:cs typeface="Arial"/>
              </a:rPr>
              <a:t>Kapitalisierungsrichtlinie DUS (CAPEX-Kostenarten); Prüferanforderung zur Kreditorensichtbarkeit; Anzahl Projekte/PSP-Elemente und Maßnahmenstruktur; Ergebnis Rücksprache KW 40; Abstimmung Controlling-Stream</a:t>
            </a:r>
          </a:p>
        </p:txBody>
      </p:sp>
      <p:sp>
        <p:nvSpPr>
          <p:cNvPr id="69" name="Rechteck 4">
            <a:extLst>
              <a:ext uri="{FF2B5EF4-FFF2-40B4-BE49-F238E27FC236}">
                <a16:creationId xmlns:a16="http://schemas.microsoft.com/office/drawing/2014/main" id="{25E6C380-2F70-B650-394B-C372DFB7B449}"/>
              </a:ext>
            </a:extLst>
          </p:cNvPr>
          <p:cNvSpPr/>
          <p:nvPr/>
        </p:nvSpPr>
        <p:spPr>
          <a:xfrm>
            <a:off x="5339628" y="2601237"/>
            <a:ext cx="2813615" cy="24701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400" b="1" noProof="0" dirty="0">
                <a:solidFill>
                  <a:srgbClr val="414048"/>
                </a:solidFill>
                <a:latin typeface="Aptos"/>
              </a:rPr>
              <a:t>Entscheidungsvoraussetzungen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67A247-81CF-00BB-6584-E25038769436}"/>
              </a:ext>
            </a:extLst>
          </p:cNvPr>
          <p:cNvGrpSpPr/>
          <p:nvPr/>
        </p:nvGrpSpPr>
        <p:grpSpPr>
          <a:xfrm>
            <a:off x="457200" y="1235014"/>
            <a:ext cx="2347613" cy="594684"/>
            <a:chOff x="457200" y="1235014"/>
            <a:chExt cx="2347613" cy="594684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BE50952-10BF-9781-F8C8-9E8BD1695C27}"/>
                </a:ext>
              </a:extLst>
            </p:cNvPr>
            <p:cNvSpPr>
              <a:spLocks/>
            </p:cNvSpPr>
            <p:nvPr/>
          </p:nvSpPr>
          <p:spPr>
            <a:xfrm>
              <a:off x="457200" y="1361907"/>
              <a:ext cx="2347613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100" dirty="0">
                  <a:solidFill>
                    <a:prstClr val="black"/>
                  </a:solidFill>
                  <a:latin typeface="Aptos"/>
                  <a:cs typeface="Arial"/>
                </a:rPr>
                <a:t>KDD_FI_006</a:t>
              </a:r>
            </a:p>
          </p:txBody>
        </p:sp>
        <p:sp>
          <p:nvSpPr>
            <p:cNvPr id="84" name="Rechteck 4">
              <a:extLst>
                <a:ext uri="{FF2B5EF4-FFF2-40B4-BE49-F238E27FC236}">
                  <a16:creationId xmlns:a16="http://schemas.microsoft.com/office/drawing/2014/main" id="{478DE72E-7086-4B29-3D6D-FD6B3C70A73E}"/>
                </a:ext>
              </a:extLst>
            </p:cNvPr>
            <p:cNvSpPr>
              <a:spLocks/>
            </p:cNvSpPr>
            <p:nvPr/>
          </p:nvSpPr>
          <p:spPr>
            <a:xfrm>
              <a:off x="599006" y="1235014"/>
              <a:ext cx="2064000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>
                  <a:solidFill>
                    <a:prstClr val="white"/>
                  </a:solidFill>
                  <a:latin typeface="Aptos"/>
                </a:rPr>
                <a:t>#ID</a:t>
              </a:r>
            </a:p>
          </p:txBody>
        </p:sp>
      </p:grpSp>
      <p:sp>
        <p:nvSpPr>
          <p:cNvPr id="85" name="Rechteck 4">
            <a:extLst>
              <a:ext uri="{FF2B5EF4-FFF2-40B4-BE49-F238E27FC236}">
                <a16:creationId xmlns:a16="http://schemas.microsoft.com/office/drawing/2014/main" id="{74CF2AE7-CEFA-40B0-C816-CB214DEC16EE}"/>
              </a:ext>
            </a:extLst>
          </p:cNvPr>
          <p:cNvSpPr>
            <a:spLocks/>
          </p:cNvSpPr>
          <p:nvPr/>
        </p:nvSpPr>
        <p:spPr>
          <a:xfrm>
            <a:off x="6046810" y="5563101"/>
            <a:ext cx="4751556" cy="247016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algn="ctr"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300" b="1" noProof="0" dirty="0">
                <a:solidFill>
                  <a:prstClr val="white"/>
                </a:solidFill>
                <a:latin typeface="Aptos"/>
              </a:rPr>
              <a:t>Risiko Gesamt</a:t>
            </a:r>
          </a:p>
        </p:txBody>
      </p:sp>
      <p:sp>
        <p:nvSpPr>
          <p:cNvPr id="87" name="Title 2">
            <a:extLst>
              <a:ext uri="{FF2B5EF4-FFF2-40B4-BE49-F238E27FC236}">
                <a16:creationId xmlns:a16="http://schemas.microsoft.com/office/drawing/2014/main" id="{73B14AB3-3A4A-E6E2-37DF-94749A4B77DD}"/>
              </a:ext>
            </a:extLst>
          </p:cNvPr>
          <p:cNvSpPr txBox="1">
            <a:spLocks/>
          </p:cNvSpPr>
          <p:nvPr/>
        </p:nvSpPr>
        <p:spPr bwMode="gray">
          <a:xfrm>
            <a:off x="501651" y="317501"/>
            <a:ext cx="11188700" cy="33409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ts val="0"/>
              </a:spcBef>
              <a:spcAft>
                <a:spcPts val="0"/>
              </a:spcAft>
              <a:buNone/>
              <a:defRPr sz="2100" kern="120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defTabSz="914377">
              <a:defRPr/>
            </a:pPr>
            <a:endParaRPr lang="de-DE" b="1" noProof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8E27B-D237-5244-991F-72A51904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600" dirty="0"/>
              <a:t>KDD_FI_006: Investitionsprojekte, Anlagen im Bau und CAPEX/OPEX</a:t>
            </a:r>
            <a:endParaRPr lang="de-DE" sz="2600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AF7C6B-39EA-B196-2FE8-BB4BF44792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1/2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C34E241-5F5B-D77E-1F76-06675FBCE216}"/>
              </a:ext>
            </a:extLst>
          </p:cNvPr>
          <p:cNvGrpSpPr/>
          <p:nvPr/>
        </p:nvGrpSpPr>
        <p:grpSpPr>
          <a:xfrm>
            <a:off x="6854330" y="5870252"/>
            <a:ext cx="881301" cy="237326"/>
            <a:chOff x="3154852" y="2031715"/>
            <a:chExt cx="868104" cy="237325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B49E281-2096-9D66-4A6A-7DDAA33C21C2}"/>
                </a:ext>
              </a:extLst>
            </p:cNvPr>
            <p:cNvSpPr txBox="1"/>
            <p:nvPr/>
          </p:nvSpPr>
          <p:spPr>
            <a:xfrm>
              <a:off x="3484897" y="2080821"/>
              <a:ext cx="538059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dirty="0">
                  <a:solidFill>
                    <a:prstClr val="black"/>
                  </a:solidFill>
                  <a:latin typeface="Aptos"/>
                </a:rPr>
                <a:t>Niedrig</a:t>
              </a:r>
              <a:endParaRPr lang="de-DE" sz="1200" noProof="0" dirty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4FC762B5-F04B-13E3-B2D1-9D02B8536D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154852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BCA9872-0EE5-C398-5549-DD67DA3E0A0D}"/>
              </a:ext>
            </a:extLst>
          </p:cNvPr>
          <p:cNvGrpSpPr/>
          <p:nvPr/>
        </p:nvGrpSpPr>
        <p:grpSpPr>
          <a:xfrm>
            <a:off x="7899009" y="5870252"/>
            <a:ext cx="764844" cy="237326"/>
            <a:chOff x="4349537" y="2031715"/>
            <a:chExt cx="753391" cy="237325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63E62B2-36DC-0D9E-EBCD-2406C47F04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28DA3D6-91FA-0E9B-39E8-A5F53A862141}"/>
                </a:ext>
              </a:extLst>
            </p:cNvPr>
            <p:cNvSpPr txBox="1"/>
            <p:nvPr/>
          </p:nvSpPr>
          <p:spPr>
            <a:xfrm>
              <a:off x="4679581" y="2088219"/>
              <a:ext cx="423347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Mittel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08C6F30-EBB1-8D02-A15A-4B404290E0F8}"/>
              </a:ext>
            </a:extLst>
          </p:cNvPr>
          <p:cNvGrpSpPr/>
          <p:nvPr/>
        </p:nvGrpSpPr>
        <p:grpSpPr>
          <a:xfrm>
            <a:off x="8967492" y="5870252"/>
            <a:ext cx="840973" cy="237326"/>
            <a:chOff x="4349537" y="2031715"/>
            <a:chExt cx="828379" cy="237325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CD1288CA-6C3F-BC57-574E-644A655300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49537" y="2031715"/>
              <a:ext cx="237324" cy="237325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E4147EF-EADB-9B2F-C293-02A6D3243347}"/>
                </a:ext>
              </a:extLst>
            </p:cNvPr>
            <p:cNvSpPr txBox="1"/>
            <p:nvPr/>
          </p:nvSpPr>
          <p:spPr>
            <a:xfrm>
              <a:off x="4679581" y="2088219"/>
              <a:ext cx="498335" cy="1672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200" noProof="0" dirty="0">
                  <a:solidFill>
                    <a:prstClr val="black"/>
                  </a:solidFill>
                  <a:latin typeface="Aptos"/>
                </a:rPr>
                <a:t>Hoch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D0BE2B-55ED-BEB9-9B2C-29C4A8F3E135}"/>
              </a:ext>
            </a:extLst>
          </p:cNvPr>
          <p:cNvGrpSpPr>
            <a:grpSpLocks/>
          </p:cNvGrpSpPr>
          <p:nvPr/>
        </p:nvGrpSpPr>
        <p:grpSpPr>
          <a:xfrm>
            <a:off x="8028550" y="1245006"/>
            <a:ext cx="2467644" cy="594684"/>
            <a:chOff x="8010966" y="1245006"/>
            <a:chExt cx="2467644" cy="594684"/>
          </a:xfrm>
        </p:grpSpPr>
        <p:sp>
          <p:nvSpPr>
            <p:cNvPr id="103" name="Rechteck 5">
              <a:extLst>
                <a:ext uri="{FF2B5EF4-FFF2-40B4-BE49-F238E27FC236}">
                  <a16:creationId xmlns:a16="http://schemas.microsoft.com/office/drawing/2014/main" id="{1099008F-38C6-C4C0-FDEE-20DFFFDB1710}"/>
                </a:ext>
              </a:extLst>
            </p:cNvPr>
            <p:cNvSpPr>
              <a:spLocks/>
            </p:cNvSpPr>
            <p:nvPr/>
          </p:nvSpPr>
          <p:spPr>
            <a:xfrm>
              <a:off x="8010966" y="1371899"/>
              <a:ext cx="2467644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108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offen</a:t>
              </a:r>
            </a:p>
          </p:txBody>
        </p:sp>
        <p:sp>
          <p:nvSpPr>
            <p:cNvPr id="104" name="Rechteck 4">
              <a:extLst>
                <a:ext uri="{FF2B5EF4-FFF2-40B4-BE49-F238E27FC236}">
                  <a16:creationId xmlns:a16="http://schemas.microsoft.com/office/drawing/2014/main" id="{DEB75E23-A8DF-C388-19E0-DDCCC7193982}"/>
                </a:ext>
              </a:extLst>
            </p:cNvPr>
            <p:cNvSpPr>
              <a:spLocks/>
            </p:cNvSpPr>
            <p:nvPr/>
          </p:nvSpPr>
          <p:spPr>
            <a:xfrm>
              <a:off x="8131230" y="1245006"/>
              <a:ext cx="2227117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Product Manager (IT)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3EE4B-538E-B68D-AC6C-120AFFCDA837}"/>
              </a:ext>
            </a:extLst>
          </p:cNvPr>
          <p:cNvGrpSpPr>
            <a:grpSpLocks/>
          </p:cNvGrpSpPr>
          <p:nvPr/>
        </p:nvGrpSpPr>
        <p:grpSpPr>
          <a:xfrm>
            <a:off x="462504" y="1965467"/>
            <a:ext cx="1797156" cy="594684"/>
            <a:chOff x="462504" y="1965467"/>
            <a:chExt cx="1797156" cy="594684"/>
          </a:xfrm>
        </p:grpSpPr>
        <p:sp>
          <p:nvSpPr>
            <p:cNvPr id="19" name="Rechteck 5">
              <a:extLst>
                <a:ext uri="{FF2B5EF4-FFF2-40B4-BE49-F238E27FC236}">
                  <a16:creationId xmlns:a16="http://schemas.microsoft.com/office/drawing/2014/main" id="{AC0B860D-46DB-0CCA-7845-050C7BA23290}"/>
                </a:ext>
              </a:extLst>
            </p:cNvPr>
            <p:cNvSpPr>
              <a:spLocks/>
            </p:cNvSpPr>
            <p:nvPr/>
          </p:nvSpPr>
          <p:spPr>
            <a:xfrm>
              <a:off x="462504" y="2092360"/>
              <a:ext cx="1797156" cy="467791"/>
            </a:xfrm>
            <a:prstGeom prst="rect">
              <a:avLst/>
            </a:prstGeom>
            <a:noFill/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8000" tIns="256000" rIns="128000" bIns="64000" rtlCol="0" anchor="ctr" anchorCtr="0"/>
            <a:lstStyle/>
            <a:p>
              <a:pPr defTabSz="1624829">
                <a:lnSpc>
                  <a:spcPct val="90000"/>
                </a:lnSpc>
                <a:spcBef>
                  <a:spcPts val="533"/>
                </a:spcBef>
                <a:buClr>
                  <a:srgbClr val="FF6600"/>
                </a:buClr>
                <a:buSzPct val="100000"/>
                <a:defRPr/>
              </a:pPr>
              <a:r>
                <a:rPr lang="de-DE" sz="1050" dirty="0">
                  <a:solidFill>
                    <a:prstClr val="black"/>
                  </a:solidFill>
                  <a:latin typeface="Aptos"/>
                  <a:cs typeface="Arial"/>
                </a:rPr>
                <a:t>Prozess/Konfiguration</a:t>
              </a:r>
            </a:p>
          </p:txBody>
        </p:sp>
        <p:sp>
          <p:nvSpPr>
            <p:cNvPr id="20" name="Rechteck 4">
              <a:extLst>
                <a:ext uri="{FF2B5EF4-FFF2-40B4-BE49-F238E27FC236}">
                  <a16:creationId xmlns:a16="http://schemas.microsoft.com/office/drawing/2014/main" id="{D76750D2-6BE9-156F-E70E-6F9619D7FD76}"/>
                </a:ext>
              </a:extLst>
            </p:cNvPr>
            <p:cNvSpPr>
              <a:spLocks/>
            </p:cNvSpPr>
            <p:nvPr/>
          </p:nvSpPr>
          <p:spPr>
            <a:xfrm>
              <a:off x="571060" y="1965467"/>
              <a:ext cx="1580043" cy="247016"/>
            </a:xfrm>
            <a:prstGeom prst="rect">
              <a:avLst/>
            </a:prstGeom>
            <a:solidFill>
              <a:srgbClr val="065185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defTabSz="1624829">
                <a:lnSpc>
                  <a:spcPct val="90000"/>
                </a:lnSpc>
                <a:spcBef>
                  <a:spcPts val="1067"/>
                </a:spcBef>
                <a:defRPr/>
              </a:pPr>
              <a:r>
                <a:rPr lang="de-DE" sz="1300" b="1" noProof="0" dirty="0">
                  <a:solidFill>
                    <a:prstClr val="white"/>
                  </a:solidFill>
                  <a:latin typeface="Aptos"/>
                </a:rPr>
                <a:t>Gap Klassifizierung</a:t>
              </a:r>
            </a:p>
          </p:txBody>
        </p:sp>
      </p:grp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DC71A78E-19A4-C569-CBA9-557E182D4E5A}"/>
              </a:ext>
            </a:extLst>
          </p:cNvPr>
          <p:cNvSpPr/>
          <p:nvPr/>
        </p:nvSpPr>
        <p:spPr>
          <a:xfrm>
            <a:off x="-468998" y="1647884"/>
            <a:ext cx="914400" cy="612648"/>
          </a:xfrm>
          <a:prstGeom prst="wedgeRectCallout">
            <a:avLst>
              <a:gd name="adj1" fmla="val 97270"/>
              <a:gd name="adj2" fmla="val 52206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/>
              <a:t>Schnittstellen, Formulare, Workflow, Reports, Entwicklungen</a:t>
            </a:r>
          </a:p>
        </p:txBody>
      </p:sp>
    </p:spTree>
    <p:extLst>
      <p:ext uri="{BB962C8B-B14F-4D97-AF65-F5344CB8AC3E}">
        <p14:creationId xmlns:p14="http://schemas.microsoft.com/office/powerpoint/2010/main" val="355845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9BBB7-49D6-8DB4-A769-3F8EC955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0990094-4325-B4B5-9AC3-4DAD50FF3BF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4" progId="TCLayout.ActiveDocument.1">
                  <p:embed/>
                </p:oleObj>
              </mc:Choice>
              <mc:Fallback>
                <p:oleObj name="think-cell Slide" r:id="rId4" imgW="484" imgH="48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990094-4325-B4B5-9AC3-4DAD50FF3B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Table 15">
            <a:extLst>
              <a:ext uri="{FF2B5EF4-FFF2-40B4-BE49-F238E27FC236}">
                <a16:creationId xmlns:a16="http://schemas.microsoft.com/office/drawing/2014/main" id="{DC5D319F-1DA0-03CE-6F9B-54B0E331F93E}"/>
              </a:ext>
            </a:extLst>
          </p:cNvPr>
          <p:cNvGraphicFramePr>
            <a:graphicFrameLocks noGrp="1"/>
          </p:cNvGraphicFramePr>
          <p:nvPr/>
        </p:nvGraphicFramePr>
        <p:xfrm>
          <a:off x="530224" y="1890249"/>
          <a:ext cx="11131548" cy="420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258">
                  <a:extLst>
                    <a:ext uri="{9D8B030D-6E8A-4147-A177-3AD203B41FA5}">
                      <a16:colId xmlns:a16="http://schemas.microsoft.com/office/drawing/2014/main" val="2465504791"/>
                    </a:ext>
                  </a:extLst>
                </a:gridCol>
                <a:gridCol w="4595240">
                  <a:extLst>
                    <a:ext uri="{9D8B030D-6E8A-4147-A177-3AD203B41FA5}">
                      <a16:colId xmlns:a16="http://schemas.microsoft.com/office/drawing/2014/main" val="277774230"/>
                    </a:ext>
                  </a:extLst>
                </a:gridCol>
                <a:gridCol w="4710050">
                  <a:extLst>
                    <a:ext uri="{9D8B030D-6E8A-4147-A177-3AD203B41FA5}">
                      <a16:colId xmlns:a16="http://schemas.microsoft.com/office/drawing/2014/main" val="3689036292"/>
                    </a:ext>
                  </a:extLst>
                </a:gridCol>
              </a:tblGrid>
              <a:tr h="312790">
                <a:tc>
                  <a:txBody>
                    <a:bodyPr/>
                    <a:lstStyle/>
                    <a:p>
                      <a:pPr algn="l" rtl="0"/>
                      <a:endParaRPr lang="de-DE" sz="1100" noProof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 anchor="ctr">
                    <a:lnL w="12700" cmpd="sng">
                      <a:noFill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100" dirty="0" b="1">
                          <a:solidFill>
                            <a:schemeClr val="bg1"/>
                          </a:solidFill>
                        </a:rPr>
                        <a:t>Option 1 – Investitionsprojekte mit Abrechnung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6518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100" dirty="0" b="1">
                          <a:solidFill>
                            <a:schemeClr val="tx2"/>
                          </a:solidFill>
                        </a:rPr>
                        <a:t>Option 2 – Direkte Anlagenkontierung ohne Projekte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677960"/>
                  </a:ext>
                </a:extLst>
              </a:tr>
              <a:tr h="263386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Entscheidungslevel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21820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Vorteile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Standard Capital Projects: Budget, Ist-Kosten, Abrechnung, Anlagenzugang integriert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Vorgangsbezogene Abrechnung (EB0001) zeigt Kreditor und Ursprungsbeleg (3-64)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AiB nur je Maßnahme statt je PSP-Element: beherrschbare Menge (3-193)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Kreditor steht unmittelbar im Anlagenzugangsbeleg, einfachster Audit Trail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Keine AiB-Erzeugung über Projekte, keine Abrechnungsläufe</a:t>
                      </a:r>
                    </a:p>
                  </a:txBody>
                  <a:tcPr marL="48000" marR="48000" marT="48000" marB="48000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862161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Nachteile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 CAPEX/OPEX-Split im selben PSP-Element: Struktur muss die Trennung vorgeben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Strukturdisziplin nötig; Detail-PSP ohne AiB (Abrechnung nach oben zu verifizieren)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Endabrechnung erfordert Zuordnung der AiB-Posten auf Zielanlagen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 Projektbudget und keine Ist-Kostensammlung über Maßnahmen und Jahre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CAPEX/OPEX-Trennung liegt beim Einkauf je Bestellposition (fehleranfällig, 3-197)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Mehrjährige Bauvorhaben ohne AiB-Sammelanlage nicht abbildbar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50984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Beschreibung </a:t>
                      </a:r>
                      <a:br>
                        <a:rPr lang="de-DE" sz="1100" noProof="0" dirty="0">
                          <a:solidFill>
                            <a:schemeClr val="tx2"/>
                          </a:solidFill>
                        </a:rPr>
                      </a:br>
                      <a:r>
                        <a:rPr lang="de-DE" sz="1000" noProof="0" dirty="0">
                          <a:solidFill>
                            <a:schemeClr val="tx2"/>
                          </a:solidFill>
                        </a:rPr>
                        <a:t>(bei der Einführung)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Projektvorlagen und Kontierungsregeln müssen vor der AiB-Migration stehen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Deep-Dive erst in Realize: knappes Zeitfenster für Test der Abrechnungsvarianten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Controlling verliert Steuerungsinstrument; Investitionsfreigabe (3-205) ohne Projektbezug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Nachträgliche Umstellung auf Projekte kaum möglich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212769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(Kosten)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Keine Lizenz- oder Entwicklungskosten; Aufwand in Konzeption, Konfiguration, Schulung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Keine Zusatzkosten; Kontrollverlust und Nacharbeiten bei Fehlkontierungen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910074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Risiko (Zeit)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Entscheidung bis Beginn Realize nötig, sonst Verzug bei AiB-Migration und Einkauf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Kein Zeitrisiko im Projekt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445045"/>
                  </a:ext>
                </a:extLst>
              </a:tr>
              <a:tr h="631730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Zusätzliche Informationen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Clean Core und Upgrade-Fähigkeit vollständig; Betrieb im Standard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Abhängig von Kapitalisierungsrichtlinie DUS und Prüfererwartung (offen)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Nur für Kleininvestitionen ohne Bauphase sinnvoll (Kombination mit Option 1 möglich)</a:t>
                      </a:r>
                    </a:p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850" dirty="0">
                          <a:solidFill>
                            <a:schemeClr val="tx2"/>
                          </a:solidFill>
                        </a:rPr>
                        <a:t>Standard, Clean Core, Upgrade-Fähigkeit gegeben</a:t>
                      </a: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705763"/>
                  </a:ext>
                </a:extLst>
              </a:tr>
              <a:tr h="496995">
                <a:tc>
                  <a:txBody>
                    <a:bodyPr/>
                    <a:lstStyle/>
                    <a:p>
                      <a:pPr algn="l" rtl="0"/>
                      <a:r>
                        <a:rPr lang="de-DE" sz="1100" b="1" noProof="0" dirty="0">
                          <a:solidFill>
                            <a:schemeClr val="tx2"/>
                          </a:solidFill>
                        </a:rPr>
                        <a:t>Im Standard</a:t>
                      </a:r>
                    </a:p>
                  </a:txBody>
                  <a:tcPr marL="48000" marR="48000" marT="48000" marB="48000" anchor="ctr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86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de-DE" sz="900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endParaRPr lang="de-DE" sz="900" noProof="0" dirty="0">
                        <a:solidFill>
                          <a:schemeClr val="tx2"/>
                        </a:solidFill>
                      </a:endParaRPr>
                    </a:p>
                  </a:txBody>
                  <a:tcPr marL="48000" marR="48000" marT="48000" marB="48000">
                    <a:lnL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64956"/>
                  </a:ext>
                </a:extLst>
              </a:tr>
            </a:tbl>
          </a:graphicData>
        </a:graphic>
      </p:graphicFrame>
      <p:sp>
        <p:nvSpPr>
          <p:cNvPr id="109" name="Rectangle 19">
            <a:extLst>
              <a:ext uri="{FF2B5EF4-FFF2-40B4-BE49-F238E27FC236}">
                <a16:creationId xmlns:a16="http://schemas.microsoft.com/office/drawing/2014/main" id="{2C98933A-32AC-EB90-553A-D1A724A7A7F6}"/>
              </a:ext>
            </a:extLst>
          </p:cNvPr>
          <p:cNvSpPr/>
          <p:nvPr/>
        </p:nvSpPr>
        <p:spPr bwMode="gray">
          <a:xfrm>
            <a:off x="530224" y="1641849"/>
            <a:ext cx="11131550" cy="4438275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71446" indent="-171446" defTabSz="914377">
              <a:spcBef>
                <a:spcPts val="300"/>
              </a:spcBef>
              <a:spcAft>
                <a:spcPts val="300"/>
              </a:spcAft>
              <a:buClr>
                <a:srgbClr val="FF6600"/>
              </a:buClr>
              <a:buFont typeface="Wingdings" panose="05000000000000000000" pitchFamily="2" charset="2"/>
              <a:buChar char="§"/>
              <a:defRPr/>
            </a:pPr>
            <a:endParaRPr lang="de-DE" sz="800" noProof="0">
              <a:solidFill>
                <a:srgbClr val="414048"/>
              </a:solidFill>
              <a:latin typeface="Aptos"/>
            </a:endParaRPr>
          </a:p>
        </p:txBody>
      </p:sp>
      <p:sp>
        <p:nvSpPr>
          <p:cNvPr id="110" name="Rechteck 4">
            <a:extLst>
              <a:ext uri="{FF2B5EF4-FFF2-40B4-BE49-F238E27FC236}">
                <a16:creationId xmlns:a16="http://schemas.microsoft.com/office/drawing/2014/main" id="{BB5ABD07-36A7-7773-01EB-1C9C2C74D9AB}"/>
              </a:ext>
            </a:extLst>
          </p:cNvPr>
          <p:cNvSpPr/>
          <p:nvPr/>
        </p:nvSpPr>
        <p:spPr>
          <a:xfrm>
            <a:off x="631191" y="1517650"/>
            <a:ext cx="3341623" cy="248400"/>
          </a:xfrm>
          <a:prstGeom prst="rect">
            <a:avLst/>
          </a:prstGeom>
          <a:solidFill>
            <a:srgbClr val="06518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96000" rtlCol="0" anchor="ctr"/>
          <a:lstStyle/>
          <a:p>
            <a:pPr defTabSz="1624829">
              <a:lnSpc>
                <a:spcPct val="90000"/>
              </a:lnSpc>
              <a:spcBef>
                <a:spcPts val="1067"/>
              </a:spcBef>
              <a:defRPr/>
            </a:pPr>
            <a:r>
              <a:rPr lang="de-DE" sz="1600" b="1" noProof="0">
                <a:solidFill>
                  <a:srgbClr val="FFFFFF"/>
                </a:solidFill>
                <a:latin typeface="Aptos"/>
              </a:rPr>
              <a:t>Bewertung aus funktionaler Sicht</a:t>
            </a:r>
          </a:p>
        </p:txBody>
      </p:sp>
      <p:sp>
        <p:nvSpPr>
          <p:cNvPr id="111" name="Stern mit 5 Zacken 6">
            <a:extLst>
              <a:ext uri="{FF2B5EF4-FFF2-40B4-BE49-F238E27FC236}">
                <a16:creationId xmlns:a16="http://schemas.microsoft.com/office/drawing/2014/main" id="{1B992603-608F-49A8-13D7-205717688C42}"/>
              </a:ext>
            </a:extLst>
          </p:cNvPr>
          <p:cNvSpPr/>
          <p:nvPr/>
        </p:nvSpPr>
        <p:spPr bwMode="gray">
          <a:xfrm>
            <a:off x="6457139" y="1972055"/>
            <a:ext cx="210053" cy="16673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40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2" name="Stern mit 5 Zacken 8">
            <a:extLst>
              <a:ext uri="{FF2B5EF4-FFF2-40B4-BE49-F238E27FC236}">
                <a16:creationId xmlns:a16="http://schemas.microsoft.com/office/drawing/2014/main" id="{4CC90495-5912-6136-B00A-3D7E8A3A1568}"/>
              </a:ext>
            </a:extLst>
          </p:cNvPr>
          <p:cNvSpPr/>
          <p:nvPr/>
        </p:nvSpPr>
        <p:spPr bwMode="gray">
          <a:xfrm>
            <a:off x="8565700" y="6472205"/>
            <a:ext cx="192021" cy="183199"/>
          </a:xfrm>
          <a:prstGeom prst="star5">
            <a:avLst/>
          </a:prstGeom>
          <a:solidFill>
            <a:srgbClr val="111565"/>
          </a:solidFill>
          <a:ln>
            <a:noFill/>
          </a:ln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7">
              <a:spcBef>
                <a:spcPts val="600"/>
              </a:spcBef>
              <a:spcAft>
                <a:spcPts val="600"/>
              </a:spcAft>
              <a:defRPr/>
            </a:pPr>
            <a:endParaRPr lang="de-DE" sz="1050" b="1" noProof="0">
              <a:solidFill>
                <a:prstClr val="white"/>
              </a:solidFill>
              <a:latin typeface="Aptos"/>
            </a:endParaRPr>
          </a:p>
        </p:txBody>
      </p:sp>
      <p:sp>
        <p:nvSpPr>
          <p:cNvPr id="113" name="TextBox 116">
            <a:extLst>
              <a:ext uri="{FF2B5EF4-FFF2-40B4-BE49-F238E27FC236}">
                <a16:creationId xmlns:a16="http://schemas.microsoft.com/office/drawing/2014/main" id="{7F3CB932-B013-037C-409D-3A8F7BC5B011}"/>
              </a:ext>
            </a:extLst>
          </p:cNvPr>
          <p:cNvSpPr txBox="1"/>
          <p:nvPr/>
        </p:nvSpPr>
        <p:spPr bwMode="gray">
          <a:xfrm>
            <a:off x="8202256" y="6476839"/>
            <a:ext cx="3097405" cy="171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 defTabSz="1219108">
              <a:spcBef>
                <a:spcPts val="800"/>
              </a:spcBef>
              <a:spcAft>
                <a:spcPts val="800"/>
              </a:spcAft>
              <a:buClr>
                <a:srgbClr val="0341D2"/>
              </a:buClr>
              <a:defRPr/>
            </a:pPr>
            <a:r>
              <a:rPr lang="de-DE" sz="900" noProof="0">
                <a:solidFill>
                  <a:srgbClr val="414048"/>
                </a:solidFill>
                <a:latin typeface="Aptos"/>
              </a:rPr>
              <a:t>Präferierte Lösung  vom Produkt Team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CBA1457-33E1-E6EB-35A4-E9916C33E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sz="2600" dirty="0"/>
              <a:t>KDD_FI_006: Investitionsprojekte, Anlagen im Bau und CAPEX/OPEX</a:t>
            </a:r>
            <a:endParaRPr lang="de-DE" sz="26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EF39F7-095E-3E70-B598-C8EA04E8A7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dirty="0"/>
              <a:t>2/2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3553A0B-8604-DD08-1F47-6DE8BEDEB334}"/>
              </a:ext>
            </a:extLst>
          </p:cNvPr>
          <p:cNvGrpSpPr>
            <a:grpSpLocks/>
          </p:cNvGrpSpPr>
          <p:nvPr/>
        </p:nvGrpSpPr>
        <p:grpSpPr>
          <a:xfrm>
            <a:off x="3662986" y="5724136"/>
            <a:ext cx="1967562" cy="237326"/>
            <a:chOff x="3202497" y="2010259"/>
            <a:chExt cx="1967562" cy="23732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13C4472-9F08-77A2-5CD2-3BC2CFAC6E57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F90E617-E779-0885-C379-08D8D8DEC4C8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 dirty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274D867-4CC1-378E-EB90-46F9C35FB08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000" dirty="0">
                    <a:solidFill>
                      <a:prstClr val="black"/>
                    </a:solidFill>
                    <a:latin typeface="Aptos"/>
                  </a:rPr>
                  <a:t>x</a:t>
                </a: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D99BFF-CCD8-3B2F-8305-99E1376F8867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6204A0-7A86-C888-2638-B5A401BF4DE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070785C-45F8-4900-EF98-CD819B2FB9EB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EDD0675-9E12-4C66-5047-B02764F0E970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3F157EB-6FD4-A786-C546-26DA1752AA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564F0A-2352-6C5F-521F-4BC62F441786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6352A8-E84D-C510-30C8-C0295AC09011}"/>
              </a:ext>
            </a:extLst>
          </p:cNvPr>
          <p:cNvGrpSpPr>
            <a:grpSpLocks/>
          </p:cNvGrpSpPr>
          <p:nvPr/>
        </p:nvGrpSpPr>
        <p:grpSpPr>
          <a:xfrm>
            <a:off x="8402040" y="5724136"/>
            <a:ext cx="1967562" cy="237326"/>
            <a:chOff x="3202497" y="2010259"/>
            <a:chExt cx="1967562" cy="23732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D66B3FF-46AD-3CE6-8091-45E50BC14363}"/>
                </a:ext>
              </a:extLst>
            </p:cNvPr>
            <p:cNvGrpSpPr/>
            <p:nvPr/>
          </p:nvGrpSpPr>
          <p:grpSpPr>
            <a:xfrm>
              <a:off x="3202497" y="2010259"/>
              <a:ext cx="786794" cy="237325"/>
              <a:chOff x="3154852" y="2031715"/>
              <a:chExt cx="786794" cy="237325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60123AC-2B3E-DF91-0D13-903A395DB715}"/>
                  </a:ext>
                </a:extLst>
              </p:cNvPr>
              <p:cNvSpPr txBox="1"/>
              <p:nvPr/>
            </p:nvSpPr>
            <p:spPr>
              <a:xfrm>
                <a:off x="3484897" y="2080821"/>
                <a:ext cx="456749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Ja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A0C5624-0B06-05A1-C532-C2CDB84600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54852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000" dirty="0">
                    <a:solidFill>
                      <a:prstClr val="black"/>
                    </a:solidFill>
                    <a:latin typeface="Aptos"/>
                  </a:rPr>
                  <a:t>x</a:t>
                </a: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435DA7F-0AAF-10ED-B925-6DEABFF140C1}"/>
                </a:ext>
              </a:extLst>
            </p:cNvPr>
            <p:cNvGrpSpPr/>
            <p:nvPr/>
          </p:nvGrpSpPr>
          <p:grpSpPr>
            <a:xfrm>
              <a:off x="3806092" y="2010259"/>
              <a:ext cx="753391" cy="237325"/>
              <a:chOff x="4349537" y="2031715"/>
              <a:chExt cx="753391" cy="23732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99FDD30-2637-AB2D-DA4C-FC31F1D4EB3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70FD539-9E66-1F0A-97B0-D442088AEEF4}"/>
                  </a:ext>
                </a:extLst>
              </p:cNvPr>
              <p:cNvSpPr txBox="1"/>
              <p:nvPr/>
            </p:nvSpPr>
            <p:spPr>
              <a:xfrm>
                <a:off x="4679581" y="2088219"/>
                <a:ext cx="423347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Nein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43DDE16-4276-8A1A-6FAE-219546A6DF88}"/>
                </a:ext>
              </a:extLst>
            </p:cNvPr>
            <p:cNvGrpSpPr/>
            <p:nvPr/>
          </p:nvGrpSpPr>
          <p:grpSpPr>
            <a:xfrm>
              <a:off x="4552014" y="2010259"/>
              <a:ext cx="618045" cy="237325"/>
              <a:chOff x="4349537" y="2031715"/>
              <a:chExt cx="618045" cy="237325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DFB3366-50A0-7586-4631-42C7506BDB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49537" y="2031715"/>
                <a:ext cx="237324" cy="23732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endParaRPr lang="de-DE" sz="1200" noProof="0">
                  <a:solidFill>
                    <a:prstClr val="black"/>
                  </a:solidFill>
                  <a:latin typeface="Apto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CAFA620-8BAD-438C-6764-535C965A7BC5}"/>
                  </a:ext>
                </a:extLst>
              </p:cNvPr>
              <p:cNvSpPr txBox="1"/>
              <p:nvPr/>
            </p:nvSpPr>
            <p:spPr>
              <a:xfrm>
                <a:off x="4679582" y="2088219"/>
                <a:ext cx="288000" cy="16722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defTabSz="1218652">
                  <a:lnSpc>
                    <a:spcPct val="90000"/>
                  </a:lnSpc>
                  <a:spcBef>
                    <a:spcPts val="800"/>
                  </a:spcBef>
                  <a:defRPr/>
                </a:pPr>
                <a:r>
                  <a:rPr lang="de-DE" sz="1200" noProof="0">
                    <a:solidFill>
                      <a:prstClr val="black"/>
                    </a:solidFill>
                    <a:latin typeface="Aptos"/>
                  </a:rPr>
                  <a:t>n/a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4681850-B0F6-582E-0C44-3B41D5C36A2D}"/>
              </a:ext>
            </a:extLst>
          </p:cNvPr>
          <p:cNvGrpSpPr/>
          <p:nvPr/>
        </p:nvGrpSpPr>
        <p:grpSpPr>
          <a:xfrm>
            <a:off x="2558086" y="2254140"/>
            <a:ext cx="4366970" cy="183200"/>
            <a:chOff x="2558086" y="2254140"/>
            <a:chExt cx="4366970" cy="18320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6C7A8ED-95A7-8BA5-8B2D-697C01C10072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9A5BC27-5CBE-DE2E-4982-736ED065CD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7D4E5B3-3A01-2A35-7BDB-E4DF108D47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389C65F-9EB7-FE61-5763-C63858E0A439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833B0C2-9F3F-5F72-CCFE-C8808FF4B4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C83F5A1-A713-3E49-36A8-0ED7002821AB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3077E97-CC89-1425-7AD0-BCB06FBF5A02}"/>
              </a:ext>
            </a:extLst>
          </p:cNvPr>
          <p:cNvGrpSpPr/>
          <p:nvPr/>
        </p:nvGrpSpPr>
        <p:grpSpPr>
          <a:xfrm>
            <a:off x="7152194" y="2254140"/>
            <a:ext cx="4366970" cy="183200"/>
            <a:chOff x="2558086" y="2254140"/>
            <a:chExt cx="4366970" cy="18320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10F36E5-6ED5-5348-BF14-5136A0F490C0}"/>
                </a:ext>
              </a:extLst>
            </p:cNvPr>
            <p:cNvSpPr txBox="1"/>
            <p:nvPr/>
          </p:nvSpPr>
          <p:spPr>
            <a:xfrm>
              <a:off x="2888131" y="2286891"/>
              <a:ext cx="105521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Stream Level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CD8FF0C-D16A-8BD0-4E09-F3FA37BE8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58086" y="2254140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x</a:t>
              </a: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A0D9BCE-BE5D-6C43-1069-B69BD6F6CB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987170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BF4F726-6740-DDE4-0A51-A81C2A57189A}"/>
                </a:ext>
              </a:extLst>
            </p:cNvPr>
            <p:cNvSpPr txBox="1"/>
            <p:nvPr/>
          </p:nvSpPr>
          <p:spPr>
            <a:xfrm>
              <a:off x="4317214" y="2292603"/>
              <a:ext cx="949137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noProof="0" dirty="0">
                  <a:solidFill>
                    <a:prstClr val="black"/>
                  </a:solidFill>
                  <a:latin typeface="Aptos"/>
                </a:rPr>
                <a:t>Programm Level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FF064AA-C262-8B9C-905A-8DD6897B1D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77733" y="2254142"/>
              <a:ext cx="237324" cy="183198"/>
            </a:xfrm>
            <a:prstGeom prst="rect">
              <a:avLst/>
            </a:prstGeom>
            <a:noFill/>
            <a:ln w="127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8000" tIns="48000" rIns="48000" bIns="48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1218652">
                <a:lnSpc>
                  <a:spcPct val="90000"/>
                </a:lnSpc>
                <a:spcBef>
                  <a:spcPts val="800"/>
                </a:spcBef>
                <a:defRPr/>
              </a:pPr>
              <a:endParaRPr lang="de-DE" sz="1000" noProof="0">
                <a:solidFill>
                  <a:prstClr val="black"/>
                </a:solidFill>
                <a:latin typeface="Apto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2DD4B07-F9A1-C0DA-6940-15D1AFA63600}"/>
                </a:ext>
              </a:extLst>
            </p:cNvPr>
            <p:cNvSpPr txBox="1"/>
            <p:nvPr/>
          </p:nvSpPr>
          <p:spPr>
            <a:xfrm>
              <a:off x="5807777" y="2292603"/>
              <a:ext cx="1117279" cy="13939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1218652">
                <a:lnSpc>
                  <a:spcPct val="90000"/>
                </a:lnSpc>
                <a:spcBef>
                  <a:spcPts val="800"/>
                </a:spcBef>
                <a:defRPr/>
              </a:pPr>
              <a:r>
                <a:rPr lang="de-DE" sz="1000" dirty="0" err="1">
                  <a:solidFill>
                    <a:prstClr val="black"/>
                  </a:solidFill>
                  <a:latin typeface="Aptos"/>
                </a:rPr>
                <a:t>Supervisory</a:t>
              </a:r>
              <a:r>
                <a:rPr lang="de-DE" sz="1000" dirty="0">
                  <a:solidFill>
                    <a:prstClr val="black"/>
                  </a:solidFill>
                  <a:latin typeface="Aptos"/>
                </a:rPr>
                <a:t> Level</a:t>
              </a:r>
              <a:endParaRPr lang="de-DE" sz="1000" noProof="0" dirty="0">
                <a:solidFill>
                  <a:prstClr val="black"/>
                </a:solidFill>
                <a:latin typeface="Apto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47757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.potx" id="{D406F015-C4A6-497A-AC86-E6DDF7021F55}" vid="{ABC6D58B-546C-4A7B-8391-0BA4DD46A26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357</Words>
  <Application>Microsoft Office PowerPoint</Application>
  <PresentationFormat>Widescreen</PresentationFormat>
  <Paragraphs>89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Wingdings</vt:lpstr>
      <vt:lpstr>Office Theme</vt:lpstr>
      <vt:lpstr>think-cell Slide</vt:lpstr>
      <vt:lpstr>PowerPoint Presentation</vt:lpstr>
      <vt:lpstr>KDD_[WS]_00X </vt:lpstr>
      <vt:lpstr>KDD_[WS]_00X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Goethel, Moritz</dc:creator>
  <cp:lastModifiedBy>Goethel, Moritz</cp:lastModifiedBy>
  <cp:revision>1</cp:revision>
  <dcterms:created xsi:type="dcterms:W3CDTF">2026-09-28T18:20:36Z</dcterms:created>
  <dcterms:modified xsi:type="dcterms:W3CDTF">2026-09-28T18:21:47Z</dcterms:modified>
</cp:coreProperties>
</file>
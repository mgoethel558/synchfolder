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[Zugehörigen Workstream eintragen]</a:t>
              </a:r>
              <a:endParaRPr lang="de-DE" sz="1200" noProof="0" dirty="0">
                <a:solidFill>
                  <a:schemeClr val="bg1">
                    <a:lumMod val="50000"/>
                  </a:schemeClr>
                </a:solidFill>
                <a:latin typeface="Aptos"/>
              </a:endParaRP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[DUS verantwortlichen Process Owner eintragen]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[Aktuelle Datum eintragen]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[Geplantes Entscheidungsdatum im DAB eintragen]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300" b="1" u="sng" dirty="0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200" dirty="0">
                <a:solidFill>
                  <a:schemeClr val="bg1">
                    <a:lumMod val="50000"/>
                  </a:schemeClr>
                </a:solidFill>
                <a:latin typeface="Aptos"/>
                <a:cs typeface="Arial"/>
              </a:rPr>
              <a:t>[Aktuelle Ausgangssituation und bestehendes Problem kurz beschreiben]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300" b="1" u="sng" dirty="0">
                <a:solidFill>
                  <a:prstClr val="black"/>
                </a:solidFill>
                <a:latin typeface="Aptos"/>
                <a:cs typeface="Arial"/>
              </a:rPr>
              <a:t>Auswirkung – Ohne Entscheidung 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200" noProof="0" dirty="0">
                <a:solidFill>
                  <a:schemeClr val="bg1">
                    <a:lumMod val="50000"/>
                  </a:schemeClr>
                </a:solidFill>
                <a:latin typeface="Aptos"/>
                <a:cs typeface="Arial"/>
              </a:rPr>
              <a:t>[Folgen und Risiken bei ausbleibender Entscheidung beschreiben]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300" b="1" u="sng" dirty="0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200" dirty="0">
                <a:solidFill>
                  <a:schemeClr val="bg1">
                    <a:lumMod val="50000"/>
                  </a:schemeClr>
                </a:solidFill>
                <a:latin typeface="Aptos"/>
                <a:cs typeface="Arial"/>
              </a:rPr>
              <a:t>[Mögliche Lösungsoptionen kurz und verständlich zusammenfassen]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noProof="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noProof="0" dirty="0">
              <a:solidFill>
                <a:prstClr val="black"/>
              </a:solidFill>
              <a:latin typeface="Aptos"/>
              <a:cs typeface="Arial"/>
            </a:endParaRP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[Betroffene Projekte, Streams und Abhängigkeiten benennen]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1200" dirty="0">
                <a:solidFill>
                  <a:schemeClr val="bg1">
                    <a:lumMod val="50000"/>
                  </a:schemeClr>
                </a:solidFill>
                <a:latin typeface="Aptos"/>
                <a:cs typeface="Arial"/>
              </a:rPr>
              <a:t>[Getroffene Entscheidung oder aktuellen Entscheidungsstand eintragen]</a:t>
            </a:r>
            <a:endParaRPr lang="de-DE" sz="1200" noProof="0" dirty="0">
              <a:solidFill>
                <a:schemeClr val="bg1">
                  <a:lumMod val="50000"/>
                </a:schemeClr>
              </a:solidFill>
              <a:latin typeface="Aptos"/>
              <a:cs typeface="Arial"/>
            </a:endParaRP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r>
              <a:rPr lang="de-DE" sz="1200" noProof="0" dirty="0">
                <a:solidFill>
                  <a:schemeClr val="bg1">
                    <a:lumMod val="50000"/>
                  </a:schemeClr>
                </a:solidFill>
                <a:latin typeface="Aptos"/>
                <a:cs typeface="Arial"/>
              </a:rPr>
              <a:t>[Bevorzugte Lösung und wesentliche Begründung beschreiben]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srgbClr val="414048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noProof="0" dirty="0">
              <a:solidFill>
                <a:srgbClr val="414048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srgbClr val="414048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b="1" u="sng" noProof="0" dirty="0">
              <a:solidFill>
                <a:srgbClr val="414048"/>
              </a:solidFill>
              <a:latin typeface="Aptos"/>
              <a:cs typeface="Arial"/>
            </a:endParaRP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1200" noProof="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[Erforderliche Informationen, Prüfungen und Freigaben benennen]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</a:t>
              </a: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KDD_[WS]_00X]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noProof="0" dirty="0"/>
              <a:t>KDD</a:t>
            </a:r>
            <a:r>
              <a:rPr lang="de-DE" dirty="0"/>
              <a:t>_[WS]_00X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 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 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[Verantwortlichen Product Manager der IT eintragen]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[Passende Kategorie auswählen]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500" noProof="0" dirty="0">
                          <a:solidFill>
                            <a:schemeClr val="bg1"/>
                          </a:solidFill>
                        </a:rPr>
                        <a:t>Option 1 – [Titel]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500" noProof="0" dirty="0">
                          <a:solidFill>
                            <a:schemeClr val="tx2"/>
                          </a:solidFill>
                        </a:rPr>
                        <a:t>Option 2 – [Titel]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[Wesentliche fachliche und technische Vorteile der Option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[Wesentliche fachliche und technische Vorteile der Option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[Wesentliche fachliche und technische Nachteile der Option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[Wesentliche fachliche und technische Nachteile der Option beschreiben]</a:t>
                      </a:r>
                    </a:p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[Mögliche Risiken und Herausforderungen bei der Umsetzung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[Mögliche Risiken und Herausforderungen bei der Umsetzung beschreiben]</a:t>
                      </a:r>
                    </a:p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[Mögliche zusätzliche Kosten und finanzielle Unsicherheiten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[Mögliche zusätzliche Kosten und finanzielle Unsicherheiten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[Mögliche Auswirkungen auf Zeitplan und Meilensteine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[Mögliche Auswirkungen auf Zeitplan und Meilensteine beschreiben]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[Weitere entscheidungsrelevante Hinweise und Abhängigkeiten ergänzen]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900" kern="12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[Weitere entscheidungsrelevante Hinweise und Abhängigkeiten ergänzen]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dirty="0"/>
              <a:t>KDD_[WS]_00X</a:t>
            </a:r>
            <a:endParaRPr lang="de-DE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
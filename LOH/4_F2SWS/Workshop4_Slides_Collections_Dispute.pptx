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Einstieg: Die vier Blöcke bauen aufeinander auf. Mahnwesen ist die automatische Basis (J59), Collections Management setzt den persönlichen Kontakt darauf, Dispute Management klärt Streitfälle, die Strategie steuert, wer wann kontaktiert wird. 2PD bildet die bilanzielle Folge ab.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Prozesse arbeiten auf denselben offenen Posten in FI-AR. Sie unterscheiden sich im Grad der menschlichen Aufmerksamkeit: Mahnwesen vollautomatisch, Collections personalisiert, Dispute fallbezogen. Wichtig: Posten mit offenem Dispute oder laufendem Zahlungsversprechen werden nicht gemahnt.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Drei Ursachen für Nichtzahlung verlangen drei Reaktionen. Wer nur mahnt, behandelt alle gleich: verärgert gute Kunden mit berechtigten Einwänden, verschwendet Mahnstufen bei zahlungsunfähigen Kunden, erkennt Risiken zu spät. DSO als Kennzahl: wenige Tage Verbesserung = erhebliches Working Capital.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Schritte 1 bis 3 laufen nachts als SAP-betriebene Jobs. Der Spezialist sieht morgens nur das Ergebnis. Schritt 6 (Nachhalten) ist der Grund, warum Zahlungsversprechen Objekte sind und nicht Notizen: das System prüft sie gegen den Zahlungseingang.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Collections-Organisation ist unabhängig vom Buchungskreis. Jede Gruppe hat genau eine Strategie. Pro Kunde werden nur Profil und Spezialist gepflegt, der Rest wird abgeleitet. Massenzuordnung per Job, z. B. nur für kritische Risikoklassen aus dem Credit Management.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Rollen reichen für die Demo: Accounts Receivable Accountant (Spezialist) und Accounts Receivable Manager. Cash Management Specialist nur für den Dispute aus der Unterzahlung.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Storyline: Kunde S10100251, drei überfällige Rechnungen, eine groß. Alles am Vortag einrichten, weil die Worklist nur nächtlich erzeugt wird. Zweiter User oder klare Ansage für Manager vs. Spezialist.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Worklist ist kein manuell gepflegtes To-do. Sie ist ein Rechenergebnis aus Strategie und Posten, das jede Nacht neu entsteht. Wer die Reihenfolge ändern will, ändert die Strategie.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die Tagesarbeit, rechts die Steuerung. Beide greifen auf dieselbe nächtlich erzeugte Worklist zu.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drei Objekte machen Telefonate messbar. Zahlungsversprechen werden gegen den Zahlungseingang geprüft; gebrochene Versprechen erhöhen die Priorität. Das ist Zahlungsverhalten als Risikosignal, unabhängig von der Bonitätsauskunft.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Alles in einem Durchgang in Process Receivables erledigen, damit die Kontaktnotiz alle Objekte enthält.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bestrittener Posten wird nicht bezahlt, egal wie oft gemahnt wird. Die Klärung ist abteilungsübergreifend und bleibt ohne Prozess in Mailpostfächern liegen. Strategischer Nutzen: Auswertung nach Grund zeigt, wo das Unternehmen selbst Fehler macht (Preispflege, Lieferqualität).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Weg 2 braucht den Dispute-Katalog in der Rolle Cash Management Specialist (F1492), sonst fehlt der Button. Weg 3 als Testlauf zeigen; er verarbeitet Restposten aus Kontoauszug, Lockbox und Nachbearbeitung.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Berechtigt: Gutschrift, Fall schließt automatisch beim Ausgleich, niemand muss daran denken. Nicht berechtigt: Status Not justified, Fall geht zurück ins Collections, Mahnsperre fällt. Void für Fehlanlagen, Write-Off-Job für eskalierte Fälle.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Reporting-Apps brauchen vorhandene Fälle: am Vortag mindestens einen Fall In Process und einen gelösten anlegen.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Fälle vorbereiten: einer wird in der Demo angelegt und zugewiesen, ein zweiter steht In Process für Weg B. Gutschrift optional vorbereiten, sonst die automatische Schließung nur erklären.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Unternehmen mit gleichem Forderungsbestand, verschiedene Prioritäten. Jede Gruppe hat genau eine Strategie; wer Großkunden und Kleinkunden unterschiedlich behandelt, braucht zwei Gruppen. Strategien werden nachjustiert, Änderungen wirken beim nächsten nächtlichen Lauf.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Regeln sind vorgefertigt (CR000000nn), der Kunde wählt aus und setzt Schwellen und Punkte. Beispielwerte aus dem SAP-Testskript. Neue Strategie ist zunächst inaktiv.</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Reihenfolge einhalten: Strategie → Gruppe → Segment-Zuordnung → Kunde. Alles vor dem Workshop, weil die Worklist erst im nächtlichen Lauf entsteht. Massenjobs für Rollout und Mitarbeiterwechsel.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BFC und 7MA schließen sich aus, beide brauchen Zusatzlizenz. 7MA lohnt bei hohem Volumen, klar beschreibbarer Zuordnungslogik und Regelpflege-Kompetenz im Fachbereich. Entscheidung im Workshop festhalten.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IFRS 9: erwartete Kreditverluste über Provision Matrix, Prozentsatz je Überfälligkeitsklasse. Bewertungslauf bucht am Stichtag und storniert am Folgetag. Funktioniert nicht mit Advanced Foreign Currency Valuation. Die Wertberichtigung ist die finanzielle Messlatte für die Qualität des Forderungsmanagements.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Punkte werden als KDD-Kandidaten protokolliert. Die erste Frage entscheidet über alle weiteren.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1828800"/>
            <a:ext cx="109728" cy="237744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737360"/>
            <a:ext cx="10058400" cy="457200"/>
          </a:xfrm>
          <a:prstGeom prst="rect">
            <a:avLst/>
          </a:prstGeom>
          <a:noFill/>
        </p:spPr>
        <p:txBody>
          <a:bodyPr wrap="square" anchor="t" lIns="45720" rIns="45720">
            <a:spAutoFit/>
          </a:bodyPr>
          <a:lstStyle/>
          <a:p>
            <a:pPr algn="l"/>
            <a:r>
              <a:rPr sz="1300" b="1" i="0">
                <a:solidFill>
                  <a:srgbClr val="0F8B8D"/>
                </a:solidFill>
                <a:latin typeface="Calibri"/>
              </a:rPr>
              <a:t>SAP S/4HANA CLOUD PUBLIC EDITION  |  FIT-TO-STANDARD-WORKSHOP 4</a:t>
            </a:r>
          </a:p>
        </p:txBody>
      </p:sp>
      <p:sp>
        <p:nvSpPr>
          <p:cNvPr id="5" name="TextBox 4"/>
          <p:cNvSpPr txBox="1"/>
          <p:nvPr/>
        </p:nvSpPr>
        <p:spPr>
          <a:xfrm>
            <a:off x="914400" y="2194560"/>
            <a:ext cx="10515600" cy="1463040"/>
          </a:xfrm>
          <a:prstGeom prst="rect">
            <a:avLst/>
          </a:prstGeom>
          <a:noFill/>
        </p:spPr>
        <p:txBody>
          <a:bodyPr wrap="square" anchor="ctr" lIns="45720" rIns="45720">
            <a:spAutoFit/>
          </a:bodyPr>
          <a:lstStyle/>
          <a:p>
            <a:pPr algn="l"/>
            <a:r>
              <a:rPr sz="4400" b="1" i="0">
                <a:solidFill>
                  <a:srgbClr val="1C4E80"/>
                </a:solidFill>
                <a:latin typeface="Calibri"/>
              </a:rPr>
              <a:t>Collections &amp; Dispute Management</a:t>
            </a:r>
          </a:p>
        </p:txBody>
      </p:sp>
      <p:sp>
        <p:nvSpPr>
          <p:cNvPr id="6" name="TextBox 5"/>
          <p:cNvSpPr txBox="1"/>
          <p:nvPr/>
        </p:nvSpPr>
        <p:spPr>
          <a:xfrm>
            <a:off x="914400" y="3566160"/>
            <a:ext cx="10515600" cy="822960"/>
          </a:xfrm>
          <a:prstGeom prst="rect">
            <a:avLst/>
          </a:prstGeom>
          <a:noFill/>
        </p:spPr>
        <p:txBody>
          <a:bodyPr wrap="square" anchor="t" lIns="45720" rIns="45720">
            <a:spAutoFit/>
          </a:bodyPr>
          <a:lstStyle/>
          <a:p>
            <a:pPr algn="l"/>
            <a:r>
              <a:rPr sz="1800" b="0" i="0">
                <a:solidFill>
                  <a:srgbClr val="5F6B7A"/>
                </a:solidFill>
                <a:latin typeface="Calibri"/>
              </a:rPr>
              <a:t>Automatisierter Collections-Workflow, Worklist-Management,</a:t>
            </a:r>
          </a:p>
          <a:p>
            <a:pPr algn="l"/>
            <a:r>
              <a:rPr sz="1800" b="0" i="0">
                <a:solidFill>
                  <a:srgbClr val="5F6B7A"/>
                </a:solidFill>
                <a:latin typeface="Calibri"/>
              </a:rPr>
              <a:t>Dispute-Case-Anlage und -Lösung, Konfiguration der Collections-Strategie</a:t>
            </a:r>
          </a:p>
        </p:txBody>
      </p:sp>
      <p:sp>
        <p:nvSpPr>
          <p:cNvPr id="7" name="TextBox 6"/>
          <p:cNvSpPr txBox="1"/>
          <p:nvPr/>
        </p:nvSpPr>
        <p:spPr>
          <a:xfrm>
            <a:off x="914400" y="5120640"/>
            <a:ext cx="10058400" cy="365760"/>
          </a:xfrm>
          <a:prstGeom prst="rect">
            <a:avLst/>
          </a:prstGeom>
          <a:noFill/>
        </p:spPr>
        <p:txBody>
          <a:bodyPr wrap="square" anchor="t" lIns="45720" rIns="45720">
            <a:spAutoFit/>
          </a:bodyPr>
          <a:lstStyle/>
          <a:p>
            <a:pPr algn="l"/>
            <a:r>
              <a:rPr sz="1100" b="0" i="0">
                <a:solidFill>
                  <a:srgbClr val="5F6B7A"/>
                </a:solidFill>
                <a:latin typeface="Calibri"/>
              </a:rPr>
              <a:t>Scope-Items: J59 Accounts Receivable  |  BFC Collections and Dispute Management  |  7MA Collections and Dispute Automation  |  2PD Provisioning of Overdue Receivables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AGENDA</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Vier Themenblöcke, ein Ziel: Forderungen schneller zu Geld machen</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Überblick</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2</a:t>
            </a:r>
          </a:p>
        </p:txBody>
      </p:sp>
      <p:sp>
        <p:nvSpPr>
          <p:cNvPr id="6" name="Rounded Rectangle 5"/>
          <p:cNvSpPr/>
          <p:nvPr/>
        </p:nvSpPr>
        <p:spPr>
          <a:xfrm>
            <a:off x="548640" y="1554480"/>
            <a:ext cx="2567863" cy="32918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1691640"/>
            <a:ext cx="914400" cy="822960"/>
          </a:xfrm>
          <a:prstGeom prst="rect">
            <a:avLst/>
          </a:prstGeom>
          <a:noFill/>
        </p:spPr>
        <p:txBody>
          <a:bodyPr wrap="square" anchor="t" lIns="45720" rIns="45720">
            <a:spAutoFit/>
          </a:bodyPr>
          <a:lstStyle/>
          <a:p>
            <a:pPr algn="l"/>
            <a:r>
              <a:rPr sz="4800" b="1" i="0">
                <a:solidFill>
                  <a:srgbClr val="0F8B8D"/>
                </a:solidFill>
                <a:latin typeface="Calibri"/>
              </a:rPr>
              <a:t>A</a:t>
            </a:r>
          </a:p>
        </p:txBody>
      </p:sp>
      <p:sp>
        <p:nvSpPr>
          <p:cNvPr id="8" name="TextBox 7"/>
          <p:cNvSpPr txBox="1"/>
          <p:nvPr/>
        </p:nvSpPr>
        <p:spPr>
          <a:xfrm>
            <a:off x="731520" y="2514600"/>
            <a:ext cx="2202103" cy="731520"/>
          </a:xfrm>
          <a:prstGeom prst="rect">
            <a:avLst/>
          </a:prstGeom>
          <a:noFill/>
        </p:spPr>
        <p:txBody>
          <a:bodyPr wrap="square" anchor="t" lIns="45720" rIns="45720">
            <a:spAutoFit/>
          </a:bodyPr>
          <a:lstStyle/>
          <a:p>
            <a:pPr algn="l"/>
            <a:r>
              <a:rPr sz="1600" b="1" i="0">
                <a:solidFill>
                  <a:srgbClr val="1C4E80"/>
                </a:solidFill>
                <a:latin typeface="Calibri"/>
              </a:rPr>
              <a:t>Automatisierter Collections-Workflow</a:t>
            </a:r>
          </a:p>
        </p:txBody>
      </p:sp>
      <p:sp>
        <p:nvSpPr>
          <p:cNvPr id="9" name="TextBox 8"/>
          <p:cNvSpPr txBox="1"/>
          <p:nvPr/>
        </p:nvSpPr>
        <p:spPr>
          <a:xfrm>
            <a:off x="731520" y="3291840"/>
            <a:ext cx="2202103" cy="1463040"/>
          </a:xfrm>
          <a:prstGeom prst="rect">
            <a:avLst/>
          </a:prstGeom>
          <a:noFill/>
        </p:spPr>
        <p:txBody>
          <a:bodyPr wrap="square" anchor="t" lIns="45720" rIns="45720">
            <a:spAutoFit/>
          </a:bodyPr>
          <a:lstStyle/>
          <a:p>
            <a:pPr algn="l"/>
            <a:r>
              <a:rPr sz="1200" b="0" i="0">
                <a:solidFill>
                  <a:srgbClr val="1F2933"/>
                </a:solidFill>
                <a:latin typeface="Calibri"/>
              </a:rPr>
              <a:t>Warum Mahnen allein nicht reicht. Tägliche Übernahme der offenen Posten, Bewertung, Priorisierung, Kontakt, Nachhalten.</a:t>
            </a:r>
          </a:p>
        </p:txBody>
      </p:sp>
      <p:sp>
        <p:nvSpPr>
          <p:cNvPr id="10" name="Rounded Rectangle 9"/>
          <p:cNvSpPr/>
          <p:nvPr/>
        </p:nvSpPr>
        <p:spPr>
          <a:xfrm>
            <a:off x="3390823" y="1554480"/>
            <a:ext cx="2567863" cy="32918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573703" y="1691640"/>
            <a:ext cx="914400" cy="822960"/>
          </a:xfrm>
          <a:prstGeom prst="rect">
            <a:avLst/>
          </a:prstGeom>
          <a:noFill/>
        </p:spPr>
        <p:txBody>
          <a:bodyPr wrap="square" anchor="t" lIns="45720" rIns="45720">
            <a:spAutoFit/>
          </a:bodyPr>
          <a:lstStyle/>
          <a:p>
            <a:pPr algn="l"/>
            <a:r>
              <a:rPr sz="4800" b="1" i="0">
                <a:solidFill>
                  <a:srgbClr val="0F8B8D"/>
                </a:solidFill>
                <a:latin typeface="Calibri"/>
              </a:rPr>
              <a:t>B</a:t>
            </a:r>
          </a:p>
        </p:txBody>
      </p:sp>
      <p:sp>
        <p:nvSpPr>
          <p:cNvPr id="12" name="TextBox 11"/>
          <p:cNvSpPr txBox="1"/>
          <p:nvPr/>
        </p:nvSpPr>
        <p:spPr>
          <a:xfrm>
            <a:off x="3573703" y="2514600"/>
            <a:ext cx="2202103" cy="731520"/>
          </a:xfrm>
          <a:prstGeom prst="rect">
            <a:avLst/>
          </a:prstGeom>
          <a:noFill/>
        </p:spPr>
        <p:txBody>
          <a:bodyPr wrap="square" anchor="t" lIns="45720" rIns="45720">
            <a:spAutoFit/>
          </a:bodyPr>
          <a:lstStyle/>
          <a:p>
            <a:pPr algn="l"/>
            <a:r>
              <a:rPr sz="1600" b="1" i="0">
                <a:solidFill>
                  <a:srgbClr val="1C4E80"/>
                </a:solidFill>
                <a:latin typeface="Calibri"/>
              </a:rPr>
              <a:t>Worklist-Management</a:t>
            </a:r>
          </a:p>
        </p:txBody>
      </p:sp>
      <p:sp>
        <p:nvSpPr>
          <p:cNvPr id="13" name="TextBox 12"/>
          <p:cNvSpPr txBox="1"/>
          <p:nvPr/>
        </p:nvSpPr>
        <p:spPr>
          <a:xfrm>
            <a:off x="3573703" y="3291840"/>
            <a:ext cx="2202103" cy="1463040"/>
          </a:xfrm>
          <a:prstGeom prst="rect">
            <a:avLst/>
          </a:prstGeom>
          <a:noFill/>
        </p:spPr>
        <p:txBody>
          <a:bodyPr wrap="square" anchor="t" lIns="45720" rIns="45720">
            <a:spAutoFit/>
          </a:bodyPr>
          <a:lstStyle/>
          <a:p>
            <a:pPr algn="l"/>
            <a:r>
              <a:rPr sz="1200" b="0" i="0">
                <a:solidFill>
                  <a:srgbClr val="1F2933"/>
                </a:solidFill>
                <a:latin typeface="Calibri"/>
              </a:rPr>
              <a:t>Die Arbeitsliste des Spezialisten und die Steuerungssicht des Managers. Zahlungsversprechen, Wiedervorlage, Kontaktdokumentation.</a:t>
            </a:r>
          </a:p>
        </p:txBody>
      </p:sp>
      <p:sp>
        <p:nvSpPr>
          <p:cNvPr id="14" name="Rounded Rectangle 13"/>
          <p:cNvSpPr/>
          <p:nvPr/>
        </p:nvSpPr>
        <p:spPr>
          <a:xfrm>
            <a:off x="6233007" y="1554480"/>
            <a:ext cx="2567863" cy="32918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15887" y="1691640"/>
            <a:ext cx="914400" cy="822960"/>
          </a:xfrm>
          <a:prstGeom prst="rect">
            <a:avLst/>
          </a:prstGeom>
          <a:noFill/>
        </p:spPr>
        <p:txBody>
          <a:bodyPr wrap="square" anchor="t" lIns="45720" rIns="45720">
            <a:spAutoFit/>
          </a:bodyPr>
          <a:lstStyle/>
          <a:p>
            <a:pPr algn="l"/>
            <a:r>
              <a:rPr sz="4800" b="1" i="0">
                <a:solidFill>
                  <a:srgbClr val="0F8B8D"/>
                </a:solidFill>
                <a:latin typeface="Calibri"/>
              </a:rPr>
              <a:t>C</a:t>
            </a:r>
          </a:p>
        </p:txBody>
      </p:sp>
      <p:sp>
        <p:nvSpPr>
          <p:cNvPr id="16" name="TextBox 15"/>
          <p:cNvSpPr txBox="1"/>
          <p:nvPr/>
        </p:nvSpPr>
        <p:spPr>
          <a:xfrm>
            <a:off x="6415887" y="2514600"/>
            <a:ext cx="2202103" cy="731520"/>
          </a:xfrm>
          <a:prstGeom prst="rect">
            <a:avLst/>
          </a:prstGeom>
          <a:noFill/>
        </p:spPr>
        <p:txBody>
          <a:bodyPr wrap="square" anchor="t" lIns="45720" rIns="45720">
            <a:spAutoFit/>
          </a:bodyPr>
          <a:lstStyle/>
          <a:p>
            <a:pPr algn="l"/>
            <a:r>
              <a:rPr sz="1600" b="1" i="0">
                <a:solidFill>
                  <a:srgbClr val="1C4E80"/>
                </a:solidFill>
                <a:latin typeface="Calibri"/>
              </a:rPr>
              <a:t>Dispute Case: Anlage und Lösung</a:t>
            </a:r>
          </a:p>
        </p:txBody>
      </p:sp>
      <p:sp>
        <p:nvSpPr>
          <p:cNvPr id="17" name="TextBox 16"/>
          <p:cNvSpPr txBox="1"/>
          <p:nvPr/>
        </p:nvSpPr>
        <p:spPr>
          <a:xfrm>
            <a:off x="6415887" y="3291840"/>
            <a:ext cx="2202103" cy="1463040"/>
          </a:xfrm>
          <a:prstGeom prst="rect">
            <a:avLst/>
          </a:prstGeom>
          <a:noFill/>
        </p:spPr>
        <p:txBody>
          <a:bodyPr wrap="square" anchor="t" lIns="45720" rIns="45720">
            <a:spAutoFit/>
          </a:bodyPr>
          <a:lstStyle/>
          <a:p>
            <a:pPr algn="l"/>
            <a:r>
              <a:rPr sz="1200" b="0" i="0">
                <a:solidFill>
                  <a:srgbClr val="1F2933"/>
                </a:solidFill>
                <a:latin typeface="Calibri"/>
              </a:rPr>
              <a:t>Streitfälle als Cash-Blocker. Drei Anlagewege, Koordinator und Bearbeiter, Entscheidung berechtigt / nicht berechtigt, Reporting.</a:t>
            </a:r>
          </a:p>
        </p:txBody>
      </p:sp>
      <p:sp>
        <p:nvSpPr>
          <p:cNvPr id="18" name="Rounded Rectangle 17"/>
          <p:cNvSpPr/>
          <p:nvPr/>
        </p:nvSpPr>
        <p:spPr>
          <a:xfrm>
            <a:off x="9075191" y="1554480"/>
            <a:ext cx="2567863" cy="32918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258071" y="1691640"/>
            <a:ext cx="914400" cy="822960"/>
          </a:xfrm>
          <a:prstGeom prst="rect">
            <a:avLst/>
          </a:prstGeom>
          <a:noFill/>
        </p:spPr>
        <p:txBody>
          <a:bodyPr wrap="square" anchor="t" lIns="45720" rIns="45720">
            <a:spAutoFit/>
          </a:bodyPr>
          <a:lstStyle/>
          <a:p>
            <a:pPr algn="l"/>
            <a:r>
              <a:rPr sz="4800" b="1" i="0">
                <a:solidFill>
                  <a:srgbClr val="0F8B8D"/>
                </a:solidFill>
                <a:latin typeface="Calibri"/>
              </a:rPr>
              <a:t>D</a:t>
            </a:r>
          </a:p>
        </p:txBody>
      </p:sp>
      <p:sp>
        <p:nvSpPr>
          <p:cNvPr id="20" name="TextBox 19"/>
          <p:cNvSpPr txBox="1"/>
          <p:nvPr/>
        </p:nvSpPr>
        <p:spPr>
          <a:xfrm>
            <a:off x="9258071" y="2514600"/>
            <a:ext cx="2202103" cy="731520"/>
          </a:xfrm>
          <a:prstGeom prst="rect">
            <a:avLst/>
          </a:prstGeom>
          <a:noFill/>
        </p:spPr>
        <p:txBody>
          <a:bodyPr wrap="square" anchor="t" lIns="45720" rIns="45720">
            <a:spAutoFit/>
          </a:bodyPr>
          <a:lstStyle/>
          <a:p>
            <a:pPr algn="l"/>
            <a:r>
              <a:rPr sz="1600" b="1" i="0">
                <a:solidFill>
                  <a:srgbClr val="1C4E80"/>
                </a:solidFill>
                <a:latin typeface="Calibri"/>
              </a:rPr>
              <a:t>Konfiguration der Collections-Strategie</a:t>
            </a:r>
          </a:p>
        </p:txBody>
      </p:sp>
      <p:sp>
        <p:nvSpPr>
          <p:cNvPr id="21" name="TextBox 20"/>
          <p:cNvSpPr txBox="1"/>
          <p:nvPr/>
        </p:nvSpPr>
        <p:spPr>
          <a:xfrm>
            <a:off x="9258071" y="3291840"/>
            <a:ext cx="2202103" cy="1463040"/>
          </a:xfrm>
          <a:prstGeom prst="rect">
            <a:avLst/>
          </a:prstGeom>
          <a:noFill/>
        </p:spPr>
        <p:txBody>
          <a:bodyPr wrap="square" anchor="t" lIns="45720" rIns="45720">
            <a:spAutoFit/>
          </a:bodyPr>
          <a:lstStyle/>
          <a:p>
            <a:pPr algn="l"/>
            <a:r>
              <a:rPr sz="1200" b="0" i="0">
                <a:solidFill>
                  <a:srgbClr val="1F2933"/>
                </a:solidFill>
                <a:latin typeface="Calibri"/>
              </a:rPr>
              <a:t>Risikopolitik in Regeln: Regeln, Gewichte, Priorität. Organisation aus Segment, Profil, Gruppe, Spezialist. Ausblick 7MA.</a:t>
            </a:r>
          </a:p>
        </p:txBody>
      </p:sp>
      <p:sp>
        <p:nvSpPr>
          <p:cNvPr id="22" name="TextBox 21"/>
          <p:cNvSpPr txBox="1"/>
          <p:nvPr/>
        </p:nvSpPr>
        <p:spPr>
          <a:xfrm>
            <a:off x="548640" y="5074920"/>
            <a:ext cx="11094415" cy="822960"/>
          </a:xfrm>
          <a:prstGeom prst="rect">
            <a:avLst/>
          </a:prstGeom>
          <a:noFill/>
        </p:spPr>
        <p:txBody>
          <a:bodyPr wrap="square" anchor="t" lIns="45720" rIns="45720">
            <a:spAutoFit/>
          </a:bodyPr>
          <a:lstStyle/>
          <a:p>
            <a:pPr algn="l"/>
            <a:r>
              <a:rPr sz="1300" b="0" i="0">
                <a:solidFill>
                  <a:srgbClr val="5F6B7A"/>
                </a:solidFill>
                <a:latin typeface="Calibri"/>
              </a:rPr>
              <a:t>Abschluss: Wertberichtigung und Ausbuchung (2PD), Entscheidungsbedarf und offene Punkte.</a:t>
            </a:r>
          </a:p>
          <a:p>
            <a:pPr algn="l"/>
            <a:r>
              <a:rPr sz="1300" b="0" i="0">
                <a:solidFill>
                  <a:srgbClr val="5F6B7A"/>
                </a:solidFill>
                <a:latin typeface="Calibri"/>
              </a:rPr>
              <a:t>Jeder Block: fachlicher Kontext (warum), Prozessablauf (wie), Apps und Rollen (womit), Praxis (Demo).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END-TO-END-BILD</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Vom fälligen Posten bis zur Zahlung, Gutschrift oder Ausbuchung</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Überblick</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3</a:t>
            </a:r>
          </a:p>
        </p:txBody>
      </p:sp>
      <p:sp>
        <p:nvSpPr>
          <p:cNvPr id="6" name="Rounded Rectangle 5"/>
          <p:cNvSpPr/>
          <p:nvPr/>
        </p:nvSpPr>
        <p:spPr>
          <a:xfrm>
            <a:off x="548640" y="1554480"/>
            <a:ext cx="1711909" cy="86868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Rechnung gebucht</a:t>
            </a:r>
          </a:p>
          <a:p>
            <a:pPr algn="ctr"/>
            <a:r>
              <a:rPr sz="1000" b="0" i="0">
                <a:solidFill>
                  <a:srgbClr val="FFFFFF"/>
                </a:solidFill>
                <a:latin typeface="Calibri"/>
              </a:rPr>
              <a:t>FI-AR offener Posten</a:t>
            </a:r>
          </a:p>
        </p:txBody>
      </p:sp>
      <p:sp>
        <p:nvSpPr>
          <p:cNvPr id="7" name="Right Arrow 6"/>
          <p:cNvSpPr/>
          <p:nvPr/>
        </p:nvSpPr>
        <p:spPr>
          <a:xfrm>
            <a:off x="2278837" y="189738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425141" y="1554480"/>
            <a:ext cx="1711909" cy="86868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Fälligkeit überschritten</a:t>
            </a:r>
          </a:p>
          <a:p>
            <a:pPr algn="ctr"/>
            <a:r>
              <a:rPr sz="1000" b="0" i="0">
                <a:solidFill>
                  <a:srgbClr val="FFFFFF"/>
                </a:solidFill>
                <a:latin typeface="Calibri"/>
              </a:rPr>
              <a:t>Nächtliche Übernahme</a:t>
            </a:r>
          </a:p>
        </p:txBody>
      </p:sp>
      <p:sp>
        <p:nvSpPr>
          <p:cNvPr id="9" name="Right Arrow 8"/>
          <p:cNvSpPr/>
          <p:nvPr/>
        </p:nvSpPr>
        <p:spPr>
          <a:xfrm>
            <a:off x="4155338" y="189738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01642" y="1554480"/>
            <a:ext cx="1711909" cy="86868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Mahnwesen</a:t>
            </a:r>
          </a:p>
          <a:p>
            <a:pPr algn="ctr"/>
            <a:r>
              <a:rPr sz="1000" b="0" i="0">
                <a:solidFill>
                  <a:srgbClr val="FFFFFF"/>
                </a:solidFill>
                <a:latin typeface="Calibri"/>
              </a:rPr>
              <a:t>automatisch, J59</a:t>
            </a:r>
          </a:p>
        </p:txBody>
      </p:sp>
      <p:sp>
        <p:nvSpPr>
          <p:cNvPr id="11" name="Right Arrow 10"/>
          <p:cNvSpPr/>
          <p:nvPr/>
        </p:nvSpPr>
        <p:spPr>
          <a:xfrm>
            <a:off x="6031839" y="189738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8143" y="1554480"/>
            <a:ext cx="1711909" cy="86868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Collections</a:t>
            </a:r>
          </a:p>
          <a:p>
            <a:pPr algn="ctr"/>
            <a:r>
              <a:rPr sz="1000" b="0" i="0">
                <a:solidFill>
                  <a:srgbClr val="FFFFFF"/>
                </a:solidFill>
                <a:latin typeface="Calibri"/>
              </a:rPr>
              <a:t>persönlich, priorisiert</a:t>
            </a:r>
          </a:p>
        </p:txBody>
      </p:sp>
      <p:sp>
        <p:nvSpPr>
          <p:cNvPr id="13" name="Right Arrow 12"/>
          <p:cNvSpPr/>
          <p:nvPr/>
        </p:nvSpPr>
        <p:spPr>
          <a:xfrm>
            <a:off x="7908340" y="189738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54644" y="1554480"/>
            <a:ext cx="1711909" cy="86868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Dispute</a:t>
            </a:r>
          </a:p>
          <a:p>
            <a:pPr algn="ctr"/>
            <a:r>
              <a:rPr sz="1000" b="0" i="0">
                <a:solidFill>
                  <a:srgbClr val="FFFFFF"/>
                </a:solidFill>
                <a:latin typeface="Calibri"/>
              </a:rPr>
              <a:t>fallbezogen, abteilungsübergreifend</a:t>
            </a:r>
          </a:p>
        </p:txBody>
      </p:sp>
      <p:sp>
        <p:nvSpPr>
          <p:cNvPr id="15" name="Right Arrow 14"/>
          <p:cNvSpPr/>
          <p:nvPr/>
        </p:nvSpPr>
        <p:spPr>
          <a:xfrm>
            <a:off x="9784841" y="189738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31145" y="1554480"/>
            <a:ext cx="1711909" cy="86868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Zahlung / Gutschrift</a:t>
            </a:r>
          </a:p>
          <a:p>
            <a:pPr algn="ctr"/>
            <a:r>
              <a:rPr sz="1000" b="0" i="0">
                <a:solidFill>
                  <a:srgbClr val="FFFFFF"/>
                </a:solidFill>
                <a:latin typeface="Calibri"/>
              </a:rPr>
              <a:t>oder Ausbuchung, 2PD</a:t>
            </a:r>
          </a:p>
        </p:txBody>
      </p:sp>
      <p:sp>
        <p:nvSpPr>
          <p:cNvPr id="17" name="Rounded Rectangle 16"/>
          <p:cNvSpPr/>
          <p:nvPr/>
        </p:nvSpPr>
        <p:spPr>
          <a:xfrm>
            <a:off x="548640" y="2697480"/>
            <a:ext cx="3611880" cy="2468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2834640"/>
            <a:ext cx="3337560" cy="365760"/>
          </a:xfrm>
          <a:prstGeom prst="rect">
            <a:avLst/>
          </a:prstGeom>
          <a:noFill/>
        </p:spPr>
        <p:txBody>
          <a:bodyPr wrap="square" anchor="ctr" lIns="45720" rIns="45720">
            <a:spAutoFit/>
          </a:bodyPr>
          <a:lstStyle/>
          <a:p>
            <a:pPr algn="l"/>
            <a:r>
              <a:rPr sz="1400" b="1" i="0">
                <a:solidFill>
                  <a:srgbClr val="1C4E80"/>
                </a:solidFill>
                <a:latin typeface="Calibri"/>
              </a:rPr>
              <a:t>Mahnwesen: Grundschutz</a:t>
            </a:r>
          </a:p>
        </p:txBody>
      </p:sp>
      <p:sp>
        <p:nvSpPr>
          <p:cNvPr id="19" name="TextBox 18"/>
          <p:cNvSpPr txBox="1"/>
          <p:nvPr/>
        </p:nvSpPr>
        <p:spPr>
          <a:xfrm>
            <a:off x="685800" y="3218688"/>
            <a:ext cx="3337560" cy="18105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Kein überfälliger Posten bleibt unbeachtet</a:t>
            </a:r>
          </a:p>
          <a:p>
            <a:pPr marL="201168" indent="-201168">
              <a:spcAft>
                <a:spcPts val="300"/>
              </a:spcAft>
              <a:buChar char="•"/>
            </a:pPr>
            <a:r>
              <a:rPr sz="1200" b="0" i="0">
                <a:solidFill>
                  <a:srgbClr val="1F2933"/>
                </a:solidFill>
                <a:latin typeface="Calibri"/>
              </a:rPr>
              <a:t>Mahnverfahren je Kunde, Stufen, Fristen</a:t>
            </a:r>
          </a:p>
          <a:p>
            <a:pPr marL="201168" indent="-201168">
              <a:spcAft>
                <a:spcPts val="300"/>
              </a:spcAft>
              <a:buChar char="•"/>
            </a:pPr>
            <a:r>
              <a:rPr sz="1200" b="0" i="0">
                <a:solidFill>
                  <a:srgbClr val="1F2933"/>
                </a:solidFill>
                <a:latin typeface="Calibri"/>
              </a:rPr>
              <a:t>Dokumentiert Verzug, rechtliche Basis</a:t>
            </a:r>
          </a:p>
          <a:p>
            <a:pPr marL="201168" indent="-201168">
              <a:spcAft>
                <a:spcPts val="300"/>
              </a:spcAft>
              <a:buChar char="•"/>
            </a:pPr>
            <a:r>
              <a:rPr sz="1200" b="0" i="0">
                <a:solidFill>
                  <a:srgbClr val="1F2933"/>
                </a:solidFill>
                <a:latin typeface="Calibri"/>
              </a:rPr>
              <a:t>Weiß nichts über den Grund der Nichtzahlung</a:t>
            </a:r>
          </a:p>
        </p:txBody>
      </p:sp>
      <p:sp>
        <p:nvSpPr>
          <p:cNvPr id="20" name="Rounded Rectangle 19"/>
          <p:cNvSpPr/>
          <p:nvPr/>
        </p:nvSpPr>
        <p:spPr>
          <a:xfrm>
            <a:off x="4343400" y="2697480"/>
            <a:ext cx="3611880" cy="2468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480560" y="2834640"/>
            <a:ext cx="3337560" cy="365760"/>
          </a:xfrm>
          <a:prstGeom prst="rect">
            <a:avLst/>
          </a:prstGeom>
          <a:noFill/>
        </p:spPr>
        <p:txBody>
          <a:bodyPr wrap="square" anchor="ctr" lIns="45720" rIns="45720">
            <a:spAutoFit/>
          </a:bodyPr>
          <a:lstStyle/>
          <a:p>
            <a:pPr algn="l"/>
            <a:r>
              <a:rPr sz="1400" b="1" i="0">
                <a:solidFill>
                  <a:srgbClr val="1C4E80"/>
                </a:solidFill>
                <a:latin typeface="Calibri"/>
              </a:rPr>
              <a:t>Collections: gesteuerter Kontakt</a:t>
            </a:r>
          </a:p>
        </p:txBody>
      </p:sp>
      <p:sp>
        <p:nvSpPr>
          <p:cNvPr id="22" name="TextBox 21"/>
          <p:cNvSpPr txBox="1"/>
          <p:nvPr/>
        </p:nvSpPr>
        <p:spPr>
          <a:xfrm>
            <a:off x="4480560" y="3218688"/>
            <a:ext cx="3337560" cy="18105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Wen kontaktiert das Team heute mit größter Wirkung?</a:t>
            </a:r>
          </a:p>
          <a:p>
            <a:pPr marL="201168" indent="-201168">
              <a:spcAft>
                <a:spcPts val="300"/>
              </a:spcAft>
              <a:buChar char="•"/>
            </a:pPr>
            <a:r>
              <a:rPr sz="1200" b="0" i="0">
                <a:solidFill>
                  <a:srgbClr val="1F2933"/>
                </a:solidFill>
                <a:latin typeface="Calibri"/>
              </a:rPr>
              <a:t>Strategie bewertet, Worklist priorisiert</a:t>
            </a:r>
          </a:p>
          <a:p>
            <a:pPr marL="201168" indent="-201168">
              <a:spcAft>
                <a:spcPts val="300"/>
              </a:spcAft>
              <a:buChar char="•"/>
            </a:pPr>
            <a:r>
              <a:rPr sz="1200" b="0" i="0">
                <a:solidFill>
                  <a:srgbClr val="1F2933"/>
                </a:solidFill>
                <a:latin typeface="Calibri"/>
              </a:rPr>
              <a:t>Ergebnis als Objekt: Versprechen, Wiedervorlage, Dispute</a:t>
            </a:r>
          </a:p>
          <a:p>
            <a:pPr marL="201168" indent="-201168">
              <a:spcAft>
                <a:spcPts val="300"/>
              </a:spcAft>
              <a:buChar char="•"/>
            </a:pPr>
            <a:r>
              <a:rPr sz="1200" b="0" i="0">
                <a:solidFill>
                  <a:srgbClr val="1F2933"/>
                </a:solidFill>
                <a:latin typeface="Calibri"/>
              </a:rPr>
              <a:t>Versprechen werden automatisch nachgehalten</a:t>
            </a:r>
          </a:p>
        </p:txBody>
      </p:sp>
      <p:sp>
        <p:nvSpPr>
          <p:cNvPr id="23" name="Rounded Rectangle 22"/>
          <p:cNvSpPr/>
          <p:nvPr/>
        </p:nvSpPr>
        <p:spPr>
          <a:xfrm>
            <a:off x="8138160" y="2697480"/>
            <a:ext cx="3611880" cy="2468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75320" y="2834640"/>
            <a:ext cx="3337560" cy="365760"/>
          </a:xfrm>
          <a:prstGeom prst="rect">
            <a:avLst/>
          </a:prstGeom>
          <a:noFill/>
        </p:spPr>
        <p:txBody>
          <a:bodyPr wrap="square" anchor="ctr" lIns="45720" rIns="45720">
            <a:spAutoFit/>
          </a:bodyPr>
          <a:lstStyle/>
          <a:p>
            <a:pPr algn="l"/>
            <a:r>
              <a:rPr sz="1400" b="1" i="0">
                <a:solidFill>
                  <a:srgbClr val="1C4E80"/>
                </a:solidFill>
                <a:latin typeface="Calibri"/>
              </a:rPr>
              <a:t>Dispute: Streitfall klären</a:t>
            </a:r>
          </a:p>
        </p:txBody>
      </p:sp>
      <p:sp>
        <p:nvSpPr>
          <p:cNvPr id="25" name="TextBox 24"/>
          <p:cNvSpPr txBox="1"/>
          <p:nvPr/>
        </p:nvSpPr>
        <p:spPr>
          <a:xfrm>
            <a:off x="8275320" y="3218688"/>
            <a:ext cx="3337560" cy="18105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Kunde bestreitet oder kürzt die Rechnung</a:t>
            </a:r>
          </a:p>
          <a:p>
            <a:pPr marL="201168" indent="-201168">
              <a:spcAft>
                <a:spcPts val="300"/>
              </a:spcAft>
              <a:buChar char="•"/>
            </a:pPr>
            <a:r>
              <a:rPr sz="1200" b="0" i="0">
                <a:solidFill>
                  <a:srgbClr val="1F2933"/>
                </a:solidFill>
                <a:latin typeface="Calibri"/>
              </a:rPr>
              <a:t>Ein Fall, ein Verantwortlicher, alle Belege</a:t>
            </a:r>
          </a:p>
          <a:p>
            <a:pPr marL="201168" indent="-201168">
              <a:spcAft>
                <a:spcPts val="300"/>
              </a:spcAft>
              <a:buChar char="•"/>
            </a:pPr>
            <a:r>
              <a:rPr sz="1200" b="0" i="0">
                <a:solidFill>
                  <a:srgbClr val="1F2933"/>
                </a:solidFill>
                <a:latin typeface="Calibri"/>
              </a:rPr>
              <a:t>Entscheidung: berechtigt, nicht berechtigt, Abschreibung</a:t>
            </a:r>
          </a:p>
          <a:p>
            <a:pPr marL="201168" indent="-201168">
              <a:spcAft>
                <a:spcPts val="300"/>
              </a:spcAft>
              <a:buChar char="•"/>
            </a:pPr>
            <a:r>
              <a:rPr sz="1200" b="0" i="0">
                <a:solidFill>
                  <a:srgbClr val="1F2933"/>
                </a:solidFill>
                <a:latin typeface="Calibri"/>
              </a:rPr>
              <a:t>Auswertung nach Grund zeigt eigene Fehler</a:t>
            </a:r>
          </a:p>
        </p:txBody>
      </p:sp>
      <p:sp>
        <p:nvSpPr>
          <p:cNvPr id="26" name="TextBox 25"/>
          <p:cNvSpPr txBox="1"/>
          <p:nvPr/>
        </p:nvSpPr>
        <p:spPr>
          <a:xfrm>
            <a:off x="548640" y="5349240"/>
            <a:ext cx="11094415" cy="548640"/>
          </a:xfrm>
          <a:prstGeom prst="rect">
            <a:avLst/>
          </a:prstGeom>
          <a:noFill/>
        </p:spPr>
        <p:txBody>
          <a:bodyPr wrap="square" anchor="t" lIns="45720" rIns="45720">
            <a:spAutoFit/>
          </a:bodyPr>
          <a:lstStyle/>
          <a:p>
            <a:pPr algn="l"/>
            <a:r>
              <a:rPr sz="1200" b="1" i="0">
                <a:solidFill>
                  <a:srgbClr val="0F8B8D"/>
                </a:solidFill>
                <a:latin typeface="Calibri"/>
              </a:rPr>
              <a:t>Integration: Offener Dispute Case oder laufendes Zahlungsversprechen sperrt den Posten für den Mahnlauf. Deshalb laufen alle drei Prozesse im selben System.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A1  FACHLICHER KONTEXT</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Warum Mahnen allein nicht reicht</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A  Automatisierter Collections-Workflow</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4</a:t>
            </a:r>
          </a:p>
        </p:txBody>
      </p:sp>
      <p:sp>
        <p:nvSpPr>
          <p:cNvPr id="6" name="Rounded Rectangle 5"/>
          <p:cNvSpPr/>
          <p:nvPr/>
        </p:nvSpPr>
        <p:spPr>
          <a:xfrm>
            <a:off x="548640" y="1554480"/>
            <a:ext cx="3515258" cy="301752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1691640"/>
            <a:ext cx="3149498" cy="457200"/>
          </a:xfrm>
          <a:prstGeom prst="rect">
            <a:avLst/>
          </a:prstGeom>
          <a:noFill/>
        </p:spPr>
        <p:txBody>
          <a:bodyPr wrap="square" anchor="t" lIns="45720" rIns="45720">
            <a:spAutoFit/>
          </a:bodyPr>
          <a:lstStyle/>
          <a:p>
            <a:pPr algn="l"/>
            <a:r>
              <a:rPr sz="1100" b="1" i="0">
                <a:solidFill>
                  <a:srgbClr val="0F8B8D"/>
                </a:solidFill>
                <a:latin typeface="Calibri"/>
              </a:rPr>
              <a:t>Ursache 1</a:t>
            </a:r>
          </a:p>
        </p:txBody>
      </p:sp>
      <p:sp>
        <p:nvSpPr>
          <p:cNvPr id="8" name="TextBox 7"/>
          <p:cNvSpPr txBox="1"/>
          <p:nvPr/>
        </p:nvSpPr>
        <p:spPr>
          <a:xfrm>
            <a:off x="731520" y="2011680"/>
            <a:ext cx="3149498" cy="731520"/>
          </a:xfrm>
          <a:prstGeom prst="rect">
            <a:avLst/>
          </a:prstGeom>
          <a:noFill/>
        </p:spPr>
        <p:txBody>
          <a:bodyPr wrap="square" anchor="t" lIns="45720" rIns="45720">
            <a:spAutoFit/>
          </a:bodyPr>
          <a:lstStyle/>
          <a:p>
            <a:pPr algn="l"/>
            <a:r>
              <a:rPr sz="1700" b="1" i="0">
                <a:solidFill>
                  <a:srgbClr val="1C4E80"/>
                </a:solidFill>
                <a:latin typeface="Calibri"/>
              </a:rPr>
              <a:t>Vergessen oder Prozessfehler</a:t>
            </a:r>
          </a:p>
        </p:txBody>
      </p:sp>
      <p:sp>
        <p:nvSpPr>
          <p:cNvPr id="9" name="TextBox 8"/>
          <p:cNvSpPr txBox="1"/>
          <p:nvPr/>
        </p:nvSpPr>
        <p:spPr>
          <a:xfrm>
            <a:off x="731520" y="2743200"/>
            <a:ext cx="3149498" cy="914400"/>
          </a:xfrm>
          <a:prstGeom prst="rect">
            <a:avLst/>
          </a:prstGeom>
          <a:noFill/>
        </p:spPr>
        <p:txBody>
          <a:bodyPr wrap="square" anchor="t" lIns="45720" rIns="45720">
            <a:spAutoFit/>
          </a:bodyPr>
          <a:lstStyle/>
          <a:p>
            <a:pPr algn="l"/>
            <a:r>
              <a:rPr sz="1200" b="0" i="0">
                <a:solidFill>
                  <a:srgbClr val="1F2933"/>
                </a:solidFill>
                <a:latin typeface="Calibri"/>
              </a:rPr>
              <a:t>Rechnung nicht angekommen, nicht freigegeben, falsche Adresse.</a:t>
            </a:r>
          </a:p>
        </p:txBody>
      </p:sp>
      <p:sp>
        <p:nvSpPr>
          <p:cNvPr id="10" name="TextBox 9"/>
          <p:cNvSpPr txBox="1"/>
          <p:nvPr/>
        </p:nvSpPr>
        <p:spPr>
          <a:xfrm>
            <a:off x="731520" y="3611880"/>
            <a:ext cx="3149498" cy="411480"/>
          </a:xfrm>
          <a:prstGeom prst="rect">
            <a:avLst/>
          </a:prstGeom>
          <a:noFill/>
        </p:spPr>
        <p:txBody>
          <a:bodyPr wrap="square" anchor="t" lIns="45720" rIns="45720">
            <a:spAutoFit/>
          </a:bodyPr>
          <a:lstStyle/>
          <a:p>
            <a:pPr algn="l"/>
            <a:r>
              <a:rPr sz="1200" b="0" i="1">
                <a:solidFill>
                  <a:srgbClr val="5F6B7A"/>
                </a:solidFill>
                <a:latin typeface="Calibri"/>
              </a:rPr>
              <a:t>Reaktion: Erinnerung</a:t>
            </a:r>
          </a:p>
        </p:txBody>
      </p:sp>
      <p:sp>
        <p:nvSpPr>
          <p:cNvPr id="11" name="Rounded Rectangle 10"/>
          <p:cNvSpPr/>
          <p:nvPr/>
        </p:nvSpPr>
        <p:spPr>
          <a:xfrm>
            <a:off x="731520" y="4023360"/>
            <a:ext cx="3149498" cy="41148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Mahnwesen</a:t>
            </a:r>
          </a:p>
        </p:txBody>
      </p:sp>
      <p:sp>
        <p:nvSpPr>
          <p:cNvPr id="12" name="Rounded Rectangle 11"/>
          <p:cNvSpPr/>
          <p:nvPr/>
        </p:nvSpPr>
        <p:spPr>
          <a:xfrm>
            <a:off x="4338218" y="1554480"/>
            <a:ext cx="3515258" cy="301752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21098" y="1691640"/>
            <a:ext cx="3149498" cy="457200"/>
          </a:xfrm>
          <a:prstGeom prst="rect">
            <a:avLst/>
          </a:prstGeom>
          <a:noFill/>
        </p:spPr>
        <p:txBody>
          <a:bodyPr wrap="square" anchor="t" lIns="45720" rIns="45720">
            <a:spAutoFit/>
          </a:bodyPr>
          <a:lstStyle/>
          <a:p>
            <a:pPr algn="l"/>
            <a:r>
              <a:rPr sz="1100" b="1" i="0">
                <a:solidFill>
                  <a:srgbClr val="0F8B8D"/>
                </a:solidFill>
                <a:latin typeface="Calibri"/>
              </a:rPr>
              <a:t>Ursache 2</a:t>
            </a:r>
          </a:p>
        </p:txBody>
      </p:sp>
      <p:sp>
        <p:nvSpPr>
          <p:cNvPr id="14" name="TextBox 13"/>
          <p:cNvSpPr txBox="1"/>
          <p:nvPr/>
        </p:nvSpPr>
        <p:spPr>
          <a:xfrm>
            <a:off x="4521098" y="2011680"/>
            <a:ext cx="3149498" cy="731520"/>
          </a:xfrm>
          <a:prstGeom prst="rect">
            <a:avLst/>
          </a:prstGeom>
          <a:noFill/>
        </p:spPr>
        <p:txBody>
          <a:bodyPr wrap="square" anchor="t" lIns="45720" rIns="45720">
            <a:spAutoFit/>
          </a:bodyPr>
          <a:lstStyle/>
          <a:p>
            <a:pPr algn="l"/>
            <a:r>
              <a:rPr sz="1700" b="1" i="0">
                <a:solidFill>
                  <a:srgbClr val="1C4E80"/>
                </a:solidFill>
                <a:latin typeface="Calibri"/>
              </a:rPr>
              <a:t>Zahlungsunwillig oder illiquide</a:t>
            </a:r>
          </a:p>
        </p:txBody>
      </p:sp>
      <p:sp>
        <p:nvSpPr>
          <p:cNvPr id="15" name="TextBox 14"/>
          <p:cNvSpPr txBox="1"/>
          <p:nvPr/>
        </p:nvSpPr>
        <p:spPr>
          <a:xfrm>
            <a:off x="4521098" y="2743200"/>
            <a:ext cx="3149498" cy="914400"/>
          </a:xfrm>
          <a:prstGeom prst="rect">
            <a:avLst/>
          </a:prstGeom>
          <a:noFill/>
        </p:spPr>
        <p:txBody>
          <a:bodyPr wrap="square" anchor="t" lIns="45720" rIns="45720">
            <a:spAutoFit/>
          </a:bodyPr>
          <a:lstStyle/>
          <a:p>
            <a:pPr algn="l"/>
            <a:r>
              <a:rPr sz="1200" b="0" i="0">
                <a:solidFill>
                  <a:srgbClr val="1F2933"/>
                </a:solidFill>
                <a:latin typeface="Calibri"/>
              </a:rPr>
              <a:t>Kunde zögert bewusst hinaus oder kann nicht zahlen.</a:t>
            </a:r>
          </a:p>
        </p:txBody>
      </p:sp>
      <p:sp>
        <p:nvSpPr>
          <p:cNvPr id="16" name="TextBox 15"/>
          <p:cNvSpPr txBox="1"/>
          <p:nvPr/>
        </p:nvSpPr>
        <p:spPr>
          <a:xfrm>
            <a:off x="4521098" y="3611880"/>
            <a:ext cx="3149498" cy="411480"/>
          </a:xfrm>
          <a:prstGeom prst="rect">
            <a:avLst/>
          </a:prstGeom>
          <a:noFill/>
        </p:spPr>
        <p:txBody>
          <a:bodyPr wrap="square" anchor="t" lIns="45720" rIns="45720">
            <a:spAutoFit/>
          </a:bodyPr>
          <a:lstStyle/>
          <a:p>
            <a:pPr algn="l"/>
            <a:r>
              <a:rPr sz="1200" b="0" i="1">
                <a:solidFill>
                  <a:srgbClr val="5F6B7A"/>
                </a:solidFill>
                <a:latin typeface="Calibri"/>
              </a:rPr>
              <a:t>Reaktion: Gespräch, Zusage, Risikoeinschätzung</a:t>
            </a:r>
          </a:p>
        </p:txBody>
      </p:sp>
      <p:sp>
        <p:nvSpPr>
          <p:cNvPr id="17" name="Rounded Rectangle 16"/>
          <p:cNvSpPr/>
          <p:nvPr/>
        </p:nvSpPr>
        <p:spPr>
          <a:xfrm>
            <a:off x="4521098" y="4023360"/>
            <a:ext cx="3149498" cy="41148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Collections Management</a:t>
            </a:r>
          </a:p>
        </p:txBody>
      </p:sp>
      <p:sp>
        <p:nvSpPr>
          <p:cNvPr id="18" name="Rounded Rectangle 17"/>
          <p:cNvSpPr/>
          <p:nvPr/>
        </p:nvSpPr>
        <p:spPr>
          <a:xfrm>
            <a:off x="8127796" y="1554480"/>
            <a:ext cx="3515258" cy="301752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310676" y="1691640"/>
            <a:ext cx="3149498" cy="457200"/>
          </a:xfrm>
          <a:prstGeom prst="rect">
            <a:avLst/>
          </a:prstGeom>
          <a:noFill/>
        </p:spPr>
        <p:txBody>
          <a:bodyPr wrap="square" anchor="t" lIns="45720" rIns="45720">
            <a:spAutoFit/>
          </a:bodyPr>
          <a:lstStyle/>
          <a:p>
            <a:pPr algn="l"/>
            <a:r>
              <a:rPr sz="1100" b="1" i="0">
                <a:solidFill>
                  <a:srgbClr val="0F8B8D"/>
                </a:solidFill>
                <a:latin typeface="Calibri"/>
              </a:rPr>
              <a:t>Ursache 3</a:t>
            </a:r>
          </a:p>
        </p:txBody>
      </p:sp>
      <p:sp>
        <p:nvSpPr>
          <p:cNvPr id="20" name="TextBox 19"/>
          <p:cNvSpPr txBox="1"/>
          <p:nvPr/>
        </p:nvSpPr>
        <p:spPr>
          <a:xfrm>
            <a:off x="8310676" y="2011680"/>
            <a:ext cx="3149498" cy="731520"/>
          </a:xfrm>
          <a:prstGeom prst="rect">
            <a:avLst/>
          </a:prstGeom>
          <a:noFill/>
        </p:spPr>
        <p:txBody>
          <a:bodyPr wrap="square" anchor="t" lIns="45720" rIns="45720">
            <a:spAutoFit/>
          </a:bodyPr>
          <a:lstStyle/>
          <a:p>
            <a:pPr algn="l"/>
            <a:r>
              <a:rPr sz="1700" b="1" i="0">
                <a:solidFill>
                  <a:srgbClr val="1C4E80"/>
                </a:solidFill>
                <a:latin typeface="Calibri"/>
              </a:rPr>
              <a:t>Einwand gegen die Rechnung</a:t>
            </a:r>
          </a:p>
        </p:txBody>
      </p:sp>
      <p:sp>
        <p:nvSpPr>
          <p:cNvPr id="21" name="TextBox 20"/>
          <p:cNvSpPr txBox="1"/>
          <p:nvPr/>
        </p:nvSpPr>
        <p:spPr>
          <a:xfrm>
            <a:off x="8310676" y="2743200"/>
            <a:ext cx="3149498" cy="914400"/>
          </a:xfrm>
          <a:prstGeom prst="rect">
            <a:avLst/>
          </a:prstGeom>
          <a:noFill/>
        </p:spPr>
        <p:txBody>
          <a:bodyPr wrap="square" anchor="t" lIns="45720" rIns="45720">
            <a:spAutoFit/>
          </a:bodyPr>
          <a:lstStyle/>
          <a:p>
            <a:pPr algn="l"/>
            <a:r>
              <a:rPr sz="1200" b="0" i="0">
                <a:solidFill>
                  <a:srgbClr val="1F2933"/>
                </a:solidFill>
                <a:latin typeface="Calibri"/>
              </a:rPr>
              <a:t>Preis, Menge, Qualität, Leistung, fehlende Gutschrift. Kunde zahlt nicht oder kürzt.</a:t>
            </a:r>
          </a:p>
        </p:txBody>
      </p:sp>
      <p:sp>
        <p:nvSpPr>
          <p:cNvPr id="22" name="TextBox 21"/>
          <p:cNvSpPr txBox="1"/>
          <p:nvPr/>
        </p:nvSpPr>
        <p:spPr>
          <a:xfrm>
            <a:off x="8310676" y="3611880"/>
            <a:ext cx="3149498" cy="411480"/>
          </a:xfrm>
          <a:prstGeom prst="rect">
            <a:avLst/>
          </a:prstGeom>
          <a:noFill/>
        </p:spPr>
        <p:txBody>
          <a:bodyPr wrap="square" anchor="t" lIns="45720" rIns="45720">
            <a:spAutoFit/>
          </a:bodyPr>
          <a:lstStyle/>
          <a:p>
            <a:pPr algn="l"/>
            <a:r>
              <a:rPr sz="1200" b="0" i="1">
                <a:solidFill>
                  <a:srgbClr val="5F6B7A"/>
                </a:solidFill>
                <a:latin typeface="Calibri"/>
              </a:rPr>
              <a:t>Reaktion: interne Klärung, Entscheidung</a:t>
            </a:r>
          </a:p>
        </p:txBody>
      </p:sp>
      <p:sp>
        <p:nvSpPr>
          <p:cNvPr id="23" name="Rounded Rectangle 22"/>
          <p:cNvSpPr/>
          <p:nvPr/>
        </p:nvSpPr>
        <p:spPr>
          <a:xfrm>
            <a:off x="8310676" y="4023360"/>
            <a:ext cx="3149498" cy="41148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Dispute Management</a:t>
            </a:r>
          </a:p>
        </p:txBody>
      </p:sp>
      <p:sp>
        <p:nvSpPr>
          <p:cNvPr id="24" name="Rounded Rectangle 23"/>
          <p:cNvSpPr/>
          <p:nvPr/>
        </p:nvSpPr>
        <p:spPr>
          <a:xfrm>
            <a:off x="548640" y="4800600"/>
            <a:ext cx="11094415" cy="100584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7240" y="4864608"/>
            <a:ext cx="10637215" cy="914400"/>
          </a:xfrm>
          <a:prstGeom prst="rect">
            <a:avLst/>
          </a:prstGeom>
          <a:noFill/>
        </p:spPr>
        <p:txBody>
          <a:bodyPr wrap="square" anchor="ctr" lIns="45720" rIns="45720">
            <a:spAutoFit/>
          </a:bodyPr>
          <a:lstStyle/>
          <a:p>
            <a:pPr algn="l"/>
            <a:r>
              <a:rPr sz="1200" b="0" i="0">
                <a:solidFill>
                  <a:srgbClr val="1F2933"/>
                </a:solidFill>
                <a:latin typeface="Calibri"/>
              </a:rPr>
              <a:t>Nutzen von Collections Management: Das Team spricht jeden Tag mit den Kunden, bei denen es am meisten bringt. Die Reihenfolge ist berechnet, nicht gefühlt.</a:t>
            </a:r>
          </a:p>
          <a:p>
            <a:pPr algn="l"/>
            <a:r>
              <a:rPr sz="1200" b="0" i="0">
                <a:solidFill>
                  <a:srgbClr val="1F2933"/>
                </a:solidFill>
                <a:latin typeface="Calibri"/>
              </a:rPr>
              <a:t>Kennzahlen: DSO, überfälliges Volumen je Altersklasse, Quote eingehaltener Zahlungsversprechen, Collection Effectiveness.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A2  PROZESSABLAUF</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Der automatisierte Workflow in sieben Schritten</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A  Automatisierter Collections-Workflow</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5</a:t>
            </a:r>
          </a:p>
        </p:txBody>
      </p:sp>
      <p:sp>
        <p:nvSpPr>
          <p:cNvPr id="6" name="Rounded Rectangle 5"/>
          <p:cNvSpPr/>
          <p:nvPr/>
        </p:nvSpPr>
        <p:spPr>
          <a:xfrm>
            <a:off x="548640" y="1554480"/>
            <a:ext cx="1443837" cy="91440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1 Übernahme</a:t>
            </a:r>
          </a:p>
          <a:p>
            <a:pPr algn="ctr"/>
            <a:r>
              <a:rPr sz="900" b="0" i="0">
                <a:solidFill>
                  <a:srgbClr val="FFFFFF"/>
                </a:solidFill>
                <a:latin typeface="Calibri"/>
              </a:rPr>
              <a:t>FI-AR-Posten nach Collections</a:t>
            </a:r>
          </a:p>
        </p:txBody>
      </p:sp>
      <p:sp>
        <p:nvSpPr>
          <p:cNvPr id="7" name="Right Arrow 6"/>
          <p:cNvSpPr/>
          <p:nvPr/>
        </p:nvSpPr>
        <p:spPr>
          <a:xfrm>
            <a:off x="2010765" y="192024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157069" y="1554480"/>
            <a:ext cx="1443837" cy="91440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2 Bewertung</a:t>
            </a:r>
          </a:p>
          <a:p>
            <a:pPr algn="ctr"/>
            <a:r>
              <a:rPr sz="900" b="0" i="0">
                <a:solidFill>
                  <a:srgbClr val="FFFFFF"/>
                </a:solidFill>
                <a:latin typeface="Calibri"/>
              </a:rPr>
              <a:t>Regeln der Strategie</a:t>
            </a:r>
          </a:p>
        </p:txBody>
      </p:sp>
      <p:sp>
        <p:nvSpPr>
          <p:cNvPr id="9" name="Right Arrow 8"/>
          <p:cNvSpPr/>
          <p:nvPr/>
        </p:nvSpPr>
        <p:spPr>
          <a:xfrm>
            <a:off x="3619194" y="192024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765498" y="1554480"/>
            <a:ext cx="1443837" cy="91440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3 Priorisierung</a:t>
            </a:r>
          </a:p>
          <a:p>
            <a:pPr algn="ctr"/>
            <a:r>
              <a:rPr sz="900" b="0" i="0">
                <a:solidFill>
                  <a:srgbClr val="FFFFFF"/>
                </a:solidFill>
                <a:latin typeface="Calibri"/>
              </a:rPr>
              <a:t>Punkte → Priorität</a:t>
            </a:r>
          </a:p>
        </p:txBody>
      </p:sp>
      <p:sp>
        <p:nvSpPr>
          <p:cNvPr id="11" name="Right Arrow 10"/>
          <p:cNvSpPr/>
          <p:nvPr/>
        </p:nvSpPr>
        <p:spPr>
          <a:xfrm>
            <a:off x="5227623" y="192024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373927" y="1554480"/>
            <a:ext cx="1443837" cy="91440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4 Worklist</a:t>
            </a:r>
          </a:p>
          <a:p>
            <a:pPr algn="ctr"/>
            <a:r>
              <a:rPr sz="900" b="0" i="0">
                <a:solidFill>
                  <a:srgbClr val="FFFFFF"/>
                </a:solidFill>
                <a:latin typeface="Calibri"/>
              </a:rPr>
              <a:t>je Spezialist, sortiert</a:t>
            </a:r>
          </a:p>
        </p:txBody>
      </p:sp>
      <p:sp>
        <p:nvSpPr>
          <p:cNvPr id="13" name="Right Arrow 12"/>
          <p:cNvSpPr/>
          <p:nvPr/>
        </p:nvSpPr>
        <p:spPr>
          <a:xfrm>
            <a:off x="6836052" y="192024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982356" y="1554480"/>
            <a:ext cx="1443837" cy="91440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5 Kontakt</a:t>
            </a:r>
          </a:p>
          <a:p>
            <a:pPr algn="ctr"/>
            <a:r>
              <a:rPr sz="900" b="0" i="0">
                <a:solidFill>
                  <a:srgbClr val="FFFFFF"/>
                </a:solidFill>
                <a:latin typeface="Calibri"/>
              </a:rPr>
              <a:t>Anruf, E-Mail</a:t>
            </a:r>
          </a:p>
        </p:txBody>
      </p:sp>
      <p:sp>
        <p:nvSpPr>
          <p:cNvPr id="15" name="Right Arrow 14"/>
          <p:cNvSpPr/>
          <p:nvPr/>
        </p:nvSpPr>
        <p:spPr>
          <a:xfrm>
            <a:off x="8444481" y="192024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590785" y="1554480"/>
            <a:ext cx="1443837" cy="91440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6 Nachhalten</a:t>
            </a:r>
          </a:p>
          <a:p>
            <a:pPr algn="ctr"/>
            <a:r>
              <a:rPr sz="900" b="0" i="0">
                <a:solidFill>
                  <a:srgbClr val="FFFFFF"/>
                </a:solidFill>
                <a:latin typeface="Calibri"/>
              </a:rPr>
              <a:t>Versprechen kept / broken</a:t>
            </a:r>
          </a:p>
        </p:txBody>
      </p:sp>
      <p:sp>
        <p:nvSpPr>
          <p:cNvPr id="17" name="Right Arrow 16"/>
          <p:cNvSpPr/>
          <p:nvPr/>
        </p:nvSpPr>
        <p:spPr>
          <a:xfrm>
            <a:off x="10052910" y="192024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99214" y="1554480"/>
            <a:ext cx="1443837" cy="91440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7 Steuerung</a:t>
            </a:r>
          </a:p>
          <a:p>
            <a:pPr algn="ctr"/>
            <a:r>
              <a:rPr sz="900" b="0" i="0">
                <a:solidFill>
                  <a:srgbClr val="FFFFFF"/>
                </a:solidFill>
                <a:latin typeface="Calibri"/>
              </a:rPr>
              <a:t>Reporting Manager</a:t>
            </a:r>
          </a:p>
        </p:txBody>
      </p:sp>
      <p:sp>
        <p:nvSpPr>
          <p:cNvPr id="19" name="TextBox 18"/>
          <p:cNvSpPr txBox="1"/>
          <p:nvPr/>
        </p:nvSpPr>
        <p:spPr>
          <a:xfrm>
            <a:off x="548640" y="2514600"/>
            <a:ext cx="4572000" cy="274320"/>
          </a:xfrm>
          <a:prstGeom prst="rect">
            <a:avLst/>
          </a:prstGeom>
          <a:noFill/>
        </p:spPr>
        <p:txBody>
          <a:bodyPr wrap="square" anchor="t" lIns="45720" rIns="45720">
            <a:spAutoFit/>
          </a:bodyPr>
          <a:lstStyle/>
          <a:p>
            <a:pPr algn="l"/>
            <a:r>
              <a:rPr sz="1000" b="0" i="1">
                <a:solidFill>
                  <a:srgbClr val="5F6B7A"/>
                </a:solidFill>
                <a:latin typeface="Calibri"/>
              </a:rPr>
              <a:t>automatisch, täglicher Job</a:t>
            </a:r>
          </a:p>
        </p:txBody>
      </p:sp>
      <p:sp>
        <p:nvSpPr>
          <p:cNvPr id="20" name="TextBox 19"/>
          <p:cNvSpPr txBox="1"/>
          <p:nvPr/>
        </p:nvSpPr>
        <p:spPr>
          <a:xfrm>
            <a:off x="5303520" y="2514600"/>
            <a:ext cx="3657600" cy="274320"/>
          </a:xfrm>
          <a:prstGeom prst="rect">
            <a:avLst/>
          </a:prstGeom>
          <a:noFill/>
        </p:spPr>
        <p:txBody>
          <a:bodyPr wrap="square" anchor="t" lIns="45720" rIns="45720">
            <a:spAutoFit/>
          </a:bodyPr>
          <a:lstStyle/>
          <a:p>
            <a:pPr algn="l"/>
            <a:r>
              <a:rPr sz="1000" b="0" i="1">
                <a:solidFill>
                  <a:srgbClr val="5F6B7A"/>
                </a:solidFill>
                <a:latin typeface="Calibri"/>
              </a:rPr>
              <a:t>Spezialist</a:t>
            </a:r>
          </a:p>
        </p:txBody>
      </p:sp>
      <p:sp>
        <p:nvSpPr>
          <p:cNvPr id="21" name="TextBox 20"/>
          <p:cNvSpPr txBox="1"/>
          <p:nvPr/>
        </p:nvSpPr>
        <p:spPr>
          <a:xfrm>
            <a:off x="9966960" y="2514600"/>
            <a:ext cx="1828800" cy="274320"/>
          </a:xfrm>
          <a:prstGeom prst="rect">
            <a:avLst/>
          </a:prstGeom>
          <a:noFill/>
        </p:spPr>
        <p:txBody>
          <a:bodyPr wrap="square" anchor="t" lIns="45720" rIns="45720">
            <a:spAutoFit/>
          </a:bodyPr>
          <a:lstStyle/>
          <a:p>
            <a:pPr algn="l"/>
            <a:r>
              <a:rPr sz="1000" b="0" i="1">
                <a:solidFill>
                  <a:srgbClr val="5F6B7A"/>
                </a:solidFill>
                <a:latin typeface="Calibri"/>
              </a:rPr>
              <a:t>System / Manager</a:t>
            </a:r>
          </a:p>
        </p:txBody>
      </p:sp>
      <p:sp>
        <p:nvSpPr>
          <p:cNvPr id="22" name="Rounded Rectangle 21"/>
          <p:cNvSpPr/>
          <p:nvPr/>
        </p:nvSpPr>
        <p:spPr>
          <a:xfrm>
            <a:off x="548640" y="2926080"/>
            <a:ext cx="5486400" cy="23774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85800" y="3063240"/>
            <a:ext cx="5212080" cy="365760"/>
          </a:xfrm>
          <a:prstGeom prst="rect">
            <a:avLst/>
          </a:prstGeom>
          <a:noFill/>
        </p:spPr>
        <p:txBody>
          <a:bodyPr wrap="square" anchor="ctr" lIns="45720" rIns="45720">
            <a:spAutoFit/>
          </a:bodyPr>
          <a:lstStyle/>
          <a:p>
            <a:pPr algn="l"/>
            <a:r>
              <a:rPr sz="1400" b="1" i="0">
                <a:solidFill>
                  <a:srgbClr val="1C4E80"/>
                </a:solidFill>
                <a:latin typeface="Calibri"/>
              </a:rPr>
              <a:t>Ergebnisobjekte eines Kundenkontakts</a:t>
            </a:r>
          </a:p>
        </p:txBody>
      </p:sp>
      <p:sp>
        <p:nvSpPr>
          <p:cNvPr id="24" name="TextBox 23"/>
          <p:cNvSpPr txBox="1"/>
          <p:nvPr/>
        </p:nvSpPr>
        <p:spPr>
          <a:xfrm>
            <a:off x="685800" y="3447288"/>
            <a:ext cx="5212080" cy="1719072"/>
          </a:xfrm>
          <a:prstGeom prst="rect">
            <a:avLst/>
          </a:prstGeom>
          <a:noFill/>
        </p:spPr>
        <p:txBody>
          <a:bodyPr wrap="square" lIns="45720" rIns="45720">
            <a:spAutoFit/>
          </a:bodyPr>
          <a:lstStyle/>
          <a:p>
            <a:pPr marL="201168" indent="-201168">
              <a:spcAft>
                <a:spcPts val="300"/>
              </a:spcAft>
              <a:buChar char="•"/>
            </a:pPr>
            <a:r>
              <a:rPr sz="1200" b="1" i="0">
                <a:solidFill>
                  <a:srgbClr val="1F2933"/>
                </a:solidFill>
                <a:latin typeface="Calibri"/>
              </a:rPr>
              <a:t>Zahlungsversprechen: </a:t>
            </a:r>
            <a:r>
              <a:rPr sz="1200" b="0" i="0">
                <a:solidFill>
                  <a:srgbClr val="1F2933"/>
                </a:solidFill>
                <a:latin typeface="Calibri"/>
              </a:rPr>
              <a:t>Betrag und Datum; Posten wird nicht gemahnt; automatisch kept/broken</a:t>
            </a:r>
          </a:p>
          <a:p>
            <a:pPr marL="201168" indent="-201168">
              <a:spcAft>
                <a:spcPts val="300"/>
              </a:spcAft>
              <a:buChar char="•"/>
            </a:pPr>
            <a:r>
              <a:rPr sz="1200" b="1" i="0">
                <a:solidFill>
                  <a:srgbClr val="1F2933"/>
                </a:solidFill>
                <a:latin typeface="Calibri"/>
              </a:rPr>
              <a:t>Wiedervorlage: </a:t>
            </a:r>
            <a:r>
              <a:rPr sz="1200" b="0" i="0">
                <a:solidFill>
                  <a:srgbClr val="1F2933"/>
                </a:solidFill>
                <a:latin typeface="Calibri"/>
              </a:rPr>
              <a:t>Kunde verschwindet bis zum Datum von der Worklist</a:t>
            </a:r>
          </a:p>
          <a:p>
            <a:pPr marL="201168" indent="-201168">
              <a:spcAft>
                <a:spcPts val="300"/>
              </a:spcAft>
              <a:buChar char="•"/>
            </a:pPr>
            <a:r>
              <a:rPr sz="1200" b="1" i="0">
                <a:solidFill>
                  <a:srgbClr val="1F2933"/>
                </a:solidFill>
                <a:latin typeface="Calibri"/>
              </a:rPr>
              <a:t>Dispute Case: </a:t>
            </a:r>
            <a:r>
              <a:rPr sz="1200" b="0" i="0">
                <a:solidFill>
                  <a:srgbClr val="1F2933"/>
                </a:solidFill>
                <a:latin typeface="Calibri"/>
              </a:rPr>
              <a:t>Rechnung wird bestritten; Posten für Mahnlauf gesperrt</a:t>
            </a:r>
          </a:p>
          <a:p>
            <a:pPr marL="201168" indent="-201168">
              <a:spcAft>
                <a:spcPts val="300"/>
              </a:spcAft>
              <a:buChar char="•"/>
            </a:pPr>
            <a:r>
              <a:rPr sz="1200" b="1" i="0">
                <a:solidFill>
                  <a:srgbClr val="1F2933"/>
                </a:solidFill>
                <a:latin typeface="Calibri"/>
              </a:rPr>
              <a:t>Korrespondenz / E-Mail: </a:t>
            </a:r>
            <a:r>
              <a:rPr sz="1200" b="0" i="0">
                <a:solidFill>
                  <a:srgbClr val="1F2933"/>
                </a:solidFill>
                <a:latin typeface="Calibri"/>
              </a:rPr>
              <a:t>Kontoauszug, OP-Liste, Kontaktzusammenfassung</a:t>
            </a:r>
          </a:p>
          <a:p>
            <a:pPr marL="201168" indent="-201168">
              <a:spcAft>
                <a:spcPts val="300"/>
              </a:spcAft>
              <a:buChar char="•"/>
            </a:pPr>
            <a:r>
              <a:rPr sz="1200" b="1" i="0">
                <a:solidFill>
                  <a:srgbClr val="1F2933"/>
                </a:solidFill>
                <a:latin typeface="Calibri"/>
              </a:rPr>
              <a:t>Kontaktnotiz: </a:t>
            </a:r>
            <a:r>
              <a:rPr sz="1200" b="0" i="0">
                <a:solidFill>
                  <a:srgbClr val="1F2933"/>
                </a:solidFill>
                <a:latin typeface="Calibri"/>
              </a:rPr>
              <a:t>Ergebnis, Ansprechpartner, Historie für Vertretung</a:t>
            </a:r>
          </a:p>
        </p:txBody>
      </p:sp>
      <p:sp>
        <p:nvSpPr>
          <p:cNvPr id="25" name="Rounded Rectangle 24"/>
          <p:cNvSpPr/>
          <p:nvPr/>
        </p:nvSpPr>
        <p:spPr>
          <a:xfrm>
            <a:off x="6217920" y="2926080"/>
            <a:ext cx="5394960" cy="237744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355080" y="3063240"/>
            <a:ext cx="5120640" cy="365760"/>
          </a:xfrm>
          <a:prstGeom prst="rect">
            <a:avLst/>
          </a:prstGeom>
          <a:noFill/>
        </p:spPr>
        <p:txBody>
          <a:bodyPr wrap="square" anchor="ctr" lIns="45720" rIns="45720">
            <a:spAutoFit/>
          </a:bodyPr>
          <a:lstStyle/>
          <a:p>
            <a:pPr algn="l"/>
            <a:r>
              <a:rPr sz="1400" b="1" i="0">
                <a:solidFill>
                  <a:srgbClr val="1C4E80"/>
                </a:solidFill>
                <a:latin typeface="Calibri"/>
              </a:rPr>
              <a:t>Was der Kunde im Workshop entscheiden muss</a:t>
            </a:r>
          </a:p>
        </p:txBody>
      </p:sp>
      <p:sp>
        <p:nvSpPr>
          <p:cNvPr id="27" name="TextBox 26"/>
          <p:cNvSpPr txBox="1"/>
          <p:nvPr/>
        </p:nvSpPr>
        <p:spPr>
          <a:xfrm>
            <a:off x="6355080" y="3447288"/>
            <a:ext cx="5120640" cy="171907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Welche Kunden nehmen am Collections-Prozess teil (alle oder nur Risikoklassen)?</a:t>
            </a:r>
          </a:p>
          <a:p>
            <a:pPr marL="201168" indent="-201168">
              <a:spcAft>
                <a:spcPts val="300"/>
              </a:spcAft>
              <a:buChar char="•"/>
            </a:pPr>
            <a:r>
              <a:rPr sz="1200" b="0" i="0">
                <a:solidFill>
                  <a:srgbClr val="1F2933"/>
                </a:solidFill>
                <a:latin typeface="Calibri"/>
              </a:rPr>
              <a:t>Wie ist das Team organisiert: Segmente, Gruppen, Spezialisten, Vertretung?</a:t>
            </a:r>
          </a:p>
          <a:p>
            <a:pPr marL="201168" indent="-201168">
              <a:spcAft>
                <a:spcPts val="300"/>
              </a:spcAft>
              <a:buChar char="•"/>
            </a:pPr>
            <a:r>
              <a:rPr sz="1200" b="0" i="0">
                <a:solidFill>
                  <a:srgbClr val="1F2933"/>
                </a:solidFill>
                <a:latin typeface="Calibri"/>
              </a:rPr>
              <a:t>Welche Kriterien bestimmen heute, wer angerufen wird? (→ Strategie)</a:t>
            </a:r>
          </a:p>
          <a:p>
            <a:pPr marL="201168" indent="-201168">
              <a:spcAft>
                <a:spcPts val="300"/>
              </a:spcAft>
              <a:buChar char="•"/>
            </a:pPr>
            <a:r>
              <a:rPr sz="1200" b="0" i="0">
                <a:solidFill>
                  <a:srgbClr val="1F2933"/>
                </a:solidFill>
                <a:latin typeface="Calibri"/>
              </a:rPr>
              <a:t>Welche Korrespondenz geht raus, in welchen Sprachen, per Mail oder Druck?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A3  ORGANISATION UND STAMMDATEN</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Organisationsmodell: Profil, Segment, Gruppe, Spezialist</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A  Automatisierter Collections-Workflow</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6</a:t>
            </a:r>
          </a:p>
        </p:txBody>
      </p:sp>
      <p:sp>
        <p:nvSpPr>
          <p:cNvPr id="6" name="Rounded Rectangle 5"/>
          <p:cNvSpPr/>
          <p:nvPr/>
        </p:nvSpPr>
        <p:spPr>
          <a:xfrm>
            <a:off x="548640" y="1554480"/>
            <a:ext cx="2377440" cy="64008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Collection Segment</a:t>
            </a:r>
          </a:p>
          <a:p>
            <a:pPr algn="ctr"/>
            <a:r>
              <a:rPr sz="900" b="0" i="0">
                <a:solidFill>
                  <a:srgbClr val="FFFFFF"/>
                </a:solidFill>
                <a:latin typeface="Calibri"/>
              </a:rPr>
              <a:t>Org-Einheit: Buchungskreis, Land, Geschäftsbereich</a:t>
            </a:r>
          </a:p>
        </p:txBody>
      </p:sp>
      <p:sp>
        <p:nvSpPr>
          <p:cNvPr id="7" name="Down Arrow 6"/>
          <p:cNvSpPr/>
          <p:nvPr/>
        </p:nvSpPr>
        <p:spPr>
          <a:xfrm>
            <a:off x="1627632" y="2240280"/>
            <a:ext cx="219456" cy="228600"/>
          </a:xfrm>
          <a:prstGeom prst="down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514600"/>
            <a:ext cx="2377440" cy="64008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Collection Profile</a:t>
            </a:r>
          </a:p>
          <a:p>
            <a:pPr algn="ctr"/>
            <a:r>
              <a:rPr sz="900" b="0" i="0">
                <a:solidFill>
                  <a:srgbClr val="FFFFFF"/>
                </a:solidFill>
                <a:latin typeface="Calibri"/>
              </a:rPr>
              <a:t>Bündel von Segmenten → am Kunden</a:t>
            </a:r>
          </a:p>
        </p:txBody>
      </p:sp>
      <p:sp>
        <p:nvSpPr>
          <p:cNvPr id="9" name="Down Arrow 8"/>
          <p:cNvSpPr/>
          <p:nvPr/>
        </p:nvSpPr>
        <p:spPr>
          <a:xfrm>
            <a:off x="1627632" y="3200400"/>
            <a:ext cx="219456" cy="228600"/>
          </a:xfrm>
          <a:prstGeom prst="down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3474720"/>
            <a:ext cx="2377440" cy="64008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Collection Group</a:t>
            </a:r>
          </a:p>
          <a:p>
            <a:pPr algn="ctr"/>
            <a:r>
              <a:rPr sz="900" b="0" i="0">
                <a:solidFill>
                  <a:srgbClr val="FFFFFF"/>
                </a:solidFill>
                <a:latin typeface="Calibri"/>
              </a:rPr>
              <a:t>Team mit genau einer Strategie</a:t>
            </a:r>
          </a:p>
        </p:txBody>
      </p:sp>
      <p:sp>
        <p:nvSpPr>
          <p:cNvPr id="11" name="Down Arrow 10"/>
          <p:cNvSpPr/>
          <p:nvPr/>
        </p:nvSpPr>
        <p:spPr>
          <a:xfrm>
            <a:off x="1627632" y="4160520"/>
            <a:ext cx="219456" cy="228600"/>
          </a:xfrm>
          <a:prstGeom prst="down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4434840"/>
            <a:ext cx="2377440" cy="64008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Collection Specialist</a:t>
            </a:r>
          </a:p>
          <a:p>
            <a:pPr algn="ctr"/>
            <a:r>
              <a:rPr sz="900" b="0" i="0">
                <a:solidFill>
                  <a:srgbClr val="FFFFFF"/>
                </a:solidFill>
                <a:latin typeface="Calibri"/>
              </a:rPr>
              <a:t>Benutzer, Vertreter möglich</a:t>
            </a:r>
          </a:p>
        </p:txBody>
      </p:sp>
      <p:sp>
        <p:nvSpPr>
          <p:cNvPr id="13" name="Rounded Rectangle 12"/>
          <p:cNvSpPr/>
          <p:nvPr/>
        </p:nvSpPr>
        <p:spPr>
          <a:xfrm>
            <a:off x="3383280" y="3474720"/>
            <a:ext cx="2011680" cy="64008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Collection Strategy</a:t>
            </a:r>
          </a:p>
          <a:p>
            <a:pPr algn="ctr"/>
            <a:r>
              <a:rPr sz="900" b="0" i="0">
                <a:solidFill>
                  <a:srgbClr val="FFFFFF"/>
                </a:solidFill>
                <a:latin typeface="Calibri"/>
              </a:rPr>
              <a:t>Regeln → Punkte → Priorität</a:t>
            </a:r>
          </a:p>
        </p:txBody>
      </p:sp>
      <p:sp>
        <p:nvSpPr>
          <p:cNvPr id="14" name="Right Arrow 13"/>
          <p:cNvSpPr/>
          <p:nvPr/>
        </p:nvSpPr>
        <p:spPr>
          <a:xfrm>
            <a:off x="2980944" y="3703320"/>
            <a:ext cx="365760"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Table 14"/>
          <p:cNvGraphicFramePr>
            <a:graphicFrameLocks noGrp="1"/>
          </p:cNvGraphicFramePr>
          <p:nvPr/>
        </p:nvGraphicFramePr>
        <p:xfrm>
          <a:off x="6035040" y="1554480"/>
          <a:ext cx="5577840" cy="3657600"/>
        </p:xfrm>
        <a:graphic>
          <a:graphicData uri="http://schemas.openxmlformats.org/drawingml/2006/table">
            <a:tbl>
              <a:tblPr firstRow="0" bandRow="0">
                <a:tableStyleId>{5C22544A-7EE6-4342-B048-85BDC9FD1C3A}</a:tableStyleId>
              </a:tblPr>
              <a:tblGrid>
                <a:gridCol w="1920240"/>
                <a:gridCol w="2651760"/>
                <a:gridCol w="1005840"/>
              </a:tblGrid>
              <a:tr h="457200">
                <a:tc>
                  <a:txBody>
                    <a:bodyPr wrap="square"/>
                    <a:lstStyle/>
                    <a:p>
                      <a:r>
                        <a:rPr sz="1000" b="1" i="0">
                          <a:solidFill>
                            <a:srgbClr val="FFFFFF"/>
                          </a:solidFill>
                          <a:latin typeface="Calibri"/>
                        </a:rPr>
                        <a:t>Objekt</a:t>
                      </a:r>
                    </a:p>
                  </a:txBody>
                  <a:tcPr marL="73152" marR="73152" marT="36576" marB="36576" anchor="ctr">
                    <a:solidFill>
                      <a:srgbClr val="1C4E80"/>
                    </a:solidFill>
                  </a:tcPr>
                </a:tc>
                <a:tc>
                  <a:txBody>
                    <a:bodyPr wrap="square"/>
                    <a:lstStyle/>
                    <a:p>
                      <a:r>
                        <a:rPr sz="1000" b="1" i="0">
                          <a:solidFill>
                            <a:srgbClr val="FFFFFF"/>
                          </a:solidFill>
                          <a:latin typeface="Calibri"/>
                        </a:rPr>
                        <a:t>Pflege</a:t>
                      </a:r>
                    </a:p>
                  </a:txBody>
                  <a:tcPr marL="73152" marR="73152" marT="36576" marB="36576" anchor="ctr">
                    <a:solidFill>
                      <a:srgbClr val="1C4E80"/>
                    </a:solidFill>
                  </a:tcPr>
                </a:tc>
                <a:tc>
                  <a:txBody>
                    <a:bodyPr wrap="square"/>
                    <a:lstStyle/>
                    <a:p>
                      <a:r>
                        <a:rPr sz="1000" b="1" i="0">
                          <a:solidFill>
                            <a:srgbClr val="FFFFFF"/>
                          </a:solidFill>
                          <a:latin typeface="Calibri"/>
                        </a:rPr>
                        <a:t>Rolle</a:t>
                      </a:r>
                    </a:p>
                  </a:txBody>
                  <a:tcPr marL="73152" marR="73152" marT="36576" marB="36576" anchor="ctr">
                    <a:solidFill>
                      <a:srgbClr val="1C4E80"/>
                    </a:solidFill>
                  </a:tcPr>
                </a:tc>
              </a:tr>
              <a:tr h="457200">
                <a:tc>
                  <a:txBody>
                    <a:bodyPr wrap="square"/>
                    <a:lstStyle/>
                    <a:p>
                      <a:r>
                        <a:rPr sz="1000" b="1" i="0">
                          <a:solidFill>
                            <a:srgbClr val="1F2933"/>
                          </a:solidFill>
                          <a:latin typeface="Calibri"/>
                        </a:rPr>
                        <a:t>Accounting Clerk / Mahnsachbearbeiter</a:t>
                      </a:r>
                    </a:p>
                  </a:txBody>
                  <a:tcPr marL="73152" marR="73152" marT="36576" marB="36576" anchor="ctr">
                    <a:solidFill>
                      <a:srgbClr val="FFFFFF"/>
                    </a:solidFill>
                  </a:tcPr>
                </a:tc>
                <a:tc>
                  <a:txBody>
                    <a:bodyPr wrap="square"/>
                    <a:lstStyle/>
                    <a:p>
                      <a:r>
                        <a:rPr sz="1000" b="0" i="0">
                          <a:solidFill>
                            <a:srgbClr val="1F2933"/>
                          </a:solidFill>
                          <a:latin typeface="Calibri"/>
                        </a:rPr>
                        <a:t>Define Accounting Clerks (S_ALR_87003335), Kundenstamm Korrespondenz + Mahndaten</a:t>
                      </a:r>
                    </a:p>
                  </a:txBody>
                  <a:tcPr marL="73152" marR="73152" marT="36576" marB="36576" anchor="ctr">
                    <a:solidFill>
                      <a:srgbClr val="FFFFFF"/>
                    </a:solidFill>
                  </a:tcPr>
                </a:tc>
                <a:tc>
                  <a:txBody>
                    <a:bodyPr wrap="square"/>
                    <a:lstStyle/>
                    <a:p>
                      <a:r>
                        <a:rPr sz="1000" b="0" i="0">
                          <a:solidFill>
                            <a:srgbClr val="1F2933"/>
                          </a:solidFill>
                          <a:latin typeface="Calibri"/>
                        </a:rPr>
                        <a:t>AR Manager / Accountant</a:t>
                      </a:r>
                    </a:p>
                  </a:txBody>
                  <a:tcPr marL="73152" marR="73152" marT="36576" marB="36576" anchor="ctr">
                    <a:solidFill>
                      <a:srgbClr val="FFFFFF"/>
                    </a:solidFill>
                  </a:tcPr>
                </a:tc>
              </a:tr>
              <a:tr h="457200">
                <a:tc>
                  <a:txBody>
                    <a:bodyPr wrap="square"/>
                    <a:lstStyle/>
                    <a:p>
                      <a:r>
                        <a:rPr sz="1000" b="1" i="0">
                          <a:solidFill>
                            <a:srgbClr val="1F2933"/>
                          </a:solidFill>
                          <a:latin typeface="Calibri"/>
                        </a:rPr>
                        <a:t>Collection Strategy</a:t>
                      </a:r>
                    </a:p>
                  </a:txBody>
                  <a:tcPr marL="73152" marR="73152" marT="36576" marB="36576" anchor="ctr">
                    <a:solidFill>
                      <a:srgbClr val="EEF3F8"/>
                    </a:solidFill>
                  </a:tcPr>
                </a:tc>
                <a:tc>
                  <a:txBody>
                    <a:bodyPr wrap="square"/>
                    <a:lstStyle/>
                    <a:p>
                      <a:r>
                        <a:rPr sz="1000" b="0" i="0">
                          <a:solidFill>
                            <a:srgbClr val="1F2933"/>
                          </a:solidFill>
                          <a:latin typeface="Calibri"/>
                        </a:rPr>
                        <a:t>Manage Collection Strategies (F2946)</a:t>
                      </a:r>
                    </a:p>
                  </a:txBody>
                  <a:tcPr marL="73152" marR="73152" marT="36576" marB="36576" anchor="ctr">
                    <a:solidFill>
                      <a:srgbClr val="EEF3F8"/>
                    </a:solidFill>
                  </a:tcPr>
                </a:tc>
                <a:tc>
                  <a:txBody>
                    <a:bodyPr wrap="square"/>
                    <a:lstStyle/>
                    <a:p>
                      <a:r>
                        <a:rPr sz="1000" b="0" i="0">
                          <a:solidFill>
                            <a:srgbClr val="1F2933"/>
                          </a:solidFill>
                          <a:latin typeface="Calibri"/>
                        </a:rPr>
                        <a:t>AR Manager</a:t>
                      </a:r>
                    </a:p>
                  </a:txBody>
                  <a:tcPr marL="73152" marR="73152" marT="36576" marB="36576" anchor="ctr">
                    <a:solidFill>
                      <a:srgbClr val="EEF3F8"/>
                    </a:solidFill>
                  </a:tcPr>
                </a:tc>
              </a:tr>
              <a:tr h="457200">
                <a:tc>
                  <a:txBody>
                    <a:bodyPr wrap="square"/>
                    <a:lstStyle/>
                    <a:p>
                      <a:r>
                        <a:rPr sz="1000" b="1" i="0">
                          <a:solidFill>
                            <a:srgbClr val="1F2933"/>
                          </a:solidFill>
                          <a:latin typeface="Calibri"/>
                        </a:rPr>
                        <a:t>Collection Group + Spezialisten</a:t>
                      </a:r>
                    </a:p>
                  </a:txBody>
                  <a:tcPr marL="73152" marR="73152" marT="36576" marB="36576" anchor="ctr">
                    <a:solidFill>
                      <a:srgbClr val="FFFFFF"/>
                    </a:solidFill>
                  </a:tcPr>
                </a:tc>
                <a:tc>
                  <a:txBody>
                    <a:bodyPr wrap="square"/>
                    <a:lstStyle/>
                    <a:p>
                      <a:r>
                        <a:rPr sz="1000" b="0" i="0">
                          <a:solidFill>
                            <a:srgbClr val="1F2933"/>
                          </a:solidFill>
                          <a:latin typeface="Calibri"/>
                        </a:rPr>
                        <a:t>Manage Collection Groups (UDM_GROUP)</a:t>
                      </a:r>
                    </a:p>
                  </a:txBody>
                  <a:tcPr marL="73152" marR="73152" marT="36576" marB="36576" anchor="ctr">
                    <a:solidFill>
                      <a:srgbClr val="FFFFFF"/>
                    </a:solidFill>
                  </a:tcPr>
                </a:tc>
                <a:tc>
                  <a:txBody>
                    <a:bodyPr wrap="square"/>
                    <a:lstStyle/>
                    <a:p>
                      <a:r>
                        <a:rPr sz="1000" b="0" i="0">
                          <a:solidFill>
                            <a:srgbClr val="1F2933"/>
                          </a:solidFill>
                          <a:latin typeface="Calibri"/>
                        </a:rPr>
                        <a:t>AR Manager</a:t>
                      </a:r>
                    </a:p>
                  </a:txBody>
                  <a:tcPr marL="73152" marR="73152" marT="36576" marB="36576" anchor="ctr">
                    <a:solidFill>
                      <a:srgbClr val="FFFFFF"/>
                    </a:solidFill>
                  </a:tcPr>
                </a:tc>
              </a:tr>
              <a:tr h="457200">
                <a:tc>
                  <a:txBody>
                    <a:bodyPr wrap="square"/>
                    <a:lstStyle/>
                    <a:p>
                      <a:r>
                        <a:rPr sz="1000" b="1" i="0">
                          <a:solidFill>
                            <a:srgbClr val="1F2933"/>
                          </a:solidFill>
                          <a:latin typeface="Calibri"/>
                        </a:rPr>
                        <a:t>Gruppe ↔ Segment</a:t>
                      </a:r>
                    </a:p>
                  </a:txBody>
                  <a:tcPr marL="73152" marR="73152" marT="36576" marB="36576" anchor="ctr">
                    <a:solidFill>
                      <a:srgbClr val="EEF3F8"/>
                    </a:solidFill>
                  </a:tcPr>
                </a:tc>
                <a:tc>
                  <a:txBody>
                    <a:bodyPr wrap="square"/>
                    <a:lstStyle/>
                    <a:p>
                      <a:r>
                        <a:rPr sz="1000" b="0" i="0">
                          <a:solidFill>
                            <a:srgbClr val="1F2933"/>
                          </a:solidFill>
                          <a:latin typeface="Calibri"/>
                        </a:rPr>
                        <a:t>Assign Collection Groups to Segments (UDM_GROUP2SGMT)</a:t>
                      </a:r>
                    </a:p>
                  </a:txBody>
                  <a:tcPr marL="73152" marR="73152" marT="36576" marB="36576" anchor="ctr">
                    <a:solidFill>
                      <a:srgbClr val="EEF3F8"/>
                    </a:solidFill>
                  </a:tcPr>
                </a:tc>
                <a:tc>
                  <a:txBody>
                    <a:bodyPr wrap="square"/>
                    <a:lstStyle/>
                    <a:p>
                      <a:r>
                        <a:rPr sz="1000" b="0" i="0">
                          <a:solidFill>
                            <a:srgbClr val="1F2933"/>
                          </a:solidFill>
                          <a:latin typeface="Calibri"/>
                        </a:rPr>
                        <a:t>AR Manager</a:t>
                      </a:r>
                    </a:p>
                  </a:txBody>
                  <a:tcPr marL="73152" marR="73152" marT="36576" marB="36576" anchor="ctr">
                    <a:solidFill>
                      <a:srgbClr val="EEF3F8"/>
                    </a:solidFill>
                  </a:tcPr>
                </a:tc>
              </a:tr>
              <a:tr h="457200">
                <a:tc>
                  <a:txBody>
                    <a:bodyPr wrap="square"/>
                    <a:lstStyle/>
                    <a:p>
                      <a:r>
                        <a:rPr sz="1000" b="1" i="0">
                          <a:solidFill>
                            <a:srgbClr val="1F2933"/>
                          </a:solidFill>
                          <a:latin typeface="Calibri"/>
                        </a:rPr>
                        <a:t>Kunde: Profil, Gruppe, Spezialist</a:t>
                      </a:r>
                    </a:p>
                  </a:txBody>
                  <a:tcPr marL="73152" marR="73152" marT="36576" marB="36576" anchor="ctr">
                    <a:solidFill>
                      <a:srgbClr val="FFFFFF"/>
                    </a:solidFill>
                  </a:tcPr>
                </a:tc>
                <a:tc>
                  <a:txBody>
                    <a:bodyPr wrap="square"/>
                    <a:lstStyle/>
                    <a:p>
                      <a:r>
                        <a:rPr sz="1000" b="0" i="0">
                          <a:solidFill>
                            <a:srgbClr val="1F2933"/>
                          </a:solidFill>
                          <a:latin typeface="Calibri"/>
                        </a:rPr>
                        <a:t>Manage Collections Master Data (F5400)</a:t>
                      </a:r>
                    </a:p>
                  </a:txBody>
                  <a:tcPr marL="73152" marR="73152" marT="36576" marB="36576" anchor="ctr">
                    <a:solidFill>
                      <a:srgbClr val="FFFFFF"/>
                    </a:solidFill>
                  </a:tcPr>
                </a:tc>
                <a:tc>
                  <a:txBody>
                    <a:bodyPr wrap="square"/>
                    <a:lstStyle/>
                    <a:p>
                      <a:r>
                        <a:rPr sz="1000" b="0" i="0">
                          <a:solidFill>
                            <a:srgbClr val="1F2933"/>
                          </a:solidFill>
                          <a:latin typeface="Calibri"/>
                        </a:rPr>
                        <a:t>AR Manager</a:t>
                      </a:r>
                    </a:p>
                  </a:txBody>
                  <a:tcPr marL="73152" marR="73152" marT="36576" marB="36576" anchor="ctr">
                    <a:solidFill>
                      <a:srgbClr val="FFFFFF"/>
                    </a:solidFill>
                  </a:tcPr>
                </a:tc>
              </a:tr>
              <a:tr h="457200">
                <a:tc>
                  <a:txBody>
                    <a:bodyPr wrap="square"/>
                    <a:lstStyle/>
                    <a:p>
                      <a:r>
                        <a:rPr sz="1000" b="1" i="0">
                          <a:solidFill>
                            <a:srgbClr val="1F2933"/>
                          </a:solidFill>
                          <a:latin typeface="Calibri"/>
                        </a:rPr>
                        <a:t>Massenzuordnung Profil / Segment / Spezialist</a:t>
                      </a:r>
                    </a:p>
                  </a:txBody>
                  <a:tcPr marL="73152" marR="73152" marT="36576" marB="36576" anchor="ctr">
                    <a:solidFill>
                      <a:srgbClr val="EEF3F8"/>
                    </a:solidFill>
                  </a:tcPr>
                </a:tc>
                <a:tc>
                  <a:txBody>
                    <a:bodyPr wrap="square"/>
                    <a:lstStyle/>
                    <a:p>
                      <a:r>
                        <a:rPr sz="1000" b="0" i="0">
                          <a:solidFill>
                            <a:srgbClr val="1F2933"/>
                          </a:solidFill>
                          <a:latin typeface="Calibri"/>
                        </a:rPr>
                        <a:t>Schedule Collections Management Jobs – Mass Changes (F3918)</a:t>
                      </a:r>
                    </a:p>
                  </a:txBody>
                  <a:tcPr marL="73152" marR="73152" marT="36576" marB="36576" anchor="ctr">
                    <a:solidFill>
                      <a:srgbClr val="EEF3F8"/>
                    </a:solidFill>
                  </a:tcPr>
                </a:tc>
                <a:tc>
                  <a:txBody>
                    <a:bodyPr wrap="square"/>
                    <a:lstStyle/>
                    <a:p>
                      <a:r>
                        <a:rPr sz="1000" b="0" i="0">
                          <a:solidFill>
                            <a:srgbClr val="1F2933"/>
                          </a:solidFill>
                          <a:latin typeface="Calibri"/>
                        </a:rPr>
                        <a:t>AR Accountant</a:t>
                      </a:r>
                    </a:p>
                  </a:txBody>
                  <a:tcPr marL="73152" marR="73152" marT="36576" marB="36576" anchor="ctr">
                    <a:solidFill>
                      <a:srgbClr val="EEF3F8"/>
                    </a:solidFill>
                  </a:tcPr>
                </a:tc>
              </a:tr>
              <a:tr h="457200">
                <a:tc>
                  <a:txBody>
                    <a:bodyPr wrap="square"/>
                    <a:lstStyle/>
                    <a:p>
                      <a:r>
                        <a:rPr sz="1000" b="1" i="0">
                          <a:solidFill>
                            <a:srgbClr val="1F2933"/>
                          </a:solidFill>
                          <a:latin typeface="Calibri"/>
                        </a:rPr>
                        <a:t>Mahnverfahren 1001 / 1002</a:t>
                      </a:r>
                    </a:p>
                  </a:txBody>
                  <a:tcPr marL="73152" marR="73152" marT="36576" marB="36576" anchor="ctr">
                    <a:solidFill>
                      <a:srgbClr val="FFFFFF"/>
                    </a:solidFill>
                  </a:tcPr>
                </a:tc>
                <a:tc>
                  <a:txBody>
                    <a:bodyPr wrap="square"/>
                    <a:lstStyle/>
                    <a:p>
                      <a:r>
                        <a:rPr sz="1000" b="0" i="0">
                          <a:solidFill>
                            <a:srgbClr val="1F2933"/>
                          </a:solidFill>
                          <a:latin typeface="Calibri"/>
                        </a:rPr>
                        <a:t>Manage Customer Master Data (F0850A), Buchungskreisdaten</a:t>
                      </a:r>
                    </a:p>
                  </a:txBody>
                  <a:tcPr marL="73152" marR="73152" marT="36576" marB="36576" anchor="ctr">
                    <a:solidFill>
                      <a:srgbClr val="FFFFFF"/>
                    </a:solidFill>
                  </a:tcPr>
                </a:tc>
                <a:tc>
                  <a:txBody>
                    <a:bodyPr wrap="square"/>
                    <a:lstStyle/>
                    <a:p>
                      <a:r>
                        <a:rPr sz="1000" b="0" i="0">
                          <a:solidFill>
                            <a:srgbClr val="1F2933"/>
                          </a:solidFill>
                          <a:latin typeface="Calibri"/>
                        </a:rPr>
                        <a:t>AR Accountant</a:t>
                      </a:r>
                    </a:p>
                  </a:txBody>
                  <a:tcPr marL="73152" marR="73152" marT="36576" marB="36576"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A4  APPS</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Apps und Rollen im Collections-Workflow</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A  Automatisierter Collections-Workflow</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7</a:t>
            </a:r>
          </a:p>
        </p:txBody>
      </p:sp>
      <p:graphicFrame>
        <p:nvGraphicFramePr>
          <p:cNvPr id="6" name="Table 5"/>
          <p:cNvGraphicFramePr>
            <a:graphicFrameLocks noGrp="1"/>
          </p:cNvGraphicFramePr>
          <p:nvPr/>
        </p:nvGraphicFramePr>
        <p:xfrm>
          <a:off x="548640" y="1554480"/>
          <a:ext cx="11064240" cy="4114800"/>
        </p:xfrm>
        <a:graphic>
          <a:graphicData uri="http://schemas.openxmlformats.org/drawingml/2006/table">
            <a:tbl>
              <a:tblPr firstRow="0" bandRow="0">
                <a:tableStyleId>{5C22544A-7EE6-4342-B048-85BDC9FD1C3A}</a:tableStyleId>
              </a:tblPr>
              <a:tblGrid>
                <a:gridCol w="1828800"/>
                <a:gridCol w="3657600"/>
                <a:gridCol w="1463040"/>
                <a:gridCol w="4114800"/>
              </a:tblGrid>
              <a:tr h="457200">
                <a:tc>
                  <a:txBody>
                    <a:bodyPr wrap="square"/>
                    <a:lstStyle/>
                    <a:p>
                      <a:r>
                        <a:rPr sz="1000" b="1" i="0">
                          <a:solidFill>
                            <a:srgbClr val="FFFFFF"/>
                          </a:solidFill>
                          <a:latin typeface="Calibri"/>
                        </a:rPr>
                        <a:t>Schritt</a:t>
                      </a:r>
                    </a:p>
                  </a:txBody>
                  <a:tcPr marL="73152" marR="73152" marT="36576" marB="36576" anchor="ctr">
                    <a:solidFill>
                      <a:srgbClr val="1C4E80"/>
                    </a:solidFill>
                  </a:tcPr>
                </a:tc>
                <a:tc>
                  <a:txBody>
                    <a:bodyPr wrap="square"/>
                    <a:lstStyle/>
                    <a:p>
                      <a:r>
                        <a:rPr sz="1000" b="1" i="0">
                          <a:solidFill>
                            <a:srgbClr val="FFFFFF"/>
                          </a:solidFill>
                          <a:latin typeface="Calibri"/>
                        </a:rPr>
                        <a:t>App (ID)</a:t>
                      </a:r>
                    </a:p>
                  </a:txBody>
                  <a:tcPr marL="73152" marR="73152" marT="36576" marB="36576" anchor="ctr">
                    <a:solidFill>
                      <a:srgbClr val="1C4E80"/>
                    </a:solidFill>
                  </a:tcPr>
                </a:tc>
                <a:tc>
                  <a:txBody>
                    <a:bodyPr wrap="square"/>
                    <a:lstStyle/>
                    <a:p>
                      <a:r>
                        <a:rPr sz="1000" b="1" i="0">
                          <a:solidFill>
                            <a:srgbClr val="FFFFFF"/>
                          </a:solidFill>
                          <a:latin typeface="Calibri"/>
                        </a:rPr>
                        <a:t>Rolle</a:t>
                      </a:r>
                    </a:p>
                  </a:txBody>
                  <a:tcPr marL="73152" marR="73152" marT="36576" marB="36576" anchor="ctr">
                    <a:solidFill>
                      <a:srgbClr val="1C4E80"/>
                    </a:solidFill>
                  </a:tcPr>
                </a:tc>
                <a:tc>
                  <a:txBody>
                    <a:bodyPr wrap="square"/>
                    <a:lstStyle/>
                    <a:p>
                      <a:r>
                        <a:rPr sz="1000" b="1" i="0">
                          <a:solidFill>
                            <a:srgbClr val="FFFFFF"/>
                          </a:solidFill>
                          <a:latin typeface="Calibri"/>
                        </a:rPr>
                        <a:t>Was passiert</a:t>
                      </a:r>
                    </a:p>
                  </a:txBody>
                  <a:tcPr marL="73152" marR="73152" marT="36576" marB="36576" anchor="ctr">
                    <a:solidFill>
                      <a:srgbClr val="1C4E80"/>
                    </a:solidFill>
                  </a:tcPr>
                </a:tc>
              </a:tr>
              <a:tr h="457200">
                <a:tc>
                  <a:txBody>
                    <a:bodyPr wrap="square"/>
                    <a:lstStyle/>
                    <a:p>
                      <a:r>
                        <a:rPr sz="1000" b="1" i="0">
                          <a:solidFill>
                            <a:srgbClr val="1F2933"/>
                          </a:solidFill>
                          <a:latin typeface="Calibri"/>
                        </a:rPr>
                        <a:t>Worklist aufrufen</a:t>
                      </a:r>
                    </a:p>
                  </a:txBody>
                  <a:tcPr marL="73152" marR="73152" marT="36576" marB="36576" anchor="ctr">
                    <a:solidFill>
                      <a:srgbClr val="FFFFFF"/>
                    </a:solidFill>
                  </a:tcPr>
                </a:tc>
                <a:tc>
                  <a:txBody>
                    <a:bodyPr wrap="square"/>
                    <a:lstStyle/>
                    <a:p>
                      <a:r>
                        <a:rPr sz="1000" b="0" i="0">
                          <a:solidFill>
                            <a:srgbClr val="1F2933"/>
                          </a:solidFill>
                          <a:latin typeface="Calibri"/>
                        </a:rPr>
                        <a:t>Process Collections Worklist (F0380)</a:t>
                      </a:r>
                    </a:p>
                  </a:txBody>
                  <a:tcPr marL="73152" marR="73152" marT="36576" marB="36576" anchor="ctr">
                    <a:solidFill>
                      <a:srgbClr val="FFFFFF"/>
                    </a:solidFill>
                  </a:tcPr>
                </a:tc>
                <a:tc>
                  <a:txBody>
                    <a:bodyPr wrap="square"/>
                    <a:lstStyle/>
                    <a:p>
                      <a:r>
                        <a:rPr sz="1000" b="0" i="0">
                          <a:solidFill>
                            <a:srgbClr val="1F2933"/>
                          </a:solidFill>
                          <a:latin typeface="Calibri"/>
                        </a:rPr>
                        <a:t>AR Accountant</a:t>
                      </a:r>
                    </a:p>
                  </a:txBody>
                  <a:tcPr marL="73152" marR="73152" marT="36576" marB="36576" anchor="ctr">
                    <a:solidFill>
                      <a:srgbClr val="FFFFFF"/>
                    </a:solidFill>
                  </a:tcPr>
                </a:tc>
                <a:tc>
                  <a:txBody>
                    <a:bodyPr wrap="square"/>
                    <a:lstStyle/>
                    <a:p>
                      <a:r>
                        <a:rPr sz="1000" b="0" i="0">
                          <a:solidFill>
                            <a:srgbClr val="1F2933"/>
                          </a:solidFill>
                          <a:latin typeface="Calibri"/>
                        </a:rPr>
                        <a:t>Priorisierte Kundenliste, My Open / Completed Items, Massenkorrespondenz</a:t>
                      </a:r>
                    </a:p>
                  </a:txBody>
                  <a:tcPr marL="73152" marR="73152" marT="36576" marB="36576" anchor="ctr">
                    <a:solidFill>
                      <a:srgbClr val="FFFFFF"/>
                    </a:solidFill>
                  </a:tcPr>
                </a:tc>
              </a:tr>
              <a:tr h="457200">
                <a:tc>
                  <a:txBody>
                    <a:bodyPr wrap="square"/>
                    <a:lstStyle/>
                    <a:p>
                      <a:r>
                        <a:rPr sz="1000" b="1" i="0">
                          <a:solidFill>
                            <a:srgbClr val="1F2933"/>
                          </a:solidFill>
                          <a:latin typeface="Calibri"/>
                        </a:rPr>
                        <a:t>Kunde bearbeiten</a:t>
                      </a:r>
                    </a:p>
                  </a:txBody>
                  <a:tcPr marL="73152" marR="73152" marT="36576" marB="36576" anchor="ctr">
                    <a:solidFill>
                      <a:srgbClr val="EEF3F8"/>
                    </a:solidFill>
                  </a:tcPr>
                </a:tc>
                <a:tc>
                  <a:txBody>
                    <a:bodyPr wrap="square"/>
                    <a:lstStyle/>
                    <a:p>
                      <a:r>
                        <a:rPr sz="1000" b="0" i="0">
                          <a:solidFill>
                            <a:srgbClr val="1F2933"/>
                          </a:solidFill>
                          <a:latin typeface="Calibri"/>
                        </a:rPr>
                        <a:t>Process Receivables (F0106A)</a:t>
                      </a:r>
                    </a:p>
                  </a:txBody>
                  <a:tcPr marL="73152" marR="73152" marT="36576" marB="36576" anchor="ctr">
                    <a:solidFill>
                      <a:srgbClr val="EEF3F8"/>
                    </a:solidFill>
                  </a:tcPr>
                </a:tc>
                <a:tc>
                  <a:txBody>
                    <a:bodyPr wrap="square"/>
                    <a:lstStyle/>
                    <a:p>
                      <a:r>
                        <a:rPr sz="1000" b="0" i="0">
                          <a:solidFill>
                            <a:srgbClr val="1F2933"/>
                          </a:solidFill>
                          <a:latin typeface="Calibri"/>
                        </a:rPr>
                        <a:t>AR Accountant</a:t>
                      </a:r>
                    </a:p>
                  </a:txBody>
                  <a:tcPr marL="73152" marR="73152" marT="36576" marB="36576" anchor="ctr">
                    <a:solidFill>
                      <a:srgbClr val="EEF3F8"/>
                    </a:solidFill>
                  </a:tcPr>
                </a:tc>
                <a:tc>
                  <a:txBody>
                    <a:bodyPr wrap="square"/>
                    <a:lstStyle/>
                    <a:p>
                      <a:r>
                        <a:rPr sz="1000" b="0" i="0">
                          <a:solidFill>
                            <a:srgbClr val="1F2933"/>
                          </a:solidFill>
                          <a:latin typeface="Calibri"/>
                        </a:rPr>
                        <a:t>Kundencockpit: Rechnungen, Disputes, Versprechen, Wiedervorlagen, Kontakte</a:t>
                      </a:r>
                    </a:p>
                  </a:txBody>
                  <a:tcPr marL="73152" marR="73152" marT="36576" marB="36576" anchor="ctr">
                    <a:solidFill>
                      <a:srgbClr val="EEF3F8"/>
                    </a:solidFill>
                  </a:tcPr>
                </a:tc>
              </a:tr>
              <a:tr h="457200">
                <a:tc>
                  <a:txBody>
                    <a:bodyPr wrap="square"/>
                    <a:lstStyle/>
                    <a:p>
                      <a:r>
                        <a:rPr sz="1000" b="1" i="0">
                          <a:solidFill>
                            <a:srgbClr val="1F2933"/>
                          </a:solidFill>
                          <a:latin typeface="Calibri"/>
                        </a:rPr>
                        <a:t>Zahlungsversprechen</a:t>
                      </a:r>
                    </a:p>
                  </a:txBody>
                  <a:tcPr marL="73152" marR="73152" marT="36576" marB="36576" anchor="ctr">
                    <a:solidFill>
                      <a:srgbClr val="FFFFFF"/>
                    </a:solidFill>
                  </a:tcPr>
                </a:tc>
                <a:tc>
                  <a:txBody>
                    <a:bodyPr wrap="square"/>
                    <a:lstStyle/>
                    <a:p>
                      <a:r>
                        <a:rPr sz="1000" b="0" i="0">
                          <a:solidFill>
                            <a:srgbClr val="1F2933"/>
                          </a:solidFill>
                          <a:latin typeface="Calibri"/>
                        </a:rPr>
                        <a:t>Manage Promises to Pay (F4710)</a:t>
                      </a:r>
                    </a:p>
                  </a:txBody>
                  <a:tcPr marL="73152" marR="73152" marT="36576" marB="36576" anchor="ctr">
                    <a:solidFill>
                      <a:srgbClr val="FFFFFF"/>
                    </a:solidFill>
                  </a:tcPr>
                </a:tc>
                <a:tc>
                  <a:txBody>
                    <a:bodyPr wrap="square"/>
                    <a:lstStyle/>
                    <a:p>
                      <a:r>
                        <a:rPr sz="1000" b="0" i="0">
                          <a:solidFill>
                            <a:srgbClr val="1F2933"/>
                          </a:solidFill>
                          <a:latin typeface="Calibri"/>
                        </a:rPr>
                        <a:t>AR Accountant</a:t>
                      </a:r>
                    </a:p>
                  </a:txBody>
                  <a:tcPr marL="73152" marR="73152" marT="36576" marB="36576" anchor="ctr">
                    <a:solidFill>
                      <a:srgbClr val="FFFFFF"/>
                    </a:solidFill>
                  </a:tcPr>
                </a:tc>
                <a:tc>
                  <a:txBody>
                    <a:bodyPr wrap="square"/>
                    <a:lstStyle/>
                    <a:p>
                      <a:r>
                        <a:rPr sz="1000" b="0" i="0">
                          <a:solidFill>
                            <a:srgbClr val="1F2933"/>
                          </a:solidFill>
                          <a:latin typeface="Calibri"/>
                        </a:rPr>
                        <a:t>Betrag, Datum; Status Open → Kept / Broken</a:t>
                      </a:r>
                    </a:p>
                  </a:txBody>
                  <a:tcPr marL="73152" marR="73152" marT="36576" marB="36576" anchor="ctr">
                    <a:solidFill>
                      <a:srgbClr val="FFFFFF"/>
                    </a:solidFill>
                  </a:tcPr>
                </a:tc>
              </a:tr>
              <a:tr h="457200">
                <a:tc>
                  <a:txBody>
                    <a:bodyPr wrap="square"/>
                    <a:lstStyle/>
                    <a:p>
                      <a:r>
                        <a:rPr sz="1000" b="1" i="0">
                          <a:solidFill>
                            <a:srgbClr val="1F2933"/>
                          </a:solidFill>
                          <a:latin typeface="Calibri"/>
                        </a:rPr>
                        <a:t>Wiedervorlage</a:t>
                      </a:r>
                    </a:p>
                  </a:txBody>
                  <a:tcPr marL="73152" marR="73152" marT="36576" marB="36576" anchor="ctr">
                    <a:solidFill>
                      <a:srgbClr val="EEF3F8"/>
                    </a:solidFill>
                  </a:tcPr>
                </a:tc>
                <a:tc>
                  <a:txBody>
                    <a:bodyPr wrap="square"/>
                    <a:lstStyle/>
                    <a:p>
                      <a:r>
                        <a:rPr sz="1000" b="0" i="0">
                          <a:solidFill>
                            <a:srgbClr val="1F2933"/>
                          </a:solidFill>
                          <a:latin typeface="Calibri"/>
                        </a:rPr>
                        <a:t>Manage Resubmissions (F4709)</a:t>
                      </a:r>
                    </a:p>
                  </a:txBody>
                  <a:tcPr marL="73152" marR="73152" marT="36576" marB="36576" anchor="ctr">
                    <a:solidFill>
                      <a:srgbClr val="EEF3F8"/>
                    </a:solidFill>
                  </a:tcPr>
                </a:tc>
                <a:tc>
                  <a:txBody>
                    <a:bodyPr wrap="square"/>
                    <a:lstStyle/>
                    <a:p>
                      <a:r>
                        <a:rPr sz="1000" b="0" i="0">
                          <a:solidFill>
                            <a:srgbClr val="1F2933"/>
                          </a:solidFill>
                          <a:latin typeface="Calibri"/>
                        </a:rPr>
                        <a:t>AR Accountant</a:t>
                      </a:r>
                    </a:p>
                  </a:txBody>
                  <a:tcPr marL="73152" marR="73152" marT="36576" marB="36576" anchor="ctr">
                    <a:solidFill>
                      <a:srgbClr val="EEF3F8"/>
                    </a:solidFill>
                  </a:tcPr>
                </a:tc>
                <a:tc>
                  <a:txBody>
                    <a:bodyPr wrap="square"/>
                    <a:lstStyle/>
                    <a:p>
                      <a:r>
                        <a:rPr sz="1000" b="0" i="0">
                          <a:solidFill>
                            <a:srgbClr val="1F2933"/>
                          </a:solidFill>
                          <a:latin typeface="Calibri"/>
                        </a:rPr>
                        <a:t>Datum, Grund; Kunde bis dahin nicht auf Worklist</a:t>
                      </a:r>
                    </a:p>
                  </a:txBody>
                  <a:tcPr marL="73152" marR="73152" marT="36576" marB="36576" anchor="ctr">
                    <a:solidFill>
                      <a:srgbClr val="EEF3F8"/>
                    </a:solidFill>
                  </a:tcPr>
                </a:tc>
              </a:tr>
              <a:tr h="457200">
                <a:tc>
                  <a:txBody>
                    <a:bodyPr wrap="square"/>
                    <a:lstStyle/>
                    <a:p>
                      <a:r>
                        <a:rPr sz="1000" b="1" i="0">
                          <a:solidFill>
                            <a:srgbClr val="1F2933"/>
                          </a:solidFill>
                          <a:latin typeface="Calibri"/>
                        </a:rPr>
                        <a:t>Kontakt abschließen</a:t>
                      </a:r>
                    </a:p>
                  </a:txBody>
                  <a:tcPr marL="73152" marR="73152" marT="36576" marB="36576" anchor="ctr">
                    <a:solidFill>
                      <a:srgbClr val="FFFFFF"/>
                    </a:solidFill>
                  </a:tcPr>
                </a:tc>
                <a:tc>
                  <a:txBody>
                    <a:bodyPr wrap="square"/>
                    <a:lstStyle/>
                    <a:p>
                      <a:r>
                        <a:rPr sz="1000" b="0" i="0">
                          <a:solidFill>
                            <a:srgbClr val="1F2933"/>
                          </a:solidFill>
                          <a:latin typeface="Calibri"/>
                        </a:rPr>
                        <a:t>Manage Customer Contacts (F4707)</a:t>
                      </a:r>
                    </a:p>
                  </a:txBody>
                  <a:tcPr marL="73152" marR="73152" marT="36576" marB="36576" anchor="ctr">
                    <a:solidFill>
                      <a:srgbClr val="FFFFFF"/>
                    </a:solidFill>
                  </a:tcPr>
                </a:tc>
                <a:tc>
                  <a:txBody>
                    <a:bodyPr wrap="square"/>
                    <a:lstStyle/>
                    <a:p>
                      <a:r>
                        <a:rPr sz="1000" b="0" i="0">
                          <a:solidFill>
                            <a:srgbClr val="1F2933"/>
                          </a:solidFill>
                          <a:latin typeface="Calibri"/>
                        </a:rPr>
                        <a:t>AR Accountant</a:t>
                      </a:r>
                    </a:p>
                  </a:txBody>
                  <a:tcPr marL="73152" marR="73152" marT="36576" marB="36576" anchor="ctr">
                    <a:solidFill>
                      <a:srgbClr val="FFFFFF"/>
                    </a:solidFill>
                  </a:tcPr>
                </a:tc>
                <a:tc>
                  <a:txBody>
                    <a:bodyPr wrap="square"/>
                    <a:lstStyle/>
                    <a:p>
                      <a:r>
                        <a:rPr sz="1000" b="0" i="0">
                          <a:solidFill>
                            <a:srgbClr val="1F2933"/>
                          </a:solidFill>
                          <a:latin typeface="Calibri"/>
                        </a:rPr>
                        <a:t>Ergebnis, vorbefüllte Notiz, E-Mail-Template Customer Contact Recap</a:t>
                      </a:r>
                    </a:p>
                  </a:txBody>
                  <a:tcPr marL="73152" marR="73152" marT="36576" marB="36576" anchor="ctr">
                    <a:solidFill>
                      <a:srgbClr val="FFFFFF"/>
                    </a:solidFill>
                  </a:tcPr>
                </a:tc>
              </a:tr>
              <a:tr h="457200">
                <a:tc>
                  <a:txBody>
                    <a:bodyPr wrap="square"/>
                    <a:lstStyle/>
                    <a:p>
                      <a:r>
                        <a:rPr sz="1000" b="1" i="0">
                          <a:solidFill>
                            <a:srgbClr val="1F2933"/>
                          </a:solidFill>
                          <a:latin typeface="Calibri"/>
                        </a:rPr>
                        <a:t>Mahnvorschlag</a:t>
                      </a:r>
                    </a:p>
                  </a:txBody>
                  <a:tcPr marL="73152" marR="73152" marT="36576" marB="36576" anchor="ctr">
                    <a:solidFill>
                      <a:srgbClr val="EEF3F8"/>
                    </a:solidFill>
                  </a:tcPr>
                </a:tc>
                <a:tc>
                  <a:txBody>
                    <a:bodyPr wrap="square"/>
                    <a:lstStyle/>
                    <a:p>
                      <a:r>
                        <a:rPr sz="1000" b="0" i="0">
                          <a:solidFill>
                            <a:srgbClr val="1F2933"/>
                          </a:solidFill>
                          <a:latin typeface="Calibri"/>
                        </a:rPr>
                        <a:t>My Dunning Proposals (F2435)</a:t>
                      </a:r>
                    </a:p>
                  </a:txBody>
                  <a:tcPr marL="73152" marR="73152" marT="36576" marB="36576" anchor="ctr">
                    <a:solidFill>
                      <a:srgbClr val="EEF3F8"/>
                    </a:solidFill>
                  </a:tcPr>
                </a:tc>
                <a:tc>
                  <a:txBody>
                    <a:bodyPr wrap="square"/>
                    <a:lstStyle/>
                    <a:p>
                      <a:r>
                        <a:rPr sz="1000" b="0" i="0">
                          <a:solidFill>
                            <a:srgbClr val="1F2933"/>
                          </a:solidFill>
                          <a:latin typeface="Calibri"/>
                        </a:rPr>
                        <a:t>AR Accountant</a:t>
                      </a:r>
                    </a:p>
                  </a:txBody>
                  <a:tcPr marL="73152" marR="73152" marT="36576" marB="36576" anchor="ctr">
                    <a:solidFill>
                      <a:srgbClr val="EEF3F8"/>
                    </a:solidFill>
                  </a:tcPr>
                </a:tc>
                <a:tc>
                  <a:txBody>
                    <a:bodyPr wrap="square"/>
                    <a:lstStyle/>
                    <a:p>
                      <a:r>
                        <a:rPr sz="1000" b="0" i="0">
                          <a:solidFill>
                            <a:srgbClr val="1F2933"/>
                          </a:solidFill>
                          <a:latin typeface="Calibri"/>
                        </a:rPr>
                        <a:t>Vorschlag je Sachbearbeiter, PDF-Vorschau, Versand, Mahnsperre</a:t>
                      </a:r>
                    </a:p>
                  </a:txBody>
                  <a:tcPr marL="73152" marR="73152" marT="36576" marB="36576" anchor="ctr">
                    <a:solidFill>
                      <a:srgbClr val="EEF3F8"/>
                    </a:solidFill>
                  </a:tcPr>
                </a:tc>
              </a:tr>
              <a:tr h="457200">
                <a:tc>
                  <a:txBody>
                    <a:bodyPr wrap="square"/>
                    <a:lstStyle/>
                    <a:p>
                      <a:r>
                        <a:rPr sz="1000" b="1" i="0">
                          <a:solidFill>
                            <a:srgbClr val="1F2933"/>
                          </a:solidFill>
                          <a:latin typeface="Calibri"/>
                        </a:rPr>
                        <a:t>Team steuern</a:t>
                      </a:r>
                    </a:p>
                  </a:txBody>
                  <a:tcPr marL="73152" marR="73152" marT="36576" marB="36576" anchor="ctr">
                    <a:solidFill>
                      <a:srgbClr val="FFFFFF"/>
                    </a:solidFill>
                  </a:tcPr>
                </a:tc>
                <a:tc>
                  <a:txBody>
                    <a:bodyPr wrap="square"/>
                    <a:lstStyle/>
                    <a:p>
                      <a:r>
                        <a:rPr sz="1000" b="0" i="0">
                          <a:solidFill>
                            <a:srgbClr val="1F2933"/>
                          </a:solidFill>
                          <a:latin typeface="Calibri"/>
                        </a:rPr>
                        <a:t>Supervise Collections Worklist (F2375)</a:t>
                      </a:r>
                    </a:p>
                  </a:txBody>
                  <a:tcPr marL="73152" marR="73152" marT="36576" marB="36576" anchor="ctr">
                    <a:solidFill>
                      <a:srgbClr val="FFFFFF"/>
                    </a:solidFill>
                  </a:tcPr>
                </a:tc>
                <a:tc>
                  <a:txBody>
                    <a:bodyPr wrap="square"/>
                    <a:lstStyle/>
                    <a:p>
                      <a:r>
                        <a:rPr sz="1000" b="0" i="0">
                          <a:solidFill>
                            <a:srgbClr val="1F2933"/>
                          </a:solidFill>
                          <a:latin typeface="Calibri"/>
                        </a:rPr>
                        <a:t>AR Manager</a:t>
                      </a:r>
                    </a:p>
                  </a:txBody>
                  <a:tcPr marL="73152" marR="73152" marT="36576" marB="36576" anchor="ctr">
                    <a:solidFill>
                      <a:srgbClr val="FFFFFF"/>
                    </a:solidFill>
                  </a:tcPr>
                </a:tc>
                <a:tc>
                  <a:txBody>
                    <a:bodyPr wrap="square"/>
                    <a:lstStyle/>
                    <a:p>
                      <a:r>
                        <a:rPr sz="1000" b="0" i="0">
                          <a:solidFill>
                            <a:srgbClr val="1F2933"/>
                          </a:solidFill>
                          <a:latin typeface="Calibri"/>
                        </a:rPr>
                        <a:t>Alle überfälligen Kunden, Spezialist zuweisen, Sperren setzen</a:t>
                      </a:r>
                    </a:p>
                  </a:txBody>
                  <a:tcPr marL="73152" marR="73152" marT="36576" marB="36576" anchor="ctr">
                    <a:solidFill>
                      <a:srgbClr val="FFFFFF"/>
                    </a:solidFill>
                  </a:tcPr>
                </a:tc>
              </a:tr>
              <a:tr h="457200">
                <a:tc>
                  <a:txBody>
                    <a:bodyPr wrap="square"/>
                    <a:lstStyle/>
                    <a:p>
                      <a:r>
                        <a:rPr sz="1000" b="1" i="0">
                          <a:solidFill>
                            <a:srgbClr val="1F2933"/>
                          </a:solidFill>
                          <a:latin typeface="Calibri"/>
                        </a:rPr>
                        <a:t>Fortschritt</a:t>
                      </a:r>
                    </a:p>
                  </a:txBody>
                  <a:tcPr marL="73152" marR="73152" marT="36576" marB="36576" anchor="ctr">
                    <a:solidFill>
                      <a:srgbClr val="EEF3F8"/>
                    </a:solidFill>
                  </a:tcPr>
                </a:tc>
                <a:tc>
                  <a:txBody>
                    <a:bodyPr wrap="square"/>
                    <a:lstStyle/>
                    <a:p>
                      <a:r>
                        <a:rPr sz="1000" b="0" i="0">
                          <a:solidFill>
                            <a:srgbClr val="1F2933"/>
                          </a:solidFill>
                          <a:latin typeface="Calibri"/>
                        </a:rPr>
                        <a:t>Collections Management Reporting (F4495), Collection Progress (F1738), Promise to Pay (F1753), Cash Collection Tracker (F3182)</a:t>
                      </a:r>
                    </a:p>
                  </a:txBody>
                  <a:tcPr marL="73152" marR="73152" marT="36576" marB="36576" anchor="ctr">
                    <a:solidFill>
                      <a:srgbClr val="EEF3F8"/>
                    </a:solidFill>
                  </a:tcPr>
                </a:tc>
                <a:tc>
                  <a:txBody>
                    <a:bodyPr wrap="square"/>
                    <a:lstStyle/>
                    <a:p>
                      <a:r>
                        <a:rPr sz="1000" b="0" i="0">
                          <a:solidFill>
                            <a:srgbClr val="1F2933"/>
                          </a:solidFill>
                          <a:latin typeface="Calibri"/>
                        </a:rPr>
                        <a:t>AR Manager</a:t>
                      </a:r>
                    </a:p>
                  </a:txBody>
                  <a:tcPr marL="73152" marR="73152" marT="36576" marB="36576" anchor="ctr">
                    <a:solidFill>
                      <a:srgbClr val="EEF3F8"/>
                    </a:solidFill>
                  </a:tcPr>
                </a:tc>
                <a:tc>
                  <a:txBody>
                    <a:bodyPr wrap="square"/>
                    <a:lstStyle/>
                    <a:p>
                      <a:r>
                        <a:rPr sz="1000" b="0" i="0">
                          <a:solidFill>
                            <a:srgbClr val="1F2933"/>
                          </a:solidFill>
                          <a:latin typeface="Calibri"/>
                        </a:rPr>
                        <a:t>Fortschritt je Spezialist / Gruppe, offene und gebrochene Versprechen</a:t>
                      </a:r>
                    </a:p>
                  </a:txBody>
                  <a:tcPr marL="73152" marR="73152" marT="36576" marB="36576" anchor="ctr">
                    <a:solidFill>
                      <a:srgbClr val="EEF3F8"/>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A5  PRAXIS</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Praxis: Ein Tag im Collections-Team (Demo-Szenario)</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A  Automatisierter Collections-Workflow</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8</a:t>
            </a:r>
          </a:p>
        </p:txBody>
      </p:sp>
      <p:sp>
        <p:nvSpPr>
          <p:cNvPr id="6" name="Rounded Rectangle 5"/>
          <p:cNvSpPr/>
          <p:nvPr/>
        </p:nvSpPr>
        <p:spPr>
          <a:xfrm>
            <a:off x="548640" y="1554480"/>
            <a:ext cx="3545738" cy="1325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85800" y="169164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1</a:t>
            </a:r>
          </a:p>
        </p:txBody>
      </p:sp>
      <p:sp>
        <p:nvSpPr>
          <p:cNvPr id="8" name="TextBox 7"/>
          <p:cNvSpPr txBox="1"/>
          <p:nvPr/>
        </p:nvSpPr>
        <p:spPr>
          <a:xfrm>
            <a:off x="1124712" y="1691640"/>
            <a:ext cx="2832506" cy="384048"/>
          </a:xfrm>
          <a:prstGeom prst="rect">
            <a:avLst/>
          </a:prstGeom>
          <a:noFill/>
        </p:spPr>
        <p:txBody>
          <a:bodyPr wrap="square" anchor="ctr" lIns="45720" rIns="45720">
            <a:spAutoFit/>
          </a:bodyPr>
          <a:lstStyle/>
          <a:p>
            <a:pPr algn="l"/>
            <a:r>
              <a:rPr sz="1400" b="1" i="0">
                <a:solidFill>
                  <a:srgbClr val="1C4E80"/>
                </a:solidFill>
                <a:latin typeface="Calibri"/>
              </a:rPr>
              <a:t>Manager prüft Team</a:t>
            </a:r>
          </a:p>
        </p:txBody>
      </p:sp>
      <p:sp>
        <p:nvSpPr>
          <p:cNvPr id="9" name="TextBox 8"/>
          <p:cNvSpPr txBox="1"/>
          <p:nvPr/>
        </p:nvSpPr>
        <p:spPr>
          <a:xfrm>
            <a:off x="685800" y="2130552"/>
            <a:ext cx="3271418" cy="612648"/>
          </a:xfrm>
          <a:prstGeom prst="rect">
            <a:avLst/>
          </a:prstGeom>
          <a:noFill/>
        </p:spPr>
        <p:txBody>
          <a:bodyPr wrap="square" anchor="t" lIns="45720" rIns="45720">
            <a:spAutoFit/>
          </a:bodyPr>
          <a:lstStyle/>
          <a:p>
            <a:pPr algn="l"/>
            <a:r>
              <a:rPr sz="1200" b="0" i="0">
                <a:solidFill>
                  <a:srgbClr val="1F2933"/>
                </a:solidFill>
                <a:latin typeface="Calibri"/>
              </a:rPr>
              <a:t>Supervise Collections Worklist (F2375): Kunde ohne Spezialist → zuweisen</a:t>
            </a:r>
          </a:p>
        </p:txBody>
      </p:sp>
      <p:sp>
        <p:nvSpPr>
          <p:cNvPr id="10" name="Rounded Rectangle 9"/>
          <p:cNvSpPr/>
          <p:nvPr/>
        </p:nvSpPr>
        <p:spPr>
          <a:xfrm>
            <a:off x="4322978" y="1554480"/>
            <a:ext cx="3545738" cy="1325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460138" y="169164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2</a:t>
            </a:r>
          </a:p>
        </p:txBody>
      </p:sp>
      <p:sp>
        <p:nvSpPr>
          <p:cNvPr id="12" name="TextBox 11"/>
          <p:cNvSpPr txBox="1"/>
          <p:nvPr/>
        </p:nvSpPr>
        <p:spPr>
          <a:xfrm>
            <a:off x="4899050" y="1691640"/>
            <a:ext cx="2832506" cy="384048"/>
          </a:xfrm>
          <a:prstGeom prst="rect">
            <a:avLst/>
          </a:prstGeom>
          <a:noFill/>
        </p:spPr>
        <p:txBody>
          <a:bodyPr wrap="square" anchor="ctr" lIns="45720" rIns="45720">
            <a:spAutoFit/>
          </a:bodyPr>
          <a:lstStyle/>
          <a:p>
            <a:pPr algn="l"/>
            <a:r>
              <a:rPr sz="1400" b="1" i="0">
                <a:solidFill>
                  <a:srgbClr val="1C4E80"/>
                </a:solidFill>
                <a:latin typeface="Calibri"/>
              </a:rPr>
              <a:t>Spezialist öffnet Worklist</a:t>
            </a:r>
          </a:p>
        </p:txBody>
      </p:sp>
      <p:sp>
        <p:nvSpPr>
          <p:cNvPr id="13" name="TextBox 12"/>
          <p:cNvSpPr txBox="1"/>
          <p:nvPr/>
        </p:nvSpPr>
        <p:spPr>
          <a:xfrm>
            <a:off x="4460138" y="2130552"/>
            <a:ext cx="3271418" cy="612648"/>
          </a:xfrm>
          <a:prstGeom prst="rect">
            <a:avLst/>
          </a:prstGeom>
          <a:noFill/>
        </p:spPr>
        <p:txBody>
          <a:bodyPr wrap="square" anchor="t" lIns="45720" rIns="45720">
            <a:spAutoFit/>
          </a:bodyPr>
          <a:lstStyle/>
          <a:p>
            <a:pPr algn="l"/>
            <a:r>
              <a:rPr sz="1200" b="0" i="0">
                <a:solidFill>
                  <a:srgbClr val="1F2933"/>
                </a:solidFill>
                <a:latin typeface="Calibri"/>
              </a:rPr>
              <a:t>Process Collections Worklist (F0380): Priorität, Beträge, Aging</a:t>
            </a:r>
          </a:p>
        </p:txBody>
      </p:sp>
      <p:sp>
        <p:nvSpPr>
          <p:cNvPr id="14" name="Rounded Rectangle 13"/>
          <p:cNvSpPr/>
          <p:nvPr/>
        </p:nvSpPr>
        <p:spPr>
          <a:xfrm>
            <a:off x="8097316" y="1554480"/>
            <a:ext cx="3545738" cy="1325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34476" y="169164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3</a:t>
            </a:r>
          </a:p>
        </p:txBody>
      </p:sp>
      <p:sp>
        <p:nvSpPr>
          <p:cNvPr id="16" name="TextBox 15"/>
          <p:cNvSpPr txBox="1"/>
          <p:nvPr/>
        </p:nvSpPr>
        <p:spPr>
          <a:xfrm>
            <a:off x="8673388" y="1691640"/>
            <a:ext cx="2832506" cy="384048"/>
          </a:xfrm>
          <a:prstGeom prst="rect">
            <a:avLst/>
          </a:prstGeom>
          <a:noFill/>
        </p:spPr>
        <p:txBody>
          <a:bodyPr wrap="square" anchor="ctr" lIns="45720" rIns="45720">
            <a:spAutoFit/>
          </a:bodyPr>
          <a:lstStyle/>
          <a:p>
            <a:pPr algn="l"/>
            <a:r>
              <a:rPr sz="1400" b="1" i="0">
                <a:solidFill>
                  <a:srgbClr val="1C4E80"/>
                </a:solidFill>
                <a:latin typeface="Calibri"/>
              </a:rPr>
              <a:t>Kunde öffnen</a:t>
            </a:r>
          </a:p>
        </p:txBody>
      </p:sp>
      <p:sp>
        <p:nvSpPr>
          <p:cNvPr id="17" name="TextBox 16"/>
          <p:cNvSpPr txBox="1"/>
          <p:nvPr/>
        </p:nvSpPr>
        <p:spPr>
          <a:xfrm>
            <a:off x="8234476" y="2130552"/>
            <a:ext cx="3271418" cy="612648"/>
          </a:xfrm>
          <a:prstGeom prst="rect">
            <a:avLst/>
          </a:prstGeom>
          <a:noFill/>
        </p:spPr>
        <p:txBody>
          <a:bodyPr wrap="square" anchor="t" lIns="45720" rIns="45720">
            <a:spAutoFit/>
          </a:bodyPr>
          <a:lstStyle/>
          <a:p>
            <a:pPr algn="l"/>
            <a:r>
              <a:rPr sz="1200" b="0" i="0">
                <a:solidFill>
                  <a:srgbClr val="1F2933"/>
                </a:solidFill>
                <a:latin typeface="Calibri"/>
              </a:rPr>
              <a:t>Process Receivables (F0106A): Rechnungen, Historie, Ansprechpartner anlegen</a:t>
            </a:r>
          </a:p>
        </p:txBody>
      </p:sp>
      <p:sp>
        <p:nvSpPr>
          <p:cNvPr id="18" name="Rounded Rectangle 17"/>
          <p:cNvSpPr/>
          <p:nvPr/>
        </p:nvSpPr>
        <p:spPr>
          <a:xfrm>
            <a:off x="548640" y="3063240"/>
            <a:ext cx="3545738" cy="1325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85800" y="320040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4</a:t>
            </a:r>
          </a:p>
        </p:txBody>
      </p:sp>
      <p:sp>
        <p:nvSpPr>
          <p:cNvPr id="20" name="TextBox 19"/>
          <p:cNvSpPr txBox="1"/>
          <p:nvPr/>
        </p:nvSpPr>
        <p:spPr>
          <a:xfrm>
            <a:off x="1124712" y="3200400"/>
            <a:ext cx="2832506" cy="384048"/>
          </a:xfrm>
          <a:prstGeom prst="rect">
            <a:avLst/>
          </a:prstGeom>
          <a:noFill/>
        </p:spPr>
        <p:txBody>
          <a:bodyPr wrap="square" anchor="ctr" lIns="45720" rIns="45720">
            <a:spAutoFit/>
          </a:bodyPr>
          <a:lstStyle/>
          <a:p>
            <a:pPr algn="l"/>
            <a:r>
              <a:rPr sz="1400" b="1" i="0">
                <a:solidFill>
                  <a:srgbClr val="1C4E80"/>
                </a:solidFill>
                <a:latin typeface="Calibri"/>
              </a:rPr>
              <a:t>Gespräch dokumentieren</a:t>
            </a:r>
          </a:p>
        </p:txBody>
      </p:sp>
      <p:sp>
        <p:nvSpPr>
          <p:cNvPr id="21" name="TextBox 20"/>
          <p:cNvSpPr txBox="1"/>
          <p:nvPr/>
        </p:nvSpPr>
        <p:spPr>
          <a:xfrm>
            <a:off x="685800" y="3639312"/>
            <a:ext cx="3271418" cy="612648"/>
          </a:xfrm>
          <a:prstGeom prst="rect">
            <a:avLst/>
          </a:prstGeom>
          <a:noFill/>
        </p:spPr>
        <p:txBody>
          <a:bodyPr wrap="square" anchor="t" lIns="45720" rIns="45720">
            <a:spAutoFit/>
          </a:bodyPr>
          <a:lstStyle/>
          <a:p>
            <a:pPr algn="l"/>
            <a:r>
              <a:rPr sz="1200" b="0" i="0">
                <a:solidFill>
                  <a:srgbClr val="1F2933"/>
                </a:solidFill>
                <a:latin typeface="Calibri"/>
              </a:rPr>
              <a:t>Promise to Pay für kleine Rechnung, Resubmission für zweite, Dispute für große</a:t>
            </a:r>
          </a:p>
        </p:txBody>
      </p:sp>
      <p:sp>
        <p:nvSpPr>
          <p:cNvPr id="22" name="Rounded Rectangle 21"/>
          <p:cNvSpPr/>
          <p:nvPr/>
        </p:nvSpPr>
        <p:spPr>
          <a:xfrm>
            <a:off x="4322978" y="3063240"/>
            <a:ext cx="3545738" cy="1325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460138" y="320040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5</a:t>
            </a:r>
          </a:p>
        </p:txBody>
      </p:sp>
      <p:sp>
        <p:nvSpPr>
          <p:cNvPr id="24" name="TextBox 23"/>
          <p:cNvSpPr txBox="1"/>
          <p:nvPr/>
        </p:nvSpPr>
        <p:spPr>
          <a:xfrm>
            <a:off x="4899050" y="3200400"/>
            <a:ext cx="2832506" cy="384048"/>
          </a:xfrm>
          <a:prstGeom prst="rect">
            <a:avLst/>
          </a:prstGeom>
          <a:noFill/>
        </p:spPr>
        <p:txBody>
          <a:bodyPr wrap="square" anchor="ctr" lIns="45720" rIns="45720">
            <a:spAutoFit/>
          </a:bodyPr>
          <a:lstStyle/>
          <a:p>
            <a:pPr algn="l"/>
            <a:r>
              <a:rPr sz="1400" b="1" i="0">
                <a:solidFill>
                  <a:srgbClr val="1C4E80"/>
                </a:solidFill>
                <a:latin typeface="Calibri"/>
              </a:rPr>
              <a:t>Kontakt abschließen</a:t>
            </a:r>
          </a:p>
        </p:txBody>
      </p:sp>
      <p:sp>
        <p:nvSpPr>
          <p:cNvPr id="25" name="TextBox 24"/>
          <p:cNvSpPr txBox="1"/>
          <p:nvPr/>
        </p:nvSpPr>
        <p:spPr>
          <a:xfrm>
            <a:off x="4460138" y="3639312"/>
            <a:ext cx="3271418" cy="612648"/>
          </a:xfrm>
          <a:prstGeom prst="rect">
            <a:avLst/>
          </a:prstGeom>
          <a:noFill/>
        </p:spPr>
        <p:txBody>
          <a:bodyPr wrap="square" anchor="t" lIns="45720" rIns="45720">
            <a:spAutoFit/>
          </a:bodyPr>
          <a:lstStyle/>
          <a:p>
            <a:pPr algn="l"/>
            <a:r>
              <a:rPr sz="1200" b="0" i="0">
                <a:solidFill>
                  <a:srgbClr val="1F2933"/>
                </a:solidFill>
                <a:latin typeface="Calibri"/>
              </a:rPr>
              <a:t>Finish Customer Contact: Ergebnis, Notiz, E-Mail Customer Contact Recap</a:t>
            </a:r>
          </a:p>
        </p:txBody>
      </p:sp>
      <p:sp>
        <p:nvSpPr>
          <p:cNvPr id="26" name="Rounded Rectangle 25"/>
          <p:cNvSpPr/>
          <p:nvPr/>
        </p:nvSpPr>
        <p:spPr>
          <a:xfrm>
            <a:off x="8097316" y="3063240"/>
            <a:ext cx="3545738" cy="1325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234476" y="320040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6</a:t>
            </a:r>
          </a:p>
        </p:txBody>
      </p:sp>
      <p:sp>
        <p:nvSpPr>
          <p:cNvPr id="28" name="TextBox 27"/>
          <p:cNvSpPr txBox="1"/>
          <p:nvPr/>
        </p:nvSpPr>
        <p:spPr>
          <a:xfrm>
            <a:off x="8673388" y="3200400"/>
            <a:ext cx="2832506" cy="384048"/>
          </a:xfrm>
          <a:prstGeom prst="rect">
            <a:avLst/>
          </a:prstGeom>
          <a:noFill/>
        </p:spPr>
        <p:txBody>
          <a:bodyPr wrap="square" anchor="ctr" lIns="45720" rIns="45720">
            <a:spAutoFit/>
          </a:bodyPr>
          <a:lstStyle/>
          <a:p>
            <a:pPr algn="l"/>
            <a:r>
              <a:rPr sz="1400" b="1" i="0">
                <a:solidFill>
                  <a:srgbClr val="1C4E80"/>
                </a:solidFill>
                <a:latin typeface="Calibri"/>
              </a:rPr>
              <a:t>Zurück zur Liste</a:t>
            </a:r>
          </a:p>
        </p:txBody>
      </p:sp>
      <p:sp>
        <p:nvSpPr>
          <p:cNvPr id="29" name="TextBox 28"/>
          <p:cNvSpPr txBox="1"/>
          <p:nvPr/>
        </p:nvSpPr>
        <p:spPr>
          <a:xfrm>
            <a:off x="8234476" y="3639312"/>
            <a:ext cx="3271418" cy="612648"/>
          </a:xfrm>
          <a:prstGeom prst="rect">
            <a:avLst/>
          </a:prstGeom>
          <a:noFill/>
        </p:spPr>
        <p:txBody>
          <a:bodyPr wrap="square" anchor="t" lIns="45720" rIns="45720">
            <a:spAutoFit/>
          </a:bodyPr>
          <a:lstStyle/>
          <a:p>
            <a:pPr algn="l"/>
            <a:r>
              <a:rPr sz="1200" b="0" i="0">
                <a:solidFill>
                  <a:srgbClr val="1F2933"/>
                </a:solidFill>
                <a:latin typeface="Calibri"/>
              </a:rPr>
              <a:t>Kunde in My Completed Items; Massenkorrespondenz für zwei weitere Kunden</a:t>
            </a:r>
          </a:p>
        </p:txBody>
      </p:sp>
      <p:sp>
        <p:nvSpPr>
          <p:cNvPr id="30" name="Rounded Rectangle 29"/>
          <p:cNvSpPr/>
          <p:nvPr/>
        </p:nvSpPr>
        <p:spPr>
          <a:xfrm>
            <a:off x="548640" y="4572000"/>
            <a:ext cx="11094415" cy="109728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20" y="4663440"/>
            <a:ext cx="10728655" cy="1005840"/>
          </a:xfrm>
          <a:prstGeom prst="rect">
            <a:avLst/>
          </a:prstGeom>
          <a:noFill/>
        </p:spPr>
        <p:txBody>
          <a:bodyPr wrap="square" lIns="45720" rIns="45720">
            <a:spAutoFit/>
          </a:bodyPr>
          <a:lstStyle/>
          <a:p>
            <a:pPr marL="201168" indent="-201168">
              <a:spcAft>
                <a:spcPts val="400"/>
              </a:spcAft>
              <a:buChar char="•"/>
            </a:pPr>
            <a:r>
              <a:rPr sz="1200" b="1" i="0">
                <a:solidFill>
                  <a:srgbClr val="1F2933"/>
                </a:solidFill>
                <a:latin typeface="Calibri"/>
              </a:rPr>
              <a:t>Vorbereitung am Vortag: </a:t>
            </a:r>
            <a:r>
              <a:rPr sz="1200" b="0" i="0">
                <a:solidFill>
                  <a:srgbClr val="1F2933"/>
                </a:solidFill>
                <a:latin typeface="Calibri"/>
              </a:rPr>
              <a:t>Strategie aktiv, Gruppe mit Demo-User, Kunde mit Profil und Spezialist, überfällige Posten &gt; 1.500 EUR und ≥ 5 Tage, Sachbearbeiter 01 im Kundenstamm.</a:t>
            </a:r>
          </a:p>
          <a:p>
            <a:pPr marL="201168" indent="-201168">
              <a:spcAft>
                <a:spcPts val="400"/>
              </a:spcAft>
              <a:buChar char="•"/>
            </a:pPr>
            <a:r>
              <a:rPr sz="1200" b="1" i="0">
                <a:solidFill>
                  <a:srgbClr val="1F2933"/>
                </a:solidFill>
                <a:latin typeface="Calibri"/>
              </a:rPr>
              <a:t>Stolperfallen: </a:t>
            </a:r>
            <a:r>
              <a:rPr sz="1200" b="0" i="0">
                <a:solidFill>
                  <a:srgbClr val="1F2933"/>
                </a:solidFill>
                <a:latin typeface="Calibri"/>
              </a:rPr>
              <a:t>Worklist nur nächtlich; kein Mahnvorschlag bei Mahnlauf jünger als 14 Tage; E-Mail-Versand braucht Output-Konfiguration (Vorschau reicht).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B1  FACHLICHER KONTEXT</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Eine Reihenfolge statt einer Liste: Warum die Worklist berechnet wird</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B  Worklist-Management</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9</a:t>
            </a:r>
          </a:p>
        </p:txBody>
      </p:sp>
      <p:sp>
        <p:nvSpPr>
          <p:cNvPr id="6" name="Rounded Rectangle 5"/>
          <p:cNvSpPr/>
          <p:nvPr/>
        </p:nvSpPr>
        <p:spPr>
          <a:xfrm>
            <a:off x="548640" y="1554480"/>
            <a:ext cx="5410047" cy="210312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691640"/>
            <a:ext cx="5135727" cy="365760"/>
          </a:xfrm>
          <a:prstGeom prst="rect">
            <a:avLst/>
          </a:prstGeom>
          <a:noFill/>
        </p:spPr>
        <p:txBody>
          <a:bodyPr wrap="square" anchor="ctr" lIns="45720" rIns="45720">
            <a:spAutoFit/>
          </a:bodyPr>
          <a:lstStyle/>
          <a:p>
            <a:pPr algn="l"/>
            <a:r>
              <a:rPr sz="1400" b="1" i="0">
                <a:solidFill>
                  <a:srgbClr val="1C4E80"/>
                </a:solidFill>
                <a:latin typeface="Calibri"/>
              </a:rPr>
              <a:t>Das Problem ohne Worklist</a:t>
            </a:r>
          </a:p>
        </p:txBody>
      </p:sp>
      <p:sp>
        <p:nvSpPr>
          <p:cNvPr id="8" name="TextBox 7"/>
          <p:cNvSpPr txBox="1"/>
          <p:nvPr/>
        </p:nvSpPr>
        <p:spPr>
          <a:xfrm>
            <a:off x="685800" y="2075688"/>
            <a:ext cx="5135727" cy="144475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Liste aller überfälligen Kunden ist zu lang, Auswahl nach Bauchgefühl</a:t>
            </a:r>
          </a:p>
          <a:p>
            <a:pPr marL="201168" indent="-201168">
              <a:spcAft>
                <a:spcPts val="300"/>
              </a:spcAft>
              <a:buChar char="•"/>
            </a:pPr>
            <a:r>
              <a:rPr sz="1200" b="0" i="0">
                <a:solidFill>
                  <a:srgbClr val="1F2933"/>
                </a:solidFill>
                <a:latin typeface="Calibri"/>
              </a:rPr>
              <a:t>Excel-Listen je Mitarbeiter, kein gemeinsamer Stand</a:t>
            </a:r>
          </a:p>
          <a:p>
            <a:pPr marL="201168" indent="-201168">
              <a:spcAft>
                <a:spcPts val="300"/>
              </a:spcAft>
              <a:buChar char="•"/>
            </a:pPr>
            <a:r>
              <a:rPr sz="1200" b="0" i="0">
                <a:solidFill>
                  <a:srgbClr val="1F2933"/>
                </a:solidFill>
                <a:latin typeface="Calibri"/>
              </a:rPr>
              <a:t>Bei Vertretung geht die Historie verloren</a:t>
            </a:r>
          </a:p>
          <a:p>
            <a:pPr marL="201168" indent="-201168">
              <a:spcAft>
                <a:spcPts val="300"/>
              </a:spcAft>
              <a:buChar char="•"/>
            </a:pPr>
            <a:r>
              <a:rPr sz="1200" b="0" i="0">
                <a:solidFill>
                  <a:srgbClr val="1F2933"/>
                </a:solidFill>
                <a:latin typeface="Calibri"/>
              </a:rPr>
              <a:t>Manager sieht nicht, was das Team bewegt</a:t>
            </a:r>
          </a:p>
        </p:txBody>
      </p:sp>
      <p:sp>
        <p:nvSpPr>
          <p:cNvPr id="9" name="Rounded Rectangle 8"/>
          <p:cNvSpPr/>
          <p:nvPr/>
        </p:nvSpPr>
        <p:spPr>
          <a:xfrm>
            <a:off x="6233007" y="1554480"/>
            <a:ext cx="5410047" cy="210312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70167" y="1691640"/>
            <a:ext cx="5135727" cy="365760"/>
          </a:xfrm>
          <a:prstGeom prst="rect">
            <a:avLst/>
          </a:prstGeom>
          <a:noFill/>
        </p:spPr>
        <p:txBody>
          <a:bodyPr wrap="square" anchor="ctr" lIns="45720" rIns="45720">
            <a:spAutoFit/>
          </a:bodyPr>
          <a:lstStyle/>
          <a:p>
            <a:pPr algn="l"/>
            <a:r>
              <a:rPr sz="1400" b="1" i="0">
                <a:solidFill>
                  <a:srgbClr val="1C4E80"/>
                </a:solidFill>
                <a:latin typeface="Calibri"/>
              </a:rPr>
              <a:t>Was die Worklist leistet</a:t>
            </a:r>
          </a:p>
        </p:txBody>
      </p:sp>
      <p:sp>
        <p:nvSpPr>
          <p:cNvPr id="11" name="TextBox 10"/>
          <p:cNvSpPr txBox="1"/>
          <p:nvPr/>
        </p:nvSpPr>
        <p:spPr>
          <a:xfrm>
            <a:off x="6370167" y="2075688"/>
            <a:ext cx="5135727" cy="144475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Täglich neu berechnete Reihenfolge nach Risiko und Betrag</a:t>
            </a:r>
          </a:p>
          <a:p>
            <a:pPr marL="201168" indent="-201168">
              <a:spcAft>
                <a:spcPts val="300"/>
              </a:spcAft>
              <a:buChar char="•"/>
            </a:pPr>
            <a:r>
              <a:rPr sz="1200" b="0" i="0">
                <a:solidFill>
                  <a:srgbClr val="1F2933"/>
                </a:solidFill>
                <a:latin typeface="Calibri"/>
              </a:rPr>
              <a:t>Kunden mit Wiedervorlage oder laufendem Versprechen verschwinden automatisch</a:t>
            </a:r>
          </a:p>
          <a:p>
            <a:pPr marL="201168" indent="-201168">
              <a:spcAft>
                <a:spcPts val="300"/>
              </a:spcAft>
              <a:buChar char="•"/>
            </a:pPr>
            <a:r>
              <a:rPr sz="1200" b="0" i="0">
                <a:solidFill>
                  <a:srgbClr val="1F2933"/>
                </a:solidFill>
                <a:latin typeface="Calibri"/>
              </a:rPr>
              <a:t>Vertreter sieht dieselbe Liste mit derselben Historie</a:t>
            </a:r>
          </a:p>
          <a:p>
            <a:pPr marL="201168" indent="-201168">
              <a:spcAft>
                <a:spcPts val="300"/>
              </a:spcAft>
              <a:buChar char="•"/>
            </a:pPr>
            <a:r>
              <a:rPr sz="1200" b="0" i="0">
                <a:solidFill>
                  <a:srgbClr val="1F2933"/>
                </a:solidFill>
                <a:latin typeface="Calibri"/>
              </a:rPr>
              <a:t>Manager verteilt um, sieht Fortschritt je Spezialist</a:t>
            </a:r>
          </a:p>
        </p:txBody>
      </p:sp>
      <p:sp>
        <p:nvSpPr>
          <p:cNvPr id="12" name="TextBox 11"/>
          <p:cNvSpPr txBox="1"/>
          <p:nvPr/>
        </p:nvSpPr>
        <p:spPr>
          <a:xfrm>
            <a:off x="548640" y="3886200"/>
            <a:ext cx="11094415" cy="365760"/>
          </a:xfrm>
          <a:prstGeom prst="rect">
            <a:avLst/>
          </a:prstGeom>
          <a:noFill/>
        </p:spPr>
        <p:txBody>
          <a:bodyPr wrap="square" anchor="t" lIns="45720" rIns="45720">
            <a:spAutoFit/>
          </a:bodyPr>
          <a:lstStyle/>
          <a:p>
            <a:pPr algn="l"/>
            <a:r>
              <a:rPr sz="1500" b="1" i="0">
                <a:solidFill>
                  <a:srgbClr val="1C4E80"/>
                </a:solidFill>
                <a:latin typeface="Calibri"/>
              </a:rPr>
              <a:t>Vier Nutzergruppen, eine Datenbasis</a:t>
            </a:r>
          </a:p>
        </p:txBody>
      </p:sp>
      <p:sp>
        <p:nvSpPr>
          <p:cNvPr id="13" name="Rounded Rectangle 12"/>
          <p:cNvSpPr/>
          <p:nvPr/>
        </p:nvSpPr>
        <p:spPr>
          <a:xfrm>
            <a:off x="548640" y="4297680"/>
            <a:ext cx="2602153" cy="16002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4434840"/>
            <a:ext cx="2327833" cy="365760"/>
          </a:xfrm>
          <a:prstGeom prst="rect">
            <a:avLst/>
          </a:prstGeom>
          <a:noFill/>
        </p:spPr>
        <p:txBody>
          <a:bodyPr wrap="square" anchor="ctr" lIns="45720" rIns="45720">
            <a:spAutoFit/>
          </a:bodyPr>
          <a:lstStyle/>
          <a:p>
            <a:pPr algn="l"/>
            <a:r>
              <a:rPr sz="1400" b="1" i="0">
                <a:solidFill>
                  <a:srgbClr val="0F8B8D"/>
                </a:solidFill>
                <a:latin typeface="Calibri"/>
              </a:rPr>
              <a:t>Spezialist</a:t>
            </a:r>
          </a:p>
        </p:txBody>
      </p:sp>
      <p:sp>
        <p:nvSpPr>
          <p:cNvPr id="15" name="TextBox 14"/>
          <p:cNvSpPr txBox="1"/>
          <p:nvPr/>
        </p:nvSpPr>
        <p:spPr>
          <a:xfrm>
            <a:off x="685800" y="4818888"/>
            <a:ext cx="2327833" cy="941832"/>
          </a:xfrm>
          <a:prstGeom prst="rect">
            <a:avLst/>
          </a:prstGeom>
          <a:noFill/>
        </p:spPr>
        <p:txBody>
          <a:bodyPr wrap="square" anchor="t" lIns="45720" rIns="45720">
            <a:spAutoFit/>
          </a:bodyPr>
          <a:lstStyle/>
          <a:p>
            <a:pPr algn="l"/>
            <a:r>
              <a:rPr sz="1200" b="0" i="0">
                <a:solidFill>
                  <a:srgbClr val="1F2933"/>
                </a:solidFill>
                <a:latin typeface="Calibri"/>
              </a:rPr>
              <a:t>Morgens öffnen, von oben abarbeiten, jeden Kontakt mit Ergebnis abschließen</a:t>
            </a:r>
          </a:p>
        </p:txBody>
      </p:sp>
      <p:sp>
        <p:nvSpPr>
          <p:cNvPr id="16" name="Rounded Rectangle 15"/>
          <p:cNvSpPr/>
          <p:nvPr/>
        </p:nvSpPr>
        <p:spPr>
          <a:xfrm>
            <a:off x="3379393" y="4297680"/>
            <a:ext cx="2602153" cy="16002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16553" y="4434840"/>
            <a:ext cx="2327833" cy="365760"/>
          </a:xfrm>
          <a:prstGeom prst="rect">
            <a:avLst/>
          </a:prstGeom>
          <a:noFill/>
        </p:spPr>
        <p:txBody>
          <a:bodyPr wrap="square" anchor="ctr" lIns="45720" rIns="45720">
            <a:spAutoFit/>
          </a:bodyPr>
          <a:lstStyle/>
          <a:p>
            <a:pPr algn="l"/>
            <a:r>
              <a:rPr sz="1400" b="1" i="0">
                <a:solidFill>
                  <a:srgbClr val="0F8B8D"/>
                </a:solidFill>
                <a:latin typeface="Calibri"/>
              </a:rPr>
              <a:t>Vertretung</a:t>
            </a:r>
          </a:p>
        </p:txBody>
      </p:sp>
      <p:sp>
        <p:nvSpPr>
          <p:cNvPr id="18" name="TextBox 17"/>
          <p:cNvSpPr txBox="1"/>
          <p:nvPr/>
        </p:nvSpPr>
        <p:spPr>
          <a:xfrm>
            <a:off x="3516553" y="4818888"/>
            <a:ext cx="2327833" cy="941832"/>
          </a:xfrm>
          <a:prstGeom prst="rect">
            <a:avLst/>
          </a:prstGeom>
          <a:noFill/>
        </p:spPr>
        <p:txBody>
          <a:bodyPr wrap="square" anchor="t" lIns="45720" rIns="45720">
            <a:spAutoFit/>
          </a:bodyPr>
          <a:lstStyle/>
          <a:p>
            <a:pPr algn="l"/>
            <a:r>
              <a:rPr sz="1200" b="0" i="0">
                <a:solidFill>
                  <a:srgbClr val="1F2933"/>
                </a:solidFill>
                <a:latin typeface="Calibri"/>
              </a:rPr>
              <a:t>Urlaub oder Krankheit: Assigned to Others zeigt die Liste des Kollegen</a:t>
            </a:r>
          </a:p>
        </p:txBody>
      </p:sp>
      <p:sp>
        <p:nvSpPr>
          <p:cNvPr id="19" name="Rounded Rectangle 18"/>
          <p:cNvSpPr/>
          <p:nvPr/>
        </p:nvSpPr>
        <p:spPr>
          <a:xfrm>
            <a:off x="6210147" y="4297680"/>
            <a:ext cx="2602153" cy="16002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47307" y="4434840"/>
            <a:ext cx="2327833" cy="365760"/>
          </a:xfrm>
          <a:prstGeom prst="rect">
            <a:avLst/>
          </a:prstGeom>
          <a:noFill/>
        </p:spPr>
        <p:txBody>
          <a:bodyPr wrap="square" anchor="ctr" lIns="45720" rIns="45720">
            <a:spAutoFit/>
          </a:bodyPr>
          <a:lstStyle/>
          <a:p>
            <a:pPr algn="l"/>
            <a:r>
              <a:rPr sz="1400" b="1" i="0">
                <a:solidFill>
                  <a:srgbClr val="0F8B8D"/>
                </a:solidFill>
                <a:latin typeface="Calibri"/>
              </a:rPr>
              <a:t>Manager</a:t>
            </a:r>
          </a:p>
        </p:txBody>
      </p:sp>
      <p:sp>
        <p:nvSpPr>
          <p:cNvPr id="21" name="TextBox 20"/>
          <p:cNvSpPr txBox="1"/>
          <p:nvPr/>
        </p:nvSpPr>
        <p:spPr>
          <a:xfrm>
            <a:off x="6347307" y="4818888"/>
            <a:ext cx="2327833" cy="941832"/>
          </a:xfrm>
          <a:prstGeom prst="rect">
            <a:avLst/>
          </a:prstGeom>
          <a:noFill/>
        </p:spPr>
        <p:txBody>
          <a:bodyPr wrap="square" anchor="t" lIns="45720" rIns="45720">
            <a:spAutoFit/>
          </a:bodyPr>
          <a:lstStyle/>
          <a:p>
            <a:pPr algn="l"/>
            <a:r>
              <a:rPr sz="1200" b="0" i="0">
                <a:solidFill>
                  <a:srgbClr val="1F2933"/>
                </a:solidFill>
                <a:latin typeface="Calibri"/>
              </a:rPr>
              <a:t>Alle überfälligen Kunden, Zuständigkeiten, Lücken, Umverteilung, Sperren</a:t>
            </a:r>
          </a:p>
        </p:txBody>
      </p:sp>
      <p:sp>
        <p:nvSpPr>
          <p:cNvPr id="22" name="Rounded Rectangle 21"/>
          <p:cNvSpPr/>
          <p:nvPr/>
        </p:nvSpPr>
        <p:spPr>
          <a:xfrm>
            <a:off x="9040901" y="4297680"/>
            <a:ext cx="2602153" cy="16002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78061" y="4434840"/>
            <a:ext cx="2327833" cy="365760"/>
          </a:xfrm>
          <a:prstGeom prst="rect">
            <a:avLst/>
          </a:prstGeom>
          <a:noFill/>
        </p:spPr>
        <p:txBody>
          <a:bodyPr wrap="square" anchor="ctr" lIns="45720" rIns="45720">
            <a:spAutoFit/>
          </a:bodyPr>
          <a:lstStyle/>
          <a:p>
            <a:pPr algn="l"/>
            <a:r>
              <a:rPr sz="1400" b="1" i="0">
                <a:solidFill>
                  <a:srgbClr val="0F8B8D"/>
                </a:solidFill>
                <a:latin typeface="Calibri"/>
              </a:rPr>
              <a:t>Massenbearbeitung</a:t>
            </a:r>
          </a:p>
        </p:txBody>
      </p:sp>
      <p:sp>
        <p:nvSpPr>
          <p:cNvPr id="24" name="TextBox 23"/>
          <p:cNvSpPr txBox="1"/>
          <p:nvPr/>
        </p:nvSpPr>
        <p:spPr>
          <a:xfrm>
            <a:off x="9178061" y="4818888"/>
            <a:ext cx="2327833" cy="941832"/>
          </a:xfrm>
          <a:prstGeom prst="rect">
            <a:avLst/>
          </a:prstGeom>
          <a:noFill/>
        </p:spPr>
        <p:txBody>
          <a:bodyPr wrap="square" anchor="t" lIns="45720" rIns="45720">
            <a:spAutoFit/>
          </a:bodyPr>
          <a:lstStyle/>
          <a:p>
            <a:pPr algn="l"/>
            <a:r>
              <a:rPr sz="1200" b="0" i="0">
                <a:solidFill>
                  <a:srgbClr val="1F2933"/>
                </a:solidFill>
                <a:latin typeface="Calibri"/>
              </a:rPr>
              <a:t>Kleine Beträge: Serien-Korrespondenz aus der Liste statt Einzelkontakt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B2  PROZESS UND APPS</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Zwei Sichten auf dieselben Kunden: Spezialist und Manager</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B  Worklist-Management</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10</a:t>
            </a:r>
          </a:p>
        </p:txBody>
      </p:sp>
      <p:sp>
        <p:nvSpPr>
          <p:cNvPr id="6" name="Rounded Rectangle 5"/>
          <p:cNvSpPr/>
          <p:nvPr/>
        </p:nvSpPr>
        <p:spPr>
          <a:xfrm>
            <a:off x="548640" y="1554480"/>
            <a:ext cx="5410047" cy="32004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691640"/>
            <a:ext cx="5135727" cy="365760"/>
          </a:xfrm>
          <a:prstGeom prst="rect">
            <a:avLst/>
          </a:prstGeom>
          <a:noFill/>
        </p:spPr>
        <p:txBody>
          <a:bodyPr wrap="square" anchor="ctr" lIns="45720" rIns="45720">
            <a:spAutoFit/>
          </a:bodyPr>
          <a:lstStyle/>
          <a:p>
            <a:pPr algn="l"/>
            <a:r>
              <a:rPr sz="1400" b="1" i="0">
                <a:solidFill>
                  <a:srgbClr val="1C4E80"/>
                </a:solidFill>
                <a:latin typeface="Calibri"/>
              </a:rPr>
              <a:t>Process Collections Worklist (F0380)  |  AR Accountant</a:t>
            </a:r>
          </a:p>
        </p:txBody>
      </p:sp>
      <p:sp>
        <p:nvSpPr>
          <p:cNvPr id="8" name="TextBox 7"/>
          <p:cNvSpPr txBox="1"/>
          <p:nvPr/>
        </p:nvSpPr>
        <p:spPr>
          <a:xfrm>
            <a:off x="685800" y="2075688"/>
            <a:ext cx="5135727" cy="2542032"/>
          </a:xfrm>
          <a:prstGeom prst="rect">
            <a:avLst/>
          </a:prstGeom>
          <a:noFill/>
        </p:spPr>
        <p:txBody>
          <a:bodyPr wrap="square" lIns="45720" rIns="45720">
            <a:spAutoFit/>
          </a:bodyPr>
          <a:lstStyle/>
          <a:p>
            <a:pPr marL="201168" indent="-201168">
              <a:spcAft>
                <a:spcPts val="300"/>
              </a:spcAft>
              <a:buChar char="•"/>
            </a:pPr>
            <a:r>
              <a:rPr sz="1200" b="1" i="0">
                <a:solidFill>
                  <a:srgbClr val="1F2933"/>
                </a:solidFill>
                <a:latin typeface="Calibri"/>
              </a:rPr>
              <a:t>My Open Items: </a:t>
            </a:r>
            <a:r>
              <a:rPr sz="1200" b="0" i="0">
                <a:solidFill>
                  <a:srgbClr val="1F2933"/>
                </a:solidFill>
                <a:latin typeface="Calibri"/>
              </a:rPr>
              <a:t>Kunden nach Priorität mit überfälligem Betrag, Aging, Ergebnis letzter Kontakt</a:t>
            </a:r>
          </a:p>
          <a:p>
            <a:pPr marL="201168" indent="-201168">
              <a:spcAft>
                <a:spcPts val="300"/>
              </a:spcAft>
              <a:buChar char="•"/>
            </a:pPr>
            <a:r>
              <a:rPr sz="1200" b="1" i="0">
                <a:solidFill>
                  <a:srgbClr val="1F2933"/>
                </a:solidFill>
                <a:latin typeface="Calibri"/>
              </a:rPr>
              <a:t>My Completed Items: </a:t>
            </a:r>
            <a:r>
              <a:rPr sz="1200" b="0" i="0">
                <a:solidFill>
                  <a:srgbClr val="1F2933"/>
                </a:solidFill>
                <a:latin typeface="Calibri"/>
              </a:rPr>
              <a:t>heute abgeschlossene Kontakte</a:t>
            </a:r>
          </a:p>
          <a:p>
            <a:pPr marL="201168" indent="-201168">
              <a:spcAft>
                <a:spcPts val="300"/>
              </a:spcAft>
              <a:buChar char="•"/>
            </a:pPr>
            <a:r>
              <a:rPr sz="1200" b="1" i="0">
                <a:solidFill>
                  <a:srgbClr val="1F2933"/>
                </a:solidFill>
                <a:latin typeface="Calibri"/>
              </a:rPr>
              <a:t>Kundendialog: </a:t>
            </a:r>
            <a:r>
              <a:rPr sz="1200" b="0" i="0">
                <a:solidFill>
                  <a:srgbClr val="1F2933"/>
                </a:solidFill>
                <a:latin typeface="Calibri"/>
              </a:rPr>
              <a:t>Adresse, Ansprechpartner, Links zu Kundenposten, Zahlungseingang, Process Receivables</a:t>
            </a:r>
          </a:p>
          <a:p>
            <a:pPr marL="201168" indent="-201168">
              <a:spcAft>
                <a:spcPts val="300"/>
              </a:spcAft>
              <a:buChar char="•"/>
            </a:pPr>
            <a:r>
              <a:rPr sz="1200" b="1" i="0">
                <a:solidFill>
                  <a:srgbClr val="1F2933"/>
                </a:solidFill>
                <a:latin typeface="Calibri"/>
              </a:rPr>
              <a:t>Assigned to Others: </a:t>
            </a:r>
            <a:r>
              <a:rPr sz="1200" b="0" i="0">
                <a:solidFill>
                  <a:srgbClr val="1F2933"/>
                </a:solidFill>
                <a:latin typeface="Calibri"/>
              </a:rPr>
              <a:t>Worklist eines Kollegen für Vertretung</a:t>
            </a:r>
          </a:p>
          <a:p>
            <a:pPr marL="201168" indent="-201168">
              <a:spcAft>
                <a:spcPts val="300"/>
              </a:spcAft>
              <a:buChar char="•"/>
            </a:pPr>
            <a:r>
              <a:rPr sz="1200" b="1" i="0">
                <a:solidFill>
                  <a:srgbClr val="1F2933"/>
                </a:solidFill>
                <a:latin typeface="Calibri"/>
              </a:rPr>
              <a:t>Create Correspondences: </a:t>
            </a:r>
            <a:r>
              <a:rPr sz="1200" b="0" i="0">
                <a:solidFill>
                  <a:srgbClr val="1F2933"/>
                </a:solidFill>
                <a:latin typeface="Calibri"/>
              </a:rPr>
              <a:t>Massenkorrespondenz mit Korrespondenzart, Datum, E-Mail-Template; Kunden wandern nach Completed</a:t>
            </a:r>
          </a:p>
        </p:txBody>
      </p:sp>
      <p:sp>
        <p:nvSpPr>
          <p:cNvPr id="9" name="Rounded Rectangle 8"/>
          <p:cNvSpPr/>
          <p:nvPr/>
        </p:nvSpPr>
        <p:spPr>
          <a:xfrm>
            <a:off x="6233007" y="1554480"/>
            <a:ext cx="5410047" cy="320040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70167" y="1691640"/>
            <a:ext cx="5135727" cy="365760"/>
          </a:xfrm>
          <a:prstGeom prst="rect">
            <a:avLst/>
          </a:prstGeom>
          <a:noFill/>
        </p:spPr>
        <p:txBody>
          <a:bodyPr wrap="square" anchor="ctr" lIns="45720" rIns="45720">
            <a:spAutoFit/>
          </a:bodyPr>
          <a:lstStyle/>
          <a:p>
            <a:pPr algn="l"/>
            <a:r>
              <a:rPr sz="1400" b="1" i="0">
                <a:solidFill>
                  <a:srgbClr val="1C4E80"/>
                </a:solidFill>
                <a:latin typeface="Calibri"/>
              </a:rPr>
              <a:t>Supervise Collections Worklist (F2375)  |  AR Manager</a:t>
            </a:r>
          </a:p>
        </p:txBody>
      </p:sp>
      <p:sp>
        <p:nvSpPr>
          <p:cNvPr id="11" name="TextBox 10"/>
          <p:cNvSpPr txBox="1"/>
          <p:nvPr/>
        </p:nvSpPr>
        <p:spPr>
          <a:xfrm>
            <a:off x="6370167" y="2075688"/>
            <a:ext cx="5135727" cy="2542032"/>
          </a:xfrm>
          <a:prstGeom prst="rect">
            <a:avLst/>
          </a:prstGeom>
          <a:noFill/>
        </p:spPr>
        <p:txBody>
          <a:bodyPr wrap="square" lIns="45720" rIns="45720">
            <a:spAutoFit/>
          </a:bodyPr>
          <a:lstStyle/>
          <a:p>
            <a:pPr marL="201168" indent="-201168">
              <a:spcAft>
                <a:spcPts val="300"/>
              </a:spcAft>
              <a:buChar char="•"/>
            </a:pPr>
            <a:r>
              <a:rPr sz="1200" b="1" i="0">
                <a:solidFill>
                  <a:srgbClr val="1F2933"/>
                </a:solidFill>
                <a:latin typeface="Calibri"/>
              </a:rPr>
              <a:t>Gesamtsicht: </a:t>
            </a:r>
            <a:r>
              <a:rPr sz="1200" b="0" i="0">
                <a:solidFill>
                  <a:srgbClr val="1F2933"/>
                </a:solidFill>
                <a:latin typeface="Calibri"/>
              </a:rPr>
              <a:t>alle Geschäftspartner mit überfälligen Forderungen, Spalte Spezialist</a:t>
            </a:r>
          </a:p>
          <a:p>
            <a:pPr marL="201168" indent="-201168">
              <a:spcAft>
                <a:spcPts val="300"/>
              </a:spcAft>
              <a:buChar char="•"/>
            </a:pPr>
            <a:r>
              <a:rPr sz="1200" b="1" i="0">
                <a:solidFill>
                  <a:srgbClr val="1F2933"/>
                </a:solidFill>
                <a:latin typeface="Calibri"/>
              </a:rPr>
              <a:t>Assign to Specialist: </a:t>
            </a:r>
            <a:r>
              <a:rPr sz="1200" b="0" i="0">
                <a:solidFill>
                  <a:srgbClr val="1F2933"/>
                </a:solidFill>
                <a:latin typeface="Calibri"/>
              </a:rPr>
              <a:t>Kunden ohne Zuständigen zuweisen, Überlast umverteilen</a:t>
            </a:r>
          </a:p>
          <a:p>
            <a:pPr marL="201168" indent="-201168">
              <a:spcAft>
                <a:spcPts val="300"/>
              </a:spcAft>
              <a:buChar char="•"/>
            </a:pPr>
            <a:r>
              <a:rPr sz="1200" b="1" i="0">
                <a:solidFill>
                  <a:srgbClr val="1F2933"/>
                </a:solidFill>
                <a:latin typeface="Calibri"/>
              </a:rPr>
              <a:t>Drilldown: </a:t>
            </a:r>
            <a:r>
              <a:rPr sz="1200" b="0" i="0">
                <a:solidFill>
                  <a:srgbClr val="1F2933"/>
                </a:solidFill>
                <a:latin typeface="Calibri"/>
              </a:rPr>
              <a:t>Kundenposten, Belege, Journal Entry</a:t>
            </a:r>
          </a:p>
          <a:p>
            <a:pPr marL="201168" indent="-201168">
              <a:spcAft>
                <a:spcPts val="300"/>
              </a:spcAft>
              <a:buChar char="•"/>
            </a:pPr>
            <a:r>
              <a:rPr sz="1200" b="1" i="0">
                <a:solidFill>
                  <a:srgbClr val="1F2933"/>
                </a:solidFill>
                <a:latin typeface="Calibri"/>
              </a:rPr>
              <a:t>Sperren: </a:t>
            </a:r>
            <a:r>
              <a:rPr sz="1200" b="0" i="0">
                <a:solidFill>
                  <a:srgbClr val="1F2933"/>
                </a:solidFill>
                <a:latin typeface="Calibri"/>
              </a:rPr>
              <a:t>Mahnsperre und Zahlsperre je Posten mit Grund und Notiz</a:t>
            </a:r>
          </a:p>
          <a:p>
            <a:pPr marL="201168" indent="-201168">
              <a:spcAft>
                <a:spcPts val="300"/>
              </a:spcAft>
              <a:buChar char="•"/>
            </a:pPr>
            <a:r>
              <a:rPr sz="1200" b="1" i="0">
                <a:solidFill>
                  <a:srgbClr val="1F2933"/>
                </a:solidFill>
                <a:latin typeface="Calibri"/>
              </a:rPr>
              <a:t>Reporting daneben: </a:t>
            </a:r>
            <a:r>
              <a:rPr sz="1200" b="0" i="0">
                <a:solidFill>
                  <a:srgbClr val="1F2933"/>
                </a:solidFill>
                <a:latin typeface="Calibri"/>
              </a:rPr>
              <a:t>Collection Progress (F1738), Promise to Pay (F1753), Cash Collection Tracker (F3182)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B3  ERGEBNISOBJEKTE</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Aus dem Gespräch wird ein Prozessschritt</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B  Worklist-Management</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11</a:t>
            </a:r>
          </a:p>
        </p:txBody>
      </p:sp>
      <p:sp>
        <p:nvSpPr>
          <p:cNvPr id="6" name="Rounded Rectangle 5"/>
          <p:cNvSpPr/>
          <p:nvPr/>
        </p:nvSpPr>
        <p:spPr>
          <a:xfrm>
            <a:off x="548640" y="1554480"/>
            <a:ext cx="3515258" cy="28346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1691640"/>
            <a:ext cx="3149498" cy="411480"/>
          </a:xfrm>
          <a:prstGeom prst="rect">
            <a:avLst/>
          </a:prstGeom>
          <a:noFill/>
        </p:spPr>
        <p:txBody>
          <a:bodyPr wrap="square" anchor="t" lIns="45720" rIns="45720">
            <a:spAutoFit/>
          </a:bodyPr>
          <a:lstStyle/>
          <a:p>
            <a:pPr algn="l"/>
            <a:r>
              <a:rPr sz="1700" b="1" i="0">
                <a:solidFill>
                  <a:srgbClr val="1C4E80"/>
                </a:solidFill>
                <a:latin typeface="Calibri"/>
              </a:rPr>
              <a:t>Zahlungsversprechen</a:t>
            </a:r>
          </a:p>
        </p:txBody>
      </p:sp>
      <p:sp>
        <p:nvSpPr>
          <p:cNvPr id="8" name="TextBox 7"/>
          <p:cNvSpPr txBox="1"/>
          <p:nvPr/>
        </p:nvSpPr>
        <p:spPr>
          <a:xfrm>
            <a:off x="731520" y="2103120"/>
            <a:ext cx="3149498" cy="320040"/>
          </a:xfrm>
          <a:prstGeom prst="rect">
            <a:avLst/>
          </a:prstGeom>
          <a:noFill/>
        </p:spPr>
        <p:txBody>
          <a:bodyPr wrap="square" anchor="t" lIns="45720" rIns="45720">
            <a:spAutoFit/>
          </a:bodyPr>
          <a:lstStyle/>
          <a:p>
            <a:pPr algn="l"/>
            <a:r>
              <a:rPr sz="1100" b="0" i="1">
                <a:solidFill>
                  <a:srgbClr val="5F6B7A"/>
                </a:solidFill>
                <a:latin typeface="Calibri"/>
              </a:rPr>
              <a:t>Promise to Pay (F4710)</a:t>
            </a:r>
          </a:p>
        </p:txBody>
      </p:sp>
      <p:sp>
        <p:nvSpPr>
          <p:cNvPr id="9" name="TextBox 8"/>
          <p:cNvSpPr txBox="1"/>
          <p:nvPr/>
        </p:nvSpPr>
        <p:spPr>
          <a:xfrm>
            <a:off x="731520" y="2468880"/>
            <a:ext cx="3149498" cy="1828800"/>
          </a:xfrm>
          <a:prstGeom prst="rect">
            <a:avLst/>
          </a:prstGeom>
          <a:noFill/>
        </p:spPr>
        <p:txBody>
          <a:bodyPr wrap="square" lIns="45720" rIns="45720">
            <a:spAutoFit/>
          </a:bodyPr>
          <a:lstStyle/>
          <a:p>
            <a:pPr marL="201168" indent="-201168">
              <a:spcAft>
                <a:spcPts val="400"/>
              </a:spcAft>
              <a:buChar char="•"/>
            </a:pPr>
            <a:r>
              <a:rPr sz="1200" b="0" i="0">
                <a:solidFill>
                  <a:srgbClr val="1F2933"/>
                </a:solidFill>
                <a:latin typeface="Calibri"/>
              </a:rPr>
              <a:t>Kunde sagt Betrag und Datum zu</a:t>
            </a:r>
          </a:p>
          <a:p>
            <a:pPr marL="201168" indent="-201168">
              <a:spcAft>
                <a:spcPts val="400"/>
              </a:spcAft>
              <a:buChar char="•"/>
            </a:pPr>
            <a:r>
              <a:rPr sz="1200" b="0" i="0">
                <a:solidFill>
                  <a:srgbClr val="1F2933"/>
                </a:solidFill>
                <a:latin typeface="Calibri"/>
              </a:rPr>
              <a:t>Posten wird nicht gemahnt, solange das Versprechen läuft</a:t>
            </a:r>
          </a:p>
          <a:p>
            <a:pPr marL="201168" indent="-201168">
              <a:spcAft>
                <a:spcPts val="400"/>
              </a:spcAft>
              <a:buChar char="•"/>
            </a:pPr>
            <a:r>
              <a:rPr sz="1200" b="0" i="0">
                <a:solidFill>
                  <a:srgbClr val="1F2933"/>
                </a:solidFill>
                <a:latin typeface="Calibri"/>
              </a:rPr>
              <a:t>System prüft am Fälligkeitstag: Kept oder Broken</a:t>
            </a:r>
          </a:p>
          <a:p>
            <a:pPr marL="201168" indent="-201168">
              <a:spcAft>
                <a:spcPts val="400"/>
              </a:spcAft>
              <a:buChar char="•"/>
            </a:pPr>
            <a:r>
              <a:rPr sz="1200" b="0" i="0">
                <a:solidFill>
                  <a:srgbClr val="1F2933"/>
                </a:solidFill>
                <a:latin typeface="Calibri"/>
              </a:rPr>
              <a:t>Gebrochenes Versprechen erhöht Priorität per Regel</a:t>
            </a:r>
          </a:p>
        </p:txBody>
      </p:sp>
      <p:sp>
        <p:nvSpPr>
          <p:cNvPr id="10" name="Rounded Rectangle 9"/>
          <p:cNvSpPr/>
          <p:nvPr/>
        </p:nvSpPr>
        <p:spPr>
          <a:xfrm>
            <a:off x="4338218" y="1554480"/>
            <a:ext cx="3515258" cy="28346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21098" y="1691640"/>
            <a:ext cx="3149498" cy="411480"/>
          </a:xfrm>
          <a:prstGeom prst="rect">
            <a:avLst/>
          </a:prstGeom>
          <a:noFill/>
        </p:spPr>
        <p:txBody>
          <a:bodyPr wrap="square" anchor="t" lIns="45720" rIns="45720">
            <a:spAutoFit/>
          </a:bodyPr>
          <a:lstStyle/>
          <a:p>
            <a:pPr algn="l"/>
            <a:r>
              <a:rPr sz="1700" b="1" i="0">
                <a:solidFill>
                  <a:srgbClr val="1C4E80"/>
                </a:solidFill>
                <a:latin typeface="Calibri"/>
              </a:rPr>
              <a:t>Wiedervorlage</a:t>
            </a:r>
          </a:p>
        </p:txBody>
      </p:sp>
      <p:sp>
        <p:nvSpPr>
          <p:cNvPr id="12" name="TextBox 11"/>
          <p:cNvSpPr txBox="1"/>
          <p:nvPr/>
        </p:nvSpPr>
        <p:spPr>
          <a:xfrm>
            <a:off x="4521098" y="2103120"/>
            <a:ext cx="3149498" cy="320040"/>
          </a:xfrm>
          <a:prstGeom prst="rect">
            <a:avLst/>
          </a:prstGeom>
          <a:noFill/>
        </p:spPr>
        <p:txBody>
          <a:bodyPr wrap="square" anchor="t" lIns="45720" rIns="45720">
            <a:spAutoFit/>
          </a:bodyPr>
          <a:lstStyle/>
          <a:p>
            <a:pPr algn="l"/>
            <a:r>
              <a:rPr sz="1100" b="0" i="1">
                <a:solidFill>
                  <a:srgbClr val="5F6B7A"/>
                </a:solidFill>
                <a:latin typeface="Calibri"/>
              </a:rPr>
              <a:t>Resubmission (F4709)</a:t>
            </a:r>
          </a:p>
        </p:txBody>
      </p:sp>
      <p:sp>
        <p:nvSpPr>
          <p:cNvPr id="13" name="TextBox 12"/>
          <p:cNvSpPr txBox="1"/>
          <p:nvPr/>
        </p:nvSpPr>
        <p:spPr>
          <a:xfrm>
            <a:off x="4521098" y="2468880"/>
            <a:ext cx="3149498" cy="1828800"/>
          </a:xfrm>
          <a:prstGeom prst="rect">
            <a:avLst/>
          </a:prstGeom>
          <a:noFill/>
        </p:spPr>
        <p:txBody>
          <a:bodyPr wrap="square" lIns="45720" rIns="45720">
            <a:spAutoFit/>
          </a:bodyPr>
          <a:lstStyle/>
          <a:p>
            <a:pPr marL="201168" indent="-201168">
              <a:spcAft>
                <a:spcPts val="400"/>
              </a:spcAft>
              <a:buChar char="•"/>
            </a:pPr>
            <a:r>
              <a:rPr sz="1200" b="0" i="0">
                <a:solidFill>
                  <a:srgbClr val="1F2933"/>
                </a:solidFill>
                <a:latin typeface="Calibri"/>
              </a:rPr>
              <a:t>Kein Ergebnis, aber ein Termin: Ansprechpartner im Urlaub, interne Freigabe läuft</a:t>
            </a:r>
          </a:p>
          <a:p>
            <a:pPr marL="201168" indent="-201168">
              <a:spcAft>
                <a:spcPts val="400"/>
              </a:spcAft>
              <a:buChar char="•"/>
            </a:pPr>
            <a:r>
              <a:rPr sz="1200" b="0" i="0">
                <a:solidFill>
                  <a:srgbClr val="1F2933"/>
                </a:solidFill>
                <a:latin typeface="Calibri"/>
              </a:rPr>
              <a:t>Grund aus Katalog, z. B. Contact Person Requests Callback</a:t>
            </a:r>
          </a:p>
          <a:p>
            <a:pPr marL="201168" indent="-201168">
              <a:spcAft>
                <a:spcPts val="400"/>
              </a:spcAft>
              <a:buChar char="•"/>
            </a:pPr>
            <a:r>
              <a:rPr sz="1200" b="0" i="0">
                <a:solidFill>
                  <a:srgbClr val="1F2933"/>
                </a:solidFill>
                <a:latin typeface="Calibri"/>
              </a:rPr>
              <a:t>Kunde bis zum Datum nicht auf der Worklist</a:t>
            </a:r>
          </a:p>
          <a:p>
            <a:pPr marL="201168" indent="-201168">
              <a:spcAft>
                <a:spcPts val="400"/>
              </a:spcAft>
              <a:buChar char="•"/>
            </a:pPr>
            <a:r>
              <a:rPr sz="1200" b="0" i="0">
                <a:solidFill>
                  <a:srgbClr val="1F2933"/>
                </a:solidFill>
                <a:latin typeface="Calibri"/>
              </a:rPr>
              <a:t>Zeit des Spezialisten geht auf andere Kunden</a:t>
            </a:r>
          </a:p>
        </p:txBody>
      </p:sp>
      <p:sp>
        <p:nvSpPr>
          <p:cNvPr id="14" name="Rounded Rectangle 13"/>
          <p:cNvSpPr/>
          <p:nvPr/>
        </p:nvSpPr>
        <p:spPr>
          <a:xfrm>
            <a:off x="8127796" y="1554480"/>
            <a:ext cx="3515258" cy="28346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10676" y="1691640"/>
            <a:ext cx="3149498" cy="411480"/>
          </a:xfrm>
          <a:prstGeom prst="rect">
            <a:avLst/>
          </a:prstGeom>
          <a:noFill/>
        </p:spPr>
        <p:txBody>
          <a:bodyPr wrap="square" anchor="t" lIns="45720" rIns="45720">
            <a:spAutoFit/>
          </a:bodyPr>
          <a:lstStyle/>
          <a:p>
            <a:pPr algn="l"/>
            <a:r>
              <a:rPr sz="1700" b="1" i="0">
                <a:solidFill>
                  <a:srgbClr val="1C4E80"/>
                </a:solidFill>
                <a:latin typeface="Calibri"/>
              </a:rPr>
              <a:t>Kontaktdokumentation</a:t>
            </a:r>
          </a:p>
        </p:txBody>
      </p:sp>
      <p:sp>
        <p:nvSpPr>
          <p:cNvPr id="16" name="TextBox 15"/>
          <p:cNvSpPr txBox="1"/>
          <p:nvPr/>
        </p:nvSpPr>
        <p:spPr>
          <a:xfrm>
            <a:off x="8310676" y="2103120"/>
            <a:ext cx="3149498" cy="320040"/>
          </a:xfrm>
          <a:prstGeom prst="rect">
            <a:avLst/>
          </a:prstGeom>
          <a:noFill/>
        </p:spPr>
        <p:txBody>
          <a:bodyPr wrap="square" anchor="t" lIns="45720" rIns="45720">
            <a:spAutoFit/>
          </a:bodyPr>
          <a:lstStyle/>
          <a:p>
            <a:pPr algn="l"/>
            <a:r>
              <a:rPr sz="1100" b="0" i="1">
                <a:solidFill>
                  <a:srgbClr val="5F6B7A"/>
                </a:solidFill>
                <a:latin typeface="Calibri"/>
              </a:rPr>
              <a:t>Customer Contact (F4707)</a:t>
            </a:r>
          </a:p>
        </p:txBody>
      </p:sp>
      <p:sp>
        <p:nvSpPr>
          <p:cNvPr id="17" name="TextBox 16"/>
          <p:cNvSpPr txBox="1"/>
          <p:nvPr/>
        </p:nvSpPr>
        <p:spPr>
          <a:xfrm>
            <a:off x="8310676" y="2468880"/>
            <a:ext cx="3149498" cy="1828800"/>
          </a:xfrm>
          <a:prstGeom prst="rect">
            <a:avLst/>
          </a:prstGeom>
          <a:noFill/>
        </p:spPr>
        <p:txBody>
          <a:bodyPr wrap="square" lIns="45720" rIns="45720">
            <a:spAutoFit/>
          </a:bodyPr>
          <a:lstStyle/>
          <a:p>
            <a:pPr marL="201168" indent="-201168">
              <a:spcAft>
                <a:spcPts val="400"/>
              </a:spcAft>
              <a:buChar char="•"/>
            </a:pPr>
            <a:r>
              <a:rPr sz="1200" b="0" i="0">
                <a:solidFill>
                  <a:srgbClr val="1F2933"/>
                </a:solidFill>
                <a:latin typeface="Calibri"/>
              </a:rPr>
              <a:t>Ergebnis, Ansprechpartner, Notiz</a:t>
            </a:r>
          </a:p>
          <a:p>
            <a:pPr marL="201168" indent="-201168">
              <a:spcAft>
                <a:spcPts val="400"/>
              </a:spcAft>
              <a:buChar char="•"/>
            </a:pPr>
            <a:r>
              <a:rPr sz="1200" b="0" i="0">
                <a:solidFill>
                  <a:srgbClr val="1F2933"/>
                </a:solidFill>
                <a:latin typeface="Calibri"/>
              </a:rPr>
              <a:t>Notiz wird mit Versprechen, Wiedervorlagen, Disputes des Kontakts vorbefüllt</a:t>
            </a:r>
          </a:p>
          <a:p>
            <a:pPr marL="201168" indent="-201168">
              <a:spcAft>
                <a:spcPts val="400"/>
              </a:spcAft>
              <a:buChar char="•"/>
            </a:pPr>
            <a:r>
              <a:rPr sz="1200" b="0" i="0">
                <a:solidFill>
                  <a:srgbClr val="1F2933"/>
                </a:solidFill>
                <a:latin typeface="Calibri"/>
              </a:rPr>
              <a:t>Historie für Vertretung, Eskalation, Beweisführung</a:t>
            </a:r>
          </a:p>
          <a:p>
            <a:pPr marL="201168" indent="-201168">
              <a:spcAft>
                <a:spcPts val="400"/>
              </a:spcAft>
              <a:buChar char="•"/>
            </a:pPr>
            <a:r>
              <a:rPr sz="1200" b="0" i="0">
                <a:solidFill>
                  <a:srgbClr val="1F2933"/>
                </a:solidFill>
                <a:latin typeface="Calibri"/>
              </a:rPr>
              <a:t>Zusammenfassung per E-Mail an Kunden (Template Customer Contact Recap)</a:t>
            </a:r>
          </a:p>
        </p:txBody>
      </p:sp>
      <p:sp>
        <p:nvSpPr>
          <p:cNvPr id="18" name="Rounded Rectangle 17"/>
          <p:cNvSpPr/>
          <p:nvPr/>
        </p:nvSpPr>
        <p:spPr>
          <a:xfrm>
            <a:off x="548640" y="4572000"/>
            <a:ext cx="11094415" cy="68580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7240" y="4572000"/>
            <a:ext cx="10637215" cy="685800"/>
          </a:xfrm>
          <a:prstGeom prst="rect">
            <a:avLst/>
          </a:prstGeom>
          <a:noFill/>
        </p:spPr>
        <p:txBody>
          <a:bodyPr wrap="square" anchor="ctr" lIns="45720" rIns="45720">
            <a:spAutoFit/>
          </a:bodyPr>
          <a:lstStyle/>
          <a:p>
            <a:pPr algn="l"/>
            <a:r>
              <a:rPr sz="1200" b="1" i="0">
                <a:solidFill>
                  <a:srgbClr val="0F8B8D"/>
                </a:solidFill>
                <a:latin typeface="Calibri"/>
              </a:rPr>
              <a:t>Mahnintegration: Der Mahnlauf überspringt Posten mit offenem Dispute Case oder nicht gebrochenem Zahlungsversprechen. Mahnsperren mit Grund (Disputed, Promise to Pay, Sales, Legal, Other) sind aus My Dunning Proposals setzbar.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B4  PRAXIS</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Praxis: Klickfolge Worklist und Kundenkontakt</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B  Worklist-Management</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12</a:t>
            </a:r>
          </a:p>
        </p:txBody>
      </p:sp>
      <p:graphicFrame>
        <p:nvGraphicFramePr>
          <p:cNvPr id="6" name="Table 5"/>
          <p:cNvGraphicFramePr>
            <a:graphicFrameLocks noGrp="1"/>
          </p:cNvGraphicFramePr>
          <p:nvPr/>
        </p:nvGraphicFramePr>
        <p:xfrm>
          <a:off x="548640" y="1554480"/>
          <a:ext cx="11064240" cy="4114800"/>
        </p:xfrm>
        <a:graphic>
          <a:graphicData uri="http://schemas.openxmlformats.org/drawingml/2006/table">
            <a:tbl>
              <a:tblPr firstRow="0" bandRow="0">
                <a:tableStyleId>{5C22544A-7EE6-4342-B048-85BDC9FD1C3A}</a:tableStyleId>
              </a:tblPr>
              <a:tblGrid>
                <a:gridCol w="365760"/>
                <a:gridCol w="1280160"/>
                <a:gridCol w="3291840"/>
                <a:gridCol w="3474720"/>
                <a:gridCol w="2651760"/>
              </a:tblGrid>
              <a:tr h="457200">
                <a:tc>
                  <a:txBody>
                    <a:bodyPr wrap="square"/>
                    <a:lstStyle/>
                    <a:p>
                      <a:r>
                        <a:rPr sz="1000" b="1" i="0">
                          <a:solidFill>
                            <a:srgbClr val="FFFFFF"/>
                          </a:solidFill>
                          <a:latin typeface="Calibri"/>
                        </a:rPr>
                        <a:t>#</a:t>
                      </a:r>
                    </a:p>
                  </a:txBody>
                  <a:tcPr marL="73152" marR="73152" marT="36576" marB="36576" anchor="ctr">
                    <a:solidFill>
                      <a:srgbClr val="1C4E80"/>
                    </a:solidFill>
                  </a:tcPr>
                </a:tc>
                <a:tc>
                  <a:txBody>
                    <a:bodyPr wrap="square"/>
                    <a:lstStyle/>
                    <a:p>
                      <a:r>
                        <a:rPr sz="1000" b="1" i="0">
                          <a:solidFill>
                            <a:srgbClr val="FFFFFF"/>
                          </a:solidFill>
                          <a:latin typeface="Calibri"/>
                        </a:rPr>
                        <a:t>Rolle</a:t>
                      </a:r>
                    </a:p>
                  </a:txBody>
                  <a:tcPr marL="73152" marR="73152" marT="36576" marB="36576" anchor="ctr">
                    <a:solidFill>
                      <a:srgbClr val="1C4E80"/>
                    </a:solidFill>
                  </a:tcPr>
                </a:tc>
                <a:tc>
                  <a:txBody>
                    <a:bodyPr wrap="square"/>
                    <a:lstStyle/>
                    <a:p>
                      <a:r>
                        <a:rPr sz="1000" b="1" i="0">
                          <a:solidFill>
                            <a:srgbClr val="FFFFFF"/>
                          </a:solidFill>
                          <a:latin typeface="Calibri"/>
                        </a:rPr>
                        <a:t>App</a:t>
                      </a:r>
                    </a:p>
                  </a:txBody>
                  <a:tcPr marL="73152" marR="73152" marT="36576" marB="36576" anchor="ctr">
                    <a:solidFill>
                      <a:srgbClr val="1C4E80"/>
                    </a:solidFill>
                  </a:tcPr>
                </a:tc>
                <a:tc>
                  <a:txBody>
                    <a:bodyPr wrap="square"/>
                    <a:lstStyle/>
                    <a:p>
                      <a:r>
                        <a:rPr sz="1000" b="1" i="0">
                          <a:solidFill>
                            <a:srgbClr val="FFFFFF"/>
                          </a:solidFill>
                          <a:latin typeface="Calibri"/>
                        </a:rPr>
                        <a:t>Aktion</a:t>
                      </a:r>
                    </a:p>
                  </a:txBody>
                  <a:tcPr marL="73152" marR="73152" marT="36576" marB="36576" anchor="ctr">
                    <a:solidFill>
                      <a:srgbClr val="1C4E80"/>
                    </a:solidFill>
                  </a:tcPr>
                </a:tc>
                <a:tc>
                  <a:txBody>
                    <a:bodyPr wrap="square"/>
                    <a:lstStyle/>
                    <a:p>
                      <a:r>
                        <a:rPr sz="1000" b="1" i="0">
                          <a:solidFill>
                            <a:srgbClr val="FFFFFF"/>
                          </a:solidFill>
                          <a:latin typeface="Calibri"/>
                        </a:rPr>
                        <a:t>Zeigen</a:t>
                      </a:r>
                    </a:p>
                  </a:txBody>
                  <a:tcPr marL="73152" marR="73152" marT="36576" marB="36576" anchor="ctr">
                    <a:solidFill>
                      <a:srgbClr val="1C4E80"/>
                    </a:solidFill>
                  </a:tcPr>
                </a:tc>
              </a:tr>
              <a:tr h="457200">
                <a:tc>
                  <a:txBody>
                    <a:bodyPr wrap="square"/>
                    <a:lstStyle/>
                    <a:p>
                      <a:r>
                        <a:rPr sz="1000" b="1" i="0">
                          <a:solidFill>
                            <a:srgbClr val="1F2933"/>
                          </a:solidFill>
                          <a:latin typeface="Calibri"/>
                        </a:rPr>
                        <a:t>1</a:t>
                      </a:r>
                    </a:p>
                  </a:txBody>
                  <a:tcPr marL="73152" marR="73152" marT="36576" marB="36576" anchor="ctr">
                    <a:solidFill>
                      <a:srgbClr val="FFFFFF"/>
                    </a:solidFill>
                  </a:tcPr>
                </a:tc>
                <a:tc>
                  <a:txBody>
                    <a:bodyPr wrap="square"/>
                    <a:lstStyle/>
                    <a:p>
                      <a:r>
                        <a:rPr sz="1000" b="0" i="0">
                          <a:solidFill>
                            <a:srgbClr val="1F2933"/>
                          </a:solidFill>
                          <a:latin typeface="Calibri"/>
                        </a:rPr>
                        <a:t>AR Manager</a:t>
                      </a:r>
                    </a:p>
                  </a:txBody>
                  <a:tcPr marL="73152" marR="73152" marT="36576" marB="36576" anchor="ctr">
                    <a:solidFill>
                      <a:srgbClr val="FFFFFF"/>
                    </a:solidFill>
                  </a:tcPr>
                </a:tc>
                <a:tc>
                  <a:txBody>
                    <a:bodyPr wrap="square"/>
                    <a:lstStyle/>
                    <a:p>
                      <a:r>
                        <a:rPr sz="1000" b="0" i="0">
                          <a:solidFill>
                            <a:srgbClr val="1F2933"/>
                          </a:solidFill>
                          <a:latin typeface="Calibri"/>
                        </a:rPr>
                        <a:t>Supervise Collections Worklist (F2375)</a:t>
                      </a:r>
                    </a:p>
                  </a:txBody>
                  <a:tcPr marL="73152" marR="73152" marT="36576" marB="36576" anchor="ctr">
                    <a:solidFill>
                      <a:srgbClr val="FFFFFF"/>
                    </a:solidFill>
                  </a:tcPr>
                </a:tc>
                <a:tc>
                  <a:txBody>
                    <a:bodyPr wrap="square"/>
                    <a:lstStyle/>
                    <a:p>
                      <a:r>
                        <a:rPr sz="1000" b="0" i="0">
                          <a:solidFill>
                            <a:srgbClr val="1F2933"/>
                          </a:solidFill>
                          <a:latin typeface="Calibri"/>
                        </a:rPr>
                        <a:t>Kunde ohne Spezialist → Assign to Specialist</a:t>
                      </a:r>
                    </a:p>
                  </a:txBody>
                  <a:tcPr marL="73152" marR="73152" marT="36576" marB="36576" anchor="ctr">
                    <a:solidFill>
                      <a:srgbClr val="FFFFFF"/>
                    </a:solidFill>
                  </a:tcPr>
                </a:tc>
                <a:tc>
                  <a:txBody>
                    <a:bodyPr wrap="square"/>
                    <a:lstStyle/>
                    <a:p>
                      <a:r>
                        <a:rPr sz="1000" b="0" i="0">
                          <a:solidFill>
                            <a:srgbClr val="1F2933"/>
                          </a:solidFill>
                          <a:latin typeface="Calibri"/>
                        </a:rPr>
                        <a:t>Gesamtsicht, Spalte Spezialist</a:t>
                      </a:r>
                    </a:p>
                  </a:txBody>
                  <a:tcPr marL="73152" marR="73152" marT="36576" marB="36576" anchor="ctr">
                    <a:solidFill>
                      <a:srgbClr val="FFFFFF"/>
                    </a:solidFill>
                  </a:tcPr>
                </a:tc>
              </a:tr>
              <a:tr h="457200">
                <a:tc>
                  <a:txBody>
                    <a:bodyPr wrap="square"/>
                    <a:lstStyle/>
                    <a:p>
                      <a:r>
                        <a:rPr sz="1000" b="1" i="0">
                          <a:solidFill>
                            <a:srgbClr val="1F2933"/>
                          </a:solidFill>
                          <a:latin typeface="Calibri"/>
                        </a:rPr>
                        <a:t>2</a:t>
                      </a:r>
                    </a:p>
                  </a:txBody>
                  <a:tcPr marL="73152" marR="73152" marT="36576" marB="36576" anchor="ctr">
                    <a:solidFill>
                      <a:srgbClr val="EEF3F8"/>
                    </a:solidFill>
                  </a:tcPr>
                </a:tc>
                <a:tc>
                  <a:txBody>
                    <a:bodyPr wrap="square"/>
                    <a:lstStyle/>
                    <a:p>
                      <a:r>
                        <a:rPr sz="1000" b="0" i="0">
                          <a:solidFill>
                            <a:srgbClr val="1F2933"/>
                          </a:solidFill>
                          <a:latin typeface="Calibri"/>
                        </a:rPr>
                        <a:t>AR Accountant</a:t>
                      </a:r>
                    </a:p>
                  </a:txBody>
                  <a:tcPr marL="73152" marR="73152" marT="36576" marB="36576" anchor="ctr">
                    <a:solidFill>
                      <a:srgbClr val="EEF3F8"/>
                    </a:solidFill>
                  </a:tcPr>
                </a:tc>
                <a:tc>
                  <a:txBody>
                    <a:bodyPr wrap="square"/>
                    <a:lstStyle/>
                    <a:p>
                      <a:r>
                        <a:rPr sz="1000" b="0" i="0">
                          <a:solidFill>
                            <a:srgbClr val="1F2933"/>
                          </a:solidFill>
                          <a:latin typeface="Calibri"/>
                        </a:rPr>
                        <a:t>Process Collections Worklist (F0380)</a:t>
                      </a:r>
                    </a:p>
                  </a:txBody>
                  <a:tcPr marL="73152" marR="73152" marT="36576" marB="36576" anchor="ctr">
                    <a:solidFill>
                      <a:srgbClr val="EEF3F8"/>
                    </a:solidFill>
                  </a:tcPr>
                </a:tc>
                <a:tc>
                  <a:txBody>
                    <a:bodyPr wrap="square"/>
                    <a:lstStyle/>
                    <a:p>
                      <a:r>
                        <a:rPr sz="1000" b="0" i="0">
                          <a:solidFill>
                            <a:srgbClr val="1F2933"/>
                          </a:solidFill>
                          <a:latin typeface="Calibri"/>
                        </a:rPr>
                        <a:t>My Open Items, Doppelklick auf S10100251</a:t>
                      </a:r>
                    </a:p>
                  </a:txBody>
                  <a:tcPr marL="73152" marR="73152" marT="36576" marB="36576" anchor="ctr">
                    <a:solidFill>
                      <a:srgbClr val="EEF3F8"/>
                    </a:solidFill>
                  </a:tcPr>
                </a:tc>
                <a:tc>
                  <a:txBody>
                    <a:bodyPr wrap="square"/>
                    <a:lstStyle/>
                    <a:p>
                      <a:r>
                        <a:rPr sz="1000" b="0" i="0">
                          <a:solidFill>
                            <a:srgbClr val="1F2933"/>
                          </a:solidFill>
                          <a:latin typeface="Calibri"/>
                        </a:rPr>
                        <a:t>Priorität, Aging, Kundendialog</a:t>
                      </a:r>
                    </a:p>
                  </a:txBody>
                  <a:tcPr marL="73152" marR="73152" marT="36576" marB="36576" anchor="ctr">
                    <a:solidFill>
                      <a:srgbClr val="EEF3F8"/>
                    </a:solidFill>
                  </a:tcPr>
                </a:tc>
              </a:tr>
              <a:tr h="457200">
                <a:tc>
                  <a:txBody>
                    <a:bodyPr wrap="square"/>
                    <a:lstStyle/>
                    <a:p>
                      <a:r>
                        <a:rPr sz="1000" b="1" i="0">
                          <a:solidFill>
                            <a:srgbClr val="1F2933"/>
                          </a:solidFill>
                          <a:latin typeface="Calibri"/>
                        </a:rPr>
                        <a:t>3</a:t>
                      </a:r>
                    </a:p>
                  </a:txBody>
                  <a:tcPr marL="73152" marR="73152" marT="36576" marB="36576" anchor="ctr">
                    <a:solidFill>
                      <a:srgbClr val="FFFFFF"/>
                    </a:solidFill>
                  </a:tcPr>
                </a:tc>
                <a:tc>
                  <a:txBody>
                    <a:bodyPr wrap="square"/>
                    <a:lstStyle/>
                    <a:p>
                      <a:r>
                        <a:rPr sz="1000" b="0" i="0">
                          <a:solidFill>
                            <a:srgbClr val="1F2933"/>
                          </a:solidFill>
                          <a:latin typeface="Calibri"/>
                        </a:rPr>
                        <a:t>AR Accountant</a:t>
                      </a:r>
                    </a:p>
                  </a:txBody>
                  <a:tcPr marL="73152" marR="73152" marT="36576" marB="36576" anchor="ctr">
                    <a:solidFill>
                      <a:srgbClr val="FFFFFF"/>
                    </a:solidFill>
                  </a:tcPr>
                </a:tc>
                <a:tc>
                  <a:txBody>
                    <a:bodyPr wrap="square"/>
                    <a:lstStyle/>
                    <a:p>
                      <a:r>
                        <a:rPr sz="1000" b="0" i="0">
                          <a:solidFill>
                            <a:srgbClr val="1F2933"/>
                          </a:solidFill>
                          <a:latin typeface="Calibri"/>
                        </a:rPr>
                        <a:t>Process Receivables (F0106A)</a:t>
                      </a:r>
                    </a:p>
                  </a:txBody>
                  <a:tcPr marL="73152" marR="73152" marT="36576" marB="36576" anchor="ctr">
                    <a:solidFill>
                      <a:srgbClr val="FFFFFF"/>
                    </a:solidFill>
                  </a:tcPr>
                </a:tc>
                <a:tc>
                  <a:txBody>
                    <a:bodyPr wrap="square"/>
                    <a:lstStyle/>
                    <a:p>
                      <a:r>
                        <a:rPr sz="1000" b="0" i="0">
                          <a:solidFill>
                            <a:srgbClr val="1F2933"/>
                          </a:solidFill>
                          <a:latin typeface="Calibri"/>
                        </a:rPr>
                        <a:t>Collection Contacts → Create: Ansprechpartner</a:t>
                      </a:r>
                    </a:p>
                  </a:txBody>
                  <a:tcPr marL="73152" marR="73152" marT="36576" marB="36576" anchor="ctr">
                    <a:solidFill>
                      <a:srgbClr val="FFFFFF"/>
                    </a:solidFill>
                  </a:tcPr>
                </a:tc>
                <a:tc>
                  <a:txBody>
                    <a:bodyPr wrap="square"/>
                    <a:lstStyle/>
                    <a:p>
                      <a:r>
                        <a:rPr sz="1000" b="0" i="0">
                          <a:solidFill>
                            <a:srgbClr val="1F2933"/>
                          </a:solidFill>
                          <a:latin typeface="Calibri"/>
                        </a:rPr>
                        <a:t>Reiter Invoices, Contact History</a:t>
                      </a:r>
                    </a:p>
                  </a:txBody>
                  <a:tcPr marL="73152" marR="73152" marT="36576" marB="36576" anchor="ctr">
                    <a:solidFill>
                      <a:srgbClr val="FFFFFF"/>
                    </a:solidFill>
                  </a:tcPr>
                </a:tc>
              </a:tr>
              <a:tr h="457200">
                <a:tc>
                  <a:txBody>
                    <a:bodyPr wrap="square"/>
                    <a:lstStyle/>
                    <a:p>
                      <a:r>
                        <a:rPr sz="1000" b="1" i="0">
                          <a:solidFill>
                            <a:srgbClr val="1F2933"/>
                          </a:solidFill>
                          <a:latin typeface="Calibri"/>
                        </a:rPr>
                        <a:t>4</a:t>
                      </a:r>
                    </a:p>
                  </a:txBody>
                  <a:tcPr marL="73152" marR="73152" marT="36576" marB="36576" anchor="ctr">
                    <a:solidFill>
                      <a:srgbClr val="EEF3F8"/>
                    </a:solidFill>
                  </a:tcPr>
                </a:tc>
                <a:tc>
                  <a:txBody>
                    <a:bodyPr wrap="square"/>
                    <a:lstStyle/>
                    <a:p>
                      <a:r>
                        <a:rPr sz="1000" b="0" i="0">
                          <a:solidFill>
                            <a:srgbClr val="1F2933"/>
                          </a:solidFill>
                          <a:latin typeface="Calibri"/>
                        </a:rPr>
                        <a:t>AR Accountant</a:t>
                      </a:r>
                    </a:p>
                  </a:txBody>
                  <a:tcPr marL="73152" marR="73152" marT="36576" marB="36576" anchor="ctr">
                    <a:solidFill>
                      <a:srgbClr val="EEF3F8"/>
                    </a:solidFill>
                  </a:tcPr>
                </a:tc>
                <a:tc>
                  <a:txBody>
                    <a:bodyPr wrap="square"/>
                    <a:lstStyle/>
                    <a:p>
                      <a:r>
                        <a:rPr sz="1000" b="0" i="0">
                          <a:solidFill>
                            <a:srgbClr val="1F2933"/>
                          </a:solidFill>
                          <a:latin typeface="Calibri"/>
                        </a:rPr>
                        <a:t>Process Receivables → Create Promise to Pay</a:t>
                      </a:r>
                    </a:p>
                  </a:txBody>
                  <a:tcPr marL="73152" marR="73152" marT="36576" marB="36576" anchor="ctr">
                    <a:solidFill>
                      <a:srgbClr val="EEF3F8"/>
                    </a:solidFill>
                  </a:tcPr>
                </a:tc>
                <a:tc>
                  <a:txBody>
                    <a:bodyPr wrap="square"/>
                    <a:lstStyle/>
                    <a:p>
                      <a:r>
                        <a:rPr sz="1000" b="0" i="0">
                          <a:solidFill>
                            <a:srgbClr val="1F2933"/>
                          </a:solidFill>
                          <a:latin typeface="Calibri"/>
                        </a:rPr>
                        <a:t>Kleine Rechnung, Datum heute + 7</a:t>
                      </a:r>
                    </a:p>
                  </a:txBody>
                  <a:tcPr marL="73152" marR="73152" marT="36576" marB="36576" anchor="ctr">
                    <a:solidFill>
                      <a:srgbClr val="EEF3F8"/>
                    </a:solidFill>
                  </a:tcPr>
                </a:tc>
                <a:tc>
                  <a:txBody>
                    <a:bodyPr wrap="square"/>
                    <a:lstStyle/>
                    <a:p>
                      <a:r>
                        <a:rPr sz="1000" b="0" i="0">
                          <a:solidFill>
                            <a:srgbClr val="1F2933"/>
                          </a:solidFill>
                          <a:latin typeface="Calibri"/>
                        </a:rPr>
                        <a:t>Reiter Promises to Pay, Status Open</a:t>
                      </a:r>
                    </a:p>
                  </a:txBody>
                  <a:tcPr marL="73152" marR="73152" marT="36576" marB="36576" anchor="ctr">
                    <a:solidFill>
                      <a:srgbClr val="EEF3F8"/>
                    </a:solidFill>
                  </a:tcPr>
                </a:tc>
              </a:tr>
              <a:tr h="457200">
                <a:tc>
                  <a:txBody>
                    <a:bodyPr wrap="square"/>
                    <a:lstStyle/>
                    <a:p>
                      <a:r>
                        <a:rPr sz="1000" b="1" i="0">
                          <a:solidFill>
                            <a:srgbClr val="1F2933"/>
                          </a:solidFill>
                          <a:latin typeface="Calibri"/>
                        </a:rPr>
                        <a:t>5</a:t>
                      </a:r>
                    </a:p>
                  </a:txBody>
                  <a:tcPr marL="73152" marR="73152" marT="36576" marB="36576" anchor="ctr">
                    <a:solidFill>
                      <a:srgbClr val="FFFFFF"/>
                    </a:solidFill>
                  </a:tcPr>
                </a:tc>
                <a:tc>
                  <a:txBody>
                    <a:bodyPr wrap="square"/>
                    <a:lstStyle/>
                    <a:p>
                      <a:r>
                        <a:rPr sz="1000" b="0" i="0">
                          <a:solidFill>
                            <a:srgbClr val="1F2933"/>
                          </a:solidFill>
                          <a:latin typeface="Calibri"/>
                        </a:rPr>
                        <a:t>AR Accountant</a:t>
                      </a:r>
                    </a:p>
                  </a:txBody>
                  <a:tcPr marL="73152" marR="73152" marT="36576" marB="36576" anchor="ctr">
                    <a:solidFill>
                      <a:srgbClr val="FFFFFF"/>
                    </a:solidFill>
                  </a:tcPr>
                </a:tc>
                <a:tc>
                  <a:txBody>
                    <a:bodyPr wrap="square"/>
                    <a:lstStyle/>
                    <a:p>
                      <a:r>
                        <a:rPr sz="1000" b="0" i="0">
                          <a:solidFill>
                            <a:srgbClr val="1F2933"/>
                          </a:solidFill>
                          <a:latin typeface="Calibri"/>
                        </a:rPr>
                        <a:t>Process Receivables → Create Resubmission</a:t>
                      </a:r>
                    </a:p>
                  </a:txBody>
                  <a:tcPr marL="73152" marR="73152" marT="36576" marB="36576" anchor="ctr">
                    <a:solidFill>
                      <a:srgbClr val="FFFFFF"/>
                    </a:solidFill>
                  </a:tcPr>
                </a:tc>
                <a:tc>
                  <a:txBody>
                    <a:bodyPr wrap="square"/>
                    <a:lstStyle/>
                    <a:p>
                      <a:r>
                        <a:rPr sz="1000" b="0" i="0">
                          <a:solidFill>
                            <a:srgbClr val="1F2933"/>
                          </a:solidFill>
                          <a:latin typeface="Calibri"/>
                        </a:rPr>
                        <a:t>Zweite Rechnung, heute + 2, Grund Callback</a:t>
                      </a:r>
                    </a:p>
                  </a:txBody>
                  <a:tcPr marL="73152" marR="73152" marT="36576" marB="36576" anchor="ctr">
                    <a:solidFill>
                      <a:srgbClr val="FFFFFF"/>
                    </a:solidFill>
                  </a:tcPr>
                </a:tc>
                <a:tc>
                  <a:txBody>
                    <a:bodyPr wrap="square"/>
                    <a:lstStyle/>
                    <a:p>
                      <a:r>
                        <a:rPr sz="1000" b="0" i="0">
                          <a:solidFill>
                            <a:srgbClr val="1F2933"/>
                          </a:solidFill>
                          <a:latin typeface="Calibri"/>
                        </a:rPr>
                        <a:t>Reiter Resubmissions</a:t>
                      </a:r>
                    </a:p>
                  </a:txBody>
                  <a:tcPr marL="73152" marR="73152" marT="36576" marB="36576" anchor="ctr">
                    <a:solidFill>
                      <a:srgbClr val="FFFFFF"/>
                    </a:solidFill>
                  </a:tcPr>
                </a:tc>
              </a:tr>
              <a:tr h="457200">
                <a:tc>
                  <a:txBody>
                    <a:bodyPr wrap="square"/>
                    <a:lstStyle/>
                    <a:p>
                      <a:r>
                        <a:rPr sz="1000" b="1" i="0">
                          <a:solidFill>
                            <a:srgbClr val="1F2933"/>
                          </a:solidFill>
                          <a:latin typeface="Calibri"/>
                        </a:rPr>
                        <a:t>6</a:t>
                      </a:r>
                    </a:p>
                  </a:txBody>
                  <a:tcPr marL="73152" marR="73152" marT="36576" marB="36576" anchor="ctr">
                    <a:solidFill>
                      <a:srgbClr val="EEF3F8"/>
                    </a:solidFill>
                  </a:tcPr>
                </a:tc>
                <a:tc>
                  <a:txBody>
                    <a:bodyPr wrap="square"/>
                    <a:lstStyle/>
                    <a:p>
                      <a:r>
                        <a:rPr sz="1000" b="0" i="0">
                          <a:solidFill>
                            <a:srgbClr val="1F2933"/>
                          </a:solidFill>
                          <a:latin typeface="Calibri"/>
                        </a:rPr>
                        <a:t>AR Accountant</a:t>
                      </a:r>
                    </a:p>
                  </a:txBody>
                  <a:tcPr marL="73152" marR="73152" marT="36576" marB="36576" anchor="ctr">
                    <a:solidFill>
                      <a:srgbClr val="EEF3F8"/>
                    </a:solidFill>
                  </a:tcPr>
                </a:tc>
                <a:tc>
                  <a:txBody>
                    <a:bodyPr wrap="square"/>
                    <a:lstStyle/>
                    <a:p>
                      <a:r>
                        <a:rPr sz="1000" b="0" i="0">
                          <a:solidFill>
                            <a:srgbClr val="1F2933"/>
                          </a:solidFill>
                          <a:latin typeface="Calibri"/>
                        </a:rPr>
                        <a:t>Process Receivables → Finish Customer Contact</a:t>
                      </a:r>
                    </a:p>
                  </a:txBody>
                  <a:tcPr marL="73152" marR="73152" marT="36576" marB="36576" anchor="ctr">
                    <a:solidFill>
                      <a:srgbClr val="EEF3F8"/>
                    </a:solidFill>
                  </a:tcPr>
                </a:tc>
                <a:tc>
                  <a:txBody>
                    <a:bodyPr wrap="square"/>
                    <a:lstStyle/>
                    <a:p>
                      <a:r>
                        <a:rPr sz="1000" b="0" i="0">
                          <a:solidFill>
                            <a:srgbClr val="1F2933"/>
                          </a:solidFill>
                          <a:latin typeface="Calibri"/>
                        </a:rPr>
                        <a:t>Ergebnis, vorbefüllte Notiz, Create Email, Template</a:t>
                      </a:r>
                    </a:p>
                  </a:txBody>
                  <a:tcPr marL="73152" marR="73152" marT="36576" marB="36576" anchor="ctr">
                    <a:solidFill>
                      <a:srgbClr val="EEF3F8"/>
                    </a:solidFill>
                  </a:tcPr>
                </a:tc>
                <a:tc>
                  <a:txBody>
                    <a:bodyPr wrap="square"/>
                    <a:lstStyle/>
                    <a:p>
                      <a:r>
                        <a:rPr sz="1000" b="0" i="0">
                          <a:solidFill>
                            <a:srgbClr val="1F2933"/>
                          </a:solidFill>
                          <a:latin typeface="Calibri"/>
                        </a:rPr>
                        <a:t>E-Mail-Vorschau</a:t>
                      </a:r>
                    </a:p>
                  </a:txBody>
                  <a:tcPr marL="73152" marR="73152" marT="36576" marB="36576" anchor="ctr">
                    <a:solidFill>
                      <a:srgbClr val="EEF3F8"/>
                    </a:solidFill>
                  </a:tcPr>
                </a:tc>
              </a:tr>
              <a:tr h="457200">
                <a:tc>
                  <a:txBody>
                    <a:bodyPr wrap="square"/>
                    <a:lstStyle/>
                    <a:p>
                      <a:r>
                        <a:rPr sz="1000" b="1" i="0">
                          <a:solidFill>
                            <a:srgbClr val="1F2933"/>
                          </a:solidFill>
                          <a:latin typeface="Calibri"/>
                        </a:rPr>
                        <a:t>7</a:t>
                      </a:r>
                    </a:p>
                  </a:txBody>
                  <a:tcPr marL="73152" marR="73152" marT="36576" marB="36576" anchor="ctr">
                    <a:solidFill>
                      <a:srgbClr val="FFFFFF"/>
                    </a:solidFill>
                  </a:tcPr>
                </a:tc>
                <a:tc>
                  <a:txBody>
                    <a:bodyPr wrap="square"/>
                    <a:lstStyle/>
                    <a:p>
                      <a:r>
                        <a:rPr sz="1000" b="0" i="0">
                          <a:solidFill>
                            <a:srgbClr val="1F2933"/>
                          </a:solidFill>
                          <a:latin typeface="Calibri"/>
                        </a:rPr>
                        <a:t>AR Accountant</a:t>
                      </a:r>
                    </a:p>
                  </a:txBody>
                  <a:tcPr marL="73152" marR="73152" marT="36576" marB="36576" anchor="ctr">
                    <a:solidFill>
                      <a:srgbClr val="FFFFFF"/>
                    </a:solidFill>
                  </a:tcPr>
                </a:tc>
                <a:tc>
                  <a:txBody>
                    <a:bodyPr wrap="square"/>
                    <a:lstStyle/>
                    <a:p>
                      <a:r>
                        <a:rPr sz="1000" b="0" i="0">
                          <a:solidFill>
                            <a:srgbClr val="1F2933"/>
                          </a:solidFill>
                          <a:latin typeface="Calibri"/>
                        </a:rPr>
                        <a:t>Process Collections Worklist (F0380)</a:t>
                      </a:r>
                    </a:p>
                  </a:txBody>
                  <a:tcPr marL="73152" marR="73152" marT="36576" marB="36576" anchor="ctr">
                    <a:solidFill>
                      <a:srgbClr val="FFFFFF"/>
                    </a:solidFill>
                  </a:tcPr>
                </a:tc>
                <a:tc>
                  <a:txBody>
                    <a:bodyPr wrap="square"/>
                    <a:lstStyle/>
                    <a:p>
                      <a:r>
                        <a:rPr sz="1000" b="0" i="0">
                          <a:solidFill>
                            <a:srgbClr val="1F2933"/>
                          </a:solidFill>
                          <a:latin typeface="Calibri"/>
                        </a:rPr>
                        <a:t>Zwei Kunden markieren → Create Correspondences</a:t>
                      </a:r>
                    </a:p>
                  </a:txBody>
                  <a:tcPr marL="73152" marR="73152" marT="36576" marB="36576" anchor="ctr">
                    <a:solidFill>
                      <a:srgbClr val="FFFFFF"/>
                    </a:solidFill>
                  </a:tcPr>
                </a:tc>
                <a:tc>
                  <a:txBody>
                    <a:bodyPr wrap="square"/>
                    <a:lstStyle/>
                    <a:p>
                      <a:r>
                        <a:rPr sz="1000" b="0" i="0">
                          <a:solidFill>
                            <a:srgbClr val="1F2933"/>
                          </a:solidFill>
                          <a:latin typeface="Calibri"/>
                        </a:rPr>
                        <a:t>Massenkorrespondenz bis Vorschau</a:t>
                      </a:r>
                    </a:p>
                  </a:txBody>
                  <a:tcPr marL="73152" marR="73152" marT="36576" marB="36576" anchor="ctr">
                    <a:solidFill>
                      <a:srgbClr val="FFFFFF"/>
                    </a:solidFill>
                  </a:tcPr>
                </a:tc>
              </a:tr>
              <a:tr h="457200">
                <a:tc>
                  <a:txBody>
                    <a:bodyPr wrap="square"/>
                    <a:lstStyle/>
                    <a:p>
                      <a:r>
                        <a:rPr sz="1000" b="1" i="0">
                          <a:solidFill>
                            <a:srgbClr val="1F2933"/>
                          </a:solidFill>
                          <a:latin typeface="Calibri"/>
                        </a:rPr>
                        <a:t>8</a:t>
                      </a:r>
                    </a:p>
                  </a:txBody>
                  <a:tcPr marL="73152" marR="73152" marT="36576" marB="36576" anchor="ctr">
                    <a:solidFill>
                      <a:srgbClr val="EEF3F8"/>
                    </a:solidFill>
                  </a:tcPr>
                </a:tc>
                <a:tc>
                  <a:txBody>
                    <a:bodyPr wrap="square"/>
                    <a:lstStyle/>
                    <a:p>
                      <a:r>
                        <a:rPr sz="1000" b="0" i="0">
                          <a:solidFill>
                            <a:srgbClr val="1F2933"/>
                          </a:solidFill>
                          <a:latin typeface="Calibri"/>
                        </a:rPr>
                        <a:t>AR Accountant</a:t>
                      </a:r>
                    </a:p>
                  </a:txBody>
                  <a:tcPr marL="73152" marR="73152" marT="36576" marB="36576" anchor="ctr">
                    <a:solidFill>
                      <a:srgbClr val="EEF3F8"/>
                    </a:solidFill>
                  </a:tcPr>
                </a:tc>
                <a:tc>
                  <a:txBody>
                    <a:bodyPr wrap="square"/>
                    <a:lstStyle/>
                    <a:p>
                      <a:r>
                        <a:rPr sz="1000" b="0" i="0">
                          <a:solidFill>
                            <a:srgbClr val="1F2933"/>
                          </a:solidFill>
                          <a:latin typeface="Calibri"/>
                        </a:rPr>
                        <a:t>My Dunning Proposals (F2435)</a:t>
                      </a:r>
                    </a:p>
                  </a:txBody>
                  <a:tcPr marL="73152" marR="73152" marT="36576" marB="36576" anchor="ctr">
                    <a:solidFill>
                      <a:srgbClr val="EEF3F8"/>
                    </a:solidFill>
                  </a:tcPr>
                </a:tc>
                <a:tc>
                  <a:txBody>
                    <a:bodyPr wrap="square"/>
                    <a:lstStyle/>
                    <a:p>
                      <a:r>
                        <a:rPr sz="1000" b="0" i="0">
                          <a:solidFill>
                            <a:srgbClr val="1F2933"/>
                          </a:solidFill>
                          <a:latin typeface="Calibri"/>
                        </a:rPr>
                        <a:t>Mahnvorschlag erzeugen, PDF, Mahnsperre</a:t>
                      </a:r>
                    </a:p>
                  </a:txBody>
                  <a:tcPr marL="73152" marR="73152" marT="36576" marB="36576" anchor="ctr">
                    <a:solidFill>
                      <a:srgbClr val="EEF3F8"/>
                    </a:solidFill>
                  </a:tcPr>
                </a:tc>
                <a:tc>
                  <a:txBody>
                    <a:bodyPr wrap="square"/>
                    <a:lstStyle/>
                    <a:p>
                      <a:r>
                        <a:rPr sz="1000" b="0" i="0">
                          <a:solidFill>
                            <a:srgbClr val="1F2933"/>
                          </a:solidFill>
                          <a:latin typeface="Calibri"/>
                        </a:rPr>
                        <a:t>Versprochene Rechnung fehlt im Vorschlag</a:t>
                      </a:r>
                    </a:p>
                  </a:txBody>
                  <a:tcPr marL="73152" marR="73152" marT="36576" marB="36576" anchor="ctr">
                    <a:solidFill>
                      <a:srgbClr val="EEF3F8"/>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C1  FACHLICHER KONTEXT</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Streitfälle blockieren Cash und entstehen an drei Stellen</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C  Dispute Case: Anlage und Lösung</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13</a:t>
            </a:r>
          </a:p>
        </p:txBody>
      </p:sp>
      <p:sp>
        <p:nvSpPr>
          <p:cNvPr id="6" name="Rounded Rectangle 5"/>
          <p:cNvSpPr/>
          <p:nvPr/>
        </p:nvSpPr>
        <p:spPr>
          <a:xfrm>
            <a:off x="548640" y="1554480"/>
            <a:ext cx="3515258" cy="17830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85800" y="169164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1</a:t>
            </a:r>
          </a:p>
        </p:txBody>
      </p:sp>
      <p:sp>
        <p:nvSpPr>
          <p:cNvPr id="8" name="TextBox 7"/>
          <p:cNvSpPr txBox="1"/>
          <p:nvPr/>
        </p:nvSpPr>
        <p:spPr>
          <a:xfrm>
            <a:off x="1124712" y="1691640"/>
            <a:ext cx="2802026" cy="384048"/>
          </a:xfrm>
          <a:prstGeom prst="rect">
            <a:avLst/>
          </a:prstGeom>
          <a:noFill/>
        </p:spPr>
        <p:txBody>
          <a:bodyPr wrap="square" anchor="ctr" lIns="45720" rIns="45720">
            <a:spAutoFit/>
          </a:bodyPr>
          <a:lstStyle/>
          <a:p>
            <a:pPr algn="l"/>
            <a:r>
              <a:rPr sz="1400" b="1" i="0">
                <a:solidFill>
                  <a:srgbClr val="1C4E80"/>
                </a:solidFill>
                <a:latin typeface="Calibri"/>
              </a:rPr>
              <a:t>Beim Zahlungseingang</a:t>
            </a:r>
          </a:p>
        </p:txBody>
      </p:sp>
      <p:sp>
        <p:nvSpPr>
          <p:cNvPr id="9" name="TextBox 8"/>
          <p:cNvSpPr txBox="1"/>
          <p:nvPr/>
        </p:nvSpPr>
        <p:spPr>
          <a:xfrm>
            <a:off x="685800" y="2130552"/>
            <a:ext cx="3240938" cy="1069848"/>
          </a:xfrm>
          <a:prstGeom prst="rect">
            <a:avLst/>
          </a:prstGeom>
          <a:noFill/>
        </p:spPr>
        <p:txBody>
          <a:bodyPr wrap="square" anchor="t" lIns="45720" rIns="45720">
            <a:spAutoFit/>
          </a:bodyPr>
          <a:lstStyle/>
          <a:p>
            <a:pPr algn="l"/>
            <a:r>
              <a:rPr sz="1200" b="0" i="0">
                <a:solidFill>
                  <a:srgbClr val="1F2933"/>
                </a:solidFill>
                <a:latin typeface="Calibri"/>
              </a:rPr>
              <a:t>Kunde zahlt weniger und nennt einen Grund: Skonto trotz Frist, Mengendifferenz, Rücksendung. Restposten sind klein, aber zahlreich. Kandidat für automatische Anlage.</a:t>
            </a:r>
          </a:p>
        </p:txBody>
      </p:sp>
      <p:sp>
        <p:nvSpPr>
          <p:cNvPr id="10" name="Rounded Rectangle 9"/>
          <p:cNvSpPr/>
          <p:nvPr/>
        </p:nvSpPr>
        <p:spPr>
          <a:xfrm>
            <a:off x="4338218" y="1554480"/>
            <a:ext cx="3515258" cy="17830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475378" y="169164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2</a:t>
            </a:r>
          </a:p>
        </p:txBody>
      </p:sp>
      <p:sp>
        <p:nvSpPr>
          <p:cNvPr id="12" name="TextBox 11"/>
          <p:cNvSpPr txBox="1"/>
          <p:nvPr/>
        </p:nvSpPr>
        <p:spPr>
          <a:xfrm>
            <a:off x="4914290" y="1691640"/>
            <a:ext cx="2802026" cy="384048"/>
          </a:xfrm>
          <a:prstGeom prst="rect">
            <a:avLst/>
          </a:prstGeom>
          <a:noFill/>
        </p:spPr>
        <p:txBody>
          <a:bodyPr wrap="square" anchor="ctr" lIns="45720" rIns="45720">
            <a:spAutoFit/>
          </a:bodyPr>
          <a:lstStyle/>
          <a:p>
            <a:pPr algn="l"/>
            <a:r>
              <a:rPr sz="1400" b="1" i="0">
                <a:solidFill>
                  <a:srgbClr val="1C4E80"/>
                </a:solidFill>
                <a:latin typeface="Calibri"/>
              </a:rPr>
              <a:t>Im Kundenkontakt</a:t>
            </a:r>
          </a:p>
        </p:txBody>
      </p:sp>
      <p:sp>
        <p:nvSpPr>
          <p:cNvPr id="13" name="TextBox 12"/>
          <p:cNvSpPr txBox="1"/>
          <p:nvPr/>
        </p:nvSpPr>
        <p:spPr>
          <a:xfrm>
            <a:off x="4475378" y="2130552"/>
            <a:ext cx="3240938" cy="1069848"/>
          </a:xfrm>
          <a:prstGeom prst="rect">
            <a:avLst/>
          </a:prstGeom>
          <a:noFill/>
        </p:spPr>
        <p:txBody>
          <a:bodyPr wrap="square" anchor="t" lIns="45720" rIns="45720">
            <a:spAutoFit/>
          </a:bodyPr>
          <a:lstStyle/>
          <a:p>
            <a:pPr algn="l"/>
            <a:r>
              <a:rPr sz="1200" b="0" i="0">
                <a:solidFill>
                  <a:srgbClr val="1F2933"/>
                </a:solidFill>
                <a:latin typeface="Calibri"/>
              </a:rPr>
              <a:t>Spezialist ruft an und erfährt, dass die Rechnung bestritten wird. Dispute Case direkt aus dem Gespräch.</a:t>
            </a:r>
          </a:p>
        </p:txBody>
      </p:sp>
      <p:sp>
        <p:nvSpPr>
          <p:cNvPr id="14" name="Rounded Rectangle 13"/>
          <p:cNvSpPr/>
          <p:nvPr/>
        </p:nvSpPr>
        <p:spPr>
          <a:xfrm>
            <a:off x="8127796" y="1554480"/>
            <a:ext cx="3515258" cy="17830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64956" y="169164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3</a:t>
            </a:r>
          </a:p>
        </p:txBody>
      </p:sp>
      <p:sp>
        <p:nvSpPr>
          <p:cNvPr id="16" name="TextBox 15"/>
          <p:cNvSpPr txBox="1"/>
          <p:nvPr/>
        </p:nvSpPr>
        <p:spPr>
          <a:xfrm>
            <a:off x="8703868" y="1691640"/>
            <a:ext cx="2802026" cy="384048"/>
          </a:xfrm>
          <a:prstGeom prst="rect">
            <a:avLst/>
          </a:prstGeom>
          <a:noFill/>
        </p:spPr>
        <p:txBody>
          <a:bodyPr wrap="square" anchor="ctr" lIns="45720" rIns="45720">
            <a:spAutoFit/>
          </a:bodyPr>
          <a:lstStyle/>
          <a:p>
            <a:pPr algn="l"/>
            <a:r>
              <a:rPr sz="1400" b="1" i="0">
                <a:solidFill>
                  <a:srgbClr val="1C4E80"/>
                </a:solidFill>
                <a:latin typeface="Calibri"/>
              </a:rPr>
              <a:t>Im Vertrieb oder Service</a:t>
            </a:r>
          </a:p>
        </p:txBody>
      </p:sp>
      <p:sp>
        <p:nvSpPr>
          <p:cNvPr id="17" name="TextBox 16"/>
          <p:cNvSpPr txBox="1"/>
          <p:nvPr/>
        </p:nvSpPr>
        <p:spPr>
          <a:xfrm>
            <a:off x="8264956" y="2130552"/>
            <a:ext cx="3240938" cy="1069848"/>
          </a:xfrm>
          <a:prstGeom prst="rect">
            <a:avLst/>
          </a:prstGeom>
          <a:noFill/>
        </p:spPr>
        <p:txBody>
          <a:bodyPr wrap="square" anchor="t" lIns="45720" rIns="45720">
            <a:spAutoFit/>
          </a:bodyPr>
          <a:lstStyle/>
          <a:p>
            <a:pPr algn="l"/>
            <a:r>
              <a:rPr sz="1200" b="0" i="0">
                <a:solidFill>
                  <a:srgbClr val="1F2933"/>
                </a:solidFill>
                <a:latin typeface="Calibri"/>
              </a:rPr>
              <a:t>Reklamation kommt per Mail oder Telefon, oft vor Fälligkeit. Buchhaltung oder Fachbereich legt den Fall an.</a:t>
            </a:r>
          </a:p>
        </p:txBody>
      </p:sp>
      <p:sp>
        <p:nvSpPr>
          <p:cNvPr id="18" name="Rounded Rectangle 17"/>
          <p:cNvSpPr/>
          <p:nvPr/>
        </p:nvSpPr>
        <p:spPr>
          <a:xfrm>
            <a:off x="548640" y="3566160"/>
            <a:ext cx="5410047" cy="20574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5800" y="3703320"/>
            <a:ext cx="5135727" cy="365760"/>
          </a:xfrm>
          <a:prstGeom prst="rect">
            <a:avLst/>
          </a:prstGeom>
          <a:noFill/>
        </p:spPr>
        <p:txBody>
          <a:bodyPr wrap="square" anchor="ctr" lIns="45720" rIns="45720">
            <a:spAutoFit/>
          </a:bodyPr>
          <a:lstStyle/>
          <a:p>
            <a:pPr algn="l"/>
            <a:r>
              <a:rPr sz="1400" b="1" i="0">
                <a:solidFill>
                  <a:srgbClr val="1C4E80"/>
                </a:solidFill>
                <a:latin typeface="Calibri"/>
              </a:rPr>
              <a:t>Was ein Dispute Case leistet</a:t>
            </a:r>
          </a:p>
        </p:txBody>
      </p:sp>
      <p:sp>
        <p:nvSpPr>
          <p:cNvPr id="20" name="TextBox 19"/>
          <p:cNvSpPr txBox="1"/>
          <p:nvPr/>
        </p:nvSpPr>
        <p:spPr>
          <a:xfrm>
            <a:off x="685800" y="4087368"/>
            <a:ext cx="5135727" cy="139903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Strittiger Betrag, Grund, Priorität, Belege an einer Stelle</a:t>
            </a:r>
          </a:p>
          <a:p>
            <a:pPr marL="201168" indent="-201168">
              <a:spcAft>
                <a:spcPts val="300"/>
              </a:spcAft>
              <a:buChar char="•"/>
            </a:pPr>
            <a:r>
              <a:rPr sz="1200" b="0" i="0">
                <a:solidFill>
                  <a:srgbClr val="1F2933"/>
                </a:solidFill>
                <a:latin typeface="Calibri"/>
              </a:rPr>
              <a:t>Ein Bearbeiter, ein Koordinator: klar, wer am Zug ist</a:t>
            </a:r>
          </a:p>
          <a:p>
            <a:pPr marL="201168" indent="-201168">
              <a:spcAft>
                <a:spcPts val="300"/>
              </a:spcAft>
              <a:buChar char="•"/>
            </a:pPr>
            <a:r>
              <a:rPr sz="1200" b="0" i="0">
                <a:solidFill>
                  <a:srgbClr val="1F2933"/>
                </a:solidFill>
                <a:latin typeface="Calibri"/>
              </a:rPr>
              <a:t>Notizen, Anhänge, E-Mails mit dem Kunden im Fall</a:t>
            </a:r>
          </a:p>
          <a:p>
            <a:pPr marL="201168" indent="-201168">
              <a:spcAft>
                <a:spcPts val="300"/>
              </a:spcAft>
              <a:buChar char="•"/>
            </a:pPr>
            <a:r>
              <a:rPr sz="1200" b="0" i="0">
                <a:solidFill>
                  <a:srgbClr val="1F2933"/>
                </a:solidFill>
                <a:latin typeface="Calibri"/>
              </a:rPr>
              <a:t>Sperrt den Posten für das Mahnwesen</a:t>
            </a:r>
          </a:p>
          <a:p>
            <a:pPr marL="201168" indent="-201168">
              <a:spcAft>
                <a:spcPts val="300"/>
              </a:spcAft>
              <a:buChar char="•"/>
            </a:pPr>
            <a:r>
              <a:rPr sz="1200" b="0" i="0">
                <a:solidFill>
                  <a:srgbClr val="1F2933"/>
                </a:solidFill>
                <a:latin typeface="Calibri"/>
              </a:rPr>
              <a:t>Auswertung nach Grund und Ursache</a:t>
            </a:r>
          </a:p>
        </p:txBody>
      </p:sp>
      <p:sp>
        <p:nvSpPr>
          <p:cNvPr id="21" name="Rounded Rectangle 20"/>
          <p:cNvSpPr/>
          <p:nvPr/>
        </p:nvSpPr>
        <p:spPr>
          <a:xfrm>
            <a:off x="6233007" y="3566160"/>
            <a:ext cx="5410047" cy="205740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70167" y="3703320"/>
            <a:ext cx="5135727" cy="365760"/>
          </a:xfrm>
          <a:prstGeom prst="rect">
            <a:avLst/>
          </a:prstGeom>
          <a:noFill/>
        </p:spPr>
        <p:txBody>
          <a:bodyPr wrap="square" anchor="ctr" lIns="45720" rIns="45720">
            <a:spAutoFit/>
          </a:bodyPr>
          <a:lstStyle/>
          <a:p>
            <a:pPr algn="l"/>
            <a:r>
              <a:rPr sz="1400" b="1" i="0">
                <a:solidFill>
                  <a:srgbClr val="1C4E80"/>
                </a:solidFill>
                <a:latin typeface="Calibri"/>
              </a:rPr>
              <a:t>Rollenmodell</a:t>
            </a:r>
          </a:p>
        </p:txBody>
      </p:sp>
      <p:sp>
        <p:nvSpPr>
          <p:cNvPr id="23" name="TextBox 22"/>
          <p:cNvSpPr txBox="1"/>
          <p:nvPr/>
        </p:nvSpPr>
        <p:spPr>
          <a:xfrm>
            <a:off x="6370167" y="4087368"/>
            <a:ext cx="5135727" cy="1399032"/>
          </a:xfrm>
          <a:prstGeom prst="rect">
            <a:avLst/>
          </a:prstGeom>
          <a:noFill/>
        </p:spPr>
        <p:txBody>
          <a:bodyPr wrap="square" lIns="45720" rIns="45720">
            <a:spAutoFit/>
          </a:bodyPr>
          <a:lstStyle/>
          <a:p>
            <a:pPr marL="201168" indent="-201168">
              <a:spcAft>
                <a:spcPts val="300"/>
              </a:spcAft>
              <a:buChar char="•"/>
            </a:pPr>
            <a:r>
              <a:rPr sz="1200" b="1" i="0">
                <a:solidFill>
                  <a:srgbClr val="1F2933"/>
                </a:solidFill>
                <a:latin typeface="Calibri"/>
              </a:rPr>
              <a:t>Koordinator: </a:t>
            </a:r>
            <a:r>
              <a:rPr sz="1200" b="0" i="0">
                <a:solidFill>
                  <a:srgbClr val="1F2933"/>
                </a:solidFill>
                <a:latin typeface="Calibri"/>
              </a:rPr>
              <a:t>Debitorenbuchhaltung, verteilt und eskaliert</a:t>
            </a:r>
          </a:p>
          <a:p>
            <a:pPr marL="201168" indent="-201168">
              <a:spcAft>
                <a:spcPts val="300"/>
              </a:spcAft>
              <a:buChar char="•"/>
            </a:pPr>
            <a:r>
              <a:rPr sz="1200" b="1" i="0">
                <a:solidFill>
                  <a:srgbClr val="1F2933"/>
                </a:solidFill>
                <a:latin typeface="Calibri"/>
              </a:rPr>
              <a:t>Bearbeiter: </a:t>
            </a:r>
            <a:r>
              <a:rPr sz="1200" b="0" i="0">
                <a:solidFill>
                  <a:srgbClr val="1F2933"/>
                </a:solidFill>
                <a:latin typeface="Calibri"/>
              </a:rPr>
              <a:t>Buchhaltung, Vertrieb, Logistik, Service, je nach Grund</a:t>
            </a:r>
          </a:p>
          <a:p>
            <a:pPr marL="201168" indent="-201168">
              <a:spcAft>
                <a:spcPts val="300"/>
              </a:spcAft>
              <a:buChar char="•"/>
            </a:pPr>
            <a:r>
              <a:rPr sz="1200" b="1" i="0">
                <a:solidFill>
                  <a:srgbClr val="1F2933"/>
                </a:solidFill>
                <a:latin typeface="Calibri"/>
              </a:rPr>
              <a:t>Entscheidung im Workshop: </a:t>
            </a:r>
            <a:r>
              <a:rPr sz="1200" b="0" i="0">
                <a:solidFill>
                  <a:srgbClr val="1F2933"/>
                </a:solidFill>
                <a:latin typeface="Calibri"/>
              </a:rPr>
              <a:t>arbeiten Fachbereiche selbst im System oder pflegt die Buchhaltung stellvertretend?</a:t>
            </a:r>
          </a:p>
          <a:p>
            <a:pPr marL="201168" indent="-201168">
              <a:spcAft>
                <a:spcPts val="300"/>
              </a:spcAft>
              <a:buChar char="•"/>
            </a:pPr>
            <a:r>
              <a:rPr sz="1200" b="1" i="0">
                <a:solidFill>
                  <a:srgbClr val="1F2933"/>
                </a:solidFill>
                <a:latin typeface="Calibri"/>
              </a:rPr>
              <a:t>Kennzahlen: </a:t>
            </a:r>
            <a:r>
              <a:rPr sz="1200" b="0" i="0">
                <a:solidFill>
                  <a:srgbClr val="1F2933"/>
                </a:solidFill>
                <a:latin typeface="Calibri"/>
              </a:rPr>
              <a:t>Durchlaufzeit, strittiges Volumen, Anteil berechtigter Fälle je Grund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C2  DISPUTE-ANLAGE</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Drei Anlagewege, ein Fall</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C  Dispute Case: Anlage und Lösung</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14</a:t>
            </a:r>
          </a:p>
        </p:txBody>
      </p:sp>
      <p:sp>
        <p:nvSpPr>
          <p:cNvPr id="6" name="Rounded Rectangle 5"/>
          <p:cNvSpPr/>
          <p:nvPr/>
        </p:nvSpPr>
        <p:spPr>
          <a:xfrm>
            <a:off x="548640" y="1554480"/>
            <a:ext cx="3515258" cy="28346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31520" y="1719072"/>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1</a:t>
            </a:r>
          </a:p>
        </p:txBody>
      </p:sp>
      <p:sp>
        <p:nvSpPr>
          <p:cNvPr id="8" name="TextBox 7"/>
          <p:cNvSpPr txBox="1"/>
          <p:nvPr/>
        </p:nvSpPr>
        <p:spPr>
          <a:xfrm>
            <a:off x="1207008" y="1691640"/>
            <a:ext cx="2692298" cy="457200"/>
          </a:xfrm>
          <a:prstGeom prst="rect">
            <a:avLst/>
          </a:prstGeom>
          <a:noFill/>
        </p:spPr>
        <p:txBody>
          <a:bodyPr wrap="square" anchor="ctr" lIns="45720" rIns="45720">
            <a:spAutoFit/>
          </a:bodyPr>
          <a:lstStyle/>
          <a:p>
            <a:pPr algn="l"/>
            <a:r>
              <a:rPr sz="1600" b="1" i="0">
                <a:solidFill>
                  <a:srgbClr val="1C4E80"/>
                </a:solidFill>
                <a:latin typeface="Calibri"/>
              </a:rPr>
              <a:t>Manuell im Kundenkontakt</a:t>
            </a:r>
          </a:p>
        </p:txBody>
      </p:sp>
      <p:sp>
        <p:nvSpPr>
          <p:cNvPr id="9" name="TextBox 8"/>
          <p:cNvSpPr txBox="1"/>
          <p:nvPr/>
        </p:nvSpPr>
        <p:spPr>
          <a:xfrm>
            <a:off x="731520" y="2194560"/>
            <a:ext cx="3149498" cy="457200"/>
          </a:xfrm>
          <a:prstGeom prst="rect">
            <a:avLst/>
          </a:prstGeom>
          <a:noFill/>
        </p:spPr>
        <p:txBody>
          <a:bodyPr wrap="square" anchor="t" lIns="45720" rIns="45720">
            <a:spAutoFit/>
          </a:bodyPr>
          <a:lstStyle/>
          <a:p>
            <a:pPr algn="l"/>
            <a:r>
              <a:rPr sz="1100" b="0" i="1">
                <a:solidFill>
                  <a:srgbClr val="5F6B7A"/>
                </a:solidFill>
                <a:latin typeface="Calibri"/>
              </a:rPr>
              <a:t>Process Receivables (F0106A)  |  AR Accountant</a:t>
            </a:r>
          </a:p>
        </p:txBody>
      </p:sp>
      <p:sp>
        <p:nvSpPr>
          <p:cNvPr id="10" name="TextBox 9"/>
          <p:cNvSpPr txBox="1"/>
          <p:nvPr/>
        </p:nvSpPr>
        <p:spPr>
          <a:xfrm>
            <a:off x="731520" y="2697480"/>
            <a:ext cx="3149498" cy="1645920"/>
          </a:xfrm>
          <a:prstGeom prst="rect">
            <a:avLst/>
          </a:prstGeom>
          <a:noFill/>
        </p:spPr>
        <p:txBody>
          <a:bodyPr wrap="square" lIns="45720" rIns="45720">
            <a:spAutoFit/>
          </a:bodyPr>
          <a:lstStyle/>
          <a:p>
            <a:pPr marL="201168" indent="-201168">
              <a:spcAft>
                <a:spcPts val="400"/>
              </a:spcAft>
              <a:buChar char="•"/>
            </a:pPr>
            <a:r>
              <a:rPr sz="1200" b="0" i="0">
                <a:solidFill>
                  <a:srgbClr val="1F2933"/>
                </a:solidFill>
                <a:latin typeface="Calibri"/>
              </a:rPr>
              <a:t>Rechnung markieren → Create Dispute Case</a:t>
            </a:r>
          </a:p>
          <a:p>
            <a:pPr marL="201168" indent="-201168">
              <a:spcAft>
                <a:spcPts val="400"/>
              </a:spcAft>
              <a:buChar char="•"/>
            </a:pPr>
            <a:r>
              <a:rPr sz="1200" b="0" i="0">
                <a:solidFill>
                  <a:srgbClr val="1F2933"/>
                </a:solidFill>
                <a:latin typeface="Calibri"/>
              </a:rPr>
              <a:t>Titel, Grund (z. B. Price Differences), Priorität, Bearbeiter, Ansprechpartner, Notiz, Anhang</a:t>
            </a:r>
          </a:p>
          <a:p>
            <a:pPr marL="201168" indent="-201168">
              <a:spcAft>
                <a:spcPts val="400"/>
              </a:spcAft>
              <a:buChar char="•"/>
            </a:pPr>
            <a:r>
              <a:rPr sz="1200" b="0" i="0">
                <a:solidFill>
                  <a:srgbClr val="1F2933"/>
                </a:solidFill>
                <a:latin typeface="Calibri"/>
              </a:rPr>
              <a:t>Typisch: Spezialist erfährt den Einwand im Gespräch</a:t>
            </a:r>
          </a:p>
        </p:txBody>
      </p:sp>
      <p:sp>
        <p:nvSpPr>
          <p:cNvPr id="11" name="Rounded Rectangle 10"/>
          <p:cNvSpPr/>
          <p:nvPr/>
        </p:nvSpPr>
        <p:spPr>
          <a:xfrm>
            <a:off x="4338218" y="1554480"/>
            <a:ext cx="3515258" cy="28346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521098" y="1719072"/>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2</a:t>
            </a:r>
          </a:p>
        </p:txBody>
      </p:sp>
      <p:sp>
        <p:nvSpPr>
          <p:cNvPr id="13" name="TextBox 12"/>
          <p:cNvSpPr txBox="1"/>
          <p:nvPr/>
        </p:nvSpPr>
        <p:spPr>
          <a:xfrm>
            <a:off x="4996586" y="1691640"/>
            <a:ext cx="2692298" cy="457200"/>
          </a:xfrm>
          <a:prstGeom prst="rect">
            <a:avLst/>
          </a:prstGeom>
          <a:noFill/>
        </p:spPr>
        <p:txBody>
          <a:bodyPr wrap="square" anchor="ctr" lIns="45720" rIns="45720">
            <a:spAutoFit/>
          </a:bodyPr>
          <a:lstStyle/>
          <a:p>
            <a:pPr algn="l"/>
            <a:r>
              <a:rPr sz="1600" b="1" i="0">
                <a:solidFill>
                  <a:srgbClr val="1C4E80"/>
                </a:solidFill>
                <a:latin typeface="Calibri"/>
              </a:rPr>
              <a:t>Aus der Unterzahlung</a:t>
            </a:r>
          </a:p>
        </p:txBody>
      </p:sp>
      <p:sp>
        <p:nvSpPr>
          <p:cNvPr id="14" name="TextBox 13"/>
          <p:cNvSpPr txBox="1"/>
          <p:nvPr/>
        </p:nvSpPr>
        <p:spPr>
          <a:xfrm>
            <a:off x="4521098" y="2194560"/>
            <a:ext cx="3149498" cy="457200"/>
          </a:xfrm>
          <a:prstGeom prst="rect">
            <a:avLst/>
          </a:prstGeom>
          <a:noFill/>
        </p:spPr>
        <p:txBody>
          <a:bodyPr wrap="square" anchor="t" lIns="45720" rIns="45720">
            <a:spAutoFit/>
          </a:bodyPr>
          <a:lstStyle/>
          <a:p>
            <a:pPr algn="l"/>
            <a:r>
              <a:rPr sz="1100" b="0" i="1">
                <a:solidFill>
                  <a:srgbClr val="5F6B7A"/>
                </a:solidFill>
                <a:latin typeface="Calibri"/>
              </a:rPr>
              <a:t>Reprocess Bank Statement Items (F1520)  |  Cash Specialist</a:t>
            </a:r>
          </a:p>
        </p:txBody>
      </p:sp>
      <p:sp>
        <p:nvSpPr>
          <p:cNvPr id="15" name="TextBox 14"/>
          <p:cNvSpPr txBox="1"/>
          <p:nvPr/>
        </p:nvSpPr>
        <p:spPr>
          <a:xfrm>
            <a:off x="4521098" y="2697480"/>
            <a:ext cx="3149498" cy="1645920"/>
          </a:xfrm>
          <a:prstGeom prst="rect">
            <a:avLst/>
          </a:prstGeom>
          <a:noFill/>
        </p:spPr>
        <p:txBody>
          <a:bodyPr wrap="square" lIns="45720" rIns="45720">
            <a:spAutoFit/>
          </a:bodyPr>
          <a:lstStyle/>
          <a:p>
            <a:pPr marL="201168" indent="-201168">
              <a:spcAft>
                <a:spcPts val="400"/>
              </a:spcAft>
              <a:buChar char="•"/>
            </a:pPr>
            <a:r>
              <a:rPr sz="1200" b="0" i="0">
                <a:solidFill>
                  <a:srgbClr val="1F2933"/>
                </a:solidFill>
                <a:latin typeface="Calibri"/>
              </a:rPr>
              <a:t>Zahlung kleiner als Rechnung → Rechnung ausgleichen, Restposten</a:t>
            </a:r>
          </a:p>
          <a:p>
            <a:pPr marL="201168" indent="-201168">
              <a:spcAft>
                <a:spcPts val="400"/>
              </a:spcAft>
              <a:buChar char="•"/>
            </a:pPr>
            <a:r>
              <a:rPr sz="1200" b="0" i="0">
                <a:solidFill>
                  <a:srgbClr val="1F2933"/>
                </a:solidFill>
                <a:latin typeface="Calibri"/>
              </a:rPr>
              <a:t>Create Dispute im Clearing-Dialog → Buchen</a:t>
            </a:r>
          </a:p>
          <a:p>
            <a:pPr marL="201168" indent="-201168">
              <a:spcAft>
                <a:spcPts val="400"/>
              </a:spcAft>
              <a:buChar char="•"/>
            </a:pPr>
            <a:r>
              <a:rPr sz="1200" b="0" i="0">
                <a:solidFill>
                  <a:srgbClr val="1F2933"/>
                </a:solidFill>
                <a:latin typeface="Calibri"/>
              </a:rPr>
              <a:t>Typisch: Abzüge auf dem Zahlungsavis</a:t>
            </a:r>
          </a:p>
        </p:txBody>
      </p:sp>
      <p:sp>
        <p:nvSpPr>
          <p:cNvPr id="16" name="Rounded Rectangle 15"/>
          <p:cNvSpPr/>
          <p:nvPr/>
        </p:nvSpPr>
        <p:spPr>
          <a:xfrm>
            <a:off x="8127796" y="1554480"/>
            <a:ext cx="3515258" cy="28346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10676" y="1719072"/>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3</a:t>
            </a:r>
          </a:p>
        </p:txBody>
      </p:sp>
      <p:sp>
        <p:nvSpPr>
          <p:cNvPr id="18" name="TextBox 17"/>
          <p:cNvSpPr txBox="1"/>
          <p:nvPr/>
        </p:nvSpPr>
        <p:spPr>
          <a:xfrm>
            <a:off x="8786164" y="1691640"/>
            <a:ext cx="2692298" cy="457200"/>
          </a:xfrm>
          <a:prstGeom prst="rect">
            <a:avLst/>
          </a:prstGeom>
          <a:noFill/>
        </p:spPr>
        <p:txBody>
          <a:bodyPr wrap="square" anchor="ctr" lIns="45720" rIns="45720">
            <a:spAutoFit/>
          </a:bodyPr>
          <a:lstStyle/>
          <a:p>
            <a:pPr algn="l"/>
            <a:r>
              <a:rPr sz="1600" b="1" i="0">
                <a:solidFill>
                  <a:srgbClr val="1C4E80"/>
                </a:solidFill>
                <a:latin typeface="Calibri"/>
              </a:rPr>
              <a:t>Automatisch per Job</a:t>
            </a:r>
          </a:p>
        </p:txBody>
      </p:sp>
      <p:sp>
        <p:nvSpPr>
          <p:cNvPr id="19" name="TextBox 18"/>
          <p:cNvSpPr txBox="1"/>
          <p:nvPr/>
        </p:nvSpPr>
        <p:spPr>
          <a:xfrm>
            <a:off x="8310676" y="2194560"/>
            <a:ext cx="3149498" cy="457200"/>
          </a:xfrm>
          <a:prstGeom prst="rect">
            <a:avLst/>
          </a:prstGeom>
          <a:noFill/>
        </p:spPr>
        <p:txBody>
          <a:bodyPr wrap="square" anchor="t" lIns="45720" rIns="45720">
            <a:spAutoFit/>
          </a:bodyPr>
          <a:lstStyle/>
          <a:p>
            <a:pPr algn="l"/>
            <a:r>
              <a:rPr sz="1100" b="0" i="1">
                <a:solidFill>
                  <a:srgbClr val="5F6B7A"/>
                </a:solidFill>
                <a:latin typeface="Calibri"/>
              </a:rPr>
              <a:t>Schedule Dispute Management Jobs (F3578)  |  AR Accountant</a:t>
            </a:r>
          </a:p>
        </p:txBody>
      </p:sp>
      <p:sp>
        <p:nvSpPr>
          <p:cNvPr id="20" name="TextBox 19"/>
          <p:cNvSpPr txBox="1"/>
          <p:nvPr/>
        </p:nvSpPr>
        <p:spPr>
          <a:xfrm>
            <a:off x="8310676" y="2697480"/>
            <a:ext cx="3149498" cy="1645920"/>
          </a:xfrm>
          <a:prstGeom prst="rect">
            <a:avLst/>
          </a:prstGeom>
          <a:noFill/>
        </p:spPr>
        <p:txBody>
          <a:bodyPr wrap="square" lIns="45720" rIns="45720">
            <a:spAutoFit/>
          </a:bodyPr>
          <a:lstStyle/>
          <a:p>
            <a:pPr marL="201168" indent="-201168">
              <a:spcAft>
                <a:spcPts val="400"/>
              </a:spcAft>
              <a:buChar char="•"/>
            </a:pPr>
            <a:r>
              <a:rPr sz="1200" b="0" i="0">
                <a:solidFill>
                  <a:srgbClr val="1F2933"/>
                </a:solidFill>
                <a:latin typeface="Calibri"/>
              </a:rPr>
              <a:t>Template Automatic Creation of Dispute Cases</a:t>
            </a:r>
          </a:p>
          <a:p>
            <a:pPr marL="201168" indent="-201168">
              <a:spcAft>
                <a:spcPts val="400"/>
              </a:spcAft>
              <a:buChar char="•"/>
            </a:pPr>
            <a:r>
              <a:rPr sz="1200" b="0" i="0">
                <a:solidFill>
                  <a:srgbClr val="1F2933"/>
                </a:solidFill>
                <a:latin typeface="Calibri"/>
              </a:rPr>
              <a:t>Restposten aus automatischer Zahlungsverarbeitung werden nachts zu Fällen</a:t>
            </a:r>
          </a:p>
          <a:p>
            <a:pPr marL="201168" indent="-201168">
              <a:spcAft>
                <a:spcPts val="400"/>
              </a:spcAft>
              <a:buChar char="•"/>
            </a:pPr>
            <a:r>
              <a:rPr sz="1200" b="0" i="0">
                <a:solidFill>
                  <a:srgbClr val="1F2933"/>
                </a:solidFill>
                <a:latin typeface="Calibri"/>
              </a:rPr>
              <a:t>Typisch: hohes Volumen kleiner Differenzen</a:t>
            </a:r>
          </a:p>
        </p:txBody>
      </p:sp>
      <p:sp>
        <p:nvSpPr>
          <p:cNvPr id="21" name="Rounded Rectangle 20"/>
          <p:cNvSpPr/>
          <p:nvPr/>
        </p:nvSpPr>
        <p:spPr>
          <a:xfrm>
            <a:off x="548640" y="4663440"/>
            <a:ext cx="2650159" cy="77724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Fall angelegt</a:t>
            </a:r>
          </a:p>
          <a:p>
            <a:pPr algn="ctr"/>
            <a:r>
              <a:rPr sz="900" b="0" i="0">
                <a:solidFill>
                  <a:srgbClr val="FFFFFF"/>
                </a:solidFill>
                <a:latin typeface="Calibri"/>
              </a:rPr>
              <a:t>Status New, ohne Bearbeiter</a:t>
            </a:r>
          </a:p>
        </p:txBody>
      </p:sp>
      <p:sp>
        <p:nvSpPr>
          <p:cNvPr id="22" name="Right Arrow 21"/>
          <p:cNvSpPr/>
          <p:nvPr/>
        </p:nvSpPr>
        <p:spPr>
          <a:xfrm>
            <a:off x="3217087" y="496062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363391" y="4663440"/>
            <a:ext cx="2650159" cy="77724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Koordinator weist zu</a:t>
            </a:r>
          </a:p>
          <a:p>
            <a:pPr algn="ctr"/>
            <a:r>
              <a:rPr sz="900" b="0" i="0">
                <a:solidFill>
                  <a:srgbClr val="FFFFFF"/>
                </a:solidFill>
                <a:latin typeface="Calibri"/>
              </a:rPr>
              <a:t>Manage Dispute Cases F0702A</a:t>
            </a:r>
          </a:p>
        </p:txBody>
      </p:sp>
      <p:sp>
        <p:nvSpPr>
          <p:cNvPr id="24" name="Right Arrow 23"/>
          <p:cNvSpPr/>
          <p:nvPr/>
        </p:nvSpPr>
        <p:spPr>
          <a:xfrm>
            <a:off x="6031838" y="496062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78142" y="4663440"/>
            <a:ext cx="2650159" cy="77724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Bearbeiter prüft</a:t>
            </a:r>
          </a:p>
          <a:p>
            <a:pPr algn="ctr"/>
            <a:r>
              <a:rPr sz="900" b="0" i="0">
                <a:solidFill>
                  <a:srgbClr val="FFFFFF"/>
                </a:solidFill>
                <a:latin typeface="Calibri"/>
              </a:rPr>
              <a:t>Status In Process, Notizen, E-Mail</a:t>
            </a:r>
          </a:p>
        </p:txBody>
      </p:sp>
      <p:sp>
        <p:nvSpPr>
          <p:cNvPr id="26" name="Right Arrow 25"/>
          <p:cNvSpPr/>
          <p:nvPr/>
        </p:nvSpPr>
        <p:spPr>
          <a:xfrm>
            <a:off x="8846589" y="496062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992893" y="4663440"/>
            <a:ext cx="2650159" cy="77724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Entscheidung</a:t>
            </a:r>
          </a:p>
          <a:p>
            <a:pPr algn="ctr"/>
            <a:r>
              <a:rPr sz="900" b="0" i="0">
                <a:solidFill>
                  <a:srgbClr val="FFFFFF"/>
                </a:solidFill>
                <a:latin typeface="Calibri"/>
              </a:rPr>
              <a:t>siehe nächste Folie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C3  DISPUTE-LÖSUNG</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Jede Entscheidung hat eine buchhalterische Konsequenz</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C  Dispute Case: Anlage und Lösung</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15</a:t>
            </a:r>
          </a:p>
        </p:txBody>
      </p:sp>
      <p:sp>
        <p:nvSpPr>
          <p:cNvPr id="6" name="Rounded Rectangle 5"/>
          <p:cNvSpPr/>
          <p:nvPr/>
        </p:nvSpPr>
        <p:spPr>
          <a:xfrm>
            <a:off x="548640" y="1554480"/>
            <a:ext cx="2650159" cy="82296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Neu</a:t>
            </a:r>
          </a:p>
          <a:p>
            <a:pPr algn="ctr"/>
            <a:r>
              <a:rPr sz="1000" b="0" i="0">
                <a:solidFill>
                  <a:srgbClr val="FFFFFF"/>
                </a:solidFill>
                <a:latin typeface="Calibri"/>
              </a:rPr>
              <a:t>angelegt, unzugewiesen</a:t>
            </a:r>
          </a:p>
        </p:txBody>
      </p:sp>
      <p:sp>
        <p:nvSpPr>
          <p:cNvPr id="7" name="Right Arrow 6"/>
          <p:cNvSpPr/>
          <p:nvPr/>
        </p:nvSpPr>
        <p:spPr>
          <a:xfrm>
            <a:off x="3217087" y="187452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63391" y="1554480"/>
            <a:ext cx="2650159" cy="82296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Zugewiesen</a:t>
            </a:r>
          </a:p>
          <a:p>
            <a:pPr algn="ctr"/>
            <a:r>
              <a:rPr sz="1000" b="0" i="0">
                <a:solidFill>
                  <a:srgbClr val="FFFFFF"/>
                </a:solidFill>
                <a:latin typeface="Calibri"/>
              </a:rPr>
              <a:t>Koordinator → Bearbeiter</a:t>
            </a:r>
          </a:p>
        </p:txBody>
      </p:sp>
      <p:sp>
        <p:nvSpPr>
          <p:cNvPr id="9" name="Right Arrow 8"/>
          <p:cNvSpPr/>
          <p:nvPr/>
        </p:nvSpPr>
        <p:spPr>
          <a:xfrm>
            <a:off x="6031838" y="187452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178142" y="1554480"/>
            <a:ext cx="2650159" cy="82296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In Bearbeitung</a:t>
            </a:r>
          </a:p>
          <a:p>
            <a:pPr algn="ctr"/>
            <a:r>
              <a:rPr sz="1000" b="0" i="0">
                <a:solidFill>
                  <a:srgbClr val="FFFFFF"/>
                </a:solidFill>
                <a:latin typeface="Calibri"/>
              </a:rPr>
              <a:t>Prüfung, Notizen, Korrespondenz</a:t>
            </a:r>
          </a:p>
        </p:txBody>
      </p:sp>
      <p:sp>
        <p:nvSpPr>
          <p:cNvPr id="11" name="Right Arrow 10"/>
          <p:cNvSpPr/>
          <p:nvPr/>
        </p:nvSpPr>
        <p:spPr>
          <a:xfrm>
            <a:off x="8846589" y="187452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992893" y="1554480"/>
            <a:ext cx="2650159" cy="82296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Entschieden</a:t>
            </a:r>
          </a:p>
          <a:p>
            <a:pPr algn="ctr"/>
            <a:r>
              <a:rPr sz="1000" b="0" i="0">
                <a:solidFill>
                  <a:srgbClr val="FFFFFF"/>
                </a:solidFill>
                <a:latin typeface="Calibri"/>
              </a:rPr>
              <a:t>eine von fünf Optionen</a:t>
            </a:r>
          </a:p>
        </p:txBody>
      </p:sp>
      <p:graphicFrame>
        <p:nvGraphicFramePr>
          <p:cNvPr id="13" name="Table 12"/>
          <p:cNvGraphicFramePr>
            <a:graphicFrameLocks noGrp="1"/>
          </p:cNvGraphicFramePr>
          <p:nvPr/>
        </p:nvGraphicFramePr>
        <p:xfrm>
          <a:off x="548640" y="2651760"/>
          <a:ext cx="11064240" cy="2852928"/>
        </p:xfrm>
        <a:graphic>
          <a:graphicData uri="http://schemas.openxmlformats.org/drawingml/2006/table">
            <a:tbl>
              <a:tblPr firstRow="0" bandRow="0">
                <a:tableStyleId>{5C22544A-7EE6-4342-B048-85BDC9FD1C3A}</a:tableStyleId>
              </a:tblPr>
              <a:tblGrid>
                <a:gridCol w="2011680"/>
                <a:gridCol w="2377440"/>
                <a:gridCol w="6675120"/>
              </a:tblGrid>
              <a:tr h="475488">
                <a:tc>
                  <a:txBody>
                    <a:bodyPr wrap="square"/>
                    <a:lstStyle/>
                    <a:p>
                      <a:r>
                        <a:rPr sz="1100" b="1" i="0">
                          <a:solidFill>
                            <a:srgbClr val="FFFFFF"/>
                          </a:solidFill>
                          <a:latin typeface="Calibri"/>
                        </a:rPr>
                        <a:t>Entscheidung</a:t>
                      </a:r>
                    </a:p>
                  </a:txBody>
                  <a:tcPr marL="73152" marR="73152" marT="36576" marB="36576" anchor="ctr">
                    <a:solidFill>
                      <a:srgbClr val="1C4E80"/>
                    </a:solidFill>
                  </a:tcPr>
                </a:tc>
                <a:tc>
                  <a:txBody>
                    <a:bodyPr wrap="square"/>
                    <a:lstStyle/>
                    <a:p>
                      <a:r>
                        <a:rPr sz="1100" b="1" i="0">
                          <a:solidFill>
                            <a:srgbClr val="FFFFFF"/>
                          </a:solidFill>
                          <a:latin typeface="Calibri"/>
                        </a:rPr>
                        <a:t>Bedeutung</a:t>
                      </a:r>
                    </a:p>
                  </a:txBody>
                  <a:tcPr marL="73152" marR="73152" marT="36576" marB="36576" anchor="ctr">
                    <a:solidFill>
                      <a:srgbClr val="1C4E80"/>
                    </a:solidFill>
                  </a:tcPr>
                </a:tc>
                <a:tc>
                  <a:txBody>
                    <a:bodyPr wrap="square"/>
                    <a:lstStyle/>
                    <a:p>
                      <a:r>
                        <a:rPr sz="1100" b="1" i="0">
                          <a:solidFill>
                            <a:srgbClr val="FFFFFF"/>
                          </a:solidFill>
                          <a:latin typeface="Calibri"/>
                        </a:rPr>
                        <a:t>Konsequenz im System</a:t>
                      </a:r>
                    </a:p>
                  </a:txBody>
                  <a:tcPr marL="73152" marR="73152" marT="36576" marB="36576" anchor="ctr">
                    <a:solidFill>
                      <a:srgbClr val="1C4E80"/>
                    </a:solidFill>
                  </a:tcPr>
                </a:tc>
              </a:tr>
              <a:tr h="475488">
                <a:tc>
                  <a:txBody>
                    <a:bodyPr wrap="square"/>
                    <a:lstStyle/>
                    <a:p>
                      <a:r>
                        <a:rPr sz="1100" b="1" i="0">
                          <a:solidFill>
                            <a:srgbClr val="1F2933"/>
                          </a:solidFill>
                          <a:latin typeface="Calibri"/>
                        </a:rPr>
                        <a:t>Berechtigt</a:t>
                      </a:r>
                    </a:p>
                  </a:txBody>
                  <a:tcPr marL="73152" marR="73152" marT="36576" marB="36576" anchor="ctr">
                    <a:solidFill>
                      <a:srgbClr val="FFFFFF"/>
                    </a:solidFill>
                  </a:tcPr>
                </a:tc>
                <a:tc>
                  <a:txBody>
                    <a:bodyPr wrap="square"/>
                    <a:lstStyle/>
                    <a:p>
                      <a:r>
                        <a:rPr sz="1100" b="0" i="0">
                          <a:solidFill>
                            <a:srgbClr val="1F2933"/>
                          </a:solidFill>
                          <a:latin typeface="Calibri"/>
                        </a:rPr>
                        <a:t>Der Kunde hat recht</a:t>
                      </a:r>
                    </a:p>
                  </a:txBody>
                  <a:tcPr marL="73152" marR="73152" marT="36576" marB="36576" anchor="ctr">
                    <a:solidFill>
                      <a:srgbClr val="FFFFFF"/>
                    </a:solidFill>
                  </a:tcPr>
                </a:tc>
                <a:tc>
                  <a:txBody>
                    <a:bodyPr wrap="square"/>
                    <a:lstStyle/>
                    <a:p>
                      <a:r>
                        <a:rPr sz="1100" b="0" i="0">
                          <a:solidFill>
                            <a:srgbClr val="1F2933"/>
                          </a:solidFill>
                          <a:latin typeface="Calibri"/>
                        </a:rPr>
                        <a:t>Gutschrift über strittigen Betrag; mit Ausgleich der Rechnung schließt der Fall automatisch; Grund für Ursachenanalyse</a:t>
                      </a:r>
                    </a:p>
                  </a:txBody>
                  <a:tcPr marL="73152" marR="73152" marT="36576" marB="36576" anchor="ctr">
                    <a:solidFill>
                      <a:srgbClr val="FFFFFF"/>
                    </a:solidFill>
                  </a:tcPr>
                </a:tc>
              </a:tr>
              <a:tr h="475488">
                <a:tc>
                  <a:txBody>
                    <a:bodyPr wrap="square"/>
                    <a:lstStyle/>
                    <a:p>
                      <a:r>
                        <a:rPr sz="1100" b="1" i="0">
                          <a:solidFill>
                            <a:srgbClr val="1F2933"/>
                          </a:solidFill>
                          <a:latin typeface="Calibri"/>
                        </a:rPr>
                        <a:t>Nicht berechtigt</a:t>
                      </a:r>
                    </a:p>
                  </a:txBody>
                  <a:tcPr marL="73152" marR="73152" marT="36576" marB="36576" anchor="ctr">
                    <a:solidFill>
                      <a:srgbClr val="EEF3F8"/>
                    </a:solidFill>
                  </a:tcPr>
                </a:tc>
                <a:tc>
                  <a:txBody>
                    <a:bodyPr wrap="square"/>
                    <a:lstStyle/>
                    <a:p>
                      <a:r>
                        <a:rPr sz="1100" b="0" i="0">
                          <a:solidFill>
                            <a:srgbClr val="1F2933"/>
                          </a:solidFill>
                          <a:latin typeface="Calibri"/>
                        </a:rPr>
                        <a:t>Der Kunde hat unrecht</a:t>
                      </a:r>
                    </a:p>
                  </a:txBody>
                  <a:tcPr marL="73152" marR="73152" marT="36576" marB="36576" anchor="ctr">
                    <a:solidFill>
                      <a:srgbClr val="EEF3F8"/>
                    </a:solidFill>
                  </a:tcPr>
                </a:tc>
                <a:tc>
                  <a:txBody>
                    <a:bodyPr wrap="square"/>
                    <a:lstStyle/>
                    <a:p>
                      <a:r>
                        <a:rPr sz="1100" b="0" i="0">
                          <a:solidFill>
                            <a:srgbClr val="1F2933"/>
                          </a:solidFill>
                          <a:latin typeface="Calibri"/>
                        </a:rPr>
                        <a:t>Status Not justified; Fall wird ans Collections weitergegeben; Mahnsperre fällt; Spezialist treibt ein</a:t>
                      </a:r>
                    </a:p>
                  </a:txBody>
                  <a:tcPr marL="73152" marR="73152" marT="36576" marB="36576" anchor="ctr">
                    <a:solidFill>
                      <a:srgbClr val="EEF3F8"/>
                    </a:solidFill>
                  </a:tcPr>
                </a:tc>
              </a:tr>
              <a:tr h="475488">
                <a:tc>
                  <a:txBody>
                    <a:bodyPr wrap="square"/>
                    <a:lstStyle/>
                    <a:p>
                      <a:r>
                        <a:rPr sz="1100" b="1" i="0">
                          <a:solidFill>
                            <a:srgbClr val="1F2933"/>
                          </a:solidFill>
                          <a:latin typeface="Calibri"/>
                        </a:rPr>
                        <a:t>Teilweise berechtigt</a:t>
                      </a:r>
                    </a:p>
                  </a:txBody>
                  <a:tcPr marL="73152" marR="73152" marT="36576" marB="36576" anchor="ctr">
                    <a:solidFill>
                      <a:srgbClr val="FFFFFF"/>
                    </a:solidFill>
                  </a:tcPr>
                </a:tc>
                <a:tc>
                  <a:txBody>
                    <a:bodyPr wrap="square"/>
                    <a:lstStyle/>
                    <a:p>
                      <a:r>
                        <a:rPr sz="1100" b="0" i="0">
                          <a:solidFill>
                            <a:srgbClr val="1F2933"/>
                          </a:solidFill>
                          <a:latin typeface="Calibri"/>
                        </a:rPr>
                        <a:t>Dazwischen</a:t>
                      </a:r>
                    </a:p>
                  </a:txBody>
                  <a:tcPr marL="73152" marR="73152" marT="36576" marB="36576" anchor="ctr">
                    <a:solidFill>
                      <a:srgbClr val="FFFFFF"/>
                    </a:solidFill>
                  </a:tcPr>
                </a:tc>
                <a:tc>
                  <a:txBody>
                    <a:bodyPr wrap="square"/>
                    <a:lstStyle/>
                    <a:p>
                      <a:r>
                        <a:rPr sz="1100" b="0" i="0">
                          <a:solidFill>
                            <a:srgbClr val="1F2933"/>
                          </a:solidFill>
                          <a:latin typeface="Calibri"/>
                        </a:rPr>
                        <a:t>Teilgutschrift, Rest wird eingetrieben</a:t>
                      </a:r>
                    </a:p>
                  </a:txBody>
                  <a:tcPr marL="73152" marR="73152" marT="36576" marB="36576" anchor="ctr">
                    <a:solidFill>
                      <a:srgbClr val="FFFFFF"/>
                    </a:solidFill>
                  </a:tcPr>
                </a:tc>
              </a:tr>
              <a:tr h="475488">
                <a:tc>
                  <a:txBody>
                    <a:bodyPr wrap="square"/>
                    <a:lstStyle/>
                    <a:p>
                      <a:r>
                        <a:rPr sz="1100" b="1" i="0">
                          <a:solidFill>
                            <a:srgbClr val="1F2933"/>
                          </a:solidFill>
                          <a:latin typeface="Calibri"/>
                        </a:rPr>
                        <a:t>Abschreibung</a:t>
                      </a:r>
                    </a:p>
                  </a:txBody>
                  <a:tcPr marL="73152" marR="73152" marT="36576" marB="36576" anchor="ctr">
                    <a:solidFill>
                      <a:srgbClr val="EEF3F8"/>
                    </a:solidFill>
                  </a:tcPr>
                </a:tc>
                <a:tc>
                  <a:txBody>
                    <a:bodyPr wrap="square"/>
                    <a:lstStyle/>
                    <a:p>
                      <a:r>
                        <a:rPr sz="1100" b="0" i="0">
                          <a:solidFill>
                            <a:srgbClr val="1F2933"/>
                          </a:solidFill>
                          <a:latin typeface="Calibri"/>
                        </a:rPr>
                        <a:t>Zu klein oder nicht durchsetzbar</a:t>
                      </a:r>
                    </a:p>
                  </a:txBody>
                  <a:tcPr marL="73152" marR="73152" marT="36576" marB="36576" anchor="ctr">
                    <a:solidFill>
                      <a:srgbClr val="EEF3F8"/>
                    </a:solidFill>
                  </a:tcPr>
                </a:tc>
                <a:tc>
                  <a:txBody>
                    <a:bodyPr wrap="square"/>
                    <a:lstStyle/>
                    <a:p>
                      <a:r>
                        <a:rPr sz="1100" b="0" i="0">
                          <a:solidFill>
                            <a:srgbClr val="1F2933"/>
                          </a:solidFill>
                          <a:latin typeface="Calibri"/>
                        </a:rPr>
                        <a:t>Job Automatic Write-Off of Dispute Cases (F3578) für eskalierte Fälle; Betragsgrenzen und Freigabe projektspezifisch</a:t>
                      </a:r>
                    </a:p>
                  </a:txBody>
                  <a:tcPr marL="73152" marR="73152" marT="36576" marB="36576" anchor="ctr">
                    <a:solidFill>
                      <a:srgbClr val="EEF3F8"/>
                    </a:solidFill>
                  </a:tcPr>
                </a:tc>
              </a:tr>
              <a:tr h="475488">
                <a:tc>
                  <a:txBody>
                    <a:bodyPr wrap="square"/>
                    <a:lstStyle/>
                    <a:p>
                      <a:r>
                        <a:rPr sz="1100" b="1" i="0">
                          <a:solidFill>
                            <a:srgbClr val="1F2933"/>
                          </a:solidFill>
                          <a:latin typeface="Calibri"/>
                        </a:rPr>
                        <a:t>Fehlanlage</a:t>
                      </a:r>
                    </a:p>
                  </a:txBody>
                  <a:tcPr marL="73152" marR="73152" marT="36576" marB="36576" anchor="ctr">
                    <a:solidFill>
                      <a:srgbClr val="FFFFFF"/>
                    </a:solidFill>
                  </a:tcPr>
                </a:tc>
                <a:tc>
                  <a:txBody>
                    <a:bodyPr wrap="square"/>
                    <a:lstStyle/>
                    <a:p>
                      <a:r>
                        <a:rPr sz="1100" b="0" i="0">
                          <a:solidFill>
                            <a:srgbClr val="1F2933"/>
                          </a:solidFill>
                          <a:latin typeface="Calibri"/>
                        </a:rPr>
                        <a:t>Hätte nicht angelegt werden dürfen</a:t>
                      </a:r>
                    </a:p>
                  </a:txBody>
                  <a:tcPr marL="73152" marR="73152" marT="36576" marB="36576" anchor="ctr">
                    <a:solidFill>
                      <a:srgbClr val="FFFFFF"/>
                    </a:solidFill>
                  </a:tcPr>
                </a:tc>
                <a:tc>
                  <a:txBody>
                    <a:bodyPr wrap="square"/>
                    <a:lstStyle/>
                    <a:p>
                      <a:r>
                        <a:rPr sz="1100" b="0" i="0">
                          <a:solidFill>
                            <a:srgbClr val="1F2933"/>
                          </a:solidFill>
                          <a:latin typeface="Calibri"/>
                        </a:rPr>
                        <a:t>Void Dispute Case; bleibt nachvollziehbar, wird nicht gelöscht</a:t>
                      </a:r>
                    </a:p>
                  </a:txBody>
                  <a:tcPr marL="73152" marR="73152" marT="36576" marB="36576"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C4  APPS</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Apps, Rollen und Reporting im Dispute Management</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C  Dispute Case: Anlage und Lösung</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16</a:t>
            </a:r>
          </a:p>
        </p:txBody>
      </p:sp>
      <p:graphicFrame>
        <p:nvGraphicFramePr>
          <p:cNvPr id="6" name="Table 5"/>
          <p:cNvGraphicFramePr>
            <a:graphicFrameLocks noGrp="1"/>
          </p:cNvGraphicFramePr>
          <p:nvPr/>
        </p:nvGraphicFramePr>
        <p:xfrm>
          <a:off x="548640" y="1554480"/>
          <a:ext cx="5760720" cy="3200400"/>
        </p:xfrm>
        <a:graphic>
          <a:graphicData uri="http://schemas.openxmlformats.org/drawingml/2006/table">
            <a:tbl>
              <a:tblPr firstRow="0" bandRow="0">
                <a:tableStyleId>{5C22544A-7EE6-4342-B048-85BDC9FD1C3A}</a:tableStyleId>
              </a:tblPr>
              <a:tblGrid>
                <a:gridCol w="2377440"/>
                <a:gridCol w="2377440"/>
                <a:gridCol w="1005840"/>
              </a:tblGrid>
              <a:tr h="457200">
                <a:tc>
                  <a:txBody>
                    <a:bodyPr wrap="square"/>
                    <a:lstStyle/>
                    <a:p>
                      <a:r>
                        <a:rPr sz="1000" b="1" i="0">
                          <a:solidFill>
                            <a:srgbClr val="FFFFFF"/>
                          </a:solidFill>
                          <a:latin typeface="Calibri"/>
                        </a:rPr>
                        <a:t>Zweck</a:t>
                      </a:r>
                    </a:p>
                  </a:txBody>
                  <a:tcPr marL="73152" marR="73152" marT="36576" marB="36576" anchor="ctr">
                    <a:solidFill>
                      <a:srgbClr val="1C4E80"/>
                    </a:solidFill>
                  </a:tcPr>
                </a:tc>
                <a:tc>
                  <a:txBody>
                    <a:bodyPr wrap="square"/>
                    <a:lstStyle/>
                    <a:p>
                      <a:r>
                        <a:rPr sz="1000" b="1" i="0">
                          <a:solidFill>
                            <a:srgbClr val="FFFFFF"/>
                          </a:solidFill>
                          <a:latin typeface="Calibri"/>
                        </a:rPr>
                        <a:t>App (ID)</a:t>
                      </a:r>
                    </a:p>
                  </a:txBody>
                  <a:tcPr marL="73152" marR="73152" marT="36576" marB="36576" anchor="ctr">
                    <a:solidFill>
                      <a:srgbClr val="1C4E80"/>
                    </a:solidFill>
                  </a:tcPr>
                </a:tc>
                <a:tc>
                  <a:txBody>
                    <a:bodyPr wrap="square"/>
                    <a:lstStyle/>
                    <a:p>
                      <a:r>
                        <a:rPr sz="1000" b="1" i="0">
                          <a:solidFill>
                            <a:srgbClr val="FFFFFF"/>
                          </a:solidFill>
                          <a:latin typeface="Calibri"/>
                        </a:rPr>
                        <a:t>Rolle</a:t>
                      </a:r>
                    </a:p>
                  </a:txBody>
                  <a:tcPr marL="73152" marR="73152" marT="36576" marB="36576" anchor="ctr">
                    <a:solidFill>
                      <a:srgbClr val="1C4E80"/>
                    </a:solidFill>
                  </a:tcPr>
                </a:tc>
              </a:tr>
              <a:tr h="457200">
                <a:tc>
                  <a:txBody>
                    <a:bodyPr wrap="square"/>
                    <a:lstStyle/>
                    <a:p>
                      <a:r>
                        <a:rPr sz="1000" b="1" i="0">
                          <a:solidFill>
                            <a:srgbClr val="1F2933"/>
                          </a:solidFill>
                          <a:latin typeface="Calibri"/>
                        </a:rPr>
                        <a:t>Fall anlegen aus Kundenkontakt</a:t>
                      </a:r>
                    </a:p>
                  </a:txBody>
                  <a:tcPr marL="73152" marR="73152" marT="36576" marB="36576" anchor="ctr">
                    <a:solidFill>
                      <a:srgbClr val="FFFFFF"/>
                    </a:solidFill>
                  </a:tcPr>
                </a:tc>
                <a:tc>
                  <a:txBody>
                    <a:bodyPr wrap="square"/>
                    <a:lstStyle/>
                    <a:p>
                      <a:r>
                        <a:rPr sz="1000" b="0" i="0">
                          <a:solidFill>
                            <a:srgbClr val="1F2933"/>
                          </a:solidFill>
                          <a:latin typeface="Calibri"/>
                        </a:rPr>
                        <a:t>Process Receivables (F0106A)</a:t>
                      </a:r>
                    </a:p>
                  </a:txBody>
                  <a:tcPr marL="73152" marR="73152" marT="36576" marB="36576" anchor="ctr">
                    <a:solidFill>
                      <a:srgbClr val="FFFFFF"/>
                    </a:solidFill>
                  </a:tcPr>
                </a:tc>
                <a:tc>
                  <a:txBody>
                    <a:bodyPr wrap="square"/>
                    <a:lstStyle/>
                    <a:p>
                      <a:r>
                        <a:rPr sz="1000" b="0" i="0">
                          <a:solidFill>
                            <a:srgbClr val="1F2933"/>
                          </a:solidFill>
                          <a:latin typeface="Calibri"/>
                        </a:rPr>
                        <a:t>AR Accountant</a:t>
                      </a:r>
                    </a:p>
                  </a:txBody>
                  <a:tcPr marL="73152" marR="73152" marT="36576" marB="36576" anchor="ctr">
                    <a:solidFill>
                      <a:srgbClr val="FFFFFF"/>
                    </a:solidFill>
                  </a:tcPr>
                </a:tc>
              </a:tr>
              <a:tr h="457200">
                <a:tc>
                  <a:txBody>
                    <a:bodyPr wrap="square"/>
                    <a:lstStyle/>
                    <a:p>
                      <a:r>
                        <a:rPr sz="1000" b="1" i="0">
                          <a:solidFill>
                            <a:srgbClr val="1F2933"/>
                          </a:solidFill>
                          <a:latin typeface="Calibri"/>
                        </a:rPr>
                        <a:t>Fall anlegen aus Unterzahlung</a:t>
                      </a:r>
                    </a:p>
                  </a:txBody>
                  <a:tcPr marL="73152" marR="73152" marT="36576" marB="36576" anchor="ctr">
                    <a:solidFill>
                      <a:srgbClr val="EEF3F8"/>
                    </a:solidFill>
                  </a:tcPr>
                </a:tc>
                <a:tc>
                  <a:txBody>
                    <a:bodyPr wrap="square"/>
                    <a:lstStyle/>
                    <a:p>
                      <a:r>
                        <a:rPr sz="1000" b="0" i="0">
                          <a:solidFill>
                            <a:srgbClr val="1F2933"/>
                          </a:solidFill>
                          <a:latin typeface="Calibri"/>
                        </a:rPr>
                        <a:t>Reprocess Bank Statement Items (F1520)</a:t>
                      </a:r>
                    </a:p>
                  </a:txBody>
                  <a:tcPr marL="73152" marR="73152" marT="36576" marB="36576" anchor="ctr">
                    <a:solidFill>
                      <a:srgbClr val="EEF3F8"/>
                    </a:solidFill>
                  </a:tcPr>
                </a:tc>
                <a:tc>
                  <a:txBody>
                    <a:bodyPr wrap="square"/>
                    <a:lstStyle/>
                    <a:p>
                      <a:r>
                        <a:rPr sz="1000" b="0" i="0">
                          <a:solidFill>
                            <a:srgbClr val="1F2933"/>
                          </a:solidFill>
                          <a:latin typeface="Calibri"/>
                        </a:rPr>
                        <a:t>Cash Management Specialist</a:t>
                      </a:r>
                    </a:p>
                  </a:txBody>
                  <a:tcPr marL="73152" marR="73152" marT="36576" marB="36576" anchor="ctr">
                    <a:solidFill>
                      <a:srgbClr val="EEF3F8"/>
                    </a:solidFill>
                  </a:tcPr>
                </a:tc>
              </a:tr>
              <a:tr h="457200">
                <a:tc>
                  <a:txBody>
                    <a:bodyPr wrap="square"/>
                    <a:lstStyle/>
                    <a:p>
                      <a:r>
                        <a:rPr sz="1000" b="1" i="0">
                          <a:solidFill>
                            <a:srgbClr val="1F2933"/>
                          </a:solidFill>
                          <a:latin typeface="Calibri"/>
                        </a:rPr>
                        <a:t>Fälle automatisch anlegen / abschreiben</a:t>
                      </a:r>
                    </a:p>
                  </a:txBody>
                  <a:tcPr marL="73152" marR="73152" marT="36576" marB="36576" anchor="ctr">
                    <a:solidFill>
                      <a:srgbClr val="FFFFFF"/>
                    </a:solidFill>
                  </a:tcPr>
                </a:tc>
                <a:tc>
                  <a:txBody>
                    <a:bodyPr wrap="square"/>
                    <a:lstStyle/>
                    <a:p>
                      <a:r>
                        <a:rPr sz="1000" b="0" i="0">
                          <a:solidFill>
                            <a:srgbClr val="1F2933"/>
                          </a:solidFill>
                          <a:latin typeface="Calibri"/>
                        </a:rPr>
                        <a:t>Schedule Dispute Management Jobs (F3578)</a:t>
                      </a:r>
                    </a:p>
                  </a:txBody>
                  <a:tcPr marL="73152" marR="73152" marT="36576" marB="36576" anchor="ctr">
                    <a:solidFill>
                      <a:srgbClr val="FFFFFF"/>
                    </a:solidFill>
                  </a:tcPr>
                </a:tc>
                <a:tc>
                  <a:txBody>
                    <a:bodyPr wrap="square"/>
                    <a:lstStyle/>
                    <a:p>
                      <a:r>
                        <a:rPr sz="1000" b="0" i="0">
                          <a:solidFill>
                            <a:srgbClr val="1F2933"/>
                          </a:solidFill>
                          <a:latin typeface="Calibri"/>
                        </a:rPr>
                        <a:t>AR Accountant</a:t>
                      </a:r>
                    </a:p>
                  </a:txBody>
                  <a:tcPr marL="73152" marR="73152" marT="36576" marB="36576" anchor="ctr">
                    <a:solidFill>
                      <a:srgbClr val="FFFFFF"/>
                    </a:solidFill>
                  </a:tcPr>
                </a:tc>
              </a:tr>
              <a:tr h="457200">
                <a:tc>
                  <a:txBody>
                    <a:bodyPr wrap="square"/>
                    <a:lstStyle/>
                    <a:p>
                      <a:r>
                        <a:rPr sz="1000" b="1" i="0">
                          <a:solidFill>
                            <a:srgbClr val="1F2933"/>
                          </a:solidFill>
                          <a:latin typeface="Calibri"/>
                        </a:rPr>
                        <a:t>Zuweisen, bearbeiten, entscheiden, E-Mail, Void</a:t>
                      </a:r>
                    </a:p>
                  </a:txBody>
                  <a:tcPr marL="73152" marR="73152" marT="36576" marB="36576" anchor="ctr">
                    <a:solidFill>
                      <a:srgbClr val="EEF3F8"/>
                    </a:solidFill>
                  </a:tcPr>
                </a:tc>
                <a:tc>
                  <a:txBody>
                    <a:bodyPr wrap="square"/>
                    <a:lstStyle/>
                    <a:p>
                      <a:r>
                        <a:rPr sz="1000" b="0" i="0">
                          <a:solidFill>
                            <a:srgbClr val="1F2933"/>
                          </a:solidFill>
                          <a:latin typeface="Calibri"/>
                        </a:rPr>
                        <a:t>Manage Dispute Cases – As Coordinator (F0702A)</a:t>
                      </a:r>
                    </a:p>
                  </a:txBody>
                  <a:tcPr marL="73152" marR="73152" marT="36576" marB="36576" anchor="ctr">
                    <a:solidFill>
                      <a:srgbClr val="EEF3F8"/>
                    </a:solidFill>
                  </a:tcPr>
                </a:tc>
                <a:tc>
                  <a:txBody>
                    <a:bodyPr wrap="square"/>
                    <a:lstStyle/>
                    <a:p>
                      <a:r>
                        <a:rPr sz="1000" b="0" i="0">
                          <a:solidFill>
                            <a:srgbClr val="1F2933"/>
                          </a:solidFill>
                          <a:latin typeface="Calibri"/>
                        </a:rPr>
                        <a:t>AR Accountant</a:t>
                      </a:r>
                    </a:p>
                  </a:txBody>
                  <a:tcPr marL="73152" marR="73152" marT="36576" marB="36576" anchor="ctr">
                    <a:solidFill>
                      <a:srgbClr val="EEF3F8"/>
                    </a:solidFill>
                  </a:tcPr>
                </a:tc>
              </a:tr>
              <a:tr h="457200">
                <a:tc>
                  <a:txBody>
                    <a:bodyPr wrap="square"/>
                    <a:lstStyle/>
                    <a:p>
                      <a:r>
                        <a:rPr sz="1000" b="1" i="0">
                          <a:solidFill>
                            <a:srgbClr val="1F2933"/>
                          </a:solidFill>
                          <a:latin typeface="Calibri"/>
                        </a:rPr>
                        <a:t>Gutschrift und Ausgleich prüfen</a:t>
                      </a:r>
                    </a:p>
                  </a:txBody>
                  <a:tcPr marL="73152" marR="73152" marT="36576" marB="36576" anchor="ctr">
                    <a:solidFill>
                      <a:srgbClr val="FFFFFF"/>
                    </a:solidFill>
                  </a:tcPr>
                </a:tc>
                <a:tc>
                  <a:txBody>
                    <a:bodyPr wrap="square"/>
                    <a:lstStyle/>
                    <a:p>
                      <a:r>
                        <a:rPr sz="1000" b="0" i="0">
                          <a:solidFill>
                            <a:srgbClr val="1F2933"/>
                          </a:solidFill>
                          <a:latin typeface="Calibri"/>
                        </a:rPr>
                        <a:t>Manage Customer Line Items (F0711)</a:t>
                      </a:r>
                    </a:p>
                  </a:txBody>
                  <a:tcPr marL="73152" marR="73152" marT="36576" marB="36576" anchor="ctr">
                    <a:solidFill>
                      <a:srgbClr val="FFFFFF"/>
                    </a:solidFill>
                  </a:tcPr>
                </a:tc>
                <a:tc>
                  <a:txBody>
                    <a:bodyPr wrap="square"/>
                    <a:lstStyle/>
                    <a:p>
                      <a:r>
                        <a:rPr sz="1000" b="0" i="0">
                          <a:solidFill>
                            <a:srgbClr val="1F2933"/>
                          </a:solidFill>
                          <a:latin typeface="Calibri"/>
                        </a:rPr>
                        <a:t>AR Accountant</a:t>
                      </a:r>
                    </a:p>
                  </a:txBody>
                  <a:tcPr marL="73152" marR="73152" marT="36576" marB="36576" anchor="ctr">
                    <a:solidFill>
                      <a:srgbClr val="FFFFFF"/>
                    </a:solidFill>
                  </a:tcPr>
                </a:tc>
              </a:tr>
              <a:tr h="457200">
                <a:tc>
                  <a:txBody>
                    <a:bodyPr wrap="square"/>
                    <a:lstStyle/>
                    <a:p>
                      <a:r>
                        <a:rPr sz="1000" b="1" i="0">
                          <a:solidFill>
                            <a:srgbClr val="1F2933"/>
                          </a:solidFill>
                          <a:latin typeface="Calibri"/>
                        </a:rPr>
                        <a:t>Mahnvorschlag ohne strittige Posten</a:t>
                      </a:r>
                    </a:p>
                  </a:txBody>
                  <a:tcPr marL="73152" marR="73152" marT="36576" marB="36576" anchor="ctr">
                    <a:solidFill>
                      <a:srgbClr val="EEF3F8"/>
                    </a:solidFill>
                  </a:tcPr>
                </a:tc>
                <a:tc>
                  <a:txBody>
                    <a:bodyPr wrap="square"/>
                    <a:lstStyle/>
                    <a:p>
                      <a:r>
                        <a:rPr sz="1000" b="0" i="0">
                          <a:solidFill>
                            <a:srgbClr val="1F2933"/>
                          </a:solidFill>
                          <a:latin typeface="Calibri"/>
                        </a:rPr>
                        <a:t>My Dunning Proposals (F2435)</a:t>
                      </a:r>
                    </a:p>
                  </a:txBody>
                  <a:tcPr marL="73152" marR="73152" marT="36576" marB="36576" anchor="ctr">
                    <a:solidFill>
                      <a:srgbClr val="EEF3F8"/>
                    </a:solidFill>
                  </a:tcPr>
                </a:tc>
                <a:tc>
                  <a:txBody>
                    <a:bodyPr wrap="square"/>
                    <a:lstStyle/>
                    <a:p>
                      <a:r>
                        <a:rPr sz="1000" b="0" i="0">
                          <a:solidFill>
                            <a:srgbClr val="1F2933"/>
                          </a:solidFill>
                          <a:latin typeface="Calibri"/>
                        </a:rPr>
                        <a:t>AR Accountant</a:t>
                      </a:r>
                    </a:p>
                  </a:txBody>
                  <a:tcPr marL="73152" marR="73152" marT="36576" marB="36576" anchor="ctr">
                    <a:solidFill>
                      <a:srgbClr val="EEF3F8"/>
                    </a:solidFill>
                  </a:tcPr>
                </a:tc>
              </a:tr>
            </a:tbl>
          </a:graphicData>
        </a:graphic>
      </p:graphicFrame>
      <p:sp>
        <p:nvSpPr>
          <p:cNvPr id="7" name="Rounded Rectangle 6"/>
          <p:cNvSpPr/>
          <p:nvPr/>
        </p:nvSpPr>
        <p:spPr>
          <a:xfrm>
            <a:off x="6583680" y="1554480"/>
            <a:ext cx="5029200" cy="324612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720840" y="1691640"/>
            <a:ext cx="4754880" cy="365760"/>
          </a:xfrm>
          <a:prstGeom prst="rect">
            <a:avLst/>
          </a:prstGeom>
          <a:noFill/>
        </p:spPr>
        <p:txBody>
          <a:bodyPr wrap="square" anchor="ctr" lIns="45720" rIns="45720">
            <a:spAutoFit/>
          </a:bodyPr>
          <a:lstStyle/>
          <a:p>
            <a:pPr algn="l"/>
            <a:r>
              <a:rPr sz="1400" b="1" i="0">
                <a:solidFill>
                  <a:srgbClr val="1C4E80"/>
                </a:solidFill>
                <a:latin typeface="Calibri"/>
              </a:rPr>
              <a:t>Reporting (AR Manager)</a:t>
            </a:r>
          </a:p>
        </p:txBody>
      </p:sp>
      <p:sp>
        <p:nvSpPr>
          <p:cNvPr id="9" name="TextBox 8"/>
          <p:cNvSpPr txBox="1"/>
          <p:nvPr/>
        </p:nvSpPr>
        <p:spPr>
          <a:xfrm>
            <a:off x="6720840" y="2075688"/>
            <a:ext cx="4754880" cy="2587752"/>
          </a:xfrm>
          <a:prstGeom prst="rect">
            <a:avLst/>
          </a:prstGeom>
          <a:noFill/>
        </p:spPr>
        <p:txBody>
          <a:bodyPr wrap="square" lIns="45720" rIns="45720">
            <a:spAutoFit/>
          </a:bodyPr>
          <a:lstStyle/>
          <a:p>
            <a:pPr marL="201168" indent="-201168">
              <a:spcAft>
                <a:spcPts val="300"/>
              </a:spcAft>
              <a:buChar char="•"/>
            </a:pPr>
            <a:r>
              <a:rPr sz="1100" b="1" i="0">
                <a:solidFill>
                  <a:srgbClr val="1F2933"/>
                </a:solidFill>
                <a:latin typeface="Calibri"/>
              </a:rPr>
              <a:t>Dispute Management Reporting (F4370): </a:t>
            </a:r>
            <a:r>
              <a:rPr sz="1100" b="0" i="0">
                <a:solidFill>
                  <a:srgbClr val="1F2933"/>
                </a:solidFill>
                <a:latin typeface="Calibri"/>
              </a:rPr>
              <a:t>Open, Processing Days, New and Solved, Solved; nach Priorität, Grund, Root Cause, Bearbeiter</a:t>
            </a:r>
          </a:p>
          <a:p>
            <a:pPr marL="201168" indent="-201168">
              <a:spcAft>
                <a:spcPts val="300"/>
              </a:spcAft>
              <a:buChar char="•"/>
            </a:pPr>
            <a:r>
              <a:rPr sz="1100" b="1" i="0">
                <a:solidFill>
                  <a:srgbClr val="1F2933"/>
                </a:solidFill>
                <a:latin typeface="Calibri"/>
              </a:rPr>
              <a:t>Open Disputes – Today (F1752): </a:t>
            </a:r>
            <a:r>
              <a:rPr sz="1100" b="0" i="0">
                <a:solidFill>
                  <a:srgbClr val="1F2933"/>
                </a:solidFill>
                <a:latin typeface="Calibri"/>
              </a:rPr>
              <a:t>Top-Kunden, Gründe, Bearbeiter</a:t>
            </a:r>
          </a:p>
          <a:p>
            <a:pPr marL="201168" indent="-201168">
              <a:spcAft>
                <a:spcPts val="300"/>
              </a:spcAft>
              <a:buChar char="•"/>
            </a:pPr>
            <a:r>
              <a:rPr sz="1100" b="1" i="0">
                <a:solidFill>
                  <a:srgbClr val="1F2933"/>
                </a:solidFill>
                <a:latin typeface="Calibri"/>
              </a:rPr>
              <a:t>Overdue Receivables – In Dispute (F2540): </a:t>
            </a:r>
            <a:r>
              <a:rPr sz="1100" b="0" i="0">
                <a:solidFill>
                  <a:srgbClr val="1F2933"/>
                </a:solidFill>
                <a:latin typeface="Calibri"/>
              </a:rPr>
              <a:t>strittiges überfälliges Volumen</a:t>
            </a:r>
          </a:p>
          <a:p>
            <a:pPr marL="201168" indent="-201168">
              <a:spcAft>
                <a:spcPts val="300"/>
              </a:spcAft>
              <a:buChar char="•"/>
            </a:pPr>
            <a:r>
              <a:rPr sz="1100" b="1" i="0">
                <a:solidFill>
                  <a:srgbClr val="1F2933"/>
                </a:solidFill>
                <a:latin typeface="Calibri"/>
              </a:rPr>
              <a:t>Solved Disputes – Last 12 Months (F2521): </a:t>
            </a:r>
            <a:r>
              <a:rPr sz="1100" b="0" i="0">
                <a:solidFill>
                  <a:srgbClr val="1F2933"/>
                </a:solidFill>
                <a:latin typeface="Calibri"/>
              </a:rPr>
              <a:t>Lösungsdauer je Bearbeiter</a:t>
            </a:r>
          </a:p>
          <a:p>
            <a:pPr marL="201168" indent="-201168">
              <a:spcAft>
                <a:spcPts val="300"/>
              </a:spcAft>
              <a:buChar char="•"/>
            </a:pPr>
            <a:r>
              <a:rPr sz="1100" b="1" i="0">
                <a:solidFill>
                  <a:srgbClr val="1F2933"/>
                </a:solidFill>
                <a:latin typeface="Calibri"/>
              </a:rPr>
              <a:t>New vs Solved (F2523), Processing Days (F2522): </a:t>
            </a:r>
            <a:r>
              <a:rPr sz="1100" b="0" i="0">
                <a:solidFill>
                  <a:srgbClr val="1F2933"/>
                </a:solidFill>
                <a:latin typeface="Calibri"/>
              </a:rPr>
              <a:t>Trend und Alter offener Fälle</a:t>
            </a:r>
          </a:p>
        </p:txBody>
      </p:sp>
      <p:sp>
        <p:nvSpPr>
          <p:cNvPr id="10" name="TextBox 9"/>
          <p:cNvSpPr txBox="1"/>
          <p:nvPr/>
        </p:nvSpPr>
        <p:spPr>
          <a:xfrm>
            <a:off x="548640" y="4983480"/>
            <a:ext cx="11094415" cy="822960"/>
          </a:xfrm>
          <a:prstGeom prst="rect">
            <a:avLst/>
          </a:prstGeom>
          <a:noFill/>
        </p:spPr>
        <p:txBody>
          <a:bodyPr wrap="square" anchor="t" lIns="45720" rIns="45720">
            <a:spAutoFit/>
          </a:bodyPr>
          <a:lstStyle/>
          <a:p>
            <a:pPr algn="l"/>
            <a:r>
              <a:rPr sz="1300" b="1" i="0">
                <a:solidFill>
                  <a:srgbClr val="0F8B8D"/>
                </a:solidFill>
                <a:latin typeface="Calibri"/>
              </a:rPr>
              <a:t>Die wertvollste Kennzahl: Anteil berechtigter Fälle je Grund. Sie zeigt, wo das Unternehmen selbst Fehler macht, die Cash kosten (Preispflege, Lieferqualität, Rechnungsstellung).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C5  PRAXIS</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Praxis: Ein Dispute Case von der Anlage bis zur Entscheidung</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C  Dispute Case: Anlage und Lösung</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17</a:t>
            </a:r>
          </a:p>
        </p:txBody>
      </p:sp>
      <p:graphicFrame>
        <p:nvGraphicFramePr>
          <p:cNvPr id="6" name="Table 5"/>
          <p:cNvGraphicFramePr>
            <a:graphicFrameLocks noGrp="1"/>
          </p:cNvGraphicFramePr>
          <p:nvPr/>
        </p:nvGraphicFramePr>
        <p:xfrm>
          <a:off x="548640" y="1554480"/>
          <a:ext cx="11064240" cy="4114800"/>
        </p:xfrm>
        <a:graphic>
          <a:graphicData uri="http://schemas.openxmlformats.org/drawingml/2006/table">
            <a:tbl>
              <a:tblPr firstRow="0" bandRow="0">
                <a:tableStyleId>{5C22544A-7EE6-4342-B048-85BDC9FD1C3A}</a:tableStyleId>
              </a:tblPr>
              <a:tblGrid>
                <a:gridCol w="365760"/>
                <a:gridCol w="1188720"/>
                <a:gridCol w="2743200"/>
                <a:gridCol w="3840480"/>
                <a:gridCol w="2926080"/>
              </a:tblGrid>
              <a:tr h="457200">
                <a:tc>
                  <a:txBody>
                    <a:bodyPr wrap="square"/>
                    <a:lstStyle/>
                    <a:p>
                      <a:r>
                        <a:rPr sz="1000" b="1" i="0">
                          <a:solidFill>
                            <a:srgbClr val="FFFFFF"/>
                          </a:solidFill>
                          <a:latin typeface="Calibri"/>
                        </a:rPr>
                        <a:t>#</a:t>
                      </a:r>
                    </a:p>
                  </a:txBody>
                  <a:tcPr marL="73152" marR="73152" marT="36576" marB="36576" anchor="ctr">
                    <a:solidFill>
                      <a:srgbClr val="1C4E80"/>
                    </a:solidFill>
                  </a:tcPr>
                </a:tc>
                <a:tc>
                  <a:txBody>
                    <a:bodyPr wrap="square"/>
                    <a:lstStyle/>
                    <a:p>
                      <a:r>
                        <a:rPr sz="1000" b="1" i="0">
                          <a:solidFill>
                            <a:srgbClr val="FFFFFF"/>
                          </a:solidFill>
                          <a:latin typeface="Calibri"/>
                        </a:rPr>
                        <a:t>Rolle</a:t>
                      </a:r>
                    </a:p>
                  </a:txBody>
                  <a:tcPr marL="73152" marR="73152" marT="36576" marB="36576" anchor="ctr">
                    <a:solidFill>
                      <a:srgbClr val="1C4E80"/>
                    </a:solidFill>
                  </a:tcPr>
                </a:tc>
                <a:tc>
                  <a:txBody>
                    <a:bodyPr wrap="square"/>
                    <a:lstStyle/>
                    <a:p>
                      <a:r>
                        <a:rPr sz="1000" b="1" i="0">
                          <a:solidFill>
                            <a:srgbClr val="FFFFFF"/>
                          </a:solidFill>
                          <a:latin typeface="Calibri"/>
                        </a:rPr>
                        <a:t>App</a:t>
                      </a:r>
                    </a:p>
                  </a:txBody>
                  <a:tcPr marL="73152" marR="73152" marT="36576" marB="36576" anchor="ctr">
                    <a:solidFill>
                      <a:srgbClr val="1C4E80"/>
                    </a:solidFill>
                  </a:tcPr>
                </a:tc>
                <a:tc>
                  <a:txBody>
                    <a:bodyPr wrap="square"/>
                    <a:lstStyle/>
                    <a:p>
                      <a:r>
                        <a:rPr sz="1000" b="1" i="0">
                          <a:solidFill>
                            <a:srgbClr val="FFFFFF"/>
                          </a:solidFill>
                          <a:latin typeface="Calibri"/>
                        </a:rPr>
                        <a:t>Aktion</a:t>
                      </a:r>
                    </a:p>
                  </a:txBody>
                  <a:tcPr marL="73152" marR="73152" marT="36576" marB="36576" anchor="ctr">
                    <a:solidFill>
                      <a:srgbClr val="1C4E80"/>
                    </a:solidFill>
                  </a:tcPr>
                </a:tc>
                <a:tc>
                  <a:txBody>
                    <a:bodyPr wrap="square"/>
                    <a:lstStyle/>
                    <a:p>
                      <a:r>
                        <a:rPr sz="1000" b="1" i="0">
                          <a:solidFill>
                            <a:srgbClr val="FFFFFF"/>
                          </a:solidFill>
                          <a:latin typeface="Calibri"/>
                        </a:rPr>
                        <a:t>Botschaft</a:t>
                      </a:r>
                    </a:p>
                  </a:txBody>
                  <a:tcPr marL="73152" marR="73152" marT="36576" marB="36576" anchor="ctr">
                    <a:solidFill>
                      <a:srgbClr val="1C4E80"/>
                    </a:solidFill>
                  </a:tcPr>
                </a:tc>
              </a:tr>
              <a:tr h="457200">
                <a:tc>
                  <a:txBody>
                    <a:bodyPr wrap="square"/>
                    <a:lstStyle/>
                    <a:p>
                      <a:r>
                        <a:rPr sz="1000" b="1" i="0">
                          <a:solidFill>
                            <a:srgbClr val="1F2933"/>
                          </a:solidFill>
                          <a:latin typeface="Calibri"/>
                        </a:rPr>
                        <a:t>1</a:t>
                      </a:r>
                    </a:p>
                  </a:txBody>
                  <a:tcPr marL="73152" marR="73152" marT="36576" marB="36576" anchor="ctr">
                    <a:solidFill>
                      <a:srgbClr val="FFFFFF"/>
                    </a:solidFill>
                  </a:tcPr>
                </a:tc>
                <a:tc>
                  <a:txBody>
                    <a:bodyPr wrap="square"/>
                    <a:lstStyle/>
                    <a:p>
                      <a:r>
                        <a:rPr sz="1000" b="0" i="0">
                          <a:solidFill>
                            <a:srgbClr val="1F2933"/>
                          </a:solidFill>
                          <a:latin typeface="Calibri"/>
                        </a:rPr>
                        <a:t>AR Accountant</a:t>
                      </a:r>
                    </a:p>
                  </a:txBody>
                  <a:tcPr marL="73152" marR="73152" marT="36576" marB="36576" anchor="ctr">
                    <a:solidFill>
                      <a:srgbClr val="FFFFFF"/>
                    </a:solidFill>
                  </a:tcPr>
                </a:tc>
                <a:tc>
                  <a:txBody>
                    <a:bodyPr wrap="square"/>
                    <a:lstStyle/>
                    <a:p>
                      <a:r>
                        <a:rPr sz="1000" b="0" i="0">
                          <a:solidFill>
                            <a:srgbClr val="1F2933"/>
                          </a:solidFill>
                          <a:latin typeface="Calibri"/>
                        </a:rPr>
                        <a:t>Process Receivables (F0106A)</a:t>
                      </a:r>
                    </a:p>
                  </a:txBody>
                  <a:tcPr marL="73152" marR="73152" marT="36576" marB="36576" anchor="ctr">
                    <a:solidFill>
                      <a:srgbClr val="FFFFFF"/>
                    </a:solidFill>
                  </a:tcPr>
                </a:tc>
                <a:tc>
                  <a:txBody>
                    <a:bodyPr wrap="square"/>
                    <a:lstStyle/>
                    <a:p>
                      <a:r>
                        <a:rPr sz="1000" b="0" i="0">
                          <a:solidFill>
                            <a:srgbClr val="1F2933"/>
                          </a:solidFill>
                          <a:latin typeface="Calibri"/>
                        </a:rPr>
                        <a:t>Große Rechnung → Create Dispute Case: Titel, Grund, Priorität High, Notiz</a:t>
                      </a:r>
                    </a:p>
                  </a:txBody>
                  <a:tcPr marL="73152" marR="73152" marT="36576" marB="36576" anchor="ctr">
                    <a:solidFill>
                      <a:srgbClr val="FFFFFF"/>
                    </a:solidFill>
                  </a:tcPr>
                </a:tc>
                <a:tc>
                  <a:txBody>
                    <a:bodyPr wrap="square"/>
                    <a:lstStyle/>
                    <a:p>
                      <a:r>
                        <a:rPr sz="1000" b="0" i="0">
                          <a:solidFill>
                            <a:srgbClr val="1F2933"/>
                          </a:solidFill>
                          <a:latin typeface="Calibri"/>
                        </a:rPr>
                        <a:t>Reklamation entsteht im Gespräch; Posten raus aus dem Mahnlauf</a:t>
                      </a:r>
                    </a:p>
                  </a:txBody>
                  <a:tcPr marL="73152" marR="73152" marT="36576" marB="36576" anchor="ctr">
                    <a:solidFill>
                      <a:srgbClr val="FFFFFF"/>
                    </a:solidFill>
                  </a:tcPr>
                </a:tc>
              </a:tr>
              <a:tr h="457200">
                <a:tc>
                  <a:txBody>
                    <a:bodyPr wrap="square"/>
                    <a:lstStyle/>
                    <a:p>
                      <a:r>
                        <a:rPr sz="1000" b="1" i="0">
                          <a:solidFill>
                            <a:srgbClr val="1F2933"/>
                          </a:solidFill>
                          <a:latin typeface="Calibri"/>
                        </a:rPr>
                        <a:t>2</a:t>
                      </a:r>
                    </a:p>
                  </a:txBody>
                  <a:tcPr marL="73152" marR="73152" marT="36576" marB="36576" anchor="ctr">
                    <a:solidFill>
                      <a:srgbClr val="EEF3F8"/>
                    </a:solidFill>
                  </a:tcPr>
                </a:tc>
                <a:tc>
                  <a:txBody>
                    <a:bodyPr wrap="square"/>
                    <a:lstStyle/>
                    <a:p>
                      <a:r>
                        <a:rPr sz="1000" b="0" i="0">
                          <a:solidFill>
                            <a:srgbClr val="1F2933"/>
                          </a:solidFill>
                          <a:latin typeface="Calibri"/>
                        </a:rPr>
                        <a:t>Koordinator</a:t>
                      </a:r>
                    </a:p>
                  </a:txBody>
                  <a:tcPr marL="73152" marR="73152" marT="36576" marB="36576" anchor="ctr">
                    <a:solidFill>
                      <a:srgbClr val="EEF3F8"/>
                    </a:solidFill>
                  </a:tcPr>
                </a:tc>
                <a:tc>
                  <a:txBody>
                    <a:bodyPr wrap="square"/>
                    <a:lstStyle/>
                    <a:p>
                      <a:r>
                        <a:rPr sz="1000" b="0" i="0">
                          <a:solidFill>
                            <a:srgbClr val="1F2933"/>
                          </a:solidFill>
                          <a:latin typeface="Calibri"/>
                        </a:rPr>
                        <a:t>Manage Dispute Cases (F0702A)</a:t>
                      </a:r>
                    </a:p>
                  </a:txBody>
                  <a:tcPr marL="73152" marR="73152" marT="36576" marB="36576" anchor="ctr">
                    <a:solidFill>
                      <a:srgbClr val="EEF3F8"/>
                    </a:solidFill>
                  </a:tcPr>
                </a:tc>
                <a:tc>
                  <a:txBody>
                    <a:bodyPr wrap="square"/>
                    <a:lstStyle/>
                    <a:p>
                      <a:r>
                        <a:rPr sz="1000" b="0" i="0">
                          <a:solidFill>
                            <a:srgbClr val="1F2933"/>
                          </a:solidFill>
                          <a:latin typeface="Calibri"/>
                        </a:rPr>
                        <a:t>Go ohne Filter → Fälle ohne Processor → Edit → Processor, Notiz</a:t>
                      </a:r>
                    </a:p>
                  </a:txBody>
                  <a:tcPr marL="73152" marR="73152" marT="36576" marB="36576" anchor="ctr">
                    <a:solidFill>
                      <a:srgbClr val="EEF3F8"/>
                    </a:solidFill>
                  </a:tcPr>
                </a:tc>
                <a:tc>
                  <a:txBody>
                    <a:bodyPr wrap="square"/>
                    <a:lstStyle/>
                    <a:p>
                      <a:r>
                        <a:rPr sz="1000" b="0" i="0">
                          <a:solidFill>
                            <a:srgbClr val="1F2933"/>
                          </a:solidFill>
                          <a:latin typeface="Calibri"/>
                        </a:rPr>
                        <a:t>Unzugewiesene Fälle sieht man sofort</a:t>
                      </a:r>
                    </a:p>
                  </a:txBody>
                  <a:tcPr marL="73152" marR="73152" marT="36576" marB="36576" anchor="ctr">
                    <a:solidFill>
                      <a:srgbClr val="EEF3F8"/>
                    </a:solidFill>
                  </a:tcPr>
                </a:tc>
              </a:tr>
              <a:tr h="457200">
                <a:tc>
                  <a:txBody>
                    <a:bodyPr wrap="square"/>
                    <a:lstStyle/>
                    <a:p>
                      <a:r>
                        <a:rPr sz="1000" b="1" i="0">
                          <a:solidFill>
                            <a:srgbClr val="1F2933"/>
                          </a:solidFill>
                          <a:latin typeface="Calibri"/>
                        </a:rPr>
                        <a:t>3</a:t>
                      </a:r>
                    </a:p>
                  </a:txBody>
                  <a:tcPr marL="73152" marR="73152" marT="36576" marB="36576" anchor="ctr">
                    <a:solidFill>
                      <a:srgbClr val="FFFFFF"/>
                    </a:solidFill>
                  </a:tcPr>
                </a:tc>
                <a:tc>
                  <a:txBody>
                    <a:bodyPr wrap="square"/>
                    <a:lstStyle/>
                    <a:p>
                      <a:r>
                        <a:rPr sz="1000" b="0" i="0">
                          <a:solidFill>
                            <a:srgbClr val="1F2933"/>
                          </a:solidFill>
                          <a:latin typeface="Calibri"/>
                        </a:rPr>
                        <a:t>Bearbeiter</a:t>
                      </a:r>
                    </a:p>
                  </a:txBody>
                  <a:tcPr marL="73152" marR="73152" marT="36576" marB="36576" anchor="ctr">
                    <a:solidFill>
                      <a:srgbClr val="FFFFFF"/>
                    </a:solidFill>
                  </a:tcPr>
                </a:tc>
                <a:tc>
                  <a:txBody>
                    <a:bodyPr wrap="square"/>
                    <a:lstStyle/>
                    <a:p>
                      <a:r>
                        <a:rPr sz="1000" b="0" i="0">
                          <a:solidFill>
                            <a:srgbClr val="1F2933"/>
                          </a:solidFill>
                          <a:latin typeface="Calibri"/>
                        </a:rPr>
                        <a:t>Manage Dispute Cases (F0702A)</a:t>
                      </a:r>
                    </a:p>
                  </a:txBody>
                  <a:tcPr marL="73152" marR="73152" marT="36576" marB="36576" anchor="ctr">
                    <a:solidFill>
                      <a:srgbClr val="FFFFFF"/>
                    </a:solidFill>
                  </a:tcPr>
                </a:tc>
                <a:tc>
                  <a:txBody>
                    <a:bodyPr wrap="square"/>
                    <a:lstStyle/>
                    <a:p>
                      <a:r>
                        <a:rPr sz="1000" b="0" i="0">
                          <a:solidFill>
                            <a:srgbClr val="1F2933"/>
                          </a:solidFill>
                          <a:latin typeface="Calibri"/>
                        </a:rPr>
                        <a:t>Filter eigener User → Status In Process, Anhang, E-Mail an Kunden</a:t>
                      </a:r>
                    </a:p>
                  </a:txBody>
                  <a:tcPr marL="73152" marR="73152" marT="36576" marB="36576" anchor="ctr">
                    <a:solidFill>
                      <a:srgbClr val="FFFFFF"/>
                    </a:solidFill>
                  </a:tcPr>
                </a:tc>
                <a:tc>
                  <a:txBody>
                    <a:bodyPr wrap="square"/>
                    <a:lstStyle/>
                    <a:p>
                      <a:r>
                        <a:rPr sz="1000" b="0" i="0">
                          <a:solidFill>
                            <a:srgbClr val="1F2933"/>
                          </a:solidFill>
                          <a:latin typeface="Calibri"/>
                        </a:rPr>
                        <a:t>Alles im Fall: Belege, Notizen, Mailverkehr</a:t>
                      </a:r>
                    </a:p>
                  </a:txBody>
                  <a:tcPr marL="73152" marR="73152" marT="36576" marB="36576" anchor="ctr">
                    <a:solidFill>
                      <a:srgbClr val="FFFFFF"/>
                    </a:solidFill>
                  </a:tcPr>
                </a:tc>
              </a:tr>
              <a:tr h="457200">
                <a:tc>
                  <a:txBody>
                    <a:bodyPr wrap="square"/>
                    <a:lstStyle/>
                    <a:p>
                      <a:r>
                        <a:rPr sz="1000" b="1" i="0">
                          <a:solidFill>
                            <a:srgbClr val="1F2933"/>
                          </a:solidFill>
                          <a:latin typeface="Calibri"/>
                        </a:rPr>
                        <a:t>4</a:t>
                      </a:r>
                    </a:p>
                  </a:txBody>
                  <a:tcPr marL="73152" marR="73152" marT="36576" marB="36576" anchor="ctr">
                    <a:solidFill>
                      <a:srgbClr val="EEF3F8"/>
                    </a:solidFill>
                  </a:tcPr>
                </a:tc>
                <a:tc>
                  <a:txBody>
                    <a:bodyPr wrap="square"/>
                    <a:lstStyle/>
                    <a:p>
                      <a:r>
                        <a:rPr sz="1000" b="0" i="0">
                          <a:solidFill>
                            <a:srgbClr val="1F2933"/>
                          </a:solidFill>
                          <a:latin typeface="Calibri"/>
                        </a:rPr>
                        <a:t>Bearbeiter</a:t>
                      </a:r>
                    </a:p>
                  </a:txBody>
                  <a:tcPr marL="73152" marR="73152" marT="36576" marB="36576" anchor="ctr">
                    <a:solidFill>
                      <a:srgbClr val="EEF3F8"/>
                    </a:solidFill>
                  </a:tcPr>
                </a:tc>
                <a:tc>
                  <a:txBody>
                    <a:bodyPr wrap="square"/>
                    <a:lstStyle/>
                    <a:p>
                      <a:r>
                        <a:rPr sz="1000" b="0" i="0">
                          <a:solidFill>
                            <a:srgbClr val="1F2933"/>
                          </a:solidFill>
                          <a:latin typeface="Calibri"/>
                        </a:rPr>
                        <a:t>Manage Dispute Cases (F0702A)</a:t>
                      </a:r>
                    </a:p>
                  </a:txBody>
                  <a:tcPr marL="73152" marR="73152" marT="36576" marB="36576" anchor="ctr">
                    <a:solidFill>
                      <a:srgbClr val="EEF3F8"/>
                    </a:solidFill>
                  </a:tcPr>
                </a:tc>
                <a:tc>
                  <a:txBody>
                    <a:bodyPr wrap="square"/>
                    <a:lstStyle/>
                    <a:p>
                      <a:r>
                        <a:rPr sz="1000" b="0" i="0">
                          <a:solidFill>
                            <a:srgbClr val="1F2933"/>
                          </a:solidFill>
                          <a:latin typeface="Calibri"/>
                        </a:rPr>
                        <a:t>Weg A: berechtigt → Gutschrift erklären, Ausgleich in F0711 zeigen</a:t>
                      </a:r>
                    </a:p>
                  </a:txBody>
                  <a:tcPr marL="73152" marR="73152" marT="36576" marB="36576" anchor="ctr">
                    <a:solidFill>
                      <a:srgbClr val="EEF3F8"/>
                    </a:solidFill>
                  </a:tcPr>
                </a:tc>
                <a:tc>
                  <a:txBody>
                    <a:bodyPr wrap="square"/>
                    <a:lstStyle/>
                    <a:p>
                      <a:r>
                        <a:rPr sz="1000" b="0" i="0">
                          <a:solidFill>
                            <a:srgbClr val="1F2933"/>
                          </a:solidFill>
                          <a:latin typeface="Calibri"/>
                        </a:rPr>
                        <a:t>Fall schließt automatisch beim Ausgleich</a:t>
                      </a:r>
                    </a:p>
                  </a:txBody>
                  <a:tcPr marL="73152" marR="73152" marT="36576" marB="36576" anchor="ctr">
                    <a:solidFill>
                      <a:srgbClr val="EEF3F8"/>
                    </a:solidFill>
                  </a:tcPr>
                </a:tc>
              </a:tr>
              <a:tr h="457200">
                <a:tc>
                  <a:txBody>
                    <a:bodyPr wrap="square"/>
                    <a:lstStyle/>
                    <a:p>
                      <a:r>
                        <a:rPr sz="1000" b="1" i="0">
                          <a:solidFill>
                            <a:srgbClr val="1F2933"/>
                          </a:solidFill>
                          <a:latin typeface="Calibri"/>
                        </a:rPr>
                        <a:t>5</a:t>
                      </a:r>
                    </a:p>
                  </a:txBody>
                  <a:tcPr marL="73152" marR="73152" marT="36576" marB="36576" anchor="ctr">
                    <a:solidFill>
                      <a:srgbClr val="FFFFFF"/>
                    </a:solidFill>
                  </a:tcPr>
                </a:tc>
                <a:tc>
                  <a:txBody>
                    <a:bodyPr wrap="square"/>
                    <a:lstStyle/>
                    <a:p>
                      <a:r>
                        <a:rPr sz="1000" b="0" i="0">
                          <a:solidFill>
                            <a:srgbClr val="1F2933"/>
                          </a:solidFill>
                          <a:latin typeface="Calibri"/>
                        </a:rPr>
                        <a:t>Bearbeiter</a:t>
                      </a:r>
                    </a:p>
                  </a:txBody>
                  <a:tcPr marL="73152" marR="73152" marT="36576" marB="36576" anchor="ctr">
                    <a:solidFill>
                      <a:srgbClr val="FFFFFF"/>
                    </a:solidFill>
                  </a:tcPr>
                </a:tc>
                <a:tc>
                  <a:txBody>
                    <a:bodyPr wrap="square"/>
                    <a:lstStyle/>
                    <a:p>
                      <a:r>
                        <a:rPr sz="1000" b="0" i="0">
                          <a:solidFill>
                            <a:srgbClr val="1F2933"/>
                          </a:solidFill>
                          <a:latin typeface="Calibri"/>
                        </a:rPr>
                        <a:t>Manage Dispute Cases (F0702A)</a:t>
                      </a:r>
                    </a:p>
                  </a:txBody>
                  <a:tcPr marL="73152" marR="73152" marT="36576" marB="36576" anchor="ctr">
                    <a:solidFill>
                      <a:srgbClr val="FFFFFF"/>
                    </a:solidFill>
                  </a:tcPr>
                </a:tc>
                <a:tc>
                  <a:txBody>
                    <a:bodyPr wrap="square"/>
                    <a:lstStyle/>
                    <a:p>
                      <a:r>
                        <a:rPr sz="1000" b="0" i="0">
                          <a:solidFill>
                            <a:srgbClr val="1F2933"/>
                          </a:solidFill>
                          <a:latin typeface="Calibri"/>
                        </a:rPr>
                        <a:t>Weg B: zweiter Fall → Status Not justified → Save</a:t>
                      </a:r>
                    </a:p>
                  </a:txBody>
                  <a:tcPr marL="73152" marR="73152" marT="36576" marB="36576" anchor="ctr">
                    <a:solidFill>
                      <a:srgbClr val="FFFFFF"/>
                    </a:solidFill>
                  </a:tcPr>
                </a:tc>
                <a:tc>
                  <a:txBody>
                    <a:bodyPr wrap="square"/>
                    <a:lstStyle/>
                    <a:p>
                      <a:r>
                        <a:rPr sz="1000" b="0" i="0">
                          <a:solidFill>
                            <a:srgbClr val="1F2933"/>
                          </a:solidFill>
                          <a:latin typeface="Calibri"/>
                        </a:rPr>
                        <a:t>Zurück ins Collections, Mahnsperre fällt</a:t>
                      </a:r>
                    </a:p>
                  </a:txBody>
                  <a:tcPr marL="73152" marR="73152" marT="36576" marB="36576" anchor="ctr">
                    <a:solidFill>
                      <a:srgbClr val="FFFFFF"/>
                    </a:solidFill>
                  </a:tcPr>
                </a:tc>
              </a:tr>
              <a:tr h="457200">
                <a:tc>
                  <a:txBody>
                    <a:bodyPr wrap="square"/>
                    <a:lstStyle/>
                    <a:p>
                      <a:r>
                        <a:rPr sz="1000" b="1" i="0">
                          <a:solidFill>
                            <a:srgbClr val="1F2933"/>
                          </a:solidFill>
                          <a:latin typeface="Calibri"/>
                        </a:rPr>
                        <a:t>6</a:t>
                      </a:r>
                    </a:p>
                  </a:txBody>
                  <a:tcPr marL="73152" marR="73152" marT="36576" marB="36576" anchor="ctr">
                    <a:solidFill>
                      <a:srgbClr val="EEF3F8"/>
                    </a:solidFill>
                  </a:tcPr>
                </a:tc>
                <a:tc>
                  <a:txBody>
                    <a:bodyPr wrap="square"/>
                    <a:lstStyle/>
                    <a:p>
                      <a:r>
                        <a:rPr sz="1000" b="0" i="0">
                          <a:solidFill>
                            <a:srgbClr val="1F2933"/>
                          </a:solidFill>
                          <a:latin typeface="Calibri"/>
                        </a:rPr>
                        <a:t>Bearbeiter</a:t>
                      </a:r>
                    </a:p>
                  </a:txBody>
                  <a:tcPr marL="73152" marR="73152" marT="36576" marB="36576" anchor="ctr">
                    <a:solidFill>
                      <a:srgbClr val="EEF3F8"/>
                    </a:solidFill>
                  </a:tcPr>
                </a:tc>
                <a:tc>
                  <a:txBody>
                    <a:bodyPr wrap="square"/>
                    <a:lstStyle/>
                    <a:p>
                      <a:r>
                        <a:rPr sz="1000" b="0" i="0">
                          <a:solidFill>
                            <a:srgbClr val="1F2933"/>
                          </a:solidFill>
                          <a:latin typeface="Calibri"/>
                        </a:rPr>
                        <a:t>Manage Dispute Cases (F0702A)</a:t>
                      </a:r>
                    </a:p>
                  </a:txBody>
                  <a:tcPr marL="73152" marR="73152" marT="36576" marB="36576" anchor="ctr">
                    <a:solidFill>
                      <a:srgbClr val="EEF3F8"/>
                    </a:solidFill>
                  </a:tcPr>
                </a:tc>
                <a:tc>
                  <a:txBody>
                    <a:bodyPr wrap="square"/>
                    <a:lstStyle/>
                    <a:p>
                      <a:r>
                        <a:rPr sz="1000" b="0" i="0">
                          <a:solidFill>
                            <a:srgbClr val="1F2933"/>
                          </a:solidFill>
                          <a:latin typeface="Calibri"/>
                        </a:rPr>
                        <a:t>Void Dispute Case an einem Testfall</a:t>
                      </a:r>
                    </a:p>
                  </a:txBody>
                  <a:tcPr marL="73152" marR="73152" marT="36576" marB="36576" anchor="ctr">
                    <a:solidFill>
                      <a:srgbClr val="EEF3F8"/>
                    </a:solidFill>
                  </a:tcPr>
                </a:tc>
                <a:tc>
                  <a:txBody>
                    <a:bodyPr wrap="square"/>
                    <a:lstStyle/>
                    <a:p>
                      <a:r>
                        <a:rPr sz="1000" b="0" i="0">
                          <a:solidFill>
                            <a:srgbClr val="1F2933"/>
                          </a:solidFill>
                          <a:latin typeface="Calibri"/>
                        </a:rPr>
                        <a:t>Fehlanlagen storniert, nicht gelöscht</a:t>
                      </a:r>
                    </a:p>
                  </a:txBody>
                  <a:tcPr marL="73152" marR="73152" marT="36576" marB="36576" anchor="ctr">
                    <a:solidFill>
                      <a:srgbClr val="EEF3F8"/>
                    </a:solidFill>
                  </a:tcPr>
                </a:tc>
              </a:tr>
              <a:tr h="457200">
                <a:tc>
                  <a:txBody>
                    <a:bodyPr wrap="square"/>
                    <a:lstStyle/>
                    <a:p>
                      <a:r>
                        <a:rPr sz="1000" b="1" i="0">
                          <a:solidFill>
                            <a:srgbClr val="1F2933"/>
                          </a:solidFill>
                          <a:latin typeface="Calibri"/>
                        </a:rPr>
                        <a:t>7</a:t>
                      </a:r>
                    </a:p>
                  </a:txBody>
                  <a:tcPr marL="73152" marR="73152" marT="36576" marB="36576" anchor="ctr">
                    <a:solidFill>
                      <a:srgbClr val="FFFFFF"/>
                    </a:solidFill>
                  </a:tcPr>
                </a:tc>
                <a:tc>
                  <a:txBody>
                    <a:bodyPr wrap="square"/>
                    <a:lstStyle/>
                    <a:p>
                      <a:r>
                        <a:rPr sz="1000" b="0" i="0">
                          <a:solidFill>
                            <a:srgbClr val="1F2933"/>
                          </a:solidFill>
                          <a:latin typeface="Calibri"/>
                        </a:rPr>
                        <a:t>Cash Specialist</a:t>
                      </a:r>
                    </a:p>
                  </a:txBody>
                  <a:tcPr marL="73152" marR="73152" marT="36576" marB="36576" anchor="ctr">
                    <a:solidFill>
                      <a:srgbClr val="FFFFFF"/>
                    </a:solidFill>
                  </a:tcPr>
                </a:tc>
                <a:tc>
                  <a:txBody>
                    <a:bodyPr wrap="square"/>
                    <a:lstStyle/>
                    <a:p>
                      <a:r>
                        <a:rPr sz="1000" b="0" i="0">
                          <a:solidFill>
                            <a:srgbClr val="1F2933"/>
                          </a:solidFill>
                          <a:latin typeface="Calibri"/>
                        </a:rPr>
                        <a:t>Reprocess Bank Statement Items (F1520)</a:t>
                      </a:r>
                    </a:p>
                  </a:txBody>
                  <a:tcPr marL="73152" marR="73152" marT="36576" marB="36576" anchor="ctr">
                    <a:solidFill>
                      <a:srgbClr val="FFFFFF"/>
                    </a:solidFill>
                  </a:tcPr>
                </a:tc>
                <a:tc>
                  <a:txBody>
                    <a:bodyPr wrap="square"/>
                    <a:lstStyle/>
                    <a:p>
                      <a:r>
                        <a:rPr sz="1000" b="0" i="0">
                          <a:solidFill>
                            <a:srgbClr val="1F2933"/>
                          </a:solidFill>
                          <a:latin typeface="Calibri"/>
                        </a:rPr>
                        <a:t>Unterzahlung → Clear → Create Dispute → Post (nur wenn vorbereitet)</a:t>
                      </a:r>
                    </a:p>
                  </a:txBody>
                  <a:tcPr marL="73152" marR="73152" marT="36576" marB="36576" anchor="ctr">
                    <a:solidFill>
                      <a:srgbClr val="FFFFFF"/>
                    </a:solidFill>
                  </a:tcPr>
                </a:tc>
                <a:tc>
                  <a:txBody>
                    <a:bodyPr wrap="square"/>
                    <a:lstStyle/>
                    <a:p>
                      <a:r>
                        <a:rPr sz="1000" b="0" i="0">
                          <a:solidFill>
                            <a:srgbClr val="1F2933"/>
                          </a:solidFill>
                          <a:latin typeface="Calibri"/>
                        </a:rPr>
                        <a:t>Restposten wird direkt zum Fall</a:t>
                      </a:r>
                    </a:p>
                  </a:txBody>
                  <a:tcPr marL="73152" marR="73152" marT="36576" marB="36576" anchor="ctr">
                    <a:solidFill>
                      <a:srgbClr val="FFFFFF"/>
                    </a:solidFill>
                  </a:tcPr>
                </a:tc>
              </a:tr>
              <a:tr h="457200">
                <a:tc>
                  <a:txBody>
                    <a:bodyPr wrap="square"/>
                    <a:lstStyle/>
                    <a:p>
                      <a:r>
                        <a:rPr sz="1000" b="1" i="0">
                          <a:solidFill>
                            <a:srgbClr val="1F2933"/>
                          </a:solidFill>
                          <a:latin typeface="Calibri"/>
                        </a:rPr>
                        <a:t>8</a:t>
                      </a:r>
                    </a:p>
                  </a:txBody>
                  <a:tcPr marL="73152" marR="73152" marT="36576" marB="36576" anchor="ctr">
                    <a:solidFill>
                      <a:srgbClr val="EEF3F8"/>
                    </a:solidFill>
                  </a:tcPr>
                </a:tc>
                <a:tc>
                  <a:txBody>
                    <a:bodyPr wrap="square"/>
                    <a:lstStyle/>
                    <a:p>
                      <a:r>
                        <a:rPr sz="1000" b="0" i="0">
                          <a:solidFill>
                            <a:srgbClr val="1F2933"/>
                          </a:solidFill>
                          <a:latin typeface="Calibri"/>
                        </a:rPr>
                        <a:t>AR Accountant</a:t>
                      </a:r>
                    </a:p>
                  </a:txBody>
                  <a:tcPr marL="73152" marR="73152" marT="36576" marB="36576" anchor="ctr">
                    <a:solidFill>
                      <a:srgbClr val="EEF3F8"/>
                    </a:solidFill>
                  </a:tcPr>
                </a:tc>
                <a:tc>
                  <a:txBody>
                    <a:bodyPr wrap="square"/>
                    <a:lstStyle/>
                    <a:p>
                      <a:r>
                        <a:rPr sz="1000" b="0" i="0">
                          <a:solidFill>
                            <a:srgbClr val="1F2933"/>
                          </a:solidFill>
                          <a:latin typeface="Calibri"/>
                        </a:rPr>
                        <a:t>Schedule Dispute Management Jobs (F3578)</a:t>
                      </a:r>
                    </a:p>
                  </a:txBody>
                  <a:tcPr marL="73152" marR="73152" marT="36576" marB="36576" anchor="ctr">
                    <a:solidFill>
                      <a:srgbClr val="EEF3F8"/>
                    </a:solidFill>
                  </a:tcPr>
                </a:tc>
                <a:tc>
                  <a:txBody>
                    <a:bodyPr wrap="square"/>
                    <a:lstStyle/>
                    <a:p>
                      <a:r>
                        <a:rPr sz="1000" b="0" i="0">
                          <a:solidFill>
                            <a:srgbClr val="1F2933"/>
                          </a:solidFill>
                          <a:latin typeface="Calibri"/>
                        </a:rPr>
                        <a:t>Automatic Creation als Testlauf → Log</a:t>
                      </a:r>
                    </a:p>
                  </a:txBody>
                  <a:tcPr marL="73152" marR="73152" marT="36576" marB="36576" anchor="ctr">
                    <a:solidFill>
                      <a:srgbClr val="EEF3F8"/>
                    </a:solidFill>
                  </a:tcPr>
                </a:tc>
                <a:tc>
                  <a:txBody>
                    <a:bodyPr wrap="square"/>
                    <a:lstStyle/>
                    <a:p>
                      <a:r>
                        <a:rPr sz="1000" b="0" i="0">
                          <a:solidFill>
                            <a:srgbClr val="1F2933"/>
                          </a:solidFill>
                          <a:latin typeface="Calibri"/>
                        </a:rPr>
                        <a:t>Automatisierung bei hohem Volumen</a:t>
                      </a:r>
                    </a:p>
                  </a:txBody>
                  <a:tcPr marL="73152" marR="73152" marT="36576" marB="36576" anchor="ctr">
                    <a:solidFill>
                      <a:srgbClr val="EEF3F8"/>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D1  FACHLICHER KONTEXT</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Die Strategie ist die Risikopolitik des Unternehmens in Regeln</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D  Konfiguration der Collections-Strategie</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18</a:t>
            </a:r>
          </a:p>
        </p:txBody>
      </p:sp>
      <p:sp>
        <p:nvSpPr>
          <p:cNvPr id="6" name="Rounded Rectangle 5"/>
          <p:cNvSpPr/>
          <p:nvPr/>
        </p:nvSpPr>
        <p:spPr>
          <a:xfrm>
            <a:off x="548640" y="1554480"/>
            <a:ext cx="3515258" cy="14630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691640"/>
            <a:ext cx="3240938" cy="365760"/>
          </a:xfrm>
          <a:prstGeom prst="rect">
            <a:avLst/>
          </a:prstGeom>
          <a:noFill/>
        </p:spPr>
        <p:txBody>
          <a:bodyPr wrap="square" anchor="ctr" lIns="45720" rIns="45720">
            <a:spAutoFit/>
          </a:bodyPr>
          <a:lstStyle/>
          <a:p>
            <a:pPr algn="l"/>
            <a:r>
              <a:rPr sz="1400" b="1" i="0">
                <a:solidFill>
                  <a:srgbClr val="0F8B8D"/>
                </a:solidFill>
                <a:latin typeface="Calibri"/>
              </a:rPr>
              <a:t>Wenige Großkunden</a:t>
            </a:r>
          </a:p>
        </p:txBody>
      </p:sp>
      <p:sp>
        <p:nvSpPr>
          <p:cNvPr id="8" name="TextBox 7"/>
          <p:cNvSpPr txBox="1"/>
          <p:nvPr/>
        </p:nvSpPr>
        <p:spPr>
          <a:xfrm>
            <a:off x="685800" y="2075688"/>
            <a:ext cx="3240938" cy="804672"/>
          </a:xfrm>
          <a:prstGeom prst="rect">
            <a:avLst/>
          </a:prstGeom>
          <a:noFill/>
        </p:spPr>
        <p:txBody>
          <a:bodyPr wrap="square" anchor="t" lIns="45720" rIns="45720">
            <a:spAutoFit/>
          </a:bodyPr>
          <a:lstStyle/>
          <a:p>
            <a:pPr algn="l"/>
            <a:r>
              <a:rPr sz="1200" b="0" i="0">
                <a:solidFill>
                  <a:srgbClr val="1F2933"/>
                </a:solidFill>
                <a:latin typeface="Calibri"/>
              </a:rPr>
              <a:t>Große Einzelposten hoch gewichten, früher Kontakt vor Fälligkeit, Key-Account-Spezialisten, sanftes Mahnverfahren</a:t>
            </a:r>
          </a:p>
        </p:txBody>
      </p:sp>
      <p:sp>
        <p:nvSpPr>
          <p:cNvPr id="9" name="Rounded Rectangle 8"/>
          <p:cNvSpPr/>
          <p:nvPr/>
        </p:nvSpPr>
        <p:spPr>
          <a:xfrm>
            <a:off x="4338218" y="1554480"/>
            <a:ext cx="3515258" cy="14630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475378" y="1691640"/>
            <a:ext cx="3240938" cy="365760"/>
          </a:xfrm>
          <a:prstGeom prst="rect">
            <a:avLst/>
          </a:prstGeom>
          <a:noFill/>
        </p:spPr>
        <p:txBody>
          <a:bodyPr wrap="square" anchor="ctr" lIns="45720" rIns="45720">
            <a:spAutoFit/>
          </a:bodyPr>
          <a:lstStyle/>
          <a:p>
            <a:pPr algn="l"/>
            <a:r>
              <a:rPr sz="1400" b="1" i="0">
                <a:solidFill>
                  <a:srgbClr val="0F8B8D"/>
                </a:solidFill>
                <a:latin typeface="Calibri"/>
              </a:rPr>
              <a:t>Viele Kleinkunden</a:t>
            </a:r>
          </a:p>
        </p:txBody>
      </p:sp>
      <p:sp>
        <p:nvSpPr>
          <p:cNvPr id="11" name="TextBox 10"/>
          <p:cNvSpPr txBox="1"/>
          <p:nvPr/>
        </p:nvSpPr>
        <p:spPr>
          <a:xfrm>
            <a:off x="4475378" y="2075688"/>
            <a:ext cx="3240938" cy="804672"/>
          </a:xfrm>
          <a:prstGeom prst="rect">
            <a:avLst/>
          </a:prstGeom>
          <a:noFill/>
        </p:spPr>
        <p:txBody>
          <a:bodyPr wrap="square" anchor="t" lIns="45720" rIns="45720">
            <a:spAutoFit/>
          </a:bodyPr>
          <a:lstStyle/>
          <a:p>
            <a:pPr algn="l"/>
            <a:r>
              <a:rPr sz="1200" b="0" i="0">
                <a:solidFill>
                  <a:srgbClr val="1F2933"/>
                </a:solidFill>
                <a:latin typeface="Calibri"/>
              </a:rPr>
              <a:t>Summe überfällig und Tage seit letztem Kontakt gewichten, systematisch durcharbeiten, Massenkorrespondenz</a:t>
            </a:r>
          </a:p>
        </p:txBody>
      </p:sp>
      <p:sp>
        <p:nvSpPr>
          <p:cNvPr id="12" name="Rounded Rectangle 11"/>
          <p:cNvSpPr/>
          <p:nvPr/>
        </p:nvSpPr>
        <p:spPr>
          <a:xfrm>
            <a:off x="8127796" y="1554480"/>
            <a:ext cx="3515258" cy="14630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64956" y="1691640"/>
            <a:ext cx="3240938" cy="365760"/>
          </a:xfrm>
          <a:prstGeom prst="rect">
            <a:avLst/>
          </a:prstGeom>
          <a:noFill/>
        </p:spPr>
        <p:txBody>
          <a:bodyPr wrap="square" anchor="ctr" lIns="45720" rIns="45720">
            <a:spAutoFit/>
          </a:bodyPr>
          <a:lstStyle/>
          <a:p>
            <a:pPr algn="l"/>
            <a:r>
              <a:rPr sz="1400" b="1" i="0">
                <a:solidFill>
                  <a:srgbClr val="0F8B8D"/>
                </a:solidFill>
                <a:latin typeface="Calibri"/>
              </a:rPr>
              <a:t>Bonitätsdaten vorhanden</a:t>
            </a:r>
          </a:p>
        </p:txBody>
      </p:sp>
      <p:sp>
        <p:nvSpPr>
          <p:cNvPr id="14" name="TextBox 13"/>
          <p:cNvSpPr txBox="1"/>
          <p:nvPr/>
        </p:nvSpPr>
        <p:spPr>
          <a:xfrm>
            <a:off x="8264956" y="2075688"/>
            <a:ext cx="3240938" cy="804672"/>
          </a:xfrm>
          <a:prstGeom prst="rect">
            <a:avLst/>
          </a:prstGeom>
          <a:noFill/>
        </p:spPr>
        <p:txBody>
          <a:bodyPr wrap="square" anchor="t" lIns="45720" rIns="45720">
            <a:spAutoFit/>
          </a:bodyPr>
          <a:lstStyle/>
          <a:p>
            <a:pPr algn="l"/>
            <a:r>
              <a:rPr sz="1200" b="0" i="0">
                <a:solidFill>
                  <a:srgbClr val="1F2933"/>
                </a:solidFill>
                <a:latin typeface="Calibri"/>
              </a:rPr>
              <a:t>Risikoklasse aus Credit Management als Kriterium; Collections-Profil nur für kritische Klassen</a:t>
            </a:r>
          </a:p>
        </p:txBody>
      </p:sp>
      <p:sp>
        <p:nvSpPr>
          <p:cNvPr id="15" name="Rounded Rectangle 14"/>
          <p:cNvSpPr/>
          <p:nvPr/>
        </p:nvSpPr>
        <p:spPr>
          <a:xfrm>
            <a:off x="548640" y="3246120"/>
            <a:ext cx="2650159" cy="82296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Regel</a:t>
            </a:r>
          </a:p>
          <a:p>
            <a:pPr algn="ctr"/>
            <a:r>
              <a:rPr sz="1000" b="0" i="0">
                <a:solidFill>
                  <a:srgbClr val="FFFFFF"/>
                </a:solidFill>
                <a:latin typeface="Calibri"/>
              </a:rPr>
              <a:t>Frage an den Kunden: mehr als X seit Y Tagen überfällig?</a:t>
            </a:r>
          </a:p>
        </p:txBody>
      </p:sp>
      <p:sp>
        <p:nvSpPr>
          <p:cNvPr id="16" name="Right Arrow 15"/>
          <p:cNvSpPr/>
          <p:nvPr/>
        </p:nvSpPr>
        <p:spPr>
          <a:xfrm>
            <a:off x="3217087" y="356616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363391" y="3246120"/>
            <a:ext cx="2650159" cy="82296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Gewicht</a:t>
            </a:r>
          </a:p>
          <a:p>
            <a:pPr algn="ctr"/>
            <a:r>
              <a:rPr sz="1000" b="0" i="0">
                <a:solidFill>
                  <a:srgbClr val="FFFFFF"/>
                </a:solidFill>
                <a:latin typeface="Calibri"/>
              </a:rPr>
              <a:t>Punkte je zutreffender Regel</a:t>
            </a:r>
          </a:p>
        </p:txBody>
      </p:sp>
      <p:sp>
        <p:nvSpPr>
          <p:cNvPr id="18" name="Right Arrow 17"/>
          <p:cNvSpPr/>
          <p:nvPr/>
        </p:nvSpPr>
        <p:spPr>
          <a:xfrm>
            <a:off x="6031838" y="356616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78142" y="3246120"/>
            <a:ext cx="2650159" cy="82296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Summe</a:t>
            </a:r>
          </a:p>
          <a:p>
            <a:pPr algn="ctr"/>
            <a:r>
              <a:rPr sz="1000" b="0" i="0">
                <a:solidFill>
                  <a:srgbClr val="FFFFFF"/>
                </a:solidFill>
                <a:latin typeface="Calibri"/>
              </a:rPr>
              <a:t>im Verhältnis zur maximalen Bewertung</a:t>
            </a:r>
          </a:p>
        </p:txBody>
      </p:sp>
      <p:sp>
        <p:nvSpPr>
          <p:cNvPr id="20" name="Right Arrow 19"/>
          <p:cNvSpPr/>
          <p:nvPr/>
        </p:nvSpPr>
        <p:spPr>
          <a:xfrm>
            <a:off x="8846589" y="356616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992893" y="3246120"/>
            <a:ext cx="2650159" cy="82296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Priorität</a:t>
            </a:r>
          </a:p>
          <a:p>
            <a:pPr algn="ctr"/>
            <a:r>
              <a:rPr sz="1000" b="0" i="0">
                <a:solidFill>
                  <a:srgbClr val="FFFFFF"/>
                </a:solidFill>
                <a:latin typeface="Calibri"/>
              </a:rPr>
              <a:t>Reihenfolge auf der Worklist</a:t>
            </a:r>
          </a:p>
        </p:txBody>
      </p:sp>
      <p:sp>
        <p:nvSpPr>
          <p:cNvPr id="22" name="Rounded Rectangle 21"/>
          <p:cNvSpPr/>
          <p:nvPr/>
        </p:nvSpPr>
        <p:spPr>
          <a:xfrm>
            <a:off x="548640" y="4297680"/>
            <a:ext cx="11094415" cy="128016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77240" y="4389120"/>
            <a:ext cx="10637215" cy="1188720"/>
          </a:xfrm>
          <a:prstGeom prst="rect">
            <a:avLst/>
          </a:prstGeom>
          <a:noFill/>
        </p:spPr>
        <p:txBody>
          <a:bodyPr wrap="square" lIns="45720" rIns="45720">
            <a:spAutoFit/>
          </a:bodyPr>
          <a:lstStyle/>
          <a:p>
            <a:pPr marL="201168" indent="-201168">
              <a:spcAft>
                <a:spcPts val="400"/>
              </a:spcAft>
              <a:buChar char="•"/>
            </a:pPr>
            <a:r>
              <a:rPr sz="1200" b="1" i="0">
                <a:solidFill>
                  <a:srgbClr val="1F2933"/>
                </a:solidFill>
                <a:latin typeface="Calibri"/>
              </a:rPr>
              <a:t>Designfrage im Workshop: </a:t>
            </a:r>
            <a:r>
              <a:rPr sz="1200" b="0" i="0">
                <a:solidFill>
                  <a:srgbClr val="1F2933"/>
                </a:solidFill>
                <a:latin typeface="Calibri"/>
              </a:rPr>
              <a:t>Wie viele unterschiedliche Vorgehensweisen gibt es im Forderungsmanagement des Kunden? So viele Gruppen und Strategien braucht es.</a:t>
            </a:r>
          </a:p>
          <a:p>
            <a:pPr marL="201168" indent="-201168">
              <a:spcAft>
                <a:spcPts val="400"/>
              </a:spcAft>
              <a:buChar char="•"/>
            </a:pPr>
            <a:r>
              <a:rPr sz="1200" b="1" i="0">
                <a:solidFill>
                  <a:srgbClr val="1F2933"/>
                </a:solidFill>
                <a:latin typeface="Calibri"/>
              </a:rPr>
              <a:t>Zusammenspiel: </a:t>
            </a:r>
            <a:r>
              <a:rPr sz="1200" b="0" i="0">
                <a:solidFill>
                  <a:srgbClr val="1F2933"/>
                </a:solidFill>
                <a:latin typeface="Calibri"/>
              </a:rPr>
              <a:t>Die Strategie legt auch fest, ob Mahnstufen in die Bewertung eingehen und ob Zahlungsbedingungen proaktiven Kontakt vor Fälligkeit auslösen.</a:t>
            </a:r>
          </a:p>
          <a:p>
            <a:pPr marL="201168" indent="-201168">
              <a:spcAft>
                <a:spcPts val="400"/>
              </a:spcAft>
              <a:buChar char="•"/>
            </a:pPr>
            <a:r>
              <a:rPr sz="1200" b="1" i="0">
                <a:solidFill>
                  <a:srgbClr val="1F2933"/>
                </a:solidFill>
                <a:latin typeface="Calibri"/>
              </a:rPr>
              <a:t>Kein Einmal-Setup: </a:t>
            </a:r>
            <a:r>
              <a:rPr sz="1200" b="0" i="0">
                <a:solidFill>
                  <a:srgbClr val="1F2933"/>
                </a:solidFill>
                <a:latin typeface="Calibri"/>
              </a:rPr>
              <a:t>Erscheinen Kunden mit gebrochenen Versprechen zu spät, wird das Gewicht erhöht. Wirkung ab dem nächsten nächtlichen Lauf.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D2  KONFIGURATION</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Aufbau einer Strategie in Manage Collection Strategies (F2946)</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D  Konfiguration der Collections-Strategie</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19</a:t>
            </a:r>
          </a:p>
        </p:txBody>
      </p:sp>
      <p:sp>
        <p:nvSpPr>
          <p:cNvPr id="6" name="Rounded Rectangle 5"/>
          <p:cNvSpPr/>
          <p:nvPr/>
        </p:nvSpPr>
        <p:spPr>
          <a:xfrm>
            <a:off x="548640" y="1554480"/>
            <a:ext cx="4206240" cy="42976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691640"/>
            <a:ext cx="3931920" cy="365760"/>
          </a:xfrm>
          <a:prstGeom prst="rect">
            <a:avLst/>
          </a:prstGeom>
          <a:noFill/>
        </p:spPr>
        <p:txBody>
          <a:bodyPr wrap="square" anchor="ctr" lIns="45720" rIns="45720">
            <a:spAutoFit/>
          </a:bodyPr>
          <a:lstStyle/>
          <a:p>
            <a:pPr algn="l"/>
            <a:r>
              <a:rPr sz="1400" b="1" i="0">
                <a:solidFill>
                  <a:srgbClr val="1C4E80"/>
                </a:solidFill>
                <a:latin typeface="Calibri"/>
              </a:rPr>
              <a:t>Bausteine der Strategie</a:t>
            </a:r>
          </a:p>
        </p:txBody>
      </p:sp>
      <p:sp>
        <p:nvSpPr>
          <p:cNvPr id="8" name="TextBox 7"/>
          <p:cNvSpPr txBox="1"/>
          <p:nvPr/>
        </p:nvSpPr>
        <p:spPr>
          <a:xfrm>
            <a:off x="685800" y="2075688"/>
            <a:ext cx="3931920" cy="3639312"/>
          </a:xfrm>
          <a:prstGeom prst="rect">
            <a:avLst/>
          </a:prstGeom>
          <a:noFill/>
        </p:spPr>
        <p:txBody>
          <a:bodyPr wrap="square" lIns="45720" rIns="45720">
            <a:spAutoFit/>
          </a:bodyPr>
          <a:lstStyle/>
          <a:p>
            <a:pPr marL="201168" indent="-201168">
              <a:spcAft>
                <a:spcPts val="300"/>
              </a:spcAft>
              <a:buChar char="•"/>
            </a:pPr>
            <a:r>
              <a:rPr sz="1200" b="1" i="0">
                <a:solidFill>
                  <a:srgbClr val="1F2933"/>
                </a:solidFill>
                <a:latin typeface="Calibri"/>
              </a:rPr>
              <a:t>Kopf: </a:t>
            </a:r>
            <a:r>
              <a:rPr sz="1200" b="0" i="0">
                <a:solidFill>
                  <a:srgbClr val="1F2933"/>
                </a:solidFill>
                <a:latin typeface="Calibri"/>
              </a:rPr>
              <a:t>ID, Name, Strategiewährung, maximale Bewertung, Status aktiv / inaktiv</a:t>
            </a:r>
          </a:p>
          <a:p>
            <a:pPr marL="201168" indent="-201168">
              <a:spcAft>
                <a:spcPts val="300"/>
              </a:spcAft>
              <a:buChar char="•"/>
            </a:pPr>
            <a:r>
              <a:rPr sz="1200" b="1" i="0">
                <a:solidFill>
                  <a:srgbClr val="1F2933"/>
                </a:solidFill>
                <a:latin typeface="Calibri"/>
              </a:rPr>
              <a:t>Collection Rules: </a:t>
            </a:r>
            <a:r>
              <a:rPr sz="1200" b="0" i="0">
                <a:solidFill>
                  <a:srgbClr val="1F2933"/>
                </a:solidFill>
                <a:latin typeface="Calibri"/>
              </a:rPr>
              <a:t>vorgefertigte Regeln mit Bedingungen (Betrag, Tage, Versprechen, Kontakt) und Bewertung in Punkten</a:t>
            </a:r>
          </a:p>
          <a:p>
            <a:pPr marL="201168" indent="-201168">
              <a:spcAft>
                <a:spcPts val="300"/>
              </a:spcAft>
              <a:buChar char="•"/>
            </a:pPr>
            <a:r>
              <a:rPr sz="1200" b="1" i="0">
                <a:solidFill>
                  <a:srgbClr val="1F2933"/>
                </a:solidFill>
                <a:latin typeface="Calibri"/>
              </a:rPr>
              <a:t>Aging Periods: </a:t>
            </a:r>
            <a:r>
              <a:rPr sz="1200" b="0" i="0">
                <a:solidFill>
                  <a:srgbClr val="1F2933"/>
                </a:solidFill>
                <a:latin typeface="Calibri"/>
              </a:rPr>
              <a:t>Überfälligkeitsperioden 1–30, 31–60, 61–90, &gt; 90 Tage und Fälligkeitsperioden</a:t>
            </a:r>
          </a:p>
          <a:p>
            <a:pPr marL="201168" indent="-201168">
              <a:spcAft>
                <a:spcPts val="300"/>
              </a:spcAft>
              <a:buChar char="•"/>
            </a:pPr>
            <a:r>
              <a:rPr sz="1200" b="1" i="0">
                <a:solidFill>
                  <a:srgbClr val="1F2933"/>
                </a:solidFill>
                <a:latin typeface="Calibri"/>
              </a:rPr>
              <a:t>Mahnintegration: </a:t>
            </a:r>
            <a:r>
              <a:rPr sz="1200" b="0" i="0">
                <a:solidFill>
                  <a:srgbClr val="1F2933"/>
                </a:solidFill>
                <a:latin typeface="Calibri"/>
              </a:rPr>
              <a:t>Mahnstufen als Kriterium</a:t>
            </a:r>
          </a:p>
          <a:p>
            <a:pPr marL="201168" indent="-201168">
              <a:spcAft>
                <a:spcPts val="300"/>
              </a:spcAft>
              <a:buChar char="•"/>
            </a:pPr>
            <a:r>
              <a:rPr sz="1200" b="1" i="0">
                <a:solidFill>
                  <a:srgbClr val="1F2933"/>
                </a:solidFill>
                <a:latin typeface="Calibri"/>
              </a:rPr>
              <a:t>Zahlungsbedingungen: </a:t>
            </a:r>
            <a:r>
              <a:rPr sz="1200" b="0" i="0">
                <a:solidFill>
                  <a:srgbClr val="1F2933"/>
                </a:solidFill>
                <a:latin typeface="Calibri"/>
              </a:rPr>
              <a:t>proaktive Bearbeitung vor Fälligkeit</a:t>
            </a:r>
          </a:p>
          <a:p>
            <a:pPr marL="201168" indent="-201168">
              <a:spcAft>
                <a:spcPts val="300"/>
              </a:spcAft>
              <a:buChar char="•"/>
            </a:pPr>
            <a:r>
              <a:rPr sz="1200" b="1" i="0">
                <a:solidFill>
                  <a:srgbClr val="1F2933"/>
                </a:solidFill>
                <a:latin typeface="Calibri"/>
              </a:rPr>
              <a:t>Show Assignment: </a:t>
            </a:r>
            <a:r>
              <a:rPr sz="1200" b="0" i="0">
                <a:solidFill>
                  <a:srgbClr val="1F2933"/>
                </a:solidFill>
                <a:latin typeface="Calibri"/>
              </a:rPr>
              <a:t>welche Gruppen die Strategie nutzen</a:t>
            </a:r>
          </a:p>
        </p:txBody>
      </p:sp>
      <p:graphicFrame>
        <p:nvGraphicFramePr>
          <p:cNvPr id="9" name="Table 8"/>
          <p:cNvGraphicFramePr>
            <a:graphicFrameLocks noGrp="1"/>
          </p:cNvGraphicFramePr>
          <p:nvPr/>
        </p:nvGraphicFramePr>
        <p:xfrm>
          <a:off x="4983480" y="1554480"/>
          <a:ext cx="6629400" cy="2286000"/>
        </p:xfrm>
        <a:graphic>
          <a:graphicData uri="http://schemas.openxmlformats.org/drawingml/2006/table">
            <a:tbl>
              <a:tblPr firstRow="0" bandRow="0">
                <a:tableStyleId>{5C22544A-7EE6-4342-B048-85BDC9FD1C3A}</a:tableStyleId>
              </a:tblPr>
              <a:tblGrid>
                <a:gridCol w="1188720"/>
                <a:gridCol w="2651760"/>
                <a:gridCol w="731520"/>
                <a:gridCol w="2057400"/>
              </a:tblGrid>
              <a:tr h="457200">
                <a:tc>
                  <a:txBody>
                    <a:bodyPr wrap="square"/>
                    <a:lstStyle/>
                    <a:p>
                      <a:r>
                        <a:rPr sz="1100" b="1" i="0">
                          <a:solidFill>
                            <a:srgbClr val="FFFFFF"/>
                          </a:solidFill>
                          <a:latin typeface="Calibri"/>
                        </a:rPr>
                        <a:t>Regel</a:t>
                      </a:r>
                    </a:p>
                  </a:txBody>
                  <a:tcPr marL="73152" marR="73152" marT="36576" marB="36576" anchor="ctr">
                    <a:solidFill>
                      <a:srgbClr val="1C4E80"/>
                    </a:solidFill>
                  </a:tcPr>
                </a:tc>
                <a:tc>
                  <a:txBody>
                    <a:bodyPr wrap="square"/>
                    <a:lstStyle/>
                    <a:p>
                      <a:r>
                        <a:rPr sz="1100" b="1" i="0">
                          <a:solidFill>
                            <a:srgbClr val="FFFFFF"/>
                          </a:solidFill>
                          <a:latin typeface="Calibri"/>
                        </a:rPr>
                        <a:t>Bedingung (Beispiel)</a:t>
                      </a:r>
                    </a:p>
                  </a:txBody>
                  <a:tcPr marL="73152" marR="73152" marT="36576" marB="36576" anchor="ctr">
                    <a:solidFill>
                      <a:srgbClr val="1C4E80"/>
                    </a:solidFill>
                  </a:tcPr>
                </a:tc>
                <a:tc>
                  <a:txBody>
                    <a:bodyPr wrap="square"/>
                    <a:lstStyle/>
                    <a:p>
                      <a:r>
                        <a:rPr sz="1100" b="1" i="0">
                          <a:solidFill>
                            <a:srgbClr val="FFFFFF"/>
                          </a:solidFill>
                          <a:latin typeface="Calibri"/>
                        </a:rPr>
                        <a:t>Punkte</a:t>
                      </a:r>
                    </a:p>
                  </a:txBody>
                  <a:tcPr marL="73152" marR="73152" marT="36576" marB="36576" anchor="ctr">
                    <a:solidFill>
                      <a:srgbClr val="1C4E80"/>
                    </a:solidFill>
                  </a:tcPr>
                </a:tc>
                <a:tc>
                  <a:txBody>
                    <a:bodyPr wrap="square"/>
                    <a:lstStyle/>
                    <a:p>
                      <a:r>
                        <a:rPr sz="1100" b="1" i="0">
                          <a:solidFill>
                            <a:srgbClr val="FFFFFF"/>
                          </a:solidFill>
                          <a:latin typeface="Calibri"/>
                        </a:rPr>
                        <a:t>Fachliche Aussage</a:t>
                      </a:r>
                    </a:p>
                  </a:txBody>
                  <a:tcPr marL="73152" marR="73152" marT="36576" marB="36576" anchor="ctr">
                    <a:solidFill>
                      <a:srgbClr val="1C4E80"/>
                    </a:solidFill>
                  </a:tcPr>
                </a:tc>
              </a:tr>
              <a:tr h="457200">
                <a:tc>
                  <a:txBody>
                    <a:bodyPr wrap="square"/>
                    <a:lstStyle/>
                    <a:p>
                      <a:r>
                        <a:rPr sz="1100" b="1" i="0">
                          <a:solidFill>
                            <a:srgbClr val="1F2933"/>
                          </a:solidFill>
                          <a:latin typeface="Calibri"/>
                        </a:rPr>
                        <a:t>CR00000002</a:t>
                      </a:r>
                    </a:p>
                  </a:txBody>
                  <a:tcPr marL="73152" marR="73152" marT="36576" marB="36576" anchor="ctr">
                    <a:solidFill>
                      <a:srgbClr val="FFFFFF"/>
                    </a:solidFill>
                  </a:tcPr>
                </a:tc>
                <a:tc>
                  <a:txBody>
                    <a:bodyPr wrap="square"/>
                    <a:lstStyle/>
                    <a:p>
                      <a:r>
                        <a:rPr sz="1100" b="0" i="0">
                          <a:solidFill>
                            <a:srgbClr val="1F2933"/>
                          </a:solidFill>
                          <a:latin typeface="Calibri"/>
                        </a:rPr>
                        <a:t>Summe überfällig &gt; 1.500 EUR und ≥ 5 Tage</a:t>
                      </a:r>
                    </a:p>
                  </a:txBody>
                  <a:tcPr marL="73152" marR="73152" marT="36576" marB="36576" anchor="ctr">
                    <a:solidFill>
                      <a:srgbClr val="FFFFFF"/>
                    </a:solidFill>
                  </a:tcPr>
                </a:tc>
                <a:tc>
                  <a:txBody>
                    <a:bodyPr wrap="square"/>
                    <a:lstStyle/>
                    <a:p>
                      <a:r>
                        <a:rPr sz="1100" b="0" i="0">
                          <a:solidFill>
                            <a:srgbClr val="1F2933"/>
                          </a:solidFill>
                          <a:latin typeface="Calibri"/>
                        </a:rPr>
                        <a:t>15</a:t>
                      </a:r>
                    </a:p>
                  </a:txBody>
                  <a:tcPr marL="73152" marR="73152" marT="36576" marB="36576" anchor="ctr">
                    <a:solidFill>
                      <a:srgbClr val="FFFFFF"/>
                    </a:solidFill>
                  </a:tcPr>
                </a:tc>
                <a:tc>
                  <a:txBody>
                    <a:bodyPr wrap="square"/>
                    <a:lstStyle/>
                    <a:p>
                      <a:r>
                        <a:rPr sz="1100" b="0" i="0">
                          <a:solidFill>
                            <a:srgbClr val="1F2933"/>
                          </a:solidFill>
                          <a:latin typeface="Calibri"/>
                        </a:rPr>
                        <a:t>Großer Gesamtrückstand</a:t>
                      </a:r>
                    </a:p>
                  </a:txBody>
                  <a:tcPr marL="73152" marR="73152" marT="36576" marB="36576" anchor="ctr">
                    <a:solidFill>
                      <a:srgbClr val="FFFFFF"/>
                    </a:solidFill>
                  </a:tcPr>
                </a:tc>
              </a:tr>
              <a:tr h="457200">
                <a:tc>
                  <a:txBody>
                    <a:bodyPr wrap="square"/>
                    <a:lstStyle/>
                    <a:p>
                      <a:r>
                        <a:rPr sz="1100" b="1" i="0">
                          <a:solidFill>
                            <a:srgbClr val="1F2933"/>
                          </a:solidFill>
                          <a:latin typeface="Calibri"/>
                        </a:rPr>
                        <a:t>CR00000003</a:t>
                      </a:r>
                    </a:p>
                  </a:txBody>
                  <a:tcPr marL="73152" marR="73152" marT="36576" marB="36576" anchor="ctr">
                    <a:solidFill>
                      <a:srgbClr val="EEF3F8"/>
                    </a:solidFill>
                  </a:tcPr>
                </a:tc>
                <a:tc>
                  <a:txBody>
                    <a:bodyPr wrap="square"/>
                    <a:lstStyle/>
                    <a:p>
                      <a:r>
                        <a:rPr sz="1100" b="0" i="0">
                          <a:solidFill>
                            <a:srgbClr val="1F2933"/>
                          </a:solidFill>
                          <a:latin typeface="Calibri"/>
                        </a:rPr>
                        <a:t>Einzelposten &gt; 5.000 EUR und ≥ 5 Tage</a:t>
                      </a:r>
                    </a:p>
                  </a:txBody>
                  <a:tcPr marL="73152" marR="73152" marT="36576" marB="36576" anchor="ctr">
                    <a:solidFill>
                      <a:srgbClr val="EEF3F8"/>
                    </a:solidFill>
                  </a:tcPr>
                </a:tc>
                <a:tc>
                  <a:txBody>
                    <a:bodyPr wrap="square"/>
                    <a:lstStyle/>
                    <a:p>
                      <a:r>
                        <a:rPr sz="1100" b="0" i="0">
                          <a:solidFill>
                            <a:srgbClr val="1F2933"/>
                          </a:solidFill>
                          <a:latin typeface="Calibri"/>
                        </a:rPr>
                        <a:t>10</a:t>
                      </a:r>
                    </a:p>
                  </a:txBody>
                  <a:tcPr marL="73152" marR="73152" marT="36576" marB="36576" anchor="ctr">
                    <a:solidFill>
                      <a:srgbClr val="EEF3F8"/>
                    </a:solidFill>
                  </a:tcPr>
                </a:tc>
                <a:tc>
                  <a:txBody>
                    <a:bodyPr wrap="square"/>
                    <a:lstStyle/>
                    <a:p>
                      <a:r>
                        <a:rPr sz="1100" b="0" i="0">
                          <a:solidFill>
                            <a:srgbClr val="1F2933"/>
                          </a:solidFill>
                          <a:latin typeface="Calibri"/>
                        </a:rPr>
                        <a:t>Eine große Rechnung</a:t>
                      </a:r>
                    </a:p>
                  </a:txBody>
                  <a:tcPr marL="73152" marR="73152" marT="36576" marB="36576" anchor="ctr">
                    <a:solidFill>
                      <a:srgbClr val="EEF3F8"/>
                    </a:solidFill>
                  </a:tcPr>
                </a:tc>
              </a:tr>
              <a:tr h="457200">
                <a:tc>
                  <a:txBody>
                    <a:bodyPr wrap="square"/>
                    <a:lstStyle/>
                    <a:p>
                      <a:r>
                        <a:rPr sz="1100" b="1" i="0">
                          <a:solidFill>
                            <a:srgbClr val="1F2933"/>
                          </a:solidFill>
                          <a:latin typeface="Calibri"/>
                        </a:rPr>
                        <a:t>CR00000013</a:t>
                      </a:r>
                    </a:p>
                  </a:txBody>
                  <a:tcPr marL="73152" marR="73152" marT="36576" marB="36576" anchor="ctr">
                    <a:solidFill>
                      <a:srgbClr val="FFFFFF"/>
                    </a:solidFill>
                  </a:tcPr>
                </a:tc>
                <a:tc>
                  <a:txBody>
                    <a:bodyPr wrap="square"/>
                    <a:lstStyle/>
                    <a:p>
                      <a:r>
                        <a:rPr sz="1100" b="0" i="0">
                          <a:solidFill>
                            <a:srgbClr val="1F2933"/>
                          </a:solidFill>
                          <a:latin typeface="Calibri"/>
                        </a:rPr>
                        <a:t>Summe Zahlungsversprechen &gt; 500 EUR</a:t>
                      </a:r>
                    </a:p>
                  </a:txBody>
                  <a:tcPr marL="73152" marR="73152" marT="36576" marB="36576" anchor="ctr">
                    <a:solidFill>
                      <a:srgbClr val="FFFFFF"/>
                    </a:solidFill>
                  </a:tcPr>
                </a:tc>
                <a:tc>
                  <a:txBody>
                    <a:bodyPr wrap="square"/>
                    <a:lstStyle/>
                    <a:p>
                      <a:r>
                        <a:rPr sz="1100" b="0" i="0">
                          <a:solidFill>
                            <a:srgbClr val="1F2933"/>
                          </a:solidFill>
                          <a:latin typeface="Calibri"/>
                        </a:rPr>
                        <a:t>10</a:t>
                      </a:r>
                    </a:p>
                  </a:txBody>
                  <a:tcPr marL="73152" marR="73152" marT="36576" marB="36576" anchor="ctr">
                    <a:solidFill>
                      <a:srgbClr val="FFFFFF"/>
                    </a:solidFill>
                  </a:tcPr>
                </a:tc>
                <a:tc>
                  <a:txBody>
                    <a:bodyPr wrap="square"/>
                    <a:lstStyle/>
                    <a:p>
                      <a:r>
                        <a:rPr sz="1100" b="0" i="0">
                          <a:solidFill>
                            <a:srgbClr val="1F2933"/>
                          </a:solidFill>
                          <a:latin typeface="Calibri"/>
                        </a:rPr>
                        <a:t>Offene Zusagen nachhalten</a:t>
                      </a:r>
                    </a:p>
                  </a:txBody>
                  <a:tcPr marL="73152" marR="73152" marT="36576" marB="36576" anchor="ctr">
                    <a:solidFill>
                      <a:srgbClr val="FFFFFF"/>
                    </a:solidFill>
                  </a:tcPr>
                </a:tc>
              </a:tr>
              <a:tr h="457200">
                <a:tc>
                  <a:txBody>
                    <a:bodyPr wrap="square"/>
                    <a:lstStyle/>
                    <a:p>
                      <a:r>
                        <a:rPr sz="1100" b="1" i="0">
                          <a:solidFill>
                            <a:srgbClr val="1F2933"/>
                          </a:solidFill>
                          <a:latin typeface="Calibri"/>
                        </a:rPr>
                        <a:t>CR00000019</a:t>
                      </a:r>
                    </a:p>
                  </a:txBody>
                  <a:tcPr marL="73152" marR="73152" marT="36576" marB="36576" anchor="ctr">
                    <a:solidFill>
                      <a:srgbClr val="EEF3F8"/>
                    </a:solidFill>
                  </a:tcPr>
                </a:tc>
                <a:tc>
                  <a:txBody>
                    <a:bodyPr wrap="square"/>
                    <a:lstStyle/>
                    <a:p>
                      <a:r>
                        <a:rPr sz="1100" b="0" i="0">
                          <a:solidFill>
                            <a:srgbClr val="1F2933"/>
                          </a:solidFill>
                          <a:latin typeface="Calibri"/>
                        </a:rPr>
                        <a:t>Tage seit letztem Kontakt ≥ 10</a:t>
                      </a:r>
                    </a:p>
                  </a:txBody>
                  <a:tcPr marL="73152" marR="73152" marT="36576" marB="36576" anchor="ctr">
                    <a:solidFill>
                      <a:srgbClr val="EEF3F8"/>
                    </a:solidFill>
                  </a:tcPr>
                </a:tc>
                <a:tc>
                  <a:txBody>
                    <a:bodyPr wrap="square"/>
                    <a:lstStyle/>
                    <a:p>
                      <a:r>
                        <a:rPr sz="1100" b="0" i="0">
                          <a:solidFill>
                            <a:srgbClr val="1F2933"/>
                          </a:solidFill>
                          <a:latin typeface="Calibri"/>
                        </a:rPr>
                        <a:t>5</a:t>
                      </a:r>
                    </a:p>
                  </a:txBody>
                  <a:tcPr marL="73152" marR="73152" marT="36576" marB="36576" anchor="ctr">
                    <a:solidFill>
                      <a:srgbClr val="EEF3F8"/>
                    </a:solidFill>
                  </a:tcPr>
                </a:tc>
                <a:tc>
                  <a:txBody>
                    <a:bodyPr wrap="square"/>
                    <a:lstStyle/>
                    <a:p>
                      <a:r>
                        <a:rPr sz="1100" b="0" i="0">
                          <a:solidFill>
                            <a:srgbClr val="1F2933"/>
                          </a:solidFill>
                          <a:latin typeface="Calibri"/>
                        </a:rPr>
                        <a:t>Lange nicht kontaktiert</a:t>
                      </a:r>
                    </a:p>
                  </a:txBody>
                  <a:tcPr marL="73152" marR="73152" marT="36576" marB="36576" anchor="ctr">
                    <a:solidFill>
                      <a:srgbClr val="EEF3F8"/>
                    </a:solidFill>
                  </a:tcPr>
                </a:tc>
              </a:tr>
            </a:tbl>
          </a:graphicData>
        </a:graphic>
      </p:graphicFrame>
      <p:sp>
        <p:nvSpPr>
          <p:cNvPr id="10" name="Rounded Rectangle 9"/>
          <p:cNvSpPr/>
          <p:nvPr/>
        </p:nvSpPr>
        <p:spPr>
          <a:xfrm>
            <a:off x="4983480" y="4069080"/>
            <a:ext cx="6629400" cy="178308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166360" y="4160520"/>
            <a:ext cx="6309360" cy="1645920"/>
          </a:xfrm>
          <a:prstGeom prst="rect">
            <a:avLst/>
          </a:prstGeom>
          <a:noFill/>
        </p:spPr>
        <p:txBody>
          <a:bodyPr wrap="square" lIns="45720" rIns="45720">
            <a:spAutoFit/>
          </a:bodyPr>
          <a:lstStyle/>
          <a:p>
            <a:pPr marL="201168" indent="-201168">
              <a:spcAft>
                <a:spcPts val="400"/>
              </a:spcAft>
              <a:buChar char="•"/>
            </a:pPr>
            <a:r>
              <a:rPr sz="1200" b="1" i="0">
                <a:solidFill>
                  <a:srgbClr val="1F2933"/>
                </a:solidFill>
                <a:latin typeface="Calibri"/>
              </a:rPr>
              <a:t>Beispiel: </a:t>
            </a:r>
            <a:r>
              <a:rPr sz="1200" b="0" i="0">
                <a:solidFill>
                  <a:srgbClr val="1F2933"/>
                </a:solidFill>
                <a:latin typeface="Calibri"/>
              </a:rPr>
              <a:t>Kunde mit 8.000 EUR Gesamtrückstand, einem Posten über 6.000 EUR, letzter Kontakt vor 12 Tagen: 15 + 10 + 5 = 30 Punkte von maximal 40 → hohe Priorität.</a:t>
            </a:r>
          </a:p>
          <a:p>
            <a:pPr marL="201168" indent="-201168">
              <a:spcAft>
                <a:spcPts val="400"/>
              </a:spcAft>
              <a:buChar char="•"/>
            </a:pPr>
            <a:r>
              <a:rPr sz="1200" b="1" i="0">
                <a:solidFill>
                  <a:srgbClr val="1F2933"/>
                </a:solidFill>
                <a:latin typeface="Calibri"/>
              </a:rPr>
              <a:t>Zweiter Kunde: </a:t>
            </a:r>
            <a:r>
              <a:rPr sz="1200" b="0" i="0">
                <a:solidFill>
                  <a:srgbClr val="1F2933"/>
                </a:solidFill>
                <a:latin typeface="Calibri"/>
              </a:rPr>
              <a:t>1.200 EUR Rückstand, kein großer Posten, gestern kontaktiert: 0 Punkte → nicht auf der Worklist.</a:t>
            </a:r>
          </a:p>
          <a:p>
            <a:pPr marL="201168" indent="-201168">
              <a:spcAft>
                <a:spcPts val="400"/>
              </a:spcAft>
              <a:buChar char="•"/>
            </a:pPr>
            <a:r>
              <a:rPr sz="1200" b="1" i="0">
                <a:solidFill>
                  <a:srgbClr val="1F2933"/>
                </a:solidFill>
                <a:latin typeface="Calibri"/>
              </a:rPr>
              <a:t>Konsequenz: </a:t>
            </a:r>
            <a:r>
              <a:rPr sz="1200" b="0" i="0">
                <a:solidFill>
                  <a:srgbClr val="1F2933"/>
                </a:solidFill>
                <a:latin typeface="Calibri"/>
              </a:rPr>
              <a:t>Der Spezialist sieht morgens den ersten Kunden oben, den zweiten gar nicht.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D3  PRAXIS</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Praxis: Konfigurationsreihenfolge und Massenzuordnung</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D  Konfiguration der Collections-Strategie</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20</a:t>
            </a:r>
          </a:p>
        </p:txBody>
      </p:sp>
      <p:sp>
        <p:nvSpPr>
          <p:cNvPr id="6" name="Rounded Rectangle 5"/>
          <p:cNvSpPr/>
          <p:nvPr/>
        </p:nvSpPr>
        <p:spPr>
          <a:xfrm>
            <a:off x="548640" y="1554480"/>
            <a:ext cx="2072579" cy="54864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1 Strategie</a:t>
            </a:r>
          </a:p>
        </p:txBody>
      </p:sp>
      <p:sp>
        <p:nvSpPr>
          <p:cNvPr id="7" name="Rounded Rectangle 6"/>
          <p:cNvSpPr/>
          <p:nvPr/>
        </p:nvSpPr>
        <p:spPr>
          <a:xfrm>
            <a:off x="548640" y="2194560"/>
            <a:ext cx="2072579" cy="13716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8368" y="2267712"/>
            <a:ext cx="1853123" cy="1234440"/>
          </a:xfrm>
          <a:prstGeom prst="rect">
            <a:avLst/>
          </a:prstGeom>
          <a:noFill/>
        </p:spPr>
        <p:txBody>
          <a:bodyPr wrap="square" anchor="t" lIns="45720" rIns="45720">
            <a:spAutoFit/>
          </a:bodyPr>
          <a:lstStyle/>
          <a:p>
            <a:pPr algn="l"/>
            <a:r>
              <a:rPr sz="1100" b="0" i="0">
                <a:solidFill>
                  <a:srgbClr val="1F2933"/>
                </a:solidFill>
                <a:latin typeface="Calibri"/>
              </a:rPr>
              <a:t>Manage Collection Strategies (F2946): Regeln, Punkte, Aging, aktivieren</a:t>
            </a:r>
          </a:p>
        </p:txBody>
      </p:sp>
      <p:sp>
        <p:nvSpPr>
          <p:cNvPr id="9" name="Rounded Rectangle 8"/>
          <p:cNvSpPr/>
          <p:nvPr/>
        </p:nvSpPr>
        <p:spPr>
          <a:xfrm>
            <a:off x="2804099" y="1554480"/>
            <a:ext cx="2072579" cy="54864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2 Gruppe</a:t>
            </a:r>
          </a:p>
        </p:txBody>
      </p:sp>
      <p:sp>
        <p:nvSpPr>
          <p:cNvPr id="10" name="Rounded Rectangle 9"/>
          <p:cNvSpPr/>
          <p:nvPr/>
        </p:nvSpPr>
        <p:spPr>
          <a:xfrm>
            <a:off x="2804099" y="2194560"/>
            <a:ext cx="2072579" cy="13716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913827" y="2267712"/>
            <a:ext cx="1853123" cy="1234440"/>
          </a:xfrm>
          <a:prstGeom prst="rect">
            <a:avLst/>
          </a:prstGeom>
          <a:noFill/>
        </p:spPr>
        <p:txBody>
          <a:bodyPr wrap="square" anchor="t" lIns="45720" rIns="45720">
            <a:spAutoFit/>
          </a:bodyPr>
          <a:lstStyle/>
          <a:p>
            <a:pPr algn="l"/>
            <a:r>
              <a:rPr sz="1100" b="0" i="0">
                <a:solidFill>
                  <a:srgbClr val="1F2933"/>
                </a:solidFill>
                <a:latin typeface="Calibri"/>
              </a:rPr>
              <a:t>Manage Collection Groups (UDM_GROUP): Gruppe + Strategie, Spezialisten als Processor</a:t>
            </a:r>
          </a:p>
        </p:txBody>
      </p:sp>
      <p:sp>
        <p:nvSpPr>
          <p:cNvPr id="12" name="Rounded Rectangle 11"/>
          <p:cNvSpPr/>
          <p:nvPr/>
        </p:nvSpPr>
        <p:spPr>
          <a:xfrm>
            <a:off x="5059558" y="1554480"/>
            <a:ext cx="2072579" cy="54864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3 Segment</a:t>
            </a:r>
          </a:p>
        </p:txBody>
      </p:sp>
      <p:sp>
        <p:nvSpPr>
          <p:cNvPr id="13" name="Rounded Rectangle 12"/>
          <p:cNvSpPr/>
          <p:nvPr/>
        </p:nvSpPr>
        <p:spPr>
          <a:xfrm>
            <a:off x="5059558" y="2194560"/>
            <a:ext cx="2072579" cy="13716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69286" y="2267712"/>
            <a:ext cx="1853123" cy="1234440"/>
          </a:xfrm>
          <a:prstGeom prst="rect">
            <a:avLst/>
          </a:prstGeom>
          <a:noFill/>
        </p:spPr>
        <p:txBody>
          <a:bodyPr wrap="square" anchor="t" lIns="45720" rIns="45720">
            <a:spAutoFit/>
          </a:bodyPr>
          <a:lstStyle/>
          <a:p>
            <a:pPr algn="l"/>
            <a:r>
              <a:rPr sz="1100" b="0" i="0">
                <a:solidFill>
                  <a:srgbClr val="1F2933"/>
                </a:solidFill>
                <a:latin typeface="Calibri"/>
              </a:rPr>
              <a:t>Assign Collection Groups to Segments (UDM_GROUP2SGMT): Gruppe je Segment, Default-Gruppe</a:t>
            </a:r>
          </a:p>
        </p:txBody>
      </p:sp>
      <p:sp>
        <p:nvSpPr>
          <p:cNvPr id="15" name="Rounded Rectangle 14"/>
          <p:cNvSpPr/>
          <p:nvPr/>
        </p:nvSpPr>
        <p:spPr>
          <a:xfrm>
            <a:off x="7315017" y="1554480"/>
            <a:ext cx="2072579" cy="54864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4 Kunde</a:t>
            </a:r>
          </a:p>
        </p:txBody>
      </p:sp>
      <p:sp>
        <p:nvSpPr>
          <p:cNvPr id="16" name="Rounded Rectangle 15"/>
          <p:cNvSpPr/>
          <p:nvPr/>
        </p:nvSpPr>
        <p:spPr>
          <a:xfrm>
            <a:off x="7315017" y="2194560"/>
            <a:ext cx="2072579" cy="13716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24745" y="2267712"/>
            <a:ext cx="1853123" cy="1234440"/>
          </a:xfrm>
          <a:prstGeom prst="rect">
            <a:avLst/>
          </a:prstGeom>
          <a:noFill/>
        </p:spPr>
        <p:txBody>
          <a:bodyPr wrap="square" anchor="t" lIns="45720" rIns="45720">
            <a:spAutoFit/>
          </a:bodyPr>
          <a:lstStyle/>
          <a:p>
            <a:pPr algn="l"/>
            <a:r>
              <a:rPr sz="1100" b="0" i="0">
                <a:solidFill>
                  <a:srgbClr val="1F2933"/>
                </a:solidFill>
                <a:latin typeface="Calibri"/>
              </a:rPr>
              <a:t>Manage Collections Master Data (F5400): Profil, Gruppe, Spezialist</a:t>
            </a:r>
          </a:p>
        </p:txBody>
      </p:sp>
      <p:sp>
        <p:nvSpPr>
          <p:cNvPr id="18" name="Rounded Rectangle 17"/>
          <p:cNvSpPr/>
          <p:nvPr/>
        </p:nvSpPr>
        <p:spPr>
          <a:xfrm>
            <a:off x="9570476" y="1554480"/>
            <a:ext cx="2072579" cy="54864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i="0">
                <a:solidFill>
                  <a:srgbClr val="FFFFFF"/>
                </a:solidFill>
                <a:latin typeface="Calibri"/>
              </a:rPr>
              <a:t>5 Nachtlauf</a:t>
            </a:r>
          </a:p>
        </p:txBody>
      </p:sp>
      <p:sp>
        <p:nvSpPr>
          <p:cNvPr id="19" name="Rounded Rectangle 18"/>
          <p:cNvSpPr/>
          <p:nvPr/>
        </p:nvSpPr>
        <p:spPr>
          <a:xfrm>
            <a:off x="9570476" y="2194560"/>
            <a:ext cx="2072579" cy="13716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680204" y="2267712"/>
            <a:ext cx="1853123" cy="1234440"/>
          </a:xfrm>
          <a:prstGeom prst="rect">
            <a:avLst/>
          </a:prstGeom>
          <a:noFill/>
        </p:spPr>
        <p:txBody>
          <a:bodyPr wrap="square" anchor="t" lIns="45720" rIns="45720">
            <a:spAutoFit/>
          </a:bodyPr>
          <a:lstStyle/>
          <a:p>
            <a:pPr algn="l"/>
            <a:r>
              <a:rPr sz="1100" b="0" i="0">
                <a:solidFill>
                  <a:srgbClr val="1F2933"/>
                </a:solidFill>
                <a:latin typeface="Calibri"/>
              </a:rPr>
              <a:t>SAP-Jobs: FI-AR-Übernahme und Worklist; am nächsten Morgen prüfen</a:t>
            </a:r>
          </a:p>
        </p:txBody>
      </p:sp>
      <p:sp>
        <p:nvSpPr>
          <p:cNvPr id="21" name="Rounded Rectangle 20"/>
          <p:cNvSpPr/>
          <p:nvPr/>
        </p:nvSpPr>
        <p:spPr>
          <a:xfrm>
            <a:off x="548640" y="3794760"/>
            <a:ext cx="5410047" cy="20574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3931920"/>
            <a:ext cx="5135727" cy="365760"/>
          </a:xfrm>
          <a:prstGeom prst="rect">
            <a:avLst/>
          </a:prstGeom>
          <a:noFill/>
        </p:spPr>
        <p:txBody>
          <a:bodyPr wrap="square" anchor="ctr" lIns="45720" rIns="45720">
            <a:spAutoFit/>
          </a:bodyPr>
          <a:lstStyle/>
          <a:p>
            <a:pPr algn="l"/>
            <a:r>
              <a:rPr sz="1400" b="1" i="0">
                <a:solidFill>
                  <a:srgbClr val="1C4E80"/>
                </a:solidFill>
                <a:latin typeface="Calibri"/>
              </a:rPr>
              <a:t>Massenänderungen per Job (F3918)</a:t>
            </a:r>
          </a:p>
        </p:txBody>
      </p:sp>
      <p:sp>
        <p:nvSpPr>
          <p:cNvPr id="23" name="TextBox 22"/>
          <p:cNvSpPr txBox="1"/>
          <p:nvPr/>
        </p:nvSpPr>
        <p:spPr>
          <a:xfrm>
            <a:off x="685800" y="4315968"/>
            <a:ext cx="5135727" cy="1399032"/>
          </a:xfrm>
          <a:prstGeom prst="rect">
            <a:avLst/>
          </a:prstGeom>
          <a:noFill/>
        </p:spPr>
        <p:txBody>
          <a:bodyPr wrap="square" lIns="45720" rIns="45720">
            <a:spAutoFit/>
          </a:bodyPr>
          <a:lstStyle/>
          <a:p>
            <a:pPr marL="201168" indent="-201168">
              <a:spcAft>
                <a:spcPts val="300"/>
              </a:spcAft>
              <a:buChar char="•"/>
            </a:pPr>
            <a:r>
              <a:rPr sz="1100" b="1" i="0">
                <a:solidFill>
                  <a:srgbClr val="1F2933"/>
                </a:solidFill>
                <a:latin typeface="Calibri"/>
              </a:rPr>
              <a:t>Assignment of Collection Profiles: </a:t>
            </a:r>
            <a:r>
              <a:rPr sz="1100" b="0" i="0">
                <a:solidFill>
                  <a:srgbClr val="1F2933"/>
                </a:solidFill>
                <a:latin typeface="Calibri"/>
              </a:rPr>
              <a:t>neue Kunden ins Collections aufnehmen; Selektion nach Anlagedatum, Gruppierung, Risikoklasse</a:t>
            </a:r>
          </a:p>
          <a:p>
            <a:pPr marL="201168" indent="-201168">
              <a:spcAft>
                <a:spcPts val="300"/>
              </a:spcAft>
              <a:buChar char="•"/>
            </a:pPr>
            <a:r>
              <a:rPr sz="1100" b="1" i="0">
                <a:solidFill>
                  <a:srgbClr val="1F2933"/>
                </a:solidFill>
                <a:latin typeface="Calibri"/>
              </a:rPr>
              <a:t>Change Collection Segment Data: </a:t>
            </a:r>
            <a:r>
              <a:rPr sz="1100" b="0" i="0">
                <a:solidFill>
                  <a:srgbClr val="1F2933"/>
                </a:solidFill>
                <a:latin typeface="Calibri"/>
              </a:rPr>
              <a:t>Gruppe je Segment ändern, Spezialist erzwingen</a:t>
            </a:r>
          </a:p>
          <a:p>
            <a:pPr marL="201168" indent="-201168">
              <a:spcAft>
                <a:spcPts val="300"/>
              </a:spcAft>
              <a:buChar char="•"/>
            </a:pPr>
            <a:r>
              <a:rPr sz="1100" b="1" i="0">
                <a:solidFill>
                  <a:srgbClr val="1F2933"/>
                </a:solidFill>
                <a:latin typeface="Calibri"/>
              </a:rPr>
              <a:t>Replace Collection Specialists: </a:t>
            </a:r>
            <a:r>
              <a:rPr sz="1100" b="0" i="0">
                <a:solidFill>
                  <a:srgbClr val="1F2933"/>
                </a:solidFill>
                <a:latin typeface="Calibri"/>
              </a:rPr>
              <a:t>Mitarbeiterwechsel, Testlauf mit Protokoll</a:t>
            </a:r>
          </a:p>
          <a:p>
            <a:pPr marL="201168" indent="-201168">
              <a:spcAft>
                <a:spcPts val="300"/>
              </a:spcAft>
              <a:buChar char="•"/>
            </a:pPr>
            <a:r>
              <a:rPr sz="1100" b="1" i="0">
                <a:solidFill>
                  <a:srgbClr val="1F2933"/>
                </a:solidFill>
                <a:latin typeface="Calibri"/>
              </a:rPr>
              <a:t>Delete Transactional Data: </a:t>
            </a:r>
            <a:r>
              <a:rPr sz="1100" b="0" i="0">
                <a:solidFill>
                  <a:srgbClr val="1F2933"/>
                </a:solidFill>
                <a:latin typeface="Calibri"/>
              </a:rPr>
              <a:t>Bereinigung im Test</a:t>
            </a:r>
          </a:p>
        </p:txBody>
      </p:sp>
      <p:sp>
        <p:nvSpPr>
          <p:cNvPr id="24" name="Rounded Rectangle 23"/>
          <p:cNvSpPr/>
          <p:nvPr/>
        </p:nvSpPr>
        <p:spPr>
          <a:xfrm>
            <a:off x="6233007" y="3794760"/>
            <a:ext cx="5410047" cy="205740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70167" y="3931920"/>
            <a:ext cx="5135727" cy="365760"/>
          </a:xfrm>
          <a:prstGeom prst="rect">
            <a:avLst/>
          </a:prstGeom>
          <a:noFill/>
        </p:spPr>
        <p:txBody>
          <a:bodyPr wrap="square" anchor="ctr" lIns="45720" rIns="45720">
            <a:spAutoFit/>
          </a:bodyPr>
          <a:lstStyle/>
          <a:p>
            <a:pPr algn="l"/>
            <a:r>
              <a:rPr sz="1400" b="1" i="0">
                <a:solidFill>
                  <a:srgbClr val="1C4E80"/>
                </a:solidFill>
                <a:latin typeface="Calibri"/>
              </a:rPr>
              <a:t>Fit-to-Standard-Fragen zur Strategie</a:t>
            </a:r>
          </a:p>
        </p:txBody>
      </p:sp>
      <p:sp>
        <p:nvSpPr>
          <p:cNvPr id="26" name="TextBox 25"/>
          <p:cNvSpPr txBox="1"/>
          <p:nvPr/>
        </p:nvSpPr>
        <p:spPr>
          <a:xfrm>
            <a:off x="6370167" y="4315968"/>
            <a:ext cx="5135727" cy="1399032"/>
          </a:xfrm>
          <a:prstGeom prst="rect">
            <a:avLst/>
          </a:prstGeom>
          <a:noFill/>
        </p:spPr>
        <p:txBody>
          <a:bodyPr wrap="square" lIns="45720" rIns="45720">
            <a:spAutoFit/>
          </a:bodyPr>
          <a:lstStyle/>
          <a:p>
            <a:pPr marL="201168" indent="-201168">
              <a:spcAft>
                <a:spcPts val="300"/>
              </a:spcAft>
              <a:buChar char="•"/>
            </a:pPr>
            <a:r>
              <a:rPr sz="1100" b="0" i="0">
                <a:solidFill>
                  <a:srgbClr val="1F2933"/>
                </a:solidFill>
                <a:latin typeface="Calibri"/>
              </a:rPr>
              <a:t>Welche Kriterien bestimmen heute die Reihenfolge? Betrag, Alter, Kunde, Bauchgefühl?</a:t>
            </a:r>
          </a:p>
          <a:p>
            <a:pPr marL="201168" indent="-201168">
              <a:spcAft>
                <a:spcPts val="300"/>
              </a:spcAft>
              <a:buChar char="•"/>
            </a:pPr>
            <a:r>
              <a:rPr sz="1100" b="0" i="0">
                <a:solidFill>
                  <a:srgbClr val="1F2933"/>
                </a:solidFill>
                <a:latin typeface="Calibri"/>
              </a:rPr>
              <a:t>Wie viele Gruppen mit eigener Vorgehensweise gibt es?</a:t>
            </a:r>
          </a:p>
          <a:p>
            <a:pPr marL="201168" indent="-201168">
              <a:spcAft>
                <a:spcPts val="300"/>
              </a:spcAft>
              <a:buChar char="•"/>
            </a:pPr>
            <a:r>
              <a:rPr sz="1100" b="0" i="0">
                <a:solidFill>
                  <a:srgbClr val="1F2933"/>
                </a:solidFill>
                <a:latin typeface="Calibri"/>
              </a:rPr>
              <a:t>Soll vor Fälligkeit kontaktiert werden (Zahlungsbedingungen)?</a:t>
            </a:r>
          </a:p>
          <a:p>
            <a:pPr marL="201168" indent="-201168">
              <a:spcAft>
                <a:spcPts val="300"/>
              </a:spcAft>
              <a:buChar char="•"/>
            </a:pPr>
            <a:r>
              <a:rPr sz="1100" b="0" i="0">
                <a:solidFill>
                  <a:srgbClr val="1F2933"/>
                </a:solidFill>
                <a:latin typeface="Calibri"/>
              </a:rPr>
              <a:t>Risikoklasse aus Credit Management als Kriterium?</a:t>
            </a:r>
          </a:p>
          <a:p>
            <a:pPr marL="201168" indent="-201168">
              <a:spcAft>
                <a:spcPts val="300"/>
              </a:spcAft>
              <a:buChar char="•"/>
            </a:pPr>
            <a:r>
              <a:rPr sz="1100" b="0" i="0">
                <a:solidFill>
                  <a:srgbClr val="1F2933"/>
                </a:solidFill>
                <a:latin typeface="Calibri"/>
              </a:rPr>
              <a:t>Strategiewährung bei mehreren Buchungskreiswährungen?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D4  ALTERNATIVE</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Ausblick 7MA: Regelwerk und BRF+ statt Handarbeit</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D  Konfiguration der Collections-Strategie</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21</a:t>
            </a:r>
          </a:p>
        </p:txBody>
      </p:sp>
      <p:graphicFrame>
        <p:nvGraphicFramePr>
          <p:cNvPr id="6" name="Table 5"/>
          <p:cNvGraphicFramePr>
            <a:graphicFrameLocks noGrp="1"/>
          </p:cNvGraphicFramePr>
          <p:nvPr/>
        </p:nvGraphicFramePr>
        <p:xfrm>
          <a:off x="548640" y="1554480"/>
          <a:ext cx="11064240" cy="3785616"/>
        </p:xfrm>
        <a:graphic>
          <a:graphicData uri="http://schemas.openxmlformats.org/drawingml/2006/table">
            <a:tbl>
              <a:tblPr firstRow="0" bandRow="0">
                <a:tableStyleId>{5C22544A-7EE6-4342-B048-85BDC9FD1C3A}</a:tableStyleId>
              </a:tblPr>
              <a:tblGrid>
                <a:gridCol w="1554480"/>
                <a:gridCol w="4389120"/>
                <a:gridCol w="5120640"/>
              </a:tblGrid>
              <a:tr h="420624">
                <a:tc>
                  <a:txBody>
                    <a:bodyPr wrap="square"/>
                    <a:lstStyle/>
                    <a:p>
                      <a:r>
                        <a:rPr sz="1000" b="1" i="0">
                          <a:solidFill>
                            <a:srgbClr val="FFFFFF"/>
                          </a:solidFill>
                          <a:latin typeface="Calibri"/>
                        </a:rPr>
                        <a:t>Thema</a:t>
                      </a:r>
                    </a:p>
                  </a:txBody>
                  <a:tcPr marL="73152" marR="73152" marT="36576" marB="36576" anchor="ctr">
                    <a:solidFill>
                      <a:srgbClr val="1C4E80"/>
                    </a:solidFill>
                  </a:tcPr>
                </a:tc>
                <a:tc>
                  <a:txBody>
                    <a:bodyPr wrap="square"/>
                    <a:lstStyle/>
                    <a:p>
                      <a:r>
                        <a:rPr sz="1000" b="1" i="0">
                          <a:solidFill>
                            <a:srgbClr val="FFFFFF"/>
                          </a:solidFill>
                          <a:latin typeface="Calibri"/>
                        </a:rPr>
                        <a:t>BFC Collections and Dispute Management</a:t>
                      </a:r>
                    </a:p>
                  </a:txBody>
                  <a:tcPr marL="73152" marR="73152" marT="36576" marB="36576" anchor="ctr">
                    <a:solidFill>
                      <a:srgbClr val="1C4E80"/>
                    </a:solidFill>
                  </a:tcPr>
                </a:tc>
                <a:tc>
                  <a:txBody>
                    <a:bodyPr wrap="square"/>
                    <a:lstStyle/>
                    <a:p>
                      <a:r>
                        <a:rPr sz="1000" b="1" i="0">
                          <a:solidFill>
                            <a:srgbClr val="FFFFFF"/>
                          </a:solidFill>
                          <a:latin typeface="Calibri"/>
                        </a:rPr>
                        <a:t>7MA Collections and Dispute Automation</a:t>
                      </a:r>
                    </a:p>
                  </a:txBody>
                  <a:tcPr marL="73152" marR="73152" marT="36576" marB="36576" anchor="ctr">
                    <a:solidFill>
                      <a:srgbClr val="1C4E80"/>
                    </a:solidFill>
                  </a:tcPr>
                </a:tc>
              </a:tr>
              <a:tr h="420624">
                <a:tc>
                  <a:txBody>
                    <a:bodyPr wrap="square"/>
                    <a:lstStyle/>
                    <a:p>
                      <a:r>
                        <a:rPr sz="1000" b="1" i="0">
                          <a:solidFill>
                            <a:srgbClr val="1F2933"/>
                          </a:solidFill>
                          <a:latin typeface="Calibri"/>
                        </a:rPr>
                        <a:t>Priorisierung</a:t>
                      </a:r>
                    </a:p>
                  </a:txBody>
                  <a:tcPr marL="73152" marR="73152" marT="36576" marB="36576" anchor="ctr">
                    <a:solidFill>
                      <a:srgbClr val="FFFFFF"/>
                    </a:solidFill>
                  </a:tcPr>
                </a:tc>
                <a:tc>
                  <a:txBody>
                    <a:bodyPr wrap="square"/>
                    <a:lstStyle/>
                    <a:p>
                      <a:r>
                        <a:rPr sz="1000" b="0" i="0">
                          <a:solidFill>
                            <a:srgbClr val="1F2933"/>
                          </a:solidFill>
                          <a:latin typeface="Calibri"/>
                        </a:rPr>
                        <a:t>Collection Strategy (F2946)</a:t>
                      </a:r>
                    </a:p>
                  </a:txBody>
                  <a:tcPr marL="73152" marR="73152" marT="36576" marB="36576" anchor="ctr">
                    <a:solidFill>
                      <a:srgbClr val="FFFFFF"/>
                    </a:solidFill>
                  </a:tcPr>
                </a:tc>
                <a:tc>
                  <a:txBody>
                    <a:bodyPr wrap="square"/>
                    <a:lstStyle/>
                    <a:p>
                      <a:r>
                        <a:rPr sz="1000" b="0" i="0">
                          <a:solidFill>
                            <a:srgbClr val="1F2933"/>
                          </a:solidFill>
                          <a:latin typeface="Calibri"/>
                        </a:rPr>
                        <a:t>Account Prioritization Rule (F8833) mit Collections Rules und Basic Rules</a:t>
                      </a:r>
                    </a:p>
                  </a:txBody>
                  <a:tcPr marL="73152" marR="73152" marT="36576" marB="36576" anchor="ctr">
                    <a:solidFill>
                      <a:srgbClr val="FFFFFF"/>
                    </a:solidFill>
                  </a:tcPr>
                </a:tc>
              </a:tr>
              <a:tr h="420624">
                <a:tc>
                  <a:txBody>
                    <a:bodyPr wrap="square"/>
                    <a:lstStyle/>
                    <a:p>
                      <a:r>
                        <a:rPr sz="1000" b="1" i="0">
                          <a:solidFill>
                            <a:srgbClr val="1F2933"/>
                          </a:solidFill>
                          <a:latin typeface="Calibri"/>
                        </a:rPr>
                        <a:t>Organisation</a:t>
                      </a:r>
                    </a:p>
                  </a:txBody>
                  <a:tcPr marL="73152" marR="73152" marT="36576" marB="36576" anchor="ctr">
                    <a:solidFill>
                      <a:srgbClr val="EEF3F8"/>
                    </a:solidFill>
                  </a:tcPr>
                </a:tc>
                <a:tc>
                  <a:txBody>
                    <a:bodyPr wrap="square"/>
                    <a:lstStyle/>
                    <a:p>
                      <a:r>
                        <a:rPr sz="1000" b="0" i="0">
                          <a:solidFill>
                            <a:srgbClr val="1F2933"/>
                          </a:solidFill>
                          <a:latin typeface="Calibri"/>
                        </a:rPr>
                        <a:t>Segment, Profil, Gruppe, Spezialist</a:t>
                      </a:r>
                    </a:p>
                  </a:txBody>
                  <a:tcPr marL="73152" marR="73152" marT="36576" marB="36576" anchor="ctr">
                    <a:solidFill>
                      <a:srgbClr val="EEF3F8"/>
                    </a:solidFill>
                  </a:tcPr>
                </a:tc>
                <a:tc>
                  <a:txBody>
                    <a:bodyPr wrap="square"/>
                    <a:lstStyle/>
                    <a:p>
                      <a:r>
                        <a:rPr sz="1000" b="0" i="0">
                          <a:solidFill>
                            <a:srgbClr val="1F2933"/>
                          </a:solidFill>
                          <a:latin typeface="Calibri"/>
                        </a:rPr>
                        <a:t>Segment, Segment Group, Teams (F2412), Debt Collections Company Code</a:t>
                      </a:r>
                    </a:p>
                  </a:txBody>
                  <a:tcPr marL="73152" marR="73152" marT="36576" marB="36576" anchor="ctr">
                    <a:solidFill>
                      <a:srgbClr val="EEF3F8"/>
                    </a:solidFill>
                  </a:tcPr>
                </a:tc>
              </a:tr>
              <a:tr h="420624">
                <a:tc>
                  <a:txBody>
                    <a:bodyPr wrap="square"/>
                    <a:lstStyle/>
                    <a:p>
                      <a:r>
                        <a:rPr sz="1000" b="1" i="0">
                          <a:solidFill>
                            <a:srgbClr val="1F2933"/>
                          </a:solidFill>
                          <a:latin typeface="Calibri"/>
                        </a:rPr>
                        <a:t>Kundenstamm</a:t>
                      </a:r>
                    </a:p>
                  </a:txBody>
                  <a:tcPr marL="73152" marR="73152" marT="36576" marB="36576" anchor="ctr">
                    <a:solidFill>
                      <a:srgbClr val="FFFFFF"/>
                    </a:solidFill>
                  </a:tcPr>
                </a:tc>
                <a:tc>
                  <a:txBody>
                    <a:bodyPr wrap="square"/>
                    <a:lstStyle/>
                    <a:p>
                      <a:r>
                        <a:rPr sz="1000" b="0" i="0">
                          <a:solidFill>
                            <a:srgbClr val="1F2933"/>
                          </a:solidFill>
                          <a:latin typeface="Calibri"/>
                        </a:rPr>
                        <a:t>Manage Collections Master Data (F5400)</a:t>
                      </a:r>
                    </a:p>
                  </a:txBody>
                  <a:tcPr marL="73152" marR="73152" marT="36576" marB="36576" anchor="ctr">
                    <a:solidFill>
                      <a:srgbClr val="FFFFFF"/>
                    </a:solidFill>
                  </a:tcPr>
                </a:tc>
                <a:tc>
                  <a:txBody>
                    <a:bodyPr wrap="square"/>
                    <a:lstStyle/>
                    <a:p>
                      <a:r>
                        <a:rPr sz="1000" b="0" i="0">
                          <a:solidFill>
                            <a:srgbClr val="1F2933"/>
                          </a:solidFill>
                          <a:latin typeface="Calibri"/>
                        </a:rPr>
                        <a:t>Manage Master Data in C&amp;D Automation (F8606): Kategorie, Account Classification</a:t>
                      </a:r>
                    </a:p>
                  </a:txBody>
                  <a:tcPr marL="73152" marR="73152" marT="36576" marB="36576" anchor="ctr">
                    <a:solidFill>
                      <a:srgbClr val="FFFFFF"/>
                    </a:solidFill>
                  </a:tcPr>
                </a:tc>
              </a:tr>
              <a:tr h="420624">
                <a:tc>
                  <a:txBody>
                    <a:bodyPr wrap="square"/>
                    <a:lstStyle/>
                    <a:p>
                      <a:r>
                        <a:rPr sz="1000" b="1" i="0">
                          <a:solidFill>
                            <a:srgbClr val="1F2933"/>
                          </a:solidFill>
                          <a:latin typeface="Calibri"/>
                        </a:rPr>
                        <a:t>Automatisierung</a:t>
                      </a:r>
                    </a:p>
                  </a:txBody>
                  <a:tcPr marL="73152" marR="73152" marT="36576" marB="36576" anchor="ctr">
                    <a:solidFill>
                      <a:srgbClr val="EEF3F8"/>
                    </a:solidFill>
                  </a:tcPr>
                </a:tc>
                <a:tc>
                  <a:txBody>
                    <a:bodyPr wrap="square"/>
                    <a:lstStyle/>
                    <a:p>
                      <a:r>
                        <a:rPr sz="1000" b="0" i="0">
                          <a:solidFill>
                            <a:srgbClr val="1F2933"/>
                          </a:solidFill>
                          <a:latin typeface="Calibri"/>
                        </a:rPr>
                        <a:t>Jobs: Dispute-Anlage, Write-Off, Massenänderungen</a:t>
                      </a:r>
                    </a:p>
                  </a:txBody>
                  <a:tcPr marL="73152" marR="73152" marT="36576" marB="36576" anchor="ctr">
                    <a:solidFill>
                      <a:srgbClr val="EEF3F8"/>
                    </a:solidFill>
                  </a:tcPr>
                </a:tc>
                <a:tc>
                  <a:txBody>
                    <a:bodyPr wrap="square"/>
                    <a:lstStyle/>
                    <a:p>
                      <a:r>
                        <a:rPr sz="1000" b="0" i="0">
                          <a:solidFill>
                            <a:srgbClr val="1F2933"/>
                          </a:solidFill>
                          <a:latin typeface="Calibri"/>
                        </a:rPr>
                        <a:t>BRF+-Entscheidungstabellen: Dispute-Anlage mit Grund, Team-Zuordnung, Sperren, Eskalation</a:t>
                      </a:r>
                    </a:p>
                  </a:txBody>
                  <a:tcPr marL="73152" marR="73152" marT="36576" marB="36576" anchor="ctr">
                    <a:solidFill>
                      <a:srgbClr val="EEF3F8"/>
                    </a:solidFill>
                  </a:tcPr>
                </a:tc>
              </a:tr>
              <a:tr h="420624">
                <a:tc>
                  <a:txBody>
                    <a:bodyPr wrap="square"/>
                    <a:lstStyle/>
                    <a:p>
                      <a:r>
                        <a:rPr sz="1000" b="1" i="0">
                          <a:solidFill>
                            <a:srgbClr val="1F2933"/>
                          </a:solidFill>
                          <a:latin typeface="Calibri"/>
                        </a:rPr>
                        <a:t>Worklist / Kontakt</a:t>
                      </a:r>
                    </a:p>
                  </a:txBody>
                  <a:tcPr marL="73152" marR="73152" marT="36576" marB="36576" anchor="ctr">
                    <a:solidFill>
                      <a:srgbClr val="FFFFFF"/>
                    </a:solidFill>
                  </a:tcPr>
                </a:tc>
                <a:tc>
                  <a:txBody>
                    <a:bodyPr wrap="square"/>
                    <a:lstStyle/>
                    <a:p>
                      <a:r>
                        <a:rPr sz="1000" b="0" i="0">
                          <a:solidFill>
                            <a:srgbClr val="1F2933"/>
                          </a:solidFill>
                          <a:latin typeface="Calibri"/>
                        </a:rPr>
                        <a:t>F0380 → F0106A; Promise, Resubmission, Contact</a:t>
                      </a:r>
                    </a:p>
                  </a:txBody>
                  <a:tcPr marL="73152" marR="73152" marT="36576" marB="36576" anchor="ctr">
                    <a:solidFill>
                      <a:srgbClr val="FFFFFF"/>
                    </a:solidFill>
                  </a:tcPr>
                </a:tc>
                <a:tc>
                  <a:txBody>
                    <a:bodyPr wrap="square"/>
                    <a:lstStyle/>
                    <a:p>
                      <a:r>
                        <a:rPr sz="1000" b="0" i="0">
                          <a:solidFill>
                            <a:srgbClr val="1F2933"/>
                          </a:solidFill>
                          <a:latin typeface="Calibri"/>
                        </a:rPr>
                        <a:t>F8832 → F8607; Promise, Task, Dispute, Activity</a:t>
                      </a:r>
                    </a:p>
                  </a:txBody>
                  <a:tcPr marL="73152" marR="73152" marT="36576" marB="36576" anchor="ctr">
                    <a:solidFill>
                      <a:srgbClr val="FFFFFF"/>
                    </a:solidFill>
                  </a:tcPr>
                </a:tc>
              </a:tr>
              <a:tr h="420624">
                <a:tc>
                  <a:txBody>
                    <a:bodyPr wrap="square"/>
                    <a:lstStyle/>
                    <a:p>
                      <a:r>
                        <a:rPr sz="1000" b="1" i="0">
                          <a:solidFill>
                            <a:srgbClr val="1F2933"/>
                          </a:solidFill>
                          <a:latin typeface="Calibri"/>
                        </a:rPr>
                        <a:t>Dispute</a:t>
                      </a:r>
                    </a:p>
                  </a:txBody>
                  <a:tcPr marL="73152" marR="73152" marT="36576" marB="36576" anchor="ctr">
                    <a:solidFill>
                      <a:srgbClr val="EEF3F8"/>
                    </a:solidFill>
                  </a:tcPr>
                </a:tc>
                <a:tc>
                  <a:txBody>
                    <a:bodyPr wrap="square"/>
                    <a:lstStyle/>
                    <a:p>
                      <a:r>
                        <a:rPr sz="1000" b="0" i="0">
                          <a:solidFill>
                            <a:srgbClr val="1F2933"/>
                          </a:solidFill>
                          <a:latin typeface="Calibri"/>
                        </a:rPr>
                        <a:t>Case mit Status, Koordinator / Bearbeiter (F0702A)</a:t>
                      </a:r>
                    </a:p>
                  </a:txBody>
                  <a:tcPr marL="73152" marR="73152" marT="36576" marB="36576" anchor="ctr">
                    <a:solidFill>
                      <a:srgbClr val="EEF3F8"/>
                    </a:solidFill>
                  </a:tcPr>
                </a:tc>
                <a:tc>
                  <a:txBody>
                    <a:bodyPr wrap="square"/>
                    <a:lstStyle/>
                    <a:p>
                      <a:r>
                        <a:rPr sz="1000" b="0" i="0">
                          <a:solidFill>
                            <a:srgbClr val="1F2933"/>
                          </a:solidFill>
                          <a:latin typeface="Calibri"/>
                        </a:rPr>
                        <a:t>Manage Disputes (F7876): Classify → Evaluate → Decide → Finalize je Receivable Item</a:t>
                      </a:r>
                    </a:p>
                  </a:txBody>
                  <a:tcPr marL="73152" marR="73152" marT="36576" marB="36576" anchor="ctr">
                    <a:solidFill>
                      <a:srgbClr val="EEF3F8"/>
                    </a:solidFill>
                  </a:tcPr>
                </a:tc>
              </a:tr>
              <a:tr h="420624">
                <a:tc>
                  <a:txBody>
                    <a:bodyPr wrap="square"/>
                    <a:lstStyle/>
                    <a:p>
                      <a:r>
                        <a:rPr sz="1000" b="1" i="0">
                          <a:solidFill>
                            <a:srgbClr val="1F2933"/>
                          </a:solidFill>
                          <a:latin typeface="Calibri"/>
                        </a:rPr>
                        <a:t>Jobs</a:t>
                      </a:r>
                    </a:p>
                  </a:txBody>
                  <a:tcPr marL="73152" marR="73152" marT="36576" marB="36576" anchor="ctr">
                    <a:solidFill>
                      <a:srgbClr val="FFFFFF"/>
                    </a:solidFill>
                  </a:tcPr>
                </a:tc>
                <a:tc>
                  <a:txBody>
                    <a:bodyPr wrap="square"/>
                    <a:lstStyle/>
                    <a:p>
                      <a:r>
                        <a:rPr sz="1000" b="0" i="0">
                          <a:solidFill>
                            <a:srgbClr val="1F2933"/>
                          </a:solidFill>
                          <a:latin typeface="Calibri"/>
                        </a:rPr>
                        <a:t>von SAP betrieben</a:t>
                      </a:r>
                    </a:p>
                  </a:txBody>
                  <a:tcPr marL="73152" marR="73152" marT="36576" marB="36576" anchor="ctr">
                    <a:solidFill>
                      <a:srgbClr val="FFFFFF"/>
                    </a:solidFill>
                  </a:tcPr>
                </a:tc>
                <a:tc>
                  <a:txBody>
                    <a:bodyPr wrap="square"/>
                    <a:lstStyle/>
                    <a:p>
                      <a:r>
                        <a:rPr sz="1000" b="0" i="0">
                          <a:solidFill>
                            <a:srgbClr val="1F2933"/>
                          </a:solidFill>
                          <a:latin typeface="Calibri"/>
                        </a:rPr>
                        <a:t>vom Kunden geplant: Create Worklist (F8376), Escalate Disputes (F8713)</a:t>
                      </a:r>
                    </a:p>
                  </a:txBody>
                  <a:tcPr marL="73152" marR="73152" marT="36576" marB="36576" anchor="ctr">
                    <a:solidFill>
                      <a:srgbClr val="FFFFFF"/>
                    </a:solidFill>
                  </a:tcPr>
                </a:tc>
              </a:tr>
              <a:tr h="420624">
                <a:tc>
                  <a:txBody>
                    <a:bodyPr wrap="square"/>
                    <a:lstStyle/>
                    <a:p>
                      <a:r>
                        <a:rPr sz="1000" b="1" i="0">
                          <a:solidFill>
                            <a:srgbClr val="1F2933"/>
                          </a:solidFill>
                          <a:latin typeface="Calibri"/>
                        </a:rPr>
                        <a:t>Migration</a:t>
                      </a:r>
                    </a:p>
                  </a:txBody>
                  <a:tcPr marL="73152" marR="73152" marT="36576" marB="36576" anchor="ctr">
                    <a:solidFill>
                      <a:srgbClr val="EEF3F8"/>
                    </a:solidFill>
                  </a:tcPr>
                </a:tc>
                <a:tc>
                  <a:txBody>
                    <a:bodyPr wrap="square"/>
                    <a:lstStyle/>
                    <a:p>
                      <a:r>
                        <a:rPr sz="1000" b="0" i="0">
                          <a:solidFill>
                            <a:srgbClr val="1F2933"/>
                          </a:solidFill>
                          <a:latin typeface="Calibri"/>
                        </a:rPr>
                        <a:t>–</a:t>
                      </a:r>
                    </a:p>
                  </a:txBody>
                  <a:tcPr marL="73152" marR="73152" marT="36576" marB="36576" anchor="ctr">
                    <a:solidFill>
                      <a:srgbClr val="EEF3F8"/>
                    </a:solidFill>
                  </a:tcPr>
                </a:tc>
                <a:tc>
                  <a:txBody>
                    <a:bodyPr wrap="square"/>
                    <a:lstStyle/>
                    <a:p>
                      <a:r>
                        <a:rPr sz="1000" b="0" i="0">
                          <a:solidFill>
                            <a:srgbClr val="1F2933"/>
                          </a:solidFill>
                          <a:latin typeface="Calibri"/>
                        </a:rPr>
                        <a:t>Migrationsjobs für Stammdaten, Disputes, Promises, Tasks, Activities</a:t>
                      </a:r>
                    </a:p>
                  </a:txBody>
                  <a:tcPr marL="73152" marR="73152" marT="36576" marB="36576" anchor="ctr">
                    <a:solidFill>
                      <a:srgbClr val="EEF3F8"/>
                    </a:solidFill>
                  </a:tcPr>
                </a:tc>
              </a:tr>
            </a:tbl>
          </a:graphicData>
        </a:graphic>
      </p:graphicFrame>
      <p:sp>
        <p:nvSpPr>
          <p:cNvPr id="7" name="TextBox 6"/>
          <p:cNvSpPr txBox="1"/>
          <p:nvPr/>
        </p:nvSpPr>
        <p:spPr>
          <a:xfrm>
            <a:off x="548640" y="5486400"/>
            <a:ext cx="11094415" cy="457200"/>
          </a:xfrm>
          <a:prstGeom prst="rect">
            <a:avLst/>
          </a:prstGeom>
          <a:noFill/>
        </p:spPr>
        <p:txBody>
          <a:bodyPr wrap="square" anchor="t" lIns="45720" rIns="45720">
            <a:spAutoFit/>
          </a:bodyPr>
          <a:lstStyle/>
          <a:p>
            <a:pPr algn="l"/>
            <a:r>
              <a:rPr sz="1200" b="1" i="0">
                <a:solidFill>
                  <a:srgbClr val="0F8B8D"/>
                </a:solidFill>
                <a:latin typeface="Calibri"/>
              </a:rPr>
              <a:t>Empfehlung: BFC als Standard, 7MA als dokumentierter Entscheidungspunkt, falls Volumen und Regelpflege-Kompetenz es rechtfertigen.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E1  BILANZIELLE FOLGE</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Wertberichtigung und Ausbuchung (2PD)</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E  Abschluss</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22</a:t>
            </a:r>
          </a:p>
        </p:txBody>
      </p:sp>
      <p:sp>
        <p:nvSpPr>
          <p:cNvPr id="6" name="Rounded Rectangle 5"/>
          <p:cNvSpPr/>
          <p:nvPr/>
        </p:nvSpPr>
        <p:spPr>
          <a:xfrm>
            <a:off x="548640" y="1554480"/>
            <a:ext cx="2650159" cy="86868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Wertberichtigungsschlüssel</a:t>
            </a:r>
          </a:p>
          <a:p>
            <a:pPr algn="ctr"/>
            <a:r>
              <a:rPr sz="900" b="0" i="0">
                <a:solidFill>
                  <a:srgbClr val="FFFFFF"/>
                </a:solidFill>
                <a:latin typeface="Calibri"/>
              </a:rPr>
              <a:t>im Kundenstamm, z. B. R1</a:t>
            </a:r>
          </a:p>
        </p:txBody>
      </p:sp>
      <p:sp>
        <p:nvSpPr>
          <p:cNvPr id="7" name="Right Arrow 6"/>
          <p:cNvSpPr/>
          <p:nvPr/>
        </p:nvSpPr>
        <p:spPr>
          <a:xfrm>
            <a:off x="3217087" y="189738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63391" y="1554480"/>
            <a:ext cx="2650159" cy="86868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Bewertungslauf</a:t>
            </a:r>
          </a:p>
          <a:p>
            <a:pPr algn="ctr"/>
            <a:r>
              <a:rPr sz="900" b="0" i="0">
                <a:solidFill>
                  <a:srgbClr val="FFFFFF"/>
                </a:solidFill>
                <a:latin typeface="Calibri"/>
              </a:rPr>
              <a:t>Perform Further Valuations (F107)</a:t>
            </a:r>
          </a:p>
        </p:txBody>
      </p:sp>
      <p:sp>
        <p:nvSpPr>
          <p:cNvPr id="9" name="Right Arrow 8"/>
          <p:cNvSpPr/>
          <p:nvPr/>
        </p:nvSpPr>
        <p:spPr>
          <a:xfrm>
            <a:off x="6031838" y="189738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178142" y="1554480"/>
            <a:ext cx="2650159" cy="86868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Analyse</a:t>
            </a:r>
          </a:p>
          <a:p>
            <a:pPr algn="ctr"/>
            <a:r>
              <a:rPr sz="900" b="0" i="0">
                <a:solidFill>
                  <a:srgbClr val="FFFFFF"/>
                </a:solidFill>
                <a:latin typeface="Calibri"/>
              </a:rPr>
              <a:t>Doubtful Accounts Valuation (F3246)</a:t>
            </a:r>
          </a:p>
        </p:txBody>
      </p:sp>
      <p:sp>
        <p:nvSpPr>
          <p:cNvPr id="11" name="Right Arrow 10"/>
          <p:cNvSpPr/>
          <p:nvPr/>
        </p:nvSpPr>
        <p:spPr>
          <a:xfrm>
            <a:off x="8846589" y="189738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992893" y="1554480"/>
            <a:ext cx="2650159" cy="86868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i="0">
                <a:solidFill>
                  <a:srgbClr val="FFFFFF"/>
                </a:solidFill>
                <a:latin typeface="Calibri"/>
              </a:rPr>
              <a:t>Ausbuchung</a:t>
            </a:r>
          </a:p>
          <a:p>
            <a:pPr algn="ctr"/>
            <a:r>
              <a:rPr sz="900" b="0" i="0">
                <a:solidFill>
                  <a:srgbClr val="FFFFFF"/>
                </a:solidFill>
                <a:latin typeface="Calibri"/>
              </a:rPr>
              <a:t>Clear Incoming Payments – Manual Clearing (F0773)</a:t>
            </a:r>
          </a:p>
        </p:txBody>
      </p:sp>
      <p:sp>
        <p:nvSpPr>
          <p:cNvPr id="13" name="Rounded Rectangle 12"/>
          <p:cNvSpPr/>
          <p:nvPr/>
        </p:nvSpPr>
        <p:spPr>
          <a:xfrm>
            <a:off x="548640" y="2697480"/>
            <a:ext cx="3515258" cy="265176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2834640"/>
            <a:ext cx="3240938" cy="365760"/>
          </a:xfrm>
          <a:prstGeom prst="rect">
            <a:avLst/>
          </a:prstGeom>
          <a:noFill/>
        </p:spPr>
        <p:txBody>
          <a:bodyPr wrap="square" anchor="ctr" lIns="45720" rIns="45720">
            <a:spAutoFit/>
          </a:bodyPr>
          <a:lstStyle/>
          <a:p>
            <a:pPr algn="l"/>
            <a:r>
              <a:rPr sz="1400" b="1" i="0">
                <a:solidFill>
                  <a:srgbClr val="1C4E80"/>
                </a:solidFill>
                <a:latin typeface="Calibri"/>
              </a:rPr>
              <a:t>Warum</a:t>
            </a:r>
          </a:p>
        </p:txBody>
      </p:sp>
      <p:sp>
        <p:nvSpPr>
          <p:cNvPr id="15" name="TextBox 14"/>
          <p:cNvSpPr txBox="1"/>
          <p:nvPr/>
        </p:nvSpPr>
        <p:spPr>
          <a:xfrm>
            <a:off x="685800" y="3218688"/>
            <a:ext cx="3240938" cy="199339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Nicht jede Forderung wird bezahlt; das Risiko muss vor dem Ausfall in der Bilanz stehen</a:t>
            </a:r>
          </a:p>
          <a:p>
            <a:pPr marL="201168" indent="-201168">
              <a:spcAft>
                <a:spcPts val="300"/>
              </a:spcAft>
              <a:buChar char="•"/>
            </a:pPr>
            <a:r>
              <a:rPr sz="1200" b="0" i="0">
                <a:solidFill>
                  <a:srgbClr val="1F2933"/>
                </a:solidFill>
                <a:latin typeface="Calibri"/>
              </a:rPr>
              <a:t>IFRS 9: Expected Credit Loss je Überfälligkeitsklasse (Provision Matrix)</a:t>
            </a:r>
          </a:p>
          <a:p>
            <a:pPr marL="201168" indent="-201168">
              <a:spcAft>
                <a:spcPts val="300"/>
              </a:spcAft>
              <a:buChar char="•"/>
            </a:pPr>
            <a:r>
              <a:rPr sz="1200" b="0" i="0">
                <a:solidFill>
                  <a:srgbClr val="1F2933"/>
                </a:solidFill>
                <a:latin typeface="Calibri"/>
              </a:rPr>
              <a:t>HGB: Pauschal- und Einzelwertberichtigung</a:t>
            </a:r>
          </a:p>
        </p:txBody>
      </p:sp>
      <p:sp>
        <p:nvSpPr>
          <p:cNvPr id="16" name="Rounded Rectangle 15"/>
          <p:cNvSpPr/>
          <p:nvPr/>
        </p:nvSpPr>
        <p:spPr>
          <a:xfrm>
            <a:off x="4338218" y="2697480"/>
            <a:ext cx="3515258" cy="265176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75378" y="2834640"/>
            <a:ext cx="3240938" cy="365760"/>
          </a:xfrm>
          <a:prstGeom prst="rect">
            <a:avLst/>
          </a:prstGeom>
          <a:noFill/>
        </p:spPr>
        <p:txBody>
          <a:bodyPr wrap="square" anchor="ctr" lIns="45720" rIns="45720">
            <a:spAutoFit/>
          </a:bodyPr>
          <a:lstStyle/>
          <a:p>
            <a:pPr algn="l"/>
            <a:r>
              <a:rPr sz="1400" b="1" i="0">
                <a:solidFill>
                  <a:srgbClr val="1C4E80"/>
                </a:solidFill>
                <a:latin typeface="Calibri"/>
              </a:rPr>
              <a:t>Ablauf zum Abschluss</a:t>
            </a:r>
          </a:p>
        </p:txBody>
      </p:sp>
      <p:sp>
        <p:nvSpPr>
          <p:cNvPr id="18" name="TextBox 17"/>
          <p:cNvSpPr txBox="1"/>
          <p:nvPr/>
        </p:nvSpPr>
        <p:spPr>
          <a:xfrm>
            <a:off x="4475378" y="3218688"/>
            <a:ext cx="3240938" cy="199339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Bewertungslauf wendet Sätze auf offene Posten an, bucht Aufwand zum Stichtag, Storno am Folgetag</a:t>
            </a:r>
          </a:p>
          <a:p>
            <a:pPr marL="201168" indent="-201168">
              <a:spcAft>
                <a:spcPts val="300"/>
              </a:spcAft>
              <a:buChar char="•"/>
            </a:pPr>
            <a:r>
              <a:rPr sz="1200" b="0" i="0">
                <a:solidFill>
                  <a:srgbClr val="1F2933"/>
                </a:solidFill>
                <a:latin typeface="Calibri"/>
              </a:rPr>
              <a:t>Analyse nach Kunde, Land, Risikoklasse, Mahnsperre</a:t>
            </a:r>
          </a:p>
          <a:p>
            <a:pPr marL="201168" indent="-201168">
              <a:spcAft>
                <a:spcPts val="300"/>
              </a:spcAft>
              <a:buChar char="•"/>
            </a:pPr>
            <a:r>
              <a:rPr sz="1200" b="0" i="0">
                <a:solidFill>
                  <a:srgbClr val="1F2933"/>
                </a:solidFill>
                <a:latin typeface="Calibri"/>
              </a:rPr>
              <a:t>Uneinbringlich: Ausbuchung als Aufwand, Buchungsschlüssel 17, Recht auf Einzug bleibt</a:t>
            </a:r>
          </a:p>
        </p:txBody>
      </p:sp>
      <p:sp>
        <p:nvSpPr>
          <p:cNvPr id="19" name="Rounded Rectangle 18"/>
          <p:cNvSpPr/>
          <p:nvPr/>
        </p:nvSpPr>
        <p:spPr>
          <a:xfrm>
            <a:off x="8127796" y="2697480"/>
            <a:ext cx="3515258" cy="265176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64956" y="2834640"/>
            <a:ext cx="3240938" cy="365760"/>
          </a:xfrm>
          <a:prstGeom prst="rect">
            <a:avLst/>
          </a:prstGeom>
          <a:noFill/>
        </p:spPr>
        <p:txBody>
          <a:bodyPr wrap="square" anchor="ctr" lIns="45720" rIns="45720">
            <a:spAutoFit/>
          </a:bodyPr>
          <a:lstStyle/>
          <a:p>
            <a:pPr algn="l"/>
            <a:r>
              <a:rPr sz="1400" b="1" i="0">
                <a:solidFill>
                  <a:srgbClr val="1C4E80"/>
                </a:solidFill>
                <a:latin typeface="Calibri"/>
              </a:rPr>
              <a:t>Verbindung zu Collections</a:t>
            </a:r>
          </a:p>
        </p:txBody>
      </p:sp>
      <p:sp>
        <p:nvSpPr>
          <p:cNvPr id="21" name="TextBox 20"/>
          <p:cNvSpPr txBox="1"/>
          <p:nvPr/>
        </p:nvSpPr>
        <p:spPr>
          <a:xfrm>
            <a:off x="8264956" y="3218688"/>
            <a:ext cx="3240938" cy="199339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Je besser Collections und Dispute arbeiten, desto kleiner die alten Altersklassen</a:t>
            </a:r>
          </a:p>
          <a:p>
            <a:pPr marL="201168" indent="-201168">
              <a:spcAft>
                <a:spcPts val="300"/>
              </a:spcAft>
              <a:buChar char="•"/>
            </a:pPr>
            <a:r>
              <a:rPr sz="1200" b="0" i="0">
                <a:solidFill>
                  <a:srgbClr val="1F2933"/>
                </a:solidFill>
                <a:latin typeface="Calibri"/>
              </a:rPr>
              <a:t>Wertberichtigung als Messlatte für das Forderungsmanagement</a:t>
            </a:r>
          </a:p>
          <a:p>
            <a:pPr marL="201168" indent="-201168">
              <a:spcAft>
                <a:spcPts val="300"/>
              </a:spcAft>
              <a:buChar char="•"/>
            </a:pPr>
            <a:r>
              <a:rPr sz="1200" b="0" i="0">
                <a:solidFill>
                  <a:srgbClr val="1F2933"/>
                </a:solidFill>
                <a:latin typeface="Calibri"/>
              </a:rPr>
              <a:t>Einschränkung: nicht mit Advanced Foreign Currency Valuation; Stichtag wie Fremdwährungsbewertung (J58)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45720" rIns="45720">
            <a:spAutoFit/>
          </a:bodyPr>
          <a:lstStyle/>
          <a:p>
            <a:pPr algn="l"/>
            <a:r>
              <a:rPr sz="1100" b="1" i="0">
                <a:solidFill>
                  <a:srgbClr val="0F8B8D"/>
                </a:solidFill>
                <a:latin typeface="Calibri"/>
              </a:rPr>
              <a:t>E2  FIT-TO-STANDARD</a:t>
            </a:r>
          </a:p>
        </p:txBody>
      </p:sp>
      <p:sp>
        <p:nvSpPr>
          <p:cNvPr id="3" name="TextBox 2"/>
          <p:cNvSpPr txBox="1"/>
          <p:nvPr/>
        </p:nvSpPr>
        <p:spPr>
          <a:xfrm>
            <a:off x="548640" y="548640"/>
            <a:ext cx="11094415" cy="868680"/>
          </a:xfrm>
          <a:prstGeom prst="rect">
            <a:avLst/>
          </a:prstGeom>
          <a:noFill/>
        </p:spPr>
        <p:txBody>
          <a:bodyPr wrap="square" anchor="ctr" lIns="45720" rIns="45720">
            <a:spAutoFit/>
          </a:bodyPr>
          <a:lstStyle/>
          <a:p>
            <a:pPr algn="l"/>
            <a:r>
              <a:rPr sz="2800" b="1" i="0">
                <a:solidFill>
                  <a:srgbClr val="1C4E80"/>
                </a:solidFill>
                <a:latin typeface="Calibri"/>
              </a:rPr>
              <a:t>Entscheidungsbedarf aus dem Workshop</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r>
              <a:rPr sz="900" b="0" i="0">
                <a:solidFill>
                  <a:srgbClr val="5F6B7A"/>
                </a:solidFill>
                <a:latin typeface="Calibri"/>
              </a:rPr>
              <a:t>F2S-Workshop 4  |  Collections &amp; Dispute Management  |  E  Abschluss</a:t>
            </a:r>
          </a:p>
        </p:txBody>
      </p:sp>
      <p:sp>
        <p:nvSpPr>
          <p:cNvPr id="5" name="TextBox 4"/>
          <p:cNvSpPr txBox="1"/>
          <p:nvPr/>
        </p:nvSpPr>
        <p:spPr>
          <a:xfrm>
            <a:off x="10728655" y="6446520"/>
            <a:ext cx="914400" cy="274320"/>
          </a:xfrm>
          <a:prstGeom prst="rect">
            <a:avLst/>
          </a:prstGeom>
          <a:noFill/>
        </p:spPr>
        <p:txBody>
          <a:bodyPr wrap="square" anchor="t" lIns="45720" rIns="45720">
            <a:spAutoFit/>
          </a:bodyPr>
          <a:lstStyle/>
          <a:p>
            <a:pPr algn="r"/>
            <a:r>
              <a:rPr sz="900" b="0" i="0">
                <a:solidFill>
                  <a:srgbClr val="5F6B7A"/>
                </a:solidFill>
                <a:latin typeface="Calibri"/>
              </a:rPr>
              <a:t>23</a:t>
            </a:r>
          </a:p>
        </p:txBody>
      </p:sp>
      <p:sp>
        <p:nvSpPr>
          <p:cNvPr id="6" name="Rounded Rectangle 5"/>
          <p:cNvSpPr/>
          <p:nvPr/>
        </p:nvSpPr>
        <p:spPr>
          <a:xfrm>
            <a:off x="548640" y="1554480"/>
            <a:ext cx="3545738" cy="17830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691640"/>
            <a:ext cx="3271418" cy="365760"/>
          </a:xfrm>
          <a:prstGeom prst="rect">
            <a:avLst/>
          </a:prstGeom>
          <a:noFill/>
        </p:spPr>
        <p:txBody>
          <a:bodyPr wrap="square" anchor="ctr" lIns="45720" rIns="45720">
            <a:spAutoFit/>
          </a:bodyPr>
          <a:lstStyle/>
          <a:p>
            <a:pPr algn="l"/>
            <a:r>
              <a:rPr sz="1400" b="1" i="0">
                <a:solidFill>
                  <a:srgbClr val="1C4E80"/>
                </a:solidFill>
                <a:latin typeface="Calibri"/>
              </a:rPr>
              <a:t>Grundsatz</a:t>
            </a:r>
          </a:p>
        </p:txBody>
      </p:sp>
      <p:sp>
        <p:nvSpPr>
          <p:cNvPr id="8" name="TextBox 7"/>
          <p:cNvSpPr txBox="1"/>
          <p:nvPr/>
        </p:nvSpPr>
        <p:spPr>
          <a:xfrm>
            <a:off x="685800" y="2075688"/>
            <a:ext cx="3271418" cy="11247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BFC oder 7MA? Lizenzstatus</a:t>
            </a:r>
          </a:p>
          <a:p>
            <a:pPr marL="201168" indent="-201168">
              <a:spcAft>
                <a:spcPts val="300"/>
              </a:spcAft>
              <a:buChar char="•"/>
            </a:pPr>
            <a:r>
              <a:rPr sz="1200" b="0" i="0">
                <a:solidFill>
                  <a:srgbClr val="1F2933"/>
                </a:solidFill>
                <a:latin typeface="Calibri"/>
              </a:rPr>
              <a:t>Alle Kunden oder nur Risikoklassen im Collections?</a:t>
            </a:r>
          </a:p>
        </p:txBody>
      </p:sp>
      <p:sp>
        <p:nvSpPr>
          <p:cNvPr id="9" name="Rounded Rectangle 8"/>
          <p:cNvSpPr/>
          <p:nvPr/>
        </p:nvSpPr>
        <p:spPr>
          <a:xfrm>
            <a:off x="4322978" y="1554480"/>
            <a:ext cx="3545738" cy="17830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460138" y="1691640"/>
            <a:ext cx="3271418" cy="365760"/>
          </a:xfrm>
          <a:prstGeom prst="rect">
            <a:avLst/>
          </a:prstGeom>
          <a:noFill/>
        </p:spPr>
        <p:txBody>
          <a:bodyPr wrap="square" anchor="ctr" lIns="45720" rIns="45720">
            <a:spAutoFit/>
          </a:bodyPr>
          <a:lstStyle/>
          <a:p>
            <a:pPr algn="l"/>
            <a:r>
              <a:rPr sz="1400" b="1" i="0">
                <a:solidFill>
                  <a:srgbClr val="1C4E80"/>
                </a:solidFill>
                <a:latin typeface="Calibri"/>
              </a:rPr>
              <a:t>Organisation</a:t>
            </a:r>
          </a:p>
        </p:txBody>
      </p:sp>
      <p:sp>
        <p:nvSpPr>
          <p:cNvPr id="11" name="TextBox 10"/>
          <p:cNvSpPr txBox="1"/>
          <p:nvPr/>
        </p:nvSpPr>
        <p:spPr>
          <a:xfrm>
            <a:off x="4460138" y="2075688"/>
            <a:ext cx="3271418" cy="11247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Segmente: Buchungskreis, Land, Bereich?</a:t>
            </a:r>
          </a:p>
          <a:p>
            <a:pPr marL="201168" indent="-201168">
              <a:spcAft>
                <a:spcPts val="300"/>
              </a:spcAft>
              <a:buChar char="•"/>
            </a:pPr>
            <a:r>
              <a:rPr sz="1200" b="0" i="0">
                <a:solidFill>
                  <a:srgbClr val="1F2933"/>
                </a:solidFill>
                <a:latin typeface="Calibri"/>
              </a:rPr>
              <a:t>Gruppen, Spezialisten, Vertretung</a:t>
            </a:r>
          </a:p>
          <a:p>
            <a:pPr marL="201168" indent="-201168">
              <a:spcAft>
                <a:spcPts val="300"/>
              </a:spcAft>
              <a:buChar char="•"/>
            </a:pPr>
            <a:r>
              <a:rPr sz="1200" b="0" i="0">
                <a:solidFill>
                  <a:srgbClr val="1F2933"/>
                </a:solidFill>
                <a:latin typeface="Calibri"/>
              </a:rPr>
              <a:t>Rollen inkl. Dispute-Katalog für Cash Specialist</a:t>
            </a:r>
          </a:p>
        </p:txBody>
      </p:sp>
      <p:sp>
        <p:nvSpPr>
          <p:cNvPr id="12" name="Rounded Rectangle 11"/>
          <p:cNvSpPr/>
          <p:nvPr/>
        </p:nvSpPr>
        <p:spPr>
          <a:xfrm>
            <a:off x="8097316" y="1554480"/>
            <a:ext cx="3545738" cy="17830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34476" y="1691640"/>
            <a:ext cx="3271418" cy="365760"/>
          </a:xfrm>
          <a:prstGeom prst="rect">
            <a:avLst/>
          </a:prstGeom>
          <a:noFill/>
        </p:spPr>
        <p:txBody>
          <a:bodyPr wrap="square" anchor="ctr" lIns="45720" rIns="45720">
            <a:spAutoFit/>
          </a:bodyPr>
          <a:lstStyle/>
          <a:p>
            <a:pPr algn="l"/>
            <a:r>
              <a:rPr sz="1400" b="1" i="0">
                <a:solidFill>
                  <a:srgbClr val="1C4E80"/>
                </a:solidFill>
                <a:latin typeface="Calibri"/>
              </a:rPr>
              <a:t>Strategie</a:t>
            </a:r>
          </a:p>
        </p:txBody>
      </p:sp>
      <p:sp>
        <p:nvSpPr>
          <p:cNvPr id="14" name="TextBox 13"/>
          <p:cNvSpPr txBox="1"/>
          <p:nvPr/>
        </p:nvSpPr>
        <p:spPr>
          <a:xfrm>
            <a:off x="8234476" y="2075688"/>
            <a:ext cx="3271418" cy="11247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Regeln, Schwellen, Gewichte</a:t>
            </a:r>
          </a:p>
          <a:p>
            <a:pPr marL="201168" indent="-201168">
              <a:spcAft>
                <a:spcPts val="300"/>
              </a:spcAft>
              <a:buChar char="•"/>
            </a:pPr>
            <a:r>
              <a:rPr sz="1200" b="0" i="0">
                <a:solidFill>
                  <a:srgbClr val="1F2933"/>
                </a:solidFill>
                <a:latin typeface="Calibri"/>
              </a:rPr>
              <a:t>Aging-Perioden, proaktiver Kontakt</a:t>
            </a:r>
          </a:p>
          <a:p>
            <a:pPr marL="201168" indent="-201168">
              <a:spcAft>
                <a:spcPts val="300"/>
              </a:spcAft>
              <a:buChar char="•"/>
            </a:pPr>
            <a:r>
              <a:rPr sz="1200" b="0" i="0">
                <a:solidFill>
                  <a:srgbClr val="1F2933"/>
                </a:solidFill>
                <a:latin typeface="Calibri"/>
              </a:rPr>
              <a:t>Risikoklasse als Kriterium</a:t>
            </a:r>
          </a:p>
        </p:txBody>
      </p:sp>
      <p:sp>
        <p:nvSpPr>
          <p:cNvPr id="15" name="Rounded Rectangle 14"/>
          <p:cNvSpPr/>
          <p:nvPr/>
        </p:nvSpPr>
        <p:spPr>
          <a:xfrm>
            <a:off x="548640" y="3520440"/>
            <a:ext cx="3545738" cy="178308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5800" y="3657600"/>
            <a:ext cx="3271418" cy="365760"/>
          </a:xfrm>
          <a:prstGeom prst="rect">
            <a:avLst/>
          </a:prstGeom>
          <a:noFill/>
        </p:spPr>
        <p:txBody>
          <a:bodyPr wrap="square" anchor="ctr" lIns="45720" rIns="45720">
            <a:spAutoFit/>
          </a:bodyPr>
          <a:lstStyle/>
          <a:p>
            <a:pPr algn="l"/>
            <a:r>
              <a:rPr sz="1400" b="1" i="0">
                <a:solidFill>
                  <a:srgbClr val="1C4E80"/>
                </a:solidFill>
                <a:latin typeface="Calibri"/>
              </a:rPr>
              <a:t>Mahnwesen</a:t>
            </a:r>
          </a:p>
        </p:txBody>
      </p:sp>
      <p:sp>
        <p:nvSpPr>
          <p:cNvPr id="17" name="TextBox 16"/>
          <p:cNvSpPr txBox="1"/>
          <p:nvPr/>
        </p:nvSpPr>
        <p:spPr>
          <a:xfrm>
            <a:off x="685800" y="4041648"/>
            <a:ext cx="3271418" cy="11247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Stufen, Intervalle, Gebühren</a:t>
            </a:r>
          </a:p>
          <a:p>
            <a:pPr marL="201168" indent="-201168">
              <a:spcAft>
                <a:spcPts val="300"/>
              </a:spcAft>
              <a:buChar char="•"/>
            </a:pPr>
            <a:r>
              <a:rPr sz="1200" b="0" i="0">
                <a:solidFill>
                  <a:srgbClr val="1F2933"/>
                </a:solidFill>
                <a:latin typeface="Calibri"/>
              </a:rPr>
              <a:t>Formulare, E-Mail vs. Druck, Sprachen</a:t>
            </a:r>
          </a:p>
          <a:p>
            <a:pPr marL="201168" indent="-201168">
              <a:spcAft>
                <a:spcPts val="300"/>
              </a:spcAft>
              <a:buChar char="•"/>
            </a:pPr>
            <a:r>
              <a:rPr sz="1200" b="0" i="0">
                <a:solidFill>
                  <a:srgbClr val="1F2933"/>
                </a:solidFill>
                <a:latin typeface="Calibri"/>
              </a:rPr>
              <a:t>Mahnsperrgründe, zentral vs. je Sachbearbeiter</a:t>
            </a:r>
          </a:p>
        </p:txBody>
      </p:sp>
      <p:sp>
        <p:nvSpPr>
          <p:cNvPr id="18" name="Rounded Rectangle 17"/>
          <p:cNvSpPr/>
          <p:nvPr/>
        </p:nvSpPr>
        <p:spPr>
          <a:xfrm>
            <a:off x="4322978" y="3520440"/>
            <a:ext cx="3545738" cy="178308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460138" y="3657600"/>
            <a:ext cx="3271418" cy="365760"/>
          </a:xfrm>
          <a:prstGeom prst="rect">
            <a:avLst/>
          </a:prstGeom>
          <a:noFill/>
        </p:spPr>
        <p:txBody>
          <a:bodyPr wrap="square" anchor="ctr" lIns="45720" rIns="45720">
            <a:spAutoFit/>
          </a:bodyPr>
          <a:lstStyle/>
          <a:p>
            <a:pPr algn="l"/>
            <a:r>
              <a:rPr sz="1400" b="1" i="0">
                <a:solidFill>
                  <a:srgbClr val="1C4E80"/>
                </a:solidFill>
                <a:latin typeface="Calibri"/>
              </a:rPr>
              <a:t>Dispute</a:t>
            </a:r>
          </a:p>
        </p:txBody>
      </p:sp>
      <p:sp>
        <p:nvSpPr>
          <p:cNvPr id="20" name="TextBox 19"/>
          <p:cNvSpPr txBox="1"/>
          <p:nvPr/>
        </p:nvSpPr>
        <p:spPr>
          <a:xfrm>
            <a:off x="4460138" y="4041648"/>
            <a:ext cx="3271418" cy="11247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Gründe und Root Causes</a:t>
            </a:r>
          </a:p>
          <a:p>
            <a:pPr marL="201168" indent="-201168">
              <a:spcAft>
                <a:spcPts val="300"/>
              </a:spcAft>
              <a:buChar char="•"/>
            </a:pPr>
            <a:r>
              <a:rPr sz="1200" b="0" i="0">
                <a:solidFill>
                  <a:srgbClr val="1F2933"/>
                </a:solidFill>
                <a:latin typeface="Calibri"/>
              </a:rPr>
              <a:t>Koordinator-/Bearbeiter-Modell, Fachbereiche</a:t>
            </a:r>
          </a:p>
          <a:p>
            <a:pPr marL="201168" indent="-201168">
              <a:spcAft>
                <a:spcPts val="300"/>
              </a:spcAft>
              <a:buChar char="•"/>
            </a:pPr>
            <a:r>
              <a:rPr sz="1200" b="0" i="0">
                <a:solidFill>
                  <a:srgbClr val="1F2933"/>
                </a:solidFill>
                <a:latin typeface="Calibri"/>
              </a:rPr>
              <a:t>Auto-Anlage: Betragsgrenze; Eskalation und Write-Off-Freigabe</a:t>
            </a:r>
          </a:p>
        </p:txBody>
      </p:sp>
      <p:sp>
        <p:nvSpPr>
          <p:cNvPr id="21" name="Rounded Rectangle 20"/>
          <p:cNvSpPr/>
          <p:nvPr/>
        </p:nvSpPr>
        <p:spPr>
          <a:xfrm>
            <a:off x="8097316" y="3520440"/>
            <a:ext cx="3545738" cy="178308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34476" y="3657600"/>
            <a:ext cx="3271418" cy="365760"/>
          </a:xfrm>
          <a:prstGeom prst="rect">
            <a:avLst/>
          </a:prstGeom>
          <a:noFill/>
        </p:spPr>
        <p:txBody>
          <a:bodyPr wrap="square" anchor="ctr" lIns="45720" rIns="45720">
            <a:spAutoFit/>
          </a:bodyPr>
          <a:lstStyle/>
          <a:p>
            <a:pPr algn="l"/>
            <a:r>
              <a:rPr sz="1400" b="1" i="0">
                <a:solidFill>
                  <a:srgbClr val="1C4E80"/>
                </a:solidFill>
                <a:latin typeface="Calibri"/>
              </a:rPr>
              <a:t>Wertberichtigung</a:t>
            </a:r>
          </a:p>
        </p:txBody>
      </p:sp>
      <p:sp>
        <p:nvSpPr>
          <p:cNvPr id="23" name="TextBox 22"/>
          <p:cNvSpPr txBox="1"/>
          <p:nvPr/>
        </p:nvSpPr>
        <p:spPr>
          <a:xfrm>
            <a:off x="8234476" y="4041648"/>
            <a:ext cx="3271418" cy="11247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Sätze je Altersklasse, Schlüssel je Kundengruppe</a:t>
            </a:r>
          </a:p>
          <a:p>
            <a:pPr marL="201168" indent="-201168">
              <a:spcAft>
                <a:spcPts val="300"/>
              </a:spcAft>
              <a:buChar char="•"/>
            </a:pPr>
            <a:r>
              <a:rPr sz="1200" b="0" i="0">
                <a:solidFill>
                  <a:srgbClr val="1F2933"/>
                </a:solidFill>
                <a:latin typeface="Calibri"/>
              </a:rPr>
              <a:t>Konten und Freigabe für Ausbuchung</a:t>
            </a:r>
          </a:p>
          <a:p>
            <a:pPr marL="201168" indent="-201168">
              <a:spcAft>
                <a:spcPts val="300"/>
              </a:spcAft>
              <a:buChar char="•"/>
            </a:pPr>
            <a:r>
              <a:rPr sz="1200" b="0" i="0">
                <a:solidFill>
                  <a:srgbClr val="1F2933"/>
                </a:solidFill>
                <a:latin typeface="Calibri"/>
              </a:rPr>
              <a:t>Advanced FX Valuation geplant?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
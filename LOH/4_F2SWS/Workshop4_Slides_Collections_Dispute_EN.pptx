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1" d="100"/>
          <a:sy n="91" d="100"/>
        </p:scale>
        <p:origin x="96" y="28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ethel, Moritz" userId="310144ca-c1c3-45b4-be1d-abfb30ac7548" providerId="ADAL" clId="{A600174E-EA43-4471-813E-896CA05C8581}"/>
    <pc:docChg chg="modSld">
      <pc:chgData name="Goethel, Moritz" userId="310144ca-c1c3-45b4-be1d-abfb30ac7548" providerId="ADAL" clId="{A600174E-EA43-4471-813E-896CA05C8581}" dt="2026-10-14T19:53:35.849" v="2" actId="20577"/>
      <pc:docMkLst>
        <pc:docMk/>
      </pc:docMkLst>
      <pc:sldChg chg="modSp mod">
        <pc:chgData name="Goethel, Moritz" userId="310144ca-c1c3-45b4-be1d-abfb30ac7548" providerId="ADAL" clId="{A600174E-EA43-4471-813E-896CA05C8581}" dt="2026-10-14T19:53:35.849" v="2" actId="20577"/>
        <pc:sldMkLst>
          <pc:docMk/>
          <pc:sldMk cId="0" sldId="258"/>
        </pc:sldMkLst>
        <pc:spChg chg="mod">
          <ac:chgData name="Goethel, Moritz" userId="310144ca-c1c3-45b4-be1d-abfb30ac7548" providerId="ADAL" clId="{A600174E-EA43-4471-813E-896CA05C8581}" dt="2026-10-14T19:53:35.849" v="2" actId="20577"/>
          <ac:spMkLst>
            <pc:docMk/>
            <pc:sldMk cId="0" sldId="258"/>
            <ac:spMk id="1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049B2A-4894-4B59-BFAB-67C919AAB016}" type="datetimeFigureOut">
              <a:rPr lang="de-DE" smtClean="0"/>
              <a:t>14.10.2026</a:t>
            </a:fld>
            <a:endParaRPr lang="de-D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D9F2B5-C956-4437-81ED-FFBF233F25ED}" type="slidenum">
              <a:rPr lang="de-DE" smtClean="0"/>
              <a:t>‹#›</a:t>
            </a:fld>
            <a:endParaRPr lang="de-DE"/>
          </a:p>
        </p:txBody>
      </p:sp>
    </p:spTree>
    <p:extLst>
      <p:ext uri="{BB962C8B-B14F-4D97-AF65-F5344CB8AC3E}">
        <p14:creationId xmlns:p14="http://schemas.microsoft.com/office/powerpoint/2010/main" val="14543663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Opening: the four blocks build on each other. Dunning is the automated baseline (J59), Collections Management adds personal contact on top, Dispute Management resolves disputes, the strategy decides who is contacted when. 2PD covers the balance sheet consequence.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All processes work on the same open items in FI-AR. They differ in the degree of human attention: dunning fully automatic, collections personalized, dispute case-based. Important: items with an open dispute case or a running promise to pay are not dunned.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reasons for non-payment require three responses. Dunning alone treats them all the same: it annoys good customers with justified objections, wastes dunning levels on insolvent customers and detects risks too late. DSO as the KPI: a few days of improvement equals significant working capital.</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Steps 1 to 3 run at night as SAP-operated jobs. The specialist only sees the result in the morning. Step 6 (follow-up) is why promises to pay are objects, not notes: the system checks them against incoming payments.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collections organization is independent of the company code. Each group has exactly one strategy. Per customer only profile and specialist are maintained, the rest is derived. Mass assignment by job, e.g. only for critical risk classes from Credit Management.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roles are enough for the demo: Accounts Receivable Accountant (specialist) and Accounts Receivable Manager. Cash Management Specialist only for the dispute from an underpayment.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Storyline: customer S10100251, three overdue invoices, one large. Set up everything the day before, because the worklist is only generated overnight. Second user or clear announcement for manager vs. specialist.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worklist is not a manually maintained to-do list. It is a calculated result of strategy and items, regenerated every night. To change the order, change the strategy.</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Left the daily work, right the supervision. Both access the same worklist generated overnight.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three objects make phone calls measurable. Promises to pay are checked against incoming payments; broken promises raise the priority. That is payment behavior as a risk signal, independent of the credit rating.</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 everything in one pass in Process Receivables so that the contact note contains all objects.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contested item is not paid, no matter how often it is dunned. Clarification is cross-functional and without a process it sits in mailboxes. Strategic value: analysis by reason shows where the company itself makes mistakes (pricing, delivery quality).</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Path 2 needs the dispute catalog in the Cash Management Specialist role (F1492), otherwise the button is missing. Show path 3 as a test run; it processes residual items from bank statement, lockbox and post-processing.</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Justified: credit memo, case closes automatically on clearing, nobody has to remember. Not justified: status Not justified, case goes back to collections, dunning block is lifted. Void for erroneous cases, write-off job for escalated cases.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Reporting apps need existing cases: create at least one case In Process and one solved case the day before.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Prepare two cases: one is created and assigned in the demo, a second one is In Process for path B. Optionally prepare a credit memo, otherwise only explain the automatic closing.</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companies with the same receivables, different priorities. Each group has exactly one strategy; treating key accounts and small customers differently needs two groups. Strategies are fine-tuned over time; changes take effect with the next nightly run.</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Rules are predefined (CR000000nn), the customer selects them and sets thresholds and points. Example values from the SAP test script. A new strategy is inactive at first.</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Keep the order: strategy → group → segment assignment → customer. All before the workshop, because the worklist is only created in the nightly run. Mass jobs for rollout and staff changes.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BFC and 7MA are mutually exclusive, both need an additional license. 7MA pays off with high volume, clearly describable assignment logic and rule maintenance skills in the business. Record the decision in the workshop.</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IFRS 9: expected credit losses via provision matrix, percentage per overdue bucket. Valuation run posts at key date and reverses the next day. Does not work with Advanced Foreign Currency Valuation. The valuation adjustment is the financial yardstick for the quality of receivables management.</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points are recorded as KDD candidates. The first question determines all others.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548640" y="1828800"/>
            <a:ext cx="109728" cy="237744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914400" y="1737360"/>
            <a:ext cx="10058400" cy="457200"/>
          </a:xfrm>
          <a:prstGeom prst="rect">
            <a:avLst/>
          </a:prstGeom>
          <a:noFill/>
        </p:spPr>
        <p:txBody>
          <a:bodyPr wrap="square" lIns="45720" rIns="45720" anchor="t">
            <a:spAutoFit/>
          </a:bodyPr>
          <a:lstStyle/>
          <a:p>
            <a:pPr algn="l"/>
            <a:r>
              <a:rPr sz="1300" b="1" i="0">
                <a:solidFill>
                  <a:srgbClr val="0F8B8D"/>
                </a:solidFill>
                <a:latin typeface="Calibri"/>
              </a:rPr>
              <a:t>SAP S/4HANA CLOUD PUBLIC EDITION  |  FIT-TO-STANDARD WORKSHOP 4</a:t>
            </a:r>
          </a:p>
        </p:txBody>
      </p:sp>
      <p:sp>
        <p:nvSpPr>
          <p:cNvPr id="5" name="TextBox 4"/>
          <p:cNvSpPr txBox="1"/>
          <p:nvPr/>
        </p:nvSpPr>
        <p:spPr>
          <a:xfrm>
            <a:off x="914400" y="2194560"/>
            <a:ext cx="10515600" cy="1463040"/>
          </a:xfrm>
          <a:prstGeom prst="rect">
            <a:avLst/>
          </a:prstGeom>
          <a:noFill/>
        </p:spPr>
        <p:txBody>
          <a:bodyPr wrap="square" lIns="45720" rIns="45720" anchor="ctr">
            <a:spAutoFit/>
          </a:bodyPr>
          <a:lstStyle/>
          <a:p>
            <a:pPr algn="l"/>
            <a:r>
              <a:rPr sz="4400" b="1" i="0">
                <a:solidFill>
                  <a:srgbClr val="1C4E80"/>
                </a:solidFill>
                <a:latin typeface="Calibri"/>
              </a:rPr>
              <a:t>Collections &amp; Dispute Management</a:t>
            </a:r>
          </a:p>
        </p:txBody>
      </p:sp>
      <p:sp>
        <p:nvSpPr>
          <p:cNvPr id="6" name="TextBox 5"/>
          <p:cNvSpPr txBox="1"/>
          <p:nvPr/>
        </p:nvSpPr>
        <p:spPr>
          <a:xfrm>
            <a:off x="914400" y="3566160"/>
            <a:ext cx="10515600" cy="822960"/>
          </a:xfrm>
          <a:prstGeom prst="rect">
            <a:avLst/>
          </a:prstGeom>
          <a:noFill/>
        </p:spPr>
        <p:txBody>
          <a:bodyPr wrap="square" lIns="45720" rIns="45720" anchor="t">
            <a:spAutoFit/>
          </a:bodyPr>
          <a:lstStyle/>
          <a:p>
            <a:pPr algn="l"/>
            <a:r>
              <a:rPr sz="1800" b="0" i="0">
                <a:solidFill>
                  <a:srgbClr val="5F6B7A"/>
                </a:solidFill>
                <a:latin typeface="Calibri"/>
              </a:rPr>
              <a:t>Automated collection workflow, worklist management,</a:t>
            </a:r>
          </a:p>
          <a:p>
            <a:pPr algn="l"/>
            <a:r>
              <a:rPr sz="1800" b="0" i="0">
                <a:solidFill>
                  <a:srgbClr val="5F6B7A"/>
                </a:solidFill>
                <a:latin typeface="Calibri"/>
              </a:rPr>
              <a:t>dispute case creation and resolution, collection strategy configuration</a:t>
            </a:r>
          </a:p>
        </p:txBody>
      </p:sp>
      <p:sp>
        <p:nvSpPr>
          <p:cNvPr id="7" name="TextBox 6"/>
          <p:cNvSpPr txBox="1"/>
          <p:nvPr/>
        </p:nvSpPr>
        <p:spPr>
          <a:xfrm>
            <a:off x="914400" y="5120640"/>
            <a:ext cx="10058400" cy="365760"/>
          </a:xfrm>
          <a:prstGeom prst="rect">
            <a:avLst/>
          </a:prstGeom>
          <a:noFill/>
        </p:spPr>
        <p:txBody>
          <a:bodyPr wrap="square" lIns="45720" rIns="45720" anchor="t">
            <a:spAutoFit/>
          </a:bodyPr>
          <a:lstStyle/>
          <a:p>
            <a:pPr algn="l"/>
            <a:r>
              <a:rPr sz="1100" b="0" i="0">
                <a:solidFill>
                  <a:srgbClr val="5F6B7A"/>
                </a:solidFill>
                <a:latin typeface="Calibri"/>
              </a:rPr>
              <a:t>Scope items: J59 Accounts Receivable  |  BFC Collections and Dispute Management  |  7MA Collections and Dispute Automation  |  2PD Provisioning of Overdue Receivables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94415" cy="274320"/>
          </a:xfrm>
          <a:prstGeom prst="rect">
            <a:avLst/>
          </a:prstGeom>
          <a:noFill/>
        </p:spPr>
        <p:txBody>
          <a:bodyPr wrap="square" lIns="45720" rIns="45720" anchor="t">
            <a:spAutoFit/>
          </a:bodyPr>
          <a:lstStyle/>
          <a:p>
            <a:pPr algn="l"/>
            <a:r>
              <a:rPr sz="1100" b="1" i="0">
                <a:solidFill>
                  <a:srgbClr val="0F8B8D"/>
                </a:solidFill>
                <a:latin typeface="Calibri"/>
              </a:rPr>
              <a:t>AGENDA</a:t>
            </a:r>
          </a:p>
        </p:txBody>
      </p:sp>
      <p:sp>
        <p:nvSpPr>
          <p:cNvPr id="3" name="TextBox 2"/>
          <p:cNvSpPr txBox="1"/>
          <p:nvPr/>
        </p:nvSpPr>
        <p:spPr>
          <a:xfrm>
            <a:off x="548640" y="548640"/>
            <a:ext cx="11094415" cy="868680"/>
          </a:xfrm>
          <a:prstGeom prst="rect">
            <a:avLst/>
          </a:prstGeom>
          <a:noFill/>
        </p:spPr>
        <p:txBody>
          <a:bodyPr wrap="square" lIns="45720" rIns="45720" anchor="ctr">
            <a:spAutoFit/>
          </a:bodyPr>
          <a:lstStyle/>
          <a:p>
            <a:pPr algn="l"/>
            <a:r>
              <a:rPr sz="2800" b="1" i="0">
                <a:solidFill>
                  <a:srgbClr val="1C4E80"/>
                </a:solidFill>
                <a:latin typeface="Calibri"/>
              </a:rPr>
              <a:t>Four topic blocks, one goal: turn receivables into cash faster</a:t>
            </a:r>
          </a:p>
        </p:txBody>
      </p:sp>
      <p:sp>
        <p:nvSpPr>
          <p:cNvPr id="4" name="TextBox 3"/>
          <p:cNvSpPr txBox="1"/>
          <p:nvPr/>
        </p:nvSpPr>
        <p:spPr>
          <a:xfrm>
            <a:off x="548640" y="6446520"/>
            <a:ext cx="8229600" cy="274320"/>
          </a:xfrm>
          <a:prstGeom prst="rect">
            <a:avLst/>
          </a:prstGeom>
          <a:noFill/>
        </p:spPr>
        <p:txBody>
          <a:bodyPr wrap="square" lIns="45720" rIns="45720" anchor="t">
            <a:spAutoFit/>
          </a:bodyPr>
          <a:lstStyle/>
          <a:p>
            <a:pPr algn="l"/>
            <a:r>
              <a:rPr sz="900" b="0" i="0">
                <a:solidFill>
                  <a:srgbClr val="5F6B7A"/>
                </a:solidFill>
                <a:latin typeface="Calibri"/>
              </a:rPr>
              <a:t>F2S Workshop 4  |  Collections &amp; Dispute Management  |  Overview</a:t>
            </a:r>
          </a:p>
        </p:txBody>
      </p:sp>
      <p:sp>
        <p:nvSpPr>
          <p:cNvPr id="5" name="TextBox 4"/>
          <p:cNvSpPr txBox="1"/>
          <p:nvPr/>
        </p:nvSpPr>
        <p:spPr>
          <a:xfrm>
            <a:off x="10728655" y="6446520"/>
            <a:ext cx="914400" cy="274320"/>
          </a:xfrm>
          <a:prstGeom prst="rect">
            <a:avLst/>
          </a:prstGeom>
          <a:noFill/>
        </p:spPr>
        <p:txBody>
          <a:bodyPr wrap="square" lIns="45720" rIns="45720" anchor="t">
            <a:spAutoFit/>
          </a:bodyPr>
          <a:lstStyle/>
          <a:p>
            <a:pPr algn="r"/>
            <a:r>
              <a:rPr sz="900" b="0" i="0">
                <a:solidFill>
                  <a:srgbClr val="5F6B7A"/>
                </a:solidFill>
                <a:latin typeface="Calibri"/>
              </a:rPr>
              <a:t>2</a:t>
            </a:r>
          </a:p>
        </p:txBody>
      </p:sp>
      <p:sp>
        <p:nvSpPr>
          <p:cNvPr id="6" name="Rounded Rectangle 5"/>
          <p:cNvSpPr/>
          <p:nvPr/>
        </p:nvSpPr>
        <p:spPr>
          <a:xfrm>
            <a:off x="548640" y="1554480"/>
            <a:ext cx="2567863" cy="329184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31520" y="1691640"/>
            <a:ext cx="914400" cy="822960"/>
          </a:xfrm>
          <a:prstGeom prst="rect">
            <a:avLst/>
          </a:prstGeom>
          <a:noFill/>
        </p:spPr>
        <p:txBody>
          <a:bodyPr wrap="square" lIns="45720" rIns="45720" anchor="t">
            <a:spAutoFit/>
          </a:bodyPr>
          <a:lstStyle/>
          <a:p>
            <a:pPr algn="l"/>
            <a:r>
              <a:rPr sz="4800" b="1" i="0">
                <a:solidFill>
                  <a:srgbClr val="0F8B8D"/>
                </a:solidFill>
                <a:latin typeface="Calibri"/>
              </a:rPr>
              <a:t>A</a:t>
            </a:r>
          </a:p>
        </p:txBody>
      </p:sp>
      <p:sp>
        <p:nvSpPr>
          <p:cNvPr id="8" name="TextBox 7"/>
          <p:cNvSpPr txBox="1"/>
          <p:nvPr/>
        </p:nvSpPr>
        <p:spPr>
          <a:xfrm>
            <a:off x="731520" y="2514600"/>
            <a:ext cx="2202103" cy="731520"/>
          </a:xfrm>
          <a:prstGeom prst="rect">
            <a:avLst/>
          </a:prstGeom>
          <a:noFill/>
        </p:spPr>
        <p:txBody>
          <a:bodyPr wrap="square" lIns="45720" rIns="45720" anchor="t">
            <a:spAutoFit/>
          </a:bodyPr>
          <a:lstStyle/>
          <a:p>
            <a:pPr algn="l"/>
            <a:r>
              <a:rPr sz="1600" b="1" i="0">
                <a:solidFill>
                  <a:srgbClr val="1C4E80"/>
                </a:solidFill>
                <a:latin typeface="Calibri"/>
              </a:rPr>
              <a:t>Automated collection workflow</a:t>
            </a:r>
          </a:p>
        </p:txBody>
      </p:sp>
      <p:sp>
        <p:nvSpPr>
          <p:cNvPr id="9" name="TextBox 8"/>
          <p:cNvSpPr txBox="1"/>
          <p:nvPr/>
        </p:nvSpPr>
        <p:spPr>
          <a:xfrm>
            <a:off x="731520" y="3291840"/>
            <a:ext cx="2202103" cy="1463040"/>
          </a:xfrm>
          <a:prstGeom prst="rect">
            <a:avLst/>
          </a:prstGeom>
          <a:noFill/>
        </p:spPr>
        <p:txBody>
          <a:bodyPr wrap="square" lIns="45720" rIns="45720" anchor="t">
            <a:spAutoFit/>
          </a:bodyPr>
          <a:lstStyle/>
          <a:p>
            <a:pPr algn="l"/>
            <a:r>
              <a:rPr sz="1200" b="0" i="0">
                <a:solidFill>
                  <a:srgbClr val="1F2933"/>
                </a:solidFill>
                <a:latin typeface="Calibri"/>
              </a:rPr>
              <a:t>Why dunning alone is not enough. Daily transfer of open items, valuation, prioritization, contact, follow-up.</a:t>
            </a:r>
          </a:p>
        </p:txBody>
      </p:sp>
      <p:sp>
        <p:nvSpPr>
          <p:cNvPr id="10" name="Rounded Rectangle 9"/>
          <p:cNvSpPr/>
          <p:nvPr/>
        </p:nvSpPr>
        <p:spPr>
          <a:xfrm>
            <a:off x="3390823" y="1554480"/>
            <a:ext cx="2567863" cy="329184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3573703" y="1691640"/>
            <a:ext cx="914400" cy="822960"/>
          </a:xfrm>
          <a:prstGeom prst="rect">
            <a:avLst/>
          </a:prstGeom>
          <a:noFill/>
        </p:spPr>
        <p:txBody>
          <a:bodyPr wrap="square" lIns="45720" rIns="45720" anchor="t">
            <a:spAutoFit/>
          </a:bodyPr>
          <a:lstStyle/>
          <a:p>
            <a:pPr algn="l"/>
            <a:r>
              <a:rPr sz="4800" b="1" i="0">
                <a:solidFill>
                  <a:srgbClr val="0F8B8D"/>
                </a:solidFill>
                <a:latin typeface="Calibri"/>
              </a:rPr>
              <a:t>B</a:t>
            </a:r>
          </a:p>
        </p:txBody>
      </p:sp>
      <p:sp>
        <p:nvSpPr>
          <p:cNvPr id="12" name="TextBox 11"/>
          <p:cNvSpPr txBox="1"/>
          <p:nvPr/>
        </p:nvSpPr>
        <p:spPr>
          <a:xfrm>
            <a:off x="3573703" y="2514600"/>
            <a:ext cx="2202103" cy="731520"/>
          </a:xfrm>
          <a:prstGeom prst="rect">
            <a:avLst/>
          </a:prstGeom>
          <a:noFill/>
        </p:spPr>
        <p:txBody>
          <a:bodyPr wrap="square" lIns="45720" rIns="45720" anchor="t">
            <a:spAutoFit/>
          </a:bodyPr>
          <a:lstStyle/>
          <a:p>
            <a:pPr algn="l"/>
            <a:r>
              <a:rPr sz="1600" b="1" i="0">
                <a:solidFill>
                  <a:srgbClr val="1C4E80"/>
                </a:solidFill>
                <a:latin typeface="Calibri"/>
              </a:rPr>
              <a:t>Worklist management</a:t>
            </a:r>
          </a:p>
        </p:txBody>
      </p:sp>
      <p:sp>
        <p:nvSpPr>
          <p:cNvPr id="13" name="TextBox 12"/>
          <p:cNvSpPr txBox="1"/>
          <p:nvPr/>
        </p:nvSpPr>
        <p:spPr>
          <a:xfrm>
            <a:off x="3573703" y="3291840"/>
            <a:ext cx="2202103" cy="1463040"/>
          </a:xfrm>
          <a:prstGeom prst="rect">
            <a:avLst/>
          </a:prstGeom>
          <a:noFill/>
        </p:spPr>
        <p:txBody>
          <a:bodyPr wrap="square" lIns="45720" rIns="45720" anchor="t">
            <a:spAutoFit/>
          </a:bodyPr>
          <a:lstStyle/>
          <a:p>
            <a:pPr algn="l"/>
            <a:r>
              <a:rPr sz="1200" b="0" i="0">
                <a:solidFill>
                  <a:srgbClr val="1F2933"/>
                </a:solidFill>
                <a:latin typeface="Calibri"/>
              </a:rPr>
              <a:t>The specialist's worklist and the manager's supervision view. Promise to pay, resubmission, contact documentation.</a:t>
            </a:r>
          </a:p>
        </p:txBody>
      </p:sp>
      <p:sp>
        <p:nvSpPr>
          <p:cNvPr id="14" name="Rounded Rectangle 13"/>
          <p:cNvSpPr/>
          <p:nvPr/>
        </p:nvSpPr>
        <p:spPr>
          <a:xfrm>
            <a:off x="6233007" y="1554480"/>
            <a:ext cx="2567863" cy="329184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415887" y="1691640"/>
            <a:ext cx="914400" cy="822960"/>
          </a:xfrm>
          <a:prstGeom prst="rect">
            <a:avLst/>
          </a:prstGeom>
          <a:noFill/>
        </p:spPr>
        <p:txBody>
          <a:bodyPr wrap="square" lIns="45720" rIns="45720" anchor="t">
            <a:spAutoFit/>
          </a:bodyPr>
          <a:lstStyle/>
          <a:p>
            <a:pPr algn="l"/>
            <a:r>
              <a:rPr sz="4800" b="1" i="0">
                <a:solidFill>
                  <a:srgbClr val="0F8B8D"/>
                </a:solidFill>
                <a:latin typeface="Calibri"/>
              </a:rPr>
              <a:t>C</a:t>
            </a:r>
          </a:p>
        </p:txBody>
      </p:sp>
      <p:sp>
        <p:nvSpPr>
          <p:cNvPr id="16" name="TextBox 15"/>
          <p:cNvSpPr txBox="1"/>
          <p:nvPr/>
        </p:nvSpPr>
        <p:spPr>
          <a:xfrm>
            <a:off x="6415887" y="2514600"/>
            <a:ext cx="2202103" cy="731520"/>
          </a:xfrm>
          <a:prstGeom prst="rect">
            <a:avLst/>
          </a:prstGeom>
          <a:noFill/>
        </p:spPr>
        <p:txBody>
          <a:bodyPr wrap="square" lIns="45720" rIns="45720" anchor="t">
            <a:spAutoFit/>
          </a:bodyPr>
          <a:lstStyle/>
          <a:p>
            <a:pPr algn="l"/>
            <a:r>
              <a:rPr sz="1600" b="1" i="0">
                <a:solidFill>
                  <a:srgbClr val="1C4E80"/>
                </a:solidFill>
                <a:latin typeface="Calibri"/>
              </a:rPr>
              <a:t>Dispute case: creation and resolution</a:t>
            </a:r>
          </a:p>
        </p:txBody>
      </p:sp>
      <p:sp>
        <p:nvSpPr>
          <p:cNvPr id="17" name="TextBox 16"/>
          <p:cNvSpPr txBox="1"/>
          <p:nvPr/>
        </p:nvSpPr>
        <p:spPr>
          <a:xfrm>
            <a:off x="6415887" y="3291840"/>
            <a:ext cx="2202103" cy="1463040"/>
          </a:xfrm>
          <a:prstGeom prst="rect">
            <a:avLst/>
          </a:prstGeom>
          <a:noFill/>
        </p:spPr>
        <p:txBody>
          <a:bodyPr wrap="square" lIns="45720" rIns="45720" anchor="t">
            <a:spAutoFit/>
          </a:bodyPr>
          <a:lstStyle/>
          <a:p>
            <a:pPr algn="l"/>
            <a:r>
              <a:rPr sz="1200" b="0" i="0">
                <a:solidFill>
                  <a:srgbClr val="1F2933"/>
                </a:solidFill>
                <a:latin typeface="Calibri"/>
              </a:rPr>
              <a:t>Disputes as cash blockers. Three creation paths, coordinator and processor, decision justified / not justified, reporting.</a:t>
            </a:r>
          </a:p>
        </p:txBody>
      </p:sp>
      <p:sp>
        <p:nvSpPr>
          <p:cNvPr id="18" name="Rounded Rectangle 17"/>
          <p:cNvSpPr/>
          <p:nvPr/>
        </p:nvSpPr>
        <p:spPr>
          <a:xfrm>
            <a:off x="9075191" y="1554480"/>
            <a:ext cx="2567863" cy="329184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9258071" y="1691640"/>
            <a:ext cx="914400" cy="822960"/>
          </a:xfrm>
          <a:prstGeom prst="rect">
            <a:avLst/>
          </a:prstGeom>
          <a:noFill/>
        </p:spPr>
        <p:txBody>
          <a:bodyPr wrap="square" lIns="45720" rIns="45720" anchor="t">
            <a:spAutoFit/>
          </a:bodyPr>
          <a:lstStyle/>
          <a:p>
            <a:pPr algn="l"/>
            <a:r>
              <a:rPr sz="4800" b="1" i="0">
                <a:solidFill>
                  <a:srgbClr val="0F8B8D"/>
                </a:solidFill>
                <a:latin typeface="Calibri"/>
              </a:rPr>
              <a:t>D</a:t>
            </a:r>
          </a:p>
        </p:txBody>
      </p:sp>
      <p:sp>
        <p:nvSpPr>
          <p:cNvPr id="20" name="TextBox 19"/>
          <p:cNvSpPr txBox="1"/>
          <p:nvPr/>
        </p:nvSpPr>
        <p:spPr>
          <a:xfrm>
            <a:off x="9258071" y="2514600"/>
            <a:ext cx="2202103" cy="731520"/>
          </a:xfrm>
          <a:prstGeom prst="rect">
            <a:avLst/>
          </a:prstGeom>
          <a:noFill/>
        </p:spPr>
        <p:txBody>
          <a:bodyPr wrap="square" lIns="45720" rIns="45720" anchor="t">
            <a:spAutoFit/>
          </a:bodyPr>
          <a:lstStyle/>
          <a:p>
            <a:pPr algn="l"/>
            <a:r>
              <a:rPr sz="1600" b="1" i="0">
                <a:solidFill>
                  <a:srgbClr val="1C4E80"/>
                </a:solidFill>
                <a:latin typeface="Calibri"/>
              </a:rPr>
              <a:t>Collection strategy configuration</a:t>
            </a:r>
          </a:p>
        </p:txBody>
      </p:sp>
      <p:sp>
        <p:nvSpPr>
          <p:cNvPr id="21" name="TextBox 20"/>
          <p:cNvSpPr txBox="1"/>
          <p:nvPr/>
        </p:nvSpPr>
        <p:spPr>
          <a:xfrm>
            <a:off x="9258071" y="3291840"/>
            <a:ext cx="2202103" cy="1463040"/>
          </a:xfrm>
          <a:prstGeom prst="rect">
            <a:avLst/>
          </a:prstGeom>
          <a:noFill/>
        </p:spPr>
        <p:txBody>
          <a:bodyPr wrap="square" lIns="45720" rIns="45720" anchor="t">
            <a:spAutoFit/>
          </a:bodyPr>
          <a:lstStyle/>
          <a:p>
            <a:pPr algn="l"/>
            <a:r>
              <a:rPr sz="1200" b="0" i="0">
                <a:solidFill>
                  <a:srgbClr val="1F2933"/>
                </a:solidFill>
                <a:latin typeface="Calibri"/>
              </a:rPr>
              <a:t>Risk policy as rules: rules, weights, priority. Organization of segment, profile, group, specialist. Outlook 7MA.</a:t>
            </a:r>
          </a:p>
        </p:txBody>
      </p:sp>
      <p:sp>
        <p:nvSpPr>
          <p:cNvPr id="22" name="TextBox 21"/>
          <p:cNvSpPr txBox="1"/>
          <p:nvPr/>
        </p:nvSpPr>
        <p:spPr>
          <a:xfrm>
            <a:off x="548640" y="5074920"/>
            <a:ext cx="11094415" cy="822960"/>
          </a:xfrm>
          <a:prstGeom prst="rect">
            <a:avLst/>
          </a:prstGeom>
          <a:noFill/>
        </p:spPr>
        <p:txBody>
          <a:bodyPr wrap="square" lIns="45720" rIns="45720" anchor="t">
            <a:spAutoFit/>
          </a:bodyPr>
          <a:lstStyle/>
          <a:p>
            <a:pPr algn="l"/>
            <a:r>
              <a:rPr sz="1300" b="0" i="0">
                <a:solidFill>
                  <a:srgbClr val="5F6B7A"/>
                </a:solidFill>
                <a:latin typeface="Calibri"/>
              </a:rPr>
              <a:t>Wrap-up: valuation adjustment and write-off (2PD), decisions required and open points.</a:t>
            </a:r>
          </a:p>
          <a:p>
            <a:pPr algn="l"/>
            <a:r>
              <a:rPr sz="1300" b="0" i="0">
                <a:solidFill>
                  <a:srgbClr val="5F6B7A"/>
                </a:solidFill>
                <a:latin typeface="Calibri"/>
              </a:rPr>
              <a:t>Each block: business context (why), process flow (how), apps and roles (with what), practice (demo).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94415" cy="274320"/>
          </a:xfrm>
          <a:prstGeom prst="rect">
            <a:avLst/>
          </a:prstGeom>
          <a:noFill/>
        </p:spPr>
        <p:txBody>
          <a:bodyPr wrap="square" lIns="45720" rIns="45720" anchor="t">
            <a:spAutoFit/>
          </a:bodyPr>
          <a:lstStyle/>
          <a:p>
            <a:pPr algn="l"/>
            <a:r>
              <a:rPr sz="1100" b="1" i="0">
                <a:solidFill>
                  <a:srgbClr val="0F8B8D"/>
                </a:solidFill>
                <a:latin typeface="Calibri"/>
              </a:rPr>
              <a:t>END-TO-END PICTURE</a:t>
            </a:r>
          </a:p>
        </p:txBody>
      </p:sp>
      <p:sp>
        <p:nvSpPr>
          <p:cNvPr id="3" name="TextBox 2"/>
          <p:cNvSpPr txBox="1"/>
          <p:nvPr/>
        </p:nvSpPr>
        <p:spPr>
          <a:xfrm>
            <a:off x="548640" y="548640"/>
            <a:ext cx="11094415" cy="868680"/>
          </a:xfrm>
          <a:prstGeom prst="rect">
            <a:avLst/>
          </a:prstGeom>
          <a:noFill/>
        </p:spPr>
        <p:txBody>
          <a:bodyPr wrap="square" lIns="45720" rIns="45720" anchor="ctr">
            <a:spAutoFit/>
          </a:bodyPr>
          <a:lstStyle/>
          <a:p>
            <a:pPr algn="l"/>
            <a:r>
              <a:rPr sz="2800" b="1" i="0">
                <a:solidFill>
                  <a:srgbClr val="1C4E80"/>
                </a:solidFill>
                <a:latin typeface="Calibri"/>
              </a:rPr>
              <a:t>From the overdue item to payment, credit memo or write-off</a:t>
            </a:r>
          </a:p>
        </p:txBody>
      </p:sp>
      <p:sp>
        <p:nvSpPr>
          <p:cNvPr id="4" name="TextBox 3"/>
          <p:cNvSpPr txBox="1"/>
          <p:nvPr/>
        </p:nvSpPr>
        <p:spPr>
          <a:xfrm>
            <a:off x="548640" y="6446520"/>
            <a:ext cx="8229600" cy="274320"/>
          </a:xfrm>
          <a:prstGeom prst="rect">
            <a:avLst/>
          </a:prstGeom>
          <a:noFill/>
        </p:spPr>
        <p:txBody>
          <a:bodyPr wrap="square" lIns="45720" rIns="45720" anchor="t">
            <a:spAutoFit/>
          </a:bodyPr>
          <a:lstStyle/>
          <a:p>
            <a:pPr algn="l"/>
            <a:r>
              <a:rPr sz="900" b="0" i="0">
                <a:solidFill>
                  <a:srgbClr val="5F6B7A"/>
                </a:solidFill>
                <a:latin typeface="Calibri"/>
              </a:rPr>
              <a:t>F2S Workshop 4  |  Collections &amp; Dispute Management  |  Overview</a:t>
            </a:r>
          </a:p>
        </p:txBody>
      </p:sp>
      <p:sp>
        <p:nvSpPr>
          <p:cNvPr id="5" name="TextBox 4"/>
          <p:cNvSpPr txBox="1"/>
          <p:nvPr/>
        </p:nvSpPr>
        <p:spPr>
          <a:xfrm>
            <a:off x="10728655" y="6446520"/>
            <a:ext cx="914400" cy="274320"/>
          </a:xfrm>
          <a:prstGeom prst="rect">
            <a:avLst/>
          </a:prstGeom>
          <a:noFill/>
        </p:spPr>
        <p:txBody>
          <a:bodyPr wrap="square" lIns="45720" rIns="45720" anchor="t">
            <a:spAutoFit/>
          </a:bodyPr>
          <a:lstStyle/>
          <a:p>
            <a:pPr algn="r"/>
            <a:r>
              <a:rPr sz="900" b="0" i="0">
                <a:solidFill>
                  <a:srgbClr val="5F6B7A"/>
                </a:solidFill>
                <a:latin typeface="Calibri"/>
              </a:rPr>
              <a:t>3</a:t>
            </a:r>
          </a:p>
        </p:txBody>
      </p:sp>
      <p:sp>
        <p:nvSpPr>
          <p:cNvPr id="6" name="Rounded Rectangle 5"/>
          <p:cNvSpPr/>
          <p:nvPr/>
        </p:nvSpPr>
        <p:spPr>
          <a:xfrm>
            <a:off x="548640" y="1554480"/>
            <a:ext cx="1711909" cy="868680"/>
          </a:xfrm>
          <a:prstGeom prst="roundRect">
            <a:avLst>
              <a:gd name="adj" fmla="val 12000"/>
            </a:avLst>
          </a:prstGeom>
          <a:solidFill>
            <a:srgbClr val="5F6B7A"/>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b="1" i="0">
                <a:solidFill>
                  <a:srgbClr val="FFFFFF"/>
                </a:solidFill>
                <a:latin typeface="Calibri"/>
              </a:rPr>
              <a:t>Invoice posted</a:t>
            </a:r>
          </a:p>
          <a:p>
            <a:pPr algn="ctr"/>
            <a:r>
              <a:rPr sz="1000" b="0" i="0">
                <a:solidFill>
                  <a:srgbClr val="FFFFFF"/>
                </a:solidFill>
                <a:latin typeface="Calibri"/>
              </a:rPr>
              <a:t>FI-AR open item</a:t>
            </a:r>
          </a:p>
        </p:txBody>
      </p:sp>
      <p:sp>
        <p:nvSpPr>
          <p:cNvPr id="7" name="Right Arrow 6"/>
          <p:cNvSpPr/>
          <p:nvPr/>
        </p:nvSpPr>
        <p:spPr>
          <a:xfrm>
            <a:off x="2278837" y="1897380"/>
            <a:ext cx="128016" cy="182880"/>
          </a:xfrm>
          <a:prstGeom prst="rightArrow">
            <a:avLst/>
          </a:prstGeom>
          <a:solidFill>
            <a:srgbClr val="C9D2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425141" y="1554480"/>
            <a:ext cx="1711909" cy="868680"/>
          </a:xfrm>
          <a:prstGeom prst="roundRect">
            <a:avLst>
              <a:gd name="adj" fmla="val 12000"/>
            </a:avLst>
          </a:prstGeom>
          <a:solidFill>
            <a:srgbClr val="5F6B7A"/>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b="1" i="0">
                <a:solidFill>
                  <a:srgbClr val="FFFFFF"/>
                </a:solidFill>
                <a:latin typeface="Calibri"/>
              </a:rPr>
              <a:t>Due date passed</a:t>
            </a:r>
          </a:p>
          <a:p>
            <a:pPr algn="ctr"/>
            <a:r>
              <a:rPr sz="1000" b="0" i="0">
                <a:solidFill>
                  <a:srgbClr val="FFFFFF"/>
                </a:solidFill>
                <a:latin typeface="Calibri"/>
              </a:rPr>
              <a:t>nightly transfer</a:t>
            </a:r>
          </a:p>
        </p:txBody>
      </p:sp>
      <p:sp>
        <p:nvSpPr>
          <p:cNvPr id="9" name="Right Arrow 8"/>
          <p:cNvSpPr/>
          <p:nvPr/>
        </p:nvSpPr>
        <p:spPr>
          <a:xfrm>
            <a:off x="4155338" y="1897380"/>
            <a:ext cx="128016" cy="182880"/>
          </a:xfrm>
          <a:prstGeom prst="rightArrow">
            <a:avLst/>
          </a:prstGeom>
          <a:solidFill>
            <a:srgbClr val="C9D2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4301642" y="1554480"/>
            <a:ext cx="1711909" cy="868680"/>
          </a:xfrm>
          <a:prstGeom prst="roundRect">
            <a:avLst>
              <a:gd name="adj" fmla="val 12000"/>
            </a:avLst>
          </a:prstGeom>
          <a:solidFill>
            <a:srgbClr val="1C4E80"/>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b="1" i="0">
                <a:solidFill>
                  <a:srgbClr val="FFFFFF"/>
                </a:solidFill>
                <a:latin typeface="Calibri"/>
              </a:rPr>
              <a:t>Dunning</a:t>
            </a:r>
          </a:p>
          <a:p>
            <a:pPr algn="ctr"/>
            <a:r>
              <a:rPr sz="1000" b="0" i="0">
                <a:solidFill>
                  <a:srgbClr val="FFFFFF"/>
                </a:solidFill>
                <a:latin typeface="Calibri"/>
              </a:rPr>
              <a:t>automatic, J59</a:t>
            </a:r>
          </a:p>
        </p:txBody>
      </p:sp>
      <p:sp>
        <p:nvSpPr>
          <p:cNvPr id="11" name="Right Arrow 10"/>
          <p:cNvSpPr/>
          <p:nvPr/>
        </p:nvSpPr>
        <p:spPr>
          <a:xfrm>
            <a:off x="6031839" y="1897380"/>
            <a:ext cx="128016" cy="182880"/>
          </a:xfrm>
          <a:prstGeom prst="rightArrow">
            <a:avLst/>
          </a:prstGeom>
          <a:solidFill>
            <a:srgbClr val="C9D2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178143" y="1554480"/>
            <a:ext cx="1711909" cy="868680"/>
          </a:xfrm>
          <a:prstGeom prst="roundRect">
            <a:avLst>
              <a:gd name="adj" fmla="val 12000"/>
            </a:avLst>
          </a:prstGeom>
          <a:solidFill>
            <a:srgbClr val="1C4E80"/>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b="1" i="0">
                <a:solidFill>
                  <a:srgbClr val="FFFFFF"/>
                </a:solidFill>
                <a:latin typeface="Calibri"/>
              </a:rPr>
              <a:t>Collections</a:t>
            </a:r>
          </a:p>
          <a:p>
            <a:pPr algn="ctr"/>
            <a:r>
              <a:rPr sz="1000" b="0" i="0">
                <a:solidFill>
                  <a:srgbClr val="FFFFFF"/>
                </a:solidFill>
                <a:latin typeface="Calibri"/>
              </a:rPr>
              <a:t>personal, prioritized</a:t>
            </a:r>
          </a:p>
        </p:txBody>
      </p:sp>
      <p:sp>
        <p:nvSpPr>
          <p:cNvPr id="13" name="Right Arrow 12"/>
          <p:cNvSpPr/>
          <p:nvPr/>
        </p:nvSpPr>
        <p:spPr>
          <a:xfrm>
            <a:off x="7908340" y="1897380"/>
            <a:ext cx="128016" cy="182880"/>
          </a:xfrm>
          <a:prstGeom prst="rightArrow">
            <a:avLst/>
          </a:prstGeom>
          <a:solidFill>
            <a:srgbClr val="C9D2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8054644" y="1554480"/>
            <a:ext cx="1711909" cy="868680"/>
          </a:xfrm>
          <a:prstGeom prst="roundRect">
            <a:avLst>
              <a:gd name="adj" fmla="val 12000"/>
            </a:avLst>
          </a:prstGeom>
          <a:solidFill>
            <a:srgbClr val="1C4E80"/>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b="1" i="0">
                <a:solidFill>
                  <a:srgbClr val="FFFFFF"/>
                </a:solidFill>
                <a:latin typeface="Calibri"/>
              </a:rPr>
              <a:t>Dispute</a:t>
            </a:r>
          </a:p>
          <a:p>
            <a:pPr algn="ctr"/>
            <a:r>
              <a:rPr sz="1000" b="0" i="0">
                <a:solidFill>
                  <a:srgbClr val="FFFFFF"/>
                </a:solidFill>
                <a:latin typeface="Calibri"/>
              </a:rPr>
              <a:t>case-based, cross-functional</a:t>
            </a:r>
          </a:p>
        </p:txBody>
      </p:sp>
      <p:sp>
        <p:nvSpPr>
          <p:cNvPr id="15" name="Right Arrow 14"/>
          <p:cNvSpPr/>
          <p:nvPr/>
        </p:nvSpPr>
        <p:spPr>
          <a:xfrm>
            <a:off x="9784841" y="1897380"/>
            <a:ext cx="128016" cy="182880"/>
          </a:xfrm>
          <a:prstGeom prst="rightArrow">
            <a:avLst/>
          </a:prstGeom>
          <a:solidFill>
            <a:srgbClr val="C9D2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9931145" y="1554480"/>
            <a:ext cx="1711909" cy="868680"/>
          </a:xfrm>
          <a:prstGeom prst="roundRect">
            <a:avLst>
              <a:gd name="adj" fmla="val 12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b="1" i="0" dirty="0">
                <a:solidFill>
                  <a:srgbClr val="FFFFFF"/>
                </a:solidFill>
                <a:latin typeface="Calibri"/>
              </a:rPr>
              <a:t>Payment / credit memo</a:t>
            </a:r>
          </a:p>
          <a:p>
            <a:pPr algn="ctr"/>
            <a:r>
              <a:rPr sz="1000" b="0" i="0">
                <a:solidFill>
                  <a:srgbClr val="FFFFFF"/>
                </a:solidFill>
                <a:latin typeface="Calibri"/>
              </a:rPr>
              <a:t>or write-off</a:t>
            </a:r>
            <a:endParaRPr sz="1000" b="0" i="0" dirty="0">
              <a:solidFill>
                <a:srgbClr val="FFFFFF"/>
              </a:solidFill>
              <a:latin typeface="Calibri"/>
            </a:endParaRPr>
          </a:p>
        </p:txBody>
      </p:sp>
      <p:sp>
        <p:nvSpPr>
          <p:cNvPr id="17" name="Rounded Rectangle 16"/>
          <p:cNvSpPr/>
          <p:nvPr/>
        </p:nvSpPr>
        <p:spPr>
          <a:xfrm>
            <a:off x="548640" y="2697480"/>
            <a:ext cx="3611880" cy="246888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85800" y="2834640"/>
            <a:ext cx="3337560" cy="365760"/>
          </a:xfrm>
          <a:prstGeom prst="rect">
            <a:avLst/>
          </a:prstGeom>
          <a:noFill/>
        </p:spPr>
        <p:txBody>
          <a:bodyPr wrap="square" lIns="45720" rIns="45720" anchor="ctr">
            <a:spAutoFit/>
          </a:bodyPr>
          <a:lstStyle/>
          <a:p>
            <a:pPr algn="l"/>
            <a:r>
              <a:rPr sz="1400" b="1" i="0">
                <a:solidFill>
                  <a:srgbClr val="1C4E80"/>
                </a:solidFill>
                <a:latin typeface="Calibri"/>
              </a:rPr>
              <a:t>Dunning: the baseline</a:t>
            </a:r>
          </a:p>
        </p:txBody>
      </p:sp>
      <p:sp>
        <p:nvSpPr>
          <p:cNvPr id="19" name="TextBox 18"/>
          <p:cNvSpPr txBox="1"/>
          <p:nvPr/>
        </p:nvSpPr>
        <p:spPr>
          <a:xfrm>
            <a:off x="685800" y="3218688"/>
            <a:ext cx="3337560" cy="1810512"/>
          </a:xfrm>
          <a:prstGeom prst="rect">
            <a:avLst/>
          </a:prstGeom>
          <a:noFill/>
        </p:spPr>
        <p:txBody>
          <a:bodyPr wrap="square" lIns="45720" rIns="45720">
            <a:spAutoFit/>
          </a:bodyPr>
          <a:lstStyle/>
          <a:p>
            <a:pPr marL="201168" indent="-201168">
              <a:spcAft>
                <a:spcPts val="300"/>
              </a:spcAft>
              <a:buChar char="•"/>
            </a:pPr>
            <a:r>
              <a:rPr sz="1200" b="0" i="0">
                <a:solidFill>
                  <a:srgbClr val="1F2933"/>
                </a:solidFill>
                <a:latin typeface="Calibri"/>
              </a:rPr>
              <a:t>No overdue item goes unnoticed</a:t>
            </a:r>
          </a:p>
          <a:p>
            <a:pPr marL="201168" indent="-201168">
              <a:spcAft>
                <a:spcPts val="300"/>
              </a:spcAft>
              <a:buChar char="•"/>
            </a:pPr>
            <a:r>
              <a:rPr sz="1200" b="0" i="0">
                <a:solidFill>
                  <a:srgbClr val="1F2933"/>
                </a:solidFill>
                <a:latin typeface="Calibri"/>
              </a:rPr>
              <a:t>Dunning procedure per customer, levels, intervals</a:t>
            </a:r>
          </a:p>
          <a:p>
            <a:pPr marL="201168" indent="-201168">
              <a:spcAft>
                <a:spcPts val="300"/>
              </a:spcAft>
              <a:buChar char="•"/>
            </a:pPr>
            <a:r>
              <a:rPr sz="1200" b="0" i="0">
                <a:solidFill>
                  <a:srgbClr val="1F2933"/>
                </a:solidFill>
                <a:latin typeface="Calibri"/>
              </a:rPr>
              <a:t>Documents default, legal basis</a:t>
            </a:r>
          </a:p>
          <a:p>
            <a:pPr marL="201168" indent="-201168">
              <a:spcAft>
                <a:spcPts val="300"/>
              </a:spcAft>
              <a:buChar char="•"/>
            </a:pPr>
            <a:r>
              <a:rPr sz="1200" b="0" i="0">
                <a:solidFill>
                  <a:srgbClr val="1F2933"/>
                </a:solidFill>
                <a:latin typeface="Calibri"/>
              </a:rPr>
              <a:t>Knows nothing about the reason for non-payment</a:t>
            </a:r>
          </a:p>
        </p:txBody>
      </p:sp>
      <p:sp>
        <p:nvSpPr>
          <p:cNvPr id="20" name="Rounded Rectangle 19"/>
          <p:cNvSpPr/>
          <p:nvPr/>
        </p:nvSpPr>
        <p:spPr>
          <a:xfrm>
            <a:off x="4343400" y="2697480"/>
            <a:ext cx="3611880" cy="246888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4480560" y="2834640"/>
            <a:ext cx="3337560" cy="365760"/>
          </a:xfrm>
          <a:prstGeom prst="rect">
            <a:avLst/>
          </a:prstGeom>
          <a:noFill/>
        </p:spPr>
        <p:txBody>
          <a:bodyPr wrap="square" lIns="45720" rIns="45720" anchor="ctr">
            <a:spAutoFit/>
          </a:bodyPr>
          <a:lstStyle/>
          <a:p>
            <a:pPr algn="l"/>
            <a:r>
              <a:rPr sz="1400" b="1" i="0">
                <a:solidFill>
                  <a:srgbClr val="1C4E80"/>
                </a:solidFill>
                <a:latin typeface="Calibri"/>
              </a:rPr>
              <a:t>Collections: managed contact</a:t>
            </a:r>
          </a:p>
        </p:txBody>
      </p:sp>
      <p:sp>
        <p:nvSpPr>
          <p:cNvPr id="22" name="TextBox 21"/>
          <p:cNvSpPr txBox="1"/>
          <p:nvPr/>
        </p:nvSpPr>
        <p:spPr>
          <a:xfrm>
            <a:off x="4480560" y="3218688"/>
            <a:ext cx="3337560" cy="1810512"/>
          </a:xfrm>
          <a:prstGeom prst="rect">
            <a:avLst/>
          </a:prstGeom>
          <a:noFill/>
        </p:spPr>
        <p:txBody>
          <a:bodyPr wrap="square" lIns="45720" rIns="45720">
            <a:spAutoFit/>
          </a:bodyPr>
          <a:lstStyle/>
          <a:p>
            <a:pPr marL="201168" indent="-201168">
              <a:spcAft>
                <a:spcPts val="300"/>
              </a:spcAft>
              <a:buChar char="•"/>
            </a:pPr>
            <a:r>
              <a:rPr sz="1200" b="0" i="0">
                <a:solidFill>
                  <a:srgbClr val="1F2933"/>
                </a:solidFill>
                <a:latin typeface="Calibri"/>
              </a:rPr>
              <a:t>Which customers does the team contact today for the greatest effect?</a:t>
            </a:r>
          </a:p>
          <a:p>
            <a:pPr marL="201168" indent="-201168">
              <a:spcAft>
                <a:spcPts val="300"/>
              </a:spcAft>
              <a:buChar char="•"/>
            </a:pPr>
            <a:r>
              <a:rPr sz="1200" b="0" i="0">
                <a:solidFill>
                  <a:srgbClr val="1F2933"/>
                </a:solidFill>
                <a:latin typeface="Calibri"/>
              </a:rPr>
              <a:t>Strategy scores, worklist prioritizes</a:t>
            </a:r>
          </a:p>
          <a:p>
            <a:pPr marL="201168" indent="-201168">
              <a:spcAft>
                <a:spcPts val="300"/>
              </a:spcAft>
              <a:buChar char="•"/>
            </a:pPr>
            <a:r>
              <a:rPr sz="1200" b="0" i="0">
                <a:solidFill>
                  <a:srgbClr val="1F2933"/>
                </a:solidFill>
                <a:latin typeface="Calibri"/>
              </a:rPr>
              <a:t>Outcome as object: promise, resubmission, dispute</a:t>
            </a:r>
          </a:p>
          <a:p>
            <a:pPr marL="201168" indent="-201168">
              <a:spcAft>
                <a:spcPts val="300"/>
              </a:spcAft>
              <a:buChar char="•"/>
            </a:pPr>
            <a:r>
              <a:rPr sz="1200" b="0" i="0">
                <a:solidFill>
                  <a:srgbClr val="1F2933"/>
                </a:solidFill>
                <a:latin typeface="Calibri"/>
              </a:rPr>
              <a:t>Promises are tracked automatically</a:t>
            </a:r>
          </a:p>
        </p:txBody>
      </p:sp>
      <p:sp>
        <p:nvSpPr>
          <p:cNvPr id="23" name="Rounded Rectangle 22"/>
          <p:cNvSpPr/>
          <p:nvPr/>
        </p:nvSpPr>
        <p:spPr>
          <a:xfrm>
            <a:off x="8138160" y="2697480"/>
            <a:ext cx="3611880" cy="246888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8275320" y="2834640"/>
            <a:ext cx="3337560" cy="365760"/>
          </a:xfrm>
          <a:prstGeom prst="rect">
            <a:avLst/>
          </a:prstGeom>
          <a:noFill/>
        </p:spPr>
        <p:txBody>
          <a:bodyPr wrap="square" lIns="45720" rIns="45720" anchor="ctr">
            <a:spAutoFit/>
          </a:bodyPr>
          <a:lstStyle/>
          <a:p>
            <a:pPr algn="l"/>
            <a:r>
              <a:rPr sz="1400" b="1" i="0">
                <a:solidFill>
                  <a:srgbClr val="1C4E80"/>
                </a:solidFill>
                <a:latin typeface="Calibri"/>
              </a:rPr>
              <a:t>Dispute: resolve the case</a:t>
            </a:r>
          </a:p>
        </p:txBody>
      </p:sp>
      <p:sp>
        <p:nvSpPr>
          <p:cNvPr id="25" name="TextBox 24"/>
          <p:cNvSpPr txBox="1"/>
          <p:nvPr/>
        </p:nvSpPr>
        <p:spPr>
          <a:xfrm>
            <a:off x="8275320" y="3218688"/>
            <a:ext cx="3337560" cy="1810512"/>
          </a:xfrm>
          <a:prstGeom prst="rect">
            <a:avLst/>
          </a:prstGeom>
          <a:noFill/>
        </p:spPr>
        <p:txBody>
          <a:bodyPr wrap="square" lIns="45720" rIns="45720">
            <a:spAutoFit/>
          </a:bodyPr>
          <a:lstStyle/>
          <a:p>
            <a:pPr marL="201168" indent="-201168">
              <a:spcAft>
                <a:spcPts val="300"/>
              </a:spcAft>
              <a:buChar char="•"/>
            </a:pPr>
            <a:r>
              <a:rPr sz="1200" b="0" i="0">
                <a:solidFill>
                  <a:srgbClr val="1F2933"/>
                </a:solidFill>
                <a:latin typeface="Calibri"/>
              </a:rPr>
              <a:t>Customer contests or short-pays the invoice</a:t>
            </a:r>
          </a:p>
          <a:p>
            <a:pPr marL="201168" indent="-201168">
              <a:spcAft>
                <a:spcPts val="300"/>
              </a:spcAft>
              <a:buChar char="•"/>
            </a:pPr>
            <a:r>
              <a:rPr sz="1200" b="0" i="0">
                <a:solidFill>
                  <a:srgbClr val="1F2933"/>
                </a:solidFill>
                <a:latin typeface="Calibri"/>
              </a:rPr>
              <a:t>One case, one owner, all documents</a:t>
            </a:r>
          </a:p>
          <a:p>
            <a:pPr marL="201168" indent="-201168">
              <a:spcAft>
                <a:spcPts val="300"/>
              </a:spcAft>
              <a:buChar char="•"/>
            </a:pPr>
            <a:r>
              <a:rPr sz="1200" b="0" i="0">
                <a:solidFill>
                  <a:srgbClr val="1F2933"/>
                </a:solidFill>
                <a:latin typeface="Calibri"/>
              </a:rPr>
              <a:t>Decision: justified, not justified, write-off</a:t>
            </a:r>
          </a:p>
          <a:p>
            <a:pPr marL="201168" indent="-201168">
              <a:spcAft>
                <a:spcPts val="300"/>
              </a:spcAft>
              <a:buChar char="•"/>
            </a:pPr>
            <a:r>
              <a:rPr sz="1200" b="0" i="0">
                <a:solidFill>
                  <a:srgbClr val="1F2933"/>
                </a:solidFill>
                <a:latin typeface="Calibri"/>
              </a:rPr>
              <a:t>Analysis by reason reveals own mistakes</a:t>
            </a:r>
          </a:p>
        </p:txBody>
      </p:sp>
      <p:sp>
        <p:nvSpPr>
          <p:cNvPr id="26" name="TextBox 25"/>
          <p:cNvSpPr txBox="1"/>
          <p:nvPr/>
        </p:nvSpPr>
        <p:spPr>
          <a:xfrm>
            <a:off x="548640" y="5349240"/>
            <a:ext cx="11094415" cy="548640"/>
          </a:xfrm>
          <a:prstGeom prst="rect">
            <a:avLst/>
          </a:prstGeom>
          <a:noFill/>
        </p:spPr>
        <p:txBody>
          <a:bodyPr wrap="square" lIns="45720" rIns="45720" anchor="t">
            <a:spAutoFit/>
          </a:bodyPr>
          <a:lstStyle/>
          <a:p>
            <a:pPr algn="l"/>
            <a:r>
              <a:rPr sz="1200" b="1" i="0">
                <a:solidFill>
                  <a:srgbClr val="0F8B8D"/>
                </a:solidFill>
                <a:latin typeface="Calibri"/>
              </a:rPr>
              <a:t>Integration: an open dispute case or a running promise to pay blocks the item for the dunning run. That is why all three processes run in the same system.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94415" cy="274320"/>
          </a:xfrm>
          <a:prstGeom prst="rect">
            <a:avLst/>
          </a:prstGeom>
          <a:noFill/>
        </p:spPr>
        <p:txBody>
          <a:bodyPr wrap="square" lIns="45720" rIns="45720" anchor="t">
            <a:spAutoFit/>
          </a:bodyPr>
          <a:lstStyle/>
          <a:p>
            <a:pPr algn="l"/>
            <a:r>
              <a:rPr sz="1100" b="1" i="0">
                <a:solidFill>
                  <a:srgbClr val="0F8B8D"/>
                </a:solidFill>
                <a:latin typeface="Calibri"/>
              </a:rPr>
              <a:t>A1  BUSINESS CONTEXT</a:t>
            </a:r>
          </a:p>
        </p:txBody>
      </p:sp>
      <p:sp>
        <p:nvSpPr>
          <p:cNvPr id="3" name="TextBox 2"/>
          <p:cNvSpPr txBox="1"/>
          <p:nvPr/>
        </p:nvSpPr>
        <p:spPr>
          <a:xfrm>
            <a:off x="548640" y="548640"/>
            <a:ext cx="11094415" cy="868680"/>
          </a:xfrm>
          <a:prstGeom prst="rect">
            <a:avLst/>
          </a:prstGeom>
          <a:noFill/>
        </p:spPr>
        <p:txBody>
          <a:bodyPr wrap="square" lIns="45720" rIns="45720" anchor="ctr">
            <a:spAutoFit/>
          </a:bodyPr>
          <a:lstStyle/>
          <a:p>
            <a:pPr algn="l"/>
            <a:r>
              <a:rPr sz="2800" b="1" i="0">
                <a:solidFill>
                  <a:srgbClr val="1C4E80"/>
                </a:solidFill>
                <a:latin typeface="Calibri"/>
              </a:rPr>
              <a:t>Why dunning alone is not enough</a:t>
            </a:r>
          </a:p>
        </p:txBody>
      </p:sp>
      <p:sp>
        <p:nvSpPr>
          <p:cNvPr id="4" name="TextBox 3"/>
          <p:cNvSpPr txBox="1"/>
          <p:nvPr/>
        </p:nvSpPr>
        <p:spPr>
          <a:xfrm>
            <a:off x="548640" y="6446520"/>
            <a:ext cx="8229600" cy="274320"/>
          </a:xfrm>
          <a:prstGeom prst="rect">
            <a:avLst/>
          </a:prstGeom>
          <a:noFill/>
        </p:spPr>
        <p:txBody>
          <a:bodyPr wrap="square" lIns="45720" rIns="45720" anchor="t">
            <a:spAutoFit/>
          </a:bodyPr>
          <a:lstStyle/>
          <a:p>
            <a:pPr algn="l"/>
            <a:r>
              <a:rPr sz="900" b="0" i="0">
                <a:solidFill>
                  <a:srgbClr val="5F6B7A"/>
                </a:solidFill>
                <a:latin typeface="Calibri"/>
              </a:rPr>
              <a:t>F2S Workshop 4  |  Collections &amp; Dispute Management  |  A  Automated collection workflow</a:t>
            </a:r>
          </a:p>
        </p:txBody>
      </p:sp>
      <p:sp>
        <p:nvSpPr>
          <p:cNvPr id="5" name="TextBox 4"/>
          <p:cNvSpPr txBox="1"/>
          <p:nvPr/>
        </p:nvSpPr>
        <p:spPr>
          <a:xfrm>
            <a:off x="10728655" y="6446520"/>
            <a:ext cx="914400" cy="274320"/>
          </a:xfrm>
          <a:prstGeom prst="rect">
            <a:avLst/>
          </a:prstGeom>
          <a:noFill/>
        </p:spPr>
        <p:txBody>
          <a:bodyPr wrap="square" lIns="45720" rIns="45720" anchor="t">
            <a:spAutoFit/>
          </a:bodyPr>
          <a:lstStyle/>
          <a:p>
            <a:pPr algn="r"/>
            <a:r>
              <a:rPr sz="900" b="0" i="0">
                <a:solidFill>
                  <a:srgbClr val="5F6B7A"/>
                </a:solidFill>
                <a:latin typeface="Calibri"/>
              </a:rPr>
              <a:t>4</a:t>
            </a:r>
          </a:p>
        </p:txBody>
      </p:sp>
      <p:sp>
        <p:nvSpPr>
          <p:cNvPr id="6" name="Rounded Rectangle 5"/>
          <p:cNvSpPr/>
          <p:nvPr/>
        </p:nvSpPr>
        <p:spPr>
          <a:xfrm>
            <a:off x="548640" y="1554480"/>
            <a:ext cx="3515258" cy="301752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31520" y="1691640"/>
            <a:ext cx="3149498" cy="457200"/>
          </a:xfrm>
          <a:prstGeom prst="rect">
            <a:avLst/>
          </a:prstGeom>
          <a:noFill/>
        </p:spPr>
        <p:txBody>
          <a:bodyPr wrap="square" lIns="45720" rIns="45720" anchor="t">
            <a:spAutoFit/>
          </a:bodyPr>
          <a:lstStyle/>
          <a:p>
            <a:pPr algn="l"/>
            <a:r>
              <a:rPr sz="1100" b="1" i="0">
                <a:solidFill>
                  <a:srgbClr val="0F8B8D"/>
                </a:solidFill>
                <a:latin typeface="Calibri"/>
              </a:rPr>
              <a:t>Reason 1</a:t>
            </a:r>
          </a:p>
        </p:txBody>
      </p:sp>
      <p:sp>
        <p:nvSpPr>
          <p:cNvPr id="8" name="TextBox 7"/>
          <p:cNvSpPr txBox="1"/>
          <p:nvPr/>
        </p:nvSpPr>
        <p:spPr>
          <a:xfrm>
            <a:off x="731520" y="2011680"/>
            <a:ext cx="3149498" cy="731520"/>
          </a:xfrm>
          <a:prstGeom prst="rect">
            <a:avLst/>
          </a:prstGeom>
          <a:noFill/>
        </p:spPr>
        <p:txBody>
          <a:bodyPr wrap="square" lIns="45720" rIns="45720" anchor="t">
            <a:spAutoFit/>
          </a:bodyPr>
          <a:lstStyle/>
          <a:p>
            <a:pPr algn="l"/>
            <a:r>
              <a:rPr sz="1700" b="1" i="0">
                <a:solidFill>
                  <a:srgbClr val="1C4E80"/>
                </a:solidFill>
                <a:latin typeface="Calibri"/>
              </a:rPr>
              <a:t>Forgotten or process error</a:t>
            </a:r>
          </a:p>
        </p:txBody>
      </p:sp>
      <p:sp>
        <p:nvSpPr>
          <p:cNvPr id="9" name="TextBox 8"/>
          <p:cNvSpPr txBox="1"/>
          <p:nvPr/>
        </p:nvSpPr>
        <p:spPr>
          <a:xfrm>
            <a:off x="731520" y="2743200"/>
            <a:ext cx="3149498" cy="914400"/>
          </a:xfrm>
          <a:prstGeom prst="rect">
            <a:avLst/>
          </a:prstGeom>
          <a:noFill/>
        </p:spPr>
        <p:txBody>
          <a:bodyPr wrap="square" lIns="45720" rIns="45720" anchor="t">
            <a:spAutoFit/>
          </a:bodyPr>
          <a:lstStyle/>
          <a:p>
            <a:pPr algn="l"/>
            <a:r>
              <a:rPr sz="1200" b="0" i="0">
                <a:solidFill>
                  <a:srgbClr val="1F2933"/>
                </a:solidFill>
                <a:latin typeface="Calibri"/>
              </a:rPr>
              <a:t>Invoice not received, not approved, wrong address.</a:t>
            </a:r>
          </a:p>
        </p:txBody>
      </p:sp>
      <p:sp>
        <p:nvSpPr>
          <p:cNvPr id="10" name="TextBox 9"/>
          <p:cNvSpPr txBox="1"/>
          <p:nvPr/>
        </p:nvSpPr>
        <p:spPr>
          <a:xfrm>
            <a:off x="731520" y="3611880"/>
            <a:ext cx="3149498" cy="411480"/>
          </a:xfrm>
          <a:prstGeom prst="rect">
            <a:avLst/>
          </a:prstGeom>
          <a:noFill/>
        </p:spPr>
        <p:txBody>
          <a:bodyPr wrap="square" lIns="45720" rIns="45720" anchor="t">
            <a:spAutoFit/>
          </a:bodyPr>
          <a:lstStyle/>
          <a:p>
            <a:pPr algn="l"/>
            <a:r>
              <a:rPr sz="1200" b="0" i="1">
                <a:solidFill>
                  <a:srgbClr val="5F6B7A"/>
                </a:solidFill>
                <a:latin typeface="Calibri"/>
              </a:rPr>
              <a:t>Response: reminder</a:t>
            </a:r>
          </a:p>
        </p:txBody>
      </p:sp>
      <p:sp>
        <p:nvSpPr>
          <p:cNvPr id="11" name="Rounded Rectangle 10"/>
          <p:cNvSpPr/>
          <p:nvPr/>
        </p:nvSpPr>
        <p:spPr>
          <a:xfrm>
            <a:off x="731520" y="4023360"/>
            <a:ext cx="3149498" cy="411480"/>
          </a:xfrm>
          <a:prstGeom prst="roundRect">
            <a:avLst>
              <a:gd name="adj" fmla="val 12000"/>
            </a:avLst>
          </a:prstGeom>
          <a:solidFill>
            <a:srgbClr val="5F6B7A"/>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FFFFFF"/>
                </a:solidFill>
                <a:latin typeface="Calibri"/>
              </a:rPr>
              <a:t>Dunning</a:t>
            </a:r>
          </a:p>
        </p:txBody>
      </p:sp>
      <p:sp>
        <p:nvSpPr>
          <p:cNvPr id="12" name="Rounded Rectangle 11"/>
          <p:cNvSpPr/>
          <p:nvPr/>
        </p:nvSpPr>
        <p:spPr>
          <a:xfrm>
            <a:off x="4338218" y="1554480"/>
            <a:ext cx="3515258" cy="301752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4521098" y="1691640"/>
            <a:ext cx="3149498" cy="457200"/>
          </a:xfrm>
          <a:prstGeom prst="rect">
            <a:avLst/>
          </a:prstGeom>
          <a:noFill/>
        </p:spPr>
        <p:txBody>
          <a:bodyPr wrap="square" lIns="45720" rIns="45720" anchor="t">
            <a:spAutoFit/>
          </a:bodyPr>
          <a:lstStyle/>
          <a:p>
            <a:pPr algn="l"/>
            <a:r>
              <a:rPr sz="1100" b="1" i="0">
                <a:solidFill>
                  <a:srgbClr val="0F8B8D"/>
                </a:solidFill>
                <a:latin typeface="Calibri"/>
              </a:rPr>
              <a:t>Reason 2</a:t>
            </a:r>
          </a:p>
        </p:txBody>
      </p:sp>
      <p:sp>
        <p:nvSpPr>
          <p:cNvPr id="14" name="TextBox 13"/>
          <p:cNvSpPr txBox="1"/>
          <p:nvPr/>
        </p:nvSpPr>
        <p:spPr>
          <a:xfrm>
            <a:off x="4521098" y="2011680"/>
            <a:ext cx="3149498" cy="731520"/>
          </a:xfrm>
          <a:prstGeom prst="rect">
            <a:avLst/>
          </a:prstGeom>
          <a:noFill/>
        </p:spPr>
        <p:txBody>
          <a:bodyPr wrap="square" lIns="45720" rIns="45720" anchor="t">
            <a:spAutoFit/>
          </a:bodyPr>
          <a:lstStyle/>
          <a:p>
            <a:pPr algn="l"/>
            <a:r>
              <a:rPr sz="1700" b="1" i="0">
                <a:solidFill>
                  <a:srgbClr val="1C4E80"/>
                </a:solidFill>
                <a:latin typeface="Calibri"/>
              </a:rPr>
              <a:t>Unwilling or unable to pay</a:t>
            </a:r>
          </a:p>
        </p:txBody>
      </p:sp>
      <p:sp>
        <p:nvSpPr>
          <p:cNvPr id="15" name="TextBox 14"/>
          <p:cNvSpPr txBox="1"/>
          <p:nvPr/>
        </p:nvSpPr>
        <p:spPr>
          <a:xfrm>
            <a:off x="4521098" y="2743200"/>
            <a:ext cx="3149498" cy="914400"/>
          </a:xfrm>
          <a:prstGeom prst="rect">
            <a:avLst/>
          </a:prstGeom>
          <a:noFill/>
        </p:spPr>
        <p:txBody>
          <a:bodyPr wrap="square" lIns="45720" rIns="45720" anchor="t">
            <a:spAutoFit/>
          </a:bodyPr>
          <a:lstStyle/>
          <a:p>
            <a:pPr algn="l"/>
            <a:r>
              <a:rPr sz="1200" b="0" i="0">
                <a:solidFill>
                  <a:srgbClr val="1F2933"/>
                </a:solidFill>
                <a:latin typeface="Calibri"/>
              </a:rPr>
              <a:t>Customer deliberately delays or cannot pay.</a:t>
            </a:r>
          </a:p>
        </p:txBody>
      </p:sp>
      <p:sp>
        <p:nvSpPr>
          <p:cNvPr id="16" name="TextBox 15"/>
          <p:cNvSpPr txBox="1"/>
          <p:nvPr/>
        </p:nvSpPr>
        <p:spPr>
          <a:xfrm>
            <a:off x="4521098" y="3611880"/>
            <a:ext cx="3149498" cy="411480"/>
          </a:xfrm>
          <a:prstGeom prst="rect">
            <a:avLst/>
          </a:prstGeom>
          <a:noFill/>
        </p:spPr>
        <p:txBody>
          <a:bodyPr wrap="square" lIns="45720" rIns="45720" anchor="t">
            <a:spAutoFit/>
          </a:bodyPr>
          <a:lstStyle/>
          <a:p>
            <a:pPr algn="l"/>
            <a:r>
              <a:rPr sz="1200" b="0" i="1">
                <a:solidFill>
                  <a:srgbClr val="5F6B7A"/>
                </a:solidFill>
                <a:latin typeface="Calibri"/>
              </a:rPr>
              <a:t>Response: call, commitment, risk check</a:t>
            </a:r>
          </a:p>
        </p:txBody>
      </p:sp>
      <p:sp>
        <p:nvSpPr>
          <p:cNvPr id="17" name="Rounded Rectangle 16"/>
          <p:cNvSpPr/>
          <p:nvPr/>
        </p:nvSpPr>
        <p:spPr>
          <a:xfrm>
            <a:off x="4521098" y="4023360"/>
            <a:ext cx="3149498" cy="411480"/>
          </a:xfrm>
          <a:prstGeom prst="roundRect">
            <a:avLst>
              <a:gd name="adj" fmla="val 12000"/>
            </a:avLst>
          </a:prstGeom>
          <a:solidFill>
            <a:srgbClr val="1C4E80"/>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FFFFFF"/>
                </a:solidFill>
                <a:latin typeface="Calibri"/>
              </a:rPr>
              <a:t>Collections Management</a:t>
            </a:r>
          </a:p>
        </p:txBody>
      </p:sp>
      <p:sp>
        <p:nvSpPr>
          <p:cNvPr id="18" name="Rounded Rectangle 17"/>
          <p:cNvSpPr/>
          <p:nvPr/>
        </p:nvSpPr>
        <p:spPr>
          <a:xfrm>
            <a:off x="8127796" y="1554480"/>
            <a:ext cx="3515258" cy="301752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310676" y="1691640"/>
            <a:ext cx="3149498" cy="457200"/>
          </a:xfrm>
          <a:prstGeom prst="rect">
            <a:avLst/>
          </a:prstGeom>
          <a:noFill/>
        </p:spPr>
        <p:txBody>
          <a:bodyPr wrap="square" lIns="45720" rIns="45720" anchor="t">
            <a:spAutoFit/>
          </a:bodyPr>
          <a:lstStyle/>
          <a:p>
            <a:pPr algn="l"/>
            <a:r>
              <a:rPr sz="1100" b="1" i="0">
                <a:solidFill>
                  <a:srgbClr val="0F8B8D"/>
                </a:solidFill>
                <a:latin typeface="Calibri"/>
              </a:rPr>
              <a:t>Reason 3</a:t>
            </a:r>
          </a:p>
        </p:txBody>
      </p:sp>
      <p:sp>
        <p:nvSpPr>
          <p:cNvPr id="20" name="TextBox 19"/>
          <p:cNvSpPr txBox="1"/>
          <p:nvPr/>
        </p:nvSpPr>
        <p:spPr>
          <a:xfrm>
            <a:off x="8310676" y="2011680"/>
            <a:ext cx="3149498" cy="731520"/>
          </a:xfrm>
          <a:prstGeom prst="rect">
            <a:avLst/>
          </a:prstGeom>
          <a:noFill/>
        </p:spPr>
        <p:txBody>
          <a:bodyPr wrap="square" lIns="45720" rIns="45720" anchor="t">
            <a:spAutoFit/>
          </a:bodyPr>
          <a:lstStyle/>
          <a:p>
            <a:pPr algn="l"/>
            <a:r>
              <a:rPr sz="1700" b="1" i="0">
                <a:solidFill>
                  <a:srgbClr val="1C4E80"/>
                </a:solidFill>
                <a:latin typeface="Calibri"/>
              </a:rPr>
              <a:t>Objection to the invoice</a:t>
            </a:r>
          </a:p>
        </p:txBody>
      </p:sp>
      <p:sp>
        <p:nvSpPr>
          <p:cNvPr id="21" name="TextBox 20"/>
          <p:cNvSpPr txBox="1"/>
          <p:nvPr/>
        </p:nvSpPr>
        <p:spPr>
          <a:xfrm>
            <a:off x="8310676" y="2743200"/>
            <a:ext cx="3149498" cy="914400"/>
          </a:xfrm>
          <a:prstGeom prst="rect">
            <a:avLst/>
          </a:prstGeom>
          <a:noFill/>
        </p:spPr>
        <p:txBody>
          <a:bodyPr wrap="square" lIns="45720" rIns="45720" anchor="t">
            <a:spAutoFit/>
          </a:bodyPr>
          <a:lstStyle/>
          <a:p>
            <a:pPr algn="l"/>
            <a:r>
              <a:rPr sz="1200" b="0" i="0">
                <a:solidFill>
                  <a:srgbClr val="1F2933"/>
                </a:solidFill>
                <a:latin typeface="Calibri"/>
              </a:rPr>
              <a:t>Price, quantity, quality, service, missing credit memo. Customer does not pay or short-pays.</a:t>
            </a:r>
          </a:p>
        </p:txBody>
      </p:sp>
      <p:sp>
        <p:nvSpPr>
          <p:cNvPr id="22" name="TextBox 21"/>
          <p:cNvSpPr txBox="1"/>
          <p:nvPr/>
        </p:nvSpPr>
        <p:spPr>
          <a:xfrm>
            <a:off x="8310676" y="3611880"/>
            <a:ext cx="3149498" cy="411480"/>
          </a:xfrm>
          <a:prstGeom prst="rect">
            <a:avLst/>
          </a:prstGeom>
          <a:noFill/>
        </p:spPr>
        <p:txBody>
          <a:bodyPr wrap="square" lIns="45720" rIns="45720" anchor="t">
            <a:spAutoFit/>
          </a:bodyPr>
          <a:lstStyle/>
          <a:p>
            <a:pPr algn="l"/>
            <a:r>
              <a:rPr sz="1200" b="0" i="1">
                <a:solidFill>
                  <a:srgbClr val="5F6B7A"/>
                </a:solidFill>
                <a:latin typeface="Calibri"/>
              </a:rPr>
              <a:t>Response: internal check, decision</a:t>
            </a:r>
          </a:p>
        </p:txBody>
      </p:sp>
      <p:sp>
        <p:nvSpPr>
          <p:cNvPr id="23" name="Rounded Rectangle 22"/>
          <p:cNvSpPr/>
          <p:nvPr/>
        </p:nvSpPr>
        <p:spPr>
          <a:xfrm>
            <a:off x="8310676" y="4023360"/>
            <a:ext cx="3149498" cy="411480"/>
          </a:xfrm>
          <a:prstGeom prst="roundRect">
            <a:avLst>
              <a:gd name="adj" fmla="val 12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FFFFFF"/>
                </a:solidFill>
                <a:latin typeface="Calibri"/>
              </a:rPr>
              <a:t>Dispute Management</a:t>
            </a:r>
          </a:p>
        </p:txBody>
      </p:sp>
      <p:sp>
        <p:nvSpPr>
          <p:cNvPr id="24" name="Rounded Rectangle 23"/>
          <p:cNvSpPr/>
          <p:nvPr/>
        </p:nvSpPr>
        <p:spPr>
          <a:xfrm>
            <a:off x="548640" y="4800600"/>
            <a:ext cx="11094415" cy="1005840"/>
          </a:xfrm>
          <a:prstGeom prst="roundRect">
            <a:avLst>
              <a:gd name="adj" fmla="val 12000"/>
            </a:avLst>
          </a:prstGeom>
          <a:solidFill>
            <a:srgbClr val="E6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777240" y="4864608"/>
            <a:ext cx="10637215" cy="914400"/>
          </a:xfrm>
          <a:prstGeom prst="rect">
            <a:avLst/>
          </a:prstGeom>
          <a:noFill/>
        </p:spPr>
        <p:txBody>
          <a:bodyPr wrap="square" lIns="45720" rIns="45720" anchor="ctr">
            <a:spAutoFit/>
          </a:bodyPr>
          <a:lstStyle/>
          <a:p>
            <a:pPr algn="l"/>
            <a:r>
              <a:rPr sz="1200" b="0" i="0">
                <a:solidFill>
                  <a:srgbClr val="1F2933"/>
                </a:solidFill>
                <a:latin typeface="Calibri"/>
              </a:rPr>
              <a:t>Value of Collections Management: every day the team talks to the customers where it matters most. The order is calculated, not guessed.</a:t>
            </a:r>
          </a:p>
          <a:p>
            <a:pPr algn="l"/>
            <a:r>
              <a:rPr sz="1200" b="0" i="0">
                <a:solidFill>
                  <a:srgbClr val="1F2933"/>
                </a:solidFill>
                <a:latin typeface="Calibri"/>
              </a:rPr>
              <a:t>KPIs: DSO, overdue volume by aging bucket, kept-promise ratio, collection effectiveness.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94415" cy="274320"/>
          </a:xfrm>
          <a:prstGeom prst="rect">
            <a:avLst/>
          </a:prstGeom>
          <a:noFill/>
        </p:spPr>
        <p:txBody>
          <a:bodyPr wrap="square" lIns="45720" rIns="45720" anchor="t">
            <a:spAutoFit/>
          </a:bodyPr>
          <a:lstStyle/>
          <a:p>
            <a:pPr algn="l"/>
            <a:r>
              <a:rPr sz="1100" b="1" i="0">
                <a:solidFill>
                  <a:srgbClr val="0F8B8D"/>
                </a:solidFill>
                <a:latin typeface="Calibri"/>
              </a:rPr>
              <a:t>A2  PROCESS FLOW</a:t>
            </a:r>
          </a:p>
        </p:txBody>
      </p:sp>
      <p:sp>
        <p:nvSpPr>
          <p:cNvPr id="3" name="TextBox 2"/>
          <p:cNvSpPr txBox="1"/>
          <p:nvPr/>
        </p:nvSpPr>
        <p:spPr>
          <a:xfrm>
            <a:off x="548640" y="548640"/>
            <a:ext cx="11094415" cy="868680"/>
          </a:xfrm>
          <a:prstGeom prst="rect">
            <a:avLst/>
          </a:prstGeom>
          <a:noFill/>
        </p:spPr>
        <p:txBody>
          <a:bodyPr wrap="square" lIns="45720" rIns="45720" anchor="ctr">
            <a:spAutoFit/>
          </a:bodyPr>
          <a:lstStyle/>
          <a:p>
            <a:pPr algn="l"/>
            <a:r>
              <a:rPr sz="2800" b="1" i="0">
                <a:solidFill>
                  <a:srgbClr val="1C4E80"/>
                </a:solidFill>
                <a:latin typeface="Calibri"/>
              </a:rPr>
              <a:t>The automated workflow in seven steps</a:t>
            </a:r>
          </a:p>
        </p:txBody>
      </p:sp>
      <p:sp>
        <p:nvSpPr>
          <p:cNvPr id="4" name="TextBox 3"/>
          <p:cNvSpPr txBox="1"/>
          <p:nvPr/>
        </p:nvSpPr>
        <p:spPr>
          <a:xfrm>
            <a:off x="548640" y="6446520"/>
            <a:ext cx="8229600" cy="274320"/>
          </a:xfrm>
          <a:prstGeom prst="rect">
            <a:avLst/>
          </a:prstGeom>
          <a:noFill/>
        </p:spPr>
        <p:txBody>
          <a:bodyPr wrap="square" lIns="45720" rIns="45720" anchor="t">
            <a:spAutoFit/>
          </a:bodyPr>
          <a:lstStyle/>
          <a:p>
            <a:pPr algn="l"/>
            <a:r>
              <a:rPr sz="900" b="0" i="0">
                <a:solidFill>
                  <a:srgbClr val="5F6B7A"/>
                </a:solidFill>
                <a:latin typeface="Calibri"/>
              </a:rPr>
              <a:t>F2S Workshop 4  |  Collections &amp; Dispute Management  |  A  Automated collection workflow</a:t>
            </a:r>
          </a:p>
        </p:txBody>
      </p:sp>
      <p:sp>
        <p:nvSpPr>
          <p:cNvPr id="5" name="TextBox 4"/>
          <p:cNvSpPr txBox="1"/>
          <p:nvPr/>
        </p:nvSpPr>
        <p:spPr>
          <a:xfrm>
            <a:off x="10728655" y="6446520"/>
            <a:ext cx="914400" cy="274320"/>
          </a:xfrm>
          <a:prstGeom prst="rect">
            <a:avLst/>
          </a:prstGeom>
          <a:noFill/>
        </p:spPr>
        <p:txBody>
          <a:bodyPr wrap="square" lIns="45720" rIns="45720" anchor="t">
            <a:spAutoFit/>
          </a:bodyPr>
          <a:lstStyle/>
          <a:p>
            <a:pPr algn="r"/>
            <a:r>
              <a:rPr sz="900" b="0" i="0">
                <a:solidFill>
                  <a:srgbClr val="5F6B7A"/>
                </a:solidFill>
                <a:latin typeface="Calibri"/>
              </a:rPr>
              <a:t>5</a:t>
            </a:r>
          </a:p>
        </p:txBody>
      </p:sp>
      <p:sp>
        <p:nvSpPr>
          <p:cNvPr id="6" name="Rounded Rectangle 5"/>
          <p:cNvSpPr/>
          <p:nvPr/>
        </p:nvSpPr>
        <p:spPr>
          <a:xfrm>
            <a:off x="548640" y="1554480"/>
            <a:ext cx="1443837" cy="914400"/>
          </a:xfrm>
          <a:prstGeom prst="roundRect">
            <a:avLst>
              <a:gd name="adj" fmla="val 12000"/>
            </a:avLst>
          </a:prstGeom>
          <a:solidFill>
            <a:srgbClr val="5F6B7A"/>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FFFFFF"/>
                </a:solidFill>
                <a:latin typeface="Calibri"/>
              </a:rPr>
              <a:t>1 Transfer</a:t>
            </a:r>
          </a:p>
          <a:p>
            <a:pPr algn="ctr"/>
            <a:r>
              <a:rPr sz="900" b="0" i="0">
                <a:solidFill>
                  <a:srgbClr val="FFFFFF"/>
                </a:solidFill>
                <a:latin typeface="Calibri"/>
              </a:rPr>
              <a:t>FI-AR items to Collections</a:t>
            </a:r>
          </a:p>
        </p:txBody>
      </p:sp>
      <p:sp>
        <p:nvSpPr>
          <p:cNvPr id="7" name="Right Arrow 6"/>
          <p:cNvSpPr/>
          <p:nvPr/>
        </p:nvSpPr>
        <p:spPr>
          <a:xfrm>
            <a:off x="2010765" y="1920240"/>
            <a:ext cx="128016" cy="182880"/>
          </a:xfrm>
          <a:prstGeom prst="rightArrow">
            <a:avLst/>
          </a:prstGeom>
          <a:solidFill>
            <a:srgbClr val="C9D2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157069" y="1554480"/>
            <a:ext cx="1443837" cy="914400"/>
          </a:xfrm>
          <a:prstGeom prst="roundRect">
            <a:avLst>
              <a:gd name="adj" fmla="val 12000"/>
            </a:avLst>
          </a:prstGeom>
          <a:solidFill>
            <a:srgbClr val="5F6B7A"/>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FFFFFF"/>
                </a:solidFill>
                <a:latin typeface="Calibri"/>
              </a:rPr>
              <a:t>2 Valuation</a:t>
            </a:r>
          </a:p>
          <a:p>
            <a:pPr algn="ctr"/>
            <a:r>
              <a:rPr sz="900" b="0" i="0">
                <a:solidFill>
                  <a:srgbClr val="FFFFFF"/>
                </a:solidFill>
                <a:latin typeface="Calibri"/>
              </a:rPr>
              <a:t>rules of the strategy</a:t>
            </a:r>
          </a:p>
        </p:txBody>
      </p:sp>
      <p:sp>
        <p:nvSpPr>
          <p:cNvPr id="9" name="Right Arrow 8"/>
          <p:cNvSpPr/>
          <p:nvPr/>
        </p:nvSpPr>
        <p:spPr>
          <a:xfrm>
            <a:off x="3619194" y="1920240"/>
            <a:ext cx="128016" cy="182880"/>
          </a:xfrm>
          <a:prstGeom prst="rightArrow">
            <a:avLst/>
          </a:prstGeom>
          <a:solidFill>
            <a:srgbClr val="C9D2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765498" y="1554480"/>
            <a:ext cx="1443837" cy="914400"/>
          </a:xfrm>
          <a:prstGeom prst="roundRect">
            <a:avLst>
              <a:gd name="adj" fmla="val 12000"/>
            </a:avLst>
          </a:prstGeom>
          <a:solidFill>
            <a:srgbClr val="5F6B7A"/>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FFFFFF"/>
                </a:solidFill>
                <a:latin typeface="Calibri"/>
              </a:rPr>
              <a:t>3 Prioritization</a:t>
            </a:r>
          </a:p>
          <a:p>
            <a:pPr algn="ctr"/>
            <a:r>
              <a:rPr sz="900" b="0" i="0">
                <a:solidFill>
                  <a:srgbClr val="FFFFFF"/>
                </a:solidFill>
                <a:latin typeface="Calibri"/>
              </a:rPr>
              <a:t>points → priority</a:t>
            </a:r>
          </a:p>
        </p:txBody>
      </p:sp>
      <p:sp>
        <p:nvSpPr>
          <p:cNvPr id="11" name="Right Arrow 10"/>
          <p:cNvSpPr/>
          <p:nvPr/>
        </p:nvSpPr>
        <p:spPr>
          <a:xfrm>
            <a:off x="5227623" y="1920240"/>
            <a:ext cx="128016" cy="182880"/>
          </a:xfrm>
          <a:prstGeom prst="rightArrow">
            <a:avLst/>
          </a:prstGeom>
          <a:solidFill>
            <a:srgbClr val="C9D2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373927" y="1554480"/>
            <a:ext cx="1443837" cy="914400"/>
          </a:xfrm>
          <a:prstGeom prst="roundRect">
            <a:avLst>
              <a:gd name="adj" fmla="val 12000"/>
            </a:avLst>
          </a:prstGeom>
          <a:solidFill>
            <a:srgbClr val="1C4E80"/>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FFFFFF"/>
                </a:solidFill>
                <a:latin typeface="Calibri"/>
              </a:rPr>
              <a:t>4 Worklist</a:t>
            </a:r>
          </a:p>
          <a:p>
            <a:pPr algn="ctr"/>
            <a:r>
              <a:rPr sz="900" b="0" i="0">
                <a:solidFill>
                  <a:srgbClr val="FFFFFF"/>
                </a:solidFill>
                <a:latin typeface="Calibri"/>
              </a:rPr>
              <a:t>per specialist, sorted</a:t>
            </a:r>
          </a:p>
        </p:txBody>
      </p:sp>
      <p:sp>
        <p:nvSpPr>
          <p:cNvPr id="13" name="Right Arrow 12"/>
          <p:cNvSpPr/>
          <p:nvPr/>
        </p:nvSpPr>
        <p:spPr>
          <a:xfrm>
            <a:off x="6836052" y="1920240"/>
            <a:ext cx="128016" cy="182880"/>
          </a:xfrm>
          <a:prstGeom prst="rightArrow">
            <a:avLst/>
          </a:prstGeom>
          <a:solidFill>
            <a:srgbClr val="C9D2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982356" y="1554480"/>
            <a:ext cx="1443837" cy="914400"/>
          </a:xfrm>
          <a:prstGeom prst="roundRect">
            <a:avLst>
              <a:gd name="adj" fmla="val 12000"/>
            </a:avLst>
          </a:prstGeom>
          <a:solidFill>
            <a:srgbClr val="1C4E80"/>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FFFFFF"/>
                </a:solidFill>
                <a:latin typeface="Calibri"/>
              </a:rPr>
              <a:t>5 Contact</a:t>
            </a:r>
          </a:p>
          <a:p>
            <a:pPr algn="ctr"/>
            <a:r>
              <a:rPr sz="900" b="0" i="0">
                <a:solidFill>
                  <a:srgbClr val="FFFFFF"/>
                </a:solidFill>
                <a:latin typeface="Calibri"/>
              </a:rPr>
              <a:t>call, e-mail</a:t>
            </a:r>
          </a:p>
        </p:txBody>
      </p:sp>
      <p:sp>
        <p:nvSpPr>
          <p:cNvPr id="15" name="Right Arrow 14"/>
          <p:cNvSpPr/>
          <p:nvPr/>
        </p:nvSpPr>
        <p:spPr>
          <a:xfrm>
            <a:off x="8444481" y="1920240"/>
            <a:ext cx="128016" cy="182880"/>
          </a:xfrm>
          <a:prstGeom prst="rightArrow">
            <a:avLst/>
          </a:prstGeom>
          <a:solidFill>
            <a:srgbClr val="C9D2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8590785" y="1554480"/>
            <a:ext cx="1443837" cy="914400"/>
          </a:xfrm>
          <a:prstGeom prst="roundRect">
            <a:avLst>
              <a:gd name="adj" fmla="val 12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FFFFFF"/>
                </a:solidFill>
                <a:latin typeface="Calibri"/>
              </a:rPr>
              <a:t>6 Follow-up</a:t>
            </a:r>
          </a:p>
          <a:p>
            <a:pPr algn="ctr"/>
            <a:r>
              <a:rPr sz="900" b="0" i="0">
                <a:solidFill>
                  <a:srgbClr val="FFFFFF"/>
                </a:solidFill>
                <a:latin typeface="Calibri"/>
              </a:rPr>
              <a:t>promise kept / broken</a:t>
            </a:r>
          </a:p>
        </p:txBody>
      </p:sp>
      <p:sp>
        <p:nvSpPr>
          <p:cNvPr id="17" name="Right Arrow 16"/>
          <p:cNvSpPr/>
          <p:nvPr/>
        </p:nvSpPr>
        <p:spPr>
          <a:xfrm>
            <a:off x="10052910" y="1920240"/>
            <a:ext cx="128016" cy="182880"/>
          </a:xfrm>
          <a:prstGeom prst="rightArrow">
            <a:avLst/>
          </a:prstGeom>
          <a:solidFill>
            <a:srgbClr val="C9D2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10199214" y="1554480"/>
            <a:ext cx="1443837" cy="914400"/>
          </a:xfrm>
          <a:prstGeom prst="roundRect">
            <a:avLst>
              <a:gd name="adj" fmla="val 12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FFFFFF"/>
                </a:solidFill>
                <a:latin typeface="Calibri"/>
              </a:rPr>
              <a:t>7 Supervision</a:t>
            </a:r>
          </a:p>
          <a:p>
            <a:pPr algn="ctr"/>
            <a:r>
              <a:rPr sz="900" b="0" i="0">
                <a:solidFill>
                  <a:srgbClr val="FFFFFF"/>
                </a:solidFill>
                <a:latin typeface="Calibri"/>
              </a:rPr>
              <a:t>manager reporting</a:t>
            </a:r>
          </a:p>
        </p:txBody>
      </p:sp>
      <p:sp>
        <p:nvSpPr>
          <p:cNvPr id="19" name="TextBox 18"/>
          <p:cNvSpPr txBox="1"/>
          <p:nvPr/>
        </p:nvSpPr>
        <p:spPr>
          <a:xfrm>
            <a:off x="548640" y="2514600"/>
            <a:ext cx="4572000" cy="274320"/>
          </a:xfrm>
          <a:prstGeom prst="rect">
            <a:avLst/>
          </a:prstGeom>
          <a:noFill/>
        </p:spPr>
        <p:txBody>
          <a:bodyPr wrap="square" lIns="45720" rIns="45720" anchor="t">
            <a:spAutoFit/>
          </a:bodyPr>
          <a:lstStyle/>
          <a:p>
            <a:pPr algn="l"/>
            <a:r>
              <a:rPr sz="1000" b="0" i="1">
                <a:solidFill>
                  <a:srgbClr val="5F6B7A"/>
                </a:solidFill>
                <a:latin typeface="Calibri"/>
              </a:rPr>
              <a:t>automatic, daily job</a:t>
            </a:r>
          </a:p>
        </p:txBody>
      </p:sp>
      <p:sp>
        <p:nvSpPr>
          <p:cNvPr id="20" name="TextBox 19"/>
          <p:cNvSpPr txBox="1"/>
          <p:nvPr/>
        </p:nvSpPr>
        <p:spPr>
          <a:xfrm>
            <a:off x="5303520" y="2514600"/>
            <a:ext cx="3657600" cy="274320"/>
          </a:xfrm>
          <a:prstGeom prst="rect">
            <a:avLst/>
          </a:prstGeom>
          <a:noFill/>
        </p:spPr>
        <p:txBody>
          <a:bodyPr wrap="square" lIns="45720" rIns="45720" anchor="t">
            <a:spAutoFit/>
          </a:bodyPr>
          <a:lstStyle/>
          <a:p>
            <a:pPr algn="l"/>
            <a:r>
              <a:rPr sz="1000" b="0" i="1">
                <a:solidFill>
                  <a:srgbClr val="5F6B7A"/>
                </a:solidFill>
                <a:latin typeface="Calibri"/>
              </a:rPr>
              <a:t>specialist</a:t>
            </a:r>
          </a:p>
        </p:txBody>
      </p:sp>
      <p:sp>
        <p:nvSpPr>
          <p:cNvPr id="21" name="TextBox 20"/>
          <p:cNvSpPr txBox="1"/>
          <p:nvPr/>
        </p:nvSpPr>
        <p:spPr>
          <a:xfrm>
            <a:off x="9966960" y="2514600"/>
            <a:ext cx="1828800" cy="274320"/>
          </a:xfrm>
          <a:prstGeom prst="rect">
            <a:avLst/>
          </a:prstGeom>
          <a:noFill/>
        </p:spPr>
        <p:txBody>
          <a:bodyPr wrap="square" lIns="45720" rIns="45720" anchor="t">
            <a:spAutoFit/>
          </a:bodyPr>
          <a:lstStyle/>
          <a:p>
            <a:pPr algn="l"/>
            <a:r>
              <a:rPr sz="1000" b="0" i="1">
                <a:solidFill>
                  <a:srgbClr val="5F6B7A"/>
                </a:solidFill>
                <a:latin typeface="Calibri"/>
              </a:rPr>
              <a:t>system / manager</a:t>
            </a:r>
          </a:p>
        </p:txBody>
      </p:sp>
      <p:sp>
        <p:nvSpPr>
          <p:cNvPr id="22" name="Rounded Rectangle 21"/>
          <p:cNvSpPr/>
          <p:nvPr/>
        </p:nvSpPr>
        <p:spPr>
          <a:xfrm>
            <a:off x="548640" y="2926080"/>
            <a:ext cx="5486400" cy="237744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685800" y="3063240"/>
            <a:ext cx="5212080" cy="365760"/>
          </a:xfrm>
          <a:prstGeom prst="rect">
            <a:avLst/>
          </a:prstGeom>
          <a:noFill/>
        </p:spPr>
        <p:txBody>
          <a:bodyPr wrap="square" lIns="45720" rIns="45720" anchor="ctr">
            <a:spAutoFit/>
          </a:bodyPr>
          <a:lstStyle/>
          <a:p>
            <a:pPr algn="l"/>
            <a:r>
              <a:rPr sz="1400" b="1" i="0">
                <a:solidFill>
                  <a:srgbClr val="1C4E80"/>
                </a:solidFill>
                <a:latin typeface="Calibri"/>
              </a:rPr>
              <a:t>Outcome objects of a customer contact</a:t>
            </a:r>
          </a:p>
        </p:txBody>
      </p:sp>
      <p:sp>
        <p:nvSpPr>
          <p:cNvPr id="24" name="TextBox 23"/>
          <p:cNvSpPr txBox="1"/>
          <p:nvPr/>
        </p:nvSpPr>
        <p:spPr>
          <a:xfrm>
            <a:off x="685800" y="3447288"/>
            <a:ext cx="5212080" cy="1719072"/>
          </a:xfrm>
          <a:prstGeom prst="rect">
            <a:avLst/>
          </a:prstGeom>
          <a:noFill/>
        </p:spPr>
        <p:txBody>
          <a:bodyPr wrap="square" lIns="45720" rIns="45720">
            <a:spAutoFit/>
          </a:bodyPr>
          <a:lstStyle/>
          <a:p>
            <a:pPr marL="201168" indent="-201168">
              <a:spcAft>
                <a:spcPts val="300"/>
              </a:spcAft>
              <a:buChar char="•"/>
            </a:pPr>
            <a:r>
              <a:rPr sz="1200" b="1" i="0">
                <a:solidFill>
                  <a:srgbClr val="1F2933"/>
                </a:solidFill>
                <a:latin typeface="Calibri"/>
              </a:rPr>
              <a:t>Promise to pay: </a:t>
            </a:r>
            <a:r>
              <a:rPr sz="1200" b="0" i="0">
                <a:solidFill>
                  <a:srgbClr val="1F2933"/>
                </a:solidFill>
                <a:latin typeface="Calibri"/>
              </a:rPr>
              <a:t>amount and date; item is not dunned; automatically kept/broken</a:t>
            </a:r>
          </a:p>
          <a:p>
            <a:pPr marL="201168" indent="-201168">
              <a:spcAft>
                <a:spcPts val="300"/>
              </a:spcAft>
              <a:buChar char="•"/>
            </a:pPr>
            <a:r>
              <a:rPr sz="1200" b="1" i="0">
                <a:solidFill>
                  <a:srgbClr val="1F2933"/>
                </a:solidFill>
                <a:latin typeface="Calibri"/>
              </a:rPr>
              <a:t>Resubmission: </a:t>
            </a:r>
            <a:r>
              <a:rPr sz="1200" b="0" i="0">
                <a:solidFill>
                  <a:srgbClr val="1F2933"/>
                </a:solidFill>
                <a:latin typeface="Calibri"/>
              </a:rPr>
              <a:t>customer disappears from the worklist until the date</a:t>
            </a:r>
          </a:p>
          <a:p>
            <a:pPr marL="201168" indent="-201168">
              <a:spcAft>
                <a:spcPts val="300"/>
              </a:spcAft>
              <a:buChar char="•"/>
            </a:pPr>
            <a:r>
              <a:rPr sz="1200" b="1" i="0">
                <a:solidFill>
                  <a:srgbClr val="1F2933"/>
                </a:solidFill>
                <a:latin typeface="Calibri"/>
              </a:rPr>
              <a:t>Dispute case: </a:t>
            </a:r>
            <a:r>
              <a:rPr sz="1200" b="0" i="0">
                <a:solidFill>
                  <a:srgbClr val="1F2933"/>
                </a:solidFill>
                <a:latin typeface="Calibri"/>
              </a:rPr>
              <a:t>invoice is contested; item blocked for dunning</a:t>
            </a:r>
          </a:p>
          <a:p>
            <a:pPr marL="201168" indent="-201168">
              <a:spcAft>
                <a:spcPts val="300"/>
              </a:spcAft>
              <a:buChar char="•"/>
            </a:pPr>
            <a:r>
              <a:rPr sz="1200" b="1" i="0">
                <a:solidFill>
                  <a:srgbClr val="1F2933"/>
                </a:solidFill>
                <a:latin typeface="Calibri"/>
              </a:rPr>
              <a:t>Correspondence / e-mail: </a:t>
            </a:r>
            <a:r>
              <a:rPr sz="1200" b="0" i="0">
                <a:solidFill>
                  <a:srgbClr val="1F2933"/>
                </a:solidFill>
                <a:latin typeface="Calibri"/>
              </a:rPr>
              <a:t>account statement, open item list, contact recap</a:t>
            </a:r>
          </a:p>
          <a:p>
            <a:pPr marL="201168" indent="-201168">
              <a:spcAft>
                <a:spcPts val="300"/>
              </a:spcAft>
              <a:buChar char="•"/>
            </a:pPr>
            <a:r>
              <a:rPr sz="1200" b="1" i="0">
                <a:solidFill>
                  <a:srgbClr val="1F2933"/>
                </a:solidFill>
                <a:latin typeface="Calibri"/>
              </a:rPr>
              <a:t>Contact note: </a:t>
            </a:r>
            <a:r>
              <a:rPr sz="1200" b="0" i="0">
                <a:solidFill>
                  <a:srgbClr val="1F2933"/>
                </a:solidFill>
                <a:latin typeface="Calibri"/>
              </a:rPr>
              <a:t>result, contact person, history for substitutes</a:t>
            </a:r>
          </a:p>
        </p:txBody>
      </p:sp>
      <p:sp>
        <p:nvSpPr>
          <p:cNvPr id="25" name="Rounded Rectangle 24"/>
          <p:cNvSpPr/>
          <p:nvPr/>
        </p:nvSpPr>
        <p:spPr>
          <a:xfrm>
            <a:off x="6217920" y="2926080"/>
            <a:ext cx="5394960" cy="2377440"/>
          </a:xfrm>
          <a:prstGeom prst="roundRect">
            <a:avLst>
              <a:gd name="adj" fmla="val 12000"/>
            </a:avLst>
          </a:prstGeom>
          <a:solidFill>
            <a:srgbClr val="E6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6355080" y="3063240"/>
            <a:ext cx="5120640" cy="365760"/>
          </a:xfrm>
          <a:prstGeom prst="rect">
            <a:avLst/>
          </a:prstGeom>
          <a:noFill/>
        </p:spPr>
        <p:txBody>
          <a:bodyPr wrap="square" lIns="45720" rIns="45720" anchor="ctr">
            <a:spAutoFit/>
          </a:bodyPr>
          <a:lstStyle/>
          <a:p>
            <a:pPr algn="l"/>
            <a:r>
              <a:rPr sz="1400" b="1" i="0">
                <a:solidFill>
                  <a:srgbClr val="1C4E80"/>
                </a:solidFill>
                <a:latin typeface="Calibri"/>
              </a:rPr>
              <a:t>What the customer has to decide in the workshop</a:t>
            </a:r>
          </a:p>
        </p:txBody>
      </p:sp>
      <p:sp>
        <p:nvSpPr>
          <p:cNvPr id="27" name="TextBox 26"/>
          <p:cNvSpPr txBox="1"/>
          <p:nvPr/>
        </p:nvSpPr>
        <p:spPr>
          <a:xfrm>
            <a:off x="6355080" y="3447288"/>
            <a:ext cx="5120640" cy="1719072"/>
          </a:xfrm>
          <a:prstGeom prst="rect">
            <a:avLst/>
          </a:prstGeom>
          <a:noFill/>
        </p:spPr>
        <p:txBody>
          <a:bodyPr wrap="square" lIns="45720" rIns="45720">
            <a:spAutoFit/>
          </a:bodyPr>
          <a:lstStyle/>
          <a:p>
            <a:pPr marL="201168" indent="-201168">
              <a:spcAft>
                <a:spcPts val="300"/>
              </a:spcAft>
              <a:buChar char="•"/>
            </a:pPr>
            <a:r>
              <a:rPr sz="1200" b="0" i="0">
                <a:solidFill>
                  <a:srgbClr val="1F2933"/>
                </a:solidFill>
                <a:latin typeface="Calibri"/>
              </a:rPr>
              <a:t>Which customers take part in the collections process (all or only risk classes)?</a:t>
            </a:r>
          </a:p>
          <a:p>
            <a:pPr marL="201168" indent="-201168">
              <a:spcAft>
                <a:spcPts val="300"/>
              </a:spcAft>
              <a:buChar char="•"/>
            </a:pPr>
            <a:r>
              <a:rPr sz="1200" b="0" i="0">
                <a:solidFill>
                  <a:srgbClr val="1F2933"/>
                </a:solidFill>
                <a:latin typeface="Calibri"/>
              </a:rPr>
              <a:t>How is the team organized: segments, groups, specialists, substitutes?</a:t>
            </a:r>
          </a:p>
          <a:p>
            <a:pPr marL="201168" indent="-201168">
              <a:spcAft>
                <a:spcPts val="300"/>
              </a:spcAft>
              <a:buChar char="•"/>
            </a:pPr>
            <a:r>
              <a:rPr sz="1200" b="0" i="0">
                <a:solidFill>
                  <a:srgbClr val="1F2933"/>
                </a:solidFill>
                <a:latin typeface="Calibri"/>
              </a:rPr>
              <a:t>Which criteria decide today who gets called? (→ strategy)</a:t>
            </a:r>
          </a:p>
          <a:p>
            <a:pPr marL="201168" indent="-201168">
              <a:spcAft>
                <a:spcPts val="300"/>
              </a:spcAft>
              <a:buChar char="•"/>
            </a:pPr>
            <a:r>
              <a:rPr sz="1200" b="0" i="0">
                <a:solidFill>
                  <a:srgbClr val="1F2933"/>
                </a:solidFill>
                <a:latin typeface="Calibri"/>
              </a:rPr>
              <a:t>Which correspondence goes out, in which languages, by e-mail or print?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94415" cy="274320"/>
          </a:xfrm>
          <a:prstGeom prst="rect">
            <a:avLst/>
          </a:prstGeom>
          <a:noFill/>
        </p:spPr>
        <p:txBody>
          <a:bodyPr wrap="square" lIns="45720" rIns="45720" anchor="t">
            <a:spAutoFit/>
          </a:bodyPr>
          <a:lstStyle/>
          <a:p>
            <a:pPr algn="l"/>
            <a:r>
              <a:rPr sz="1100" b="1" i="0">
                <a:solidFill>
                  <a:srgbClr val="0F8B8D"/>
                </a:solidFill>
                <a:latin typeface="Calibri"/>
              </a:rPr>
              <a:t>A3  ORGANIZATION AND MASTER DATA</a:t>
            </a:r>
          </a:p>
        </p:txBody>
      </p:sp>
      <p:sp>
        <p:nvSpPr>
          <p:cNvPr id="3" name="TextBox 2"/>
          <p:cNvSpPr txBox="1"/>
          <p:nvPr/>
        </p:nvSpPr>
        <p:spPr>
          <a:xfrm>
            <a:off x="548640" y="548640"/>
            <a:ext cx="11094415" cy="868680"/>
          </a:xfrm>
          <a:prstGeom prst="rect">
            <a:avLst/>
          </a:prstGeom>
          <a:noFill/>
        </p:spPr>
        <p:txBody>
          <a:bodyPr wrap="square" lIns="45720" rIns="45720" anchor="ctr">
            <a:spAutoFit/>
          </a:bodyPr>
          <a:lstStyle/>
          <a:p>
            <a:pPr algn="l"/>
            <a:r>
              <a:rPr sz="2800" b="1" i="0">
                <a:solidFill>
                  <a:srgbClr val="1C4E80"/>
                </a:solidFill>
                <a:latin typeface="Calibri"/>
              </a:rPr>
              <a:t>Organizational model: profile, segment, group, specialist</a:t>
            </a:r>
          </a:p>
        </p:txBody>
      </p:sp>
      <p:sp>
        <p:nvSpPr>
          <p:cNvPr id="4" name="TextBox 3"/>
          <p:cNvSpPr txBox="1"/>
          <p:nvPr/>
        </p:nvSpPr>
        <p:spPr>
          <a:xfrm>
            <a:off x="548640" y="6446520"/>
            <a:ext cx="8229600" cy="274320"/>
          </a:xfrm>
          <a:prstGeom prst="rect">
            <a:avLst/>
          </a:prstGeom>
          <a:noFill/>
        </p:spPr>
        <p:txBody>
          <a:bodyPr wrap="square" lIns="45720" rIns="45720" anchor="t">
            <a:spAutoFit/>
          </a:bodyPr>
          <a:lstStyle/>
          <a:p>
            <a:pPr algn="l"/>
            <a:r>
              <a:rPr sz="900" b="0" i="0">
                <a:solidFill>
                  <a:srgbClr val="5F6B7A"/>
                </a:solidFill>
                <a:latin typeface="Calibri"/>
              </a:rPr>
              <a:t>F2S Workshop 4  |  Collections &amp; Dispute Management  |  A  Automated collection workflow</a:t>
            </a:r>
          </a:p>
        </p:txBody>
      </p:sp>
      <p:sp>
        <p:nvSpPr>
          <p:cNvPr id="5" name="TextBox 4"/>
          <p:cNvSpPr txBox="1"/>
          <p:nvPr/>
        </p:nvSpPr>
        <p:spPr>
          <a:xfrm>
            <a:off x="10728655" y="6446520"/>
            <a:ext cx="914400" cy="274320"/>
          </a:xfrm>
          <a:prstGeom prst="rect">
            <a:avLst/>
          </a:prstGeom>
          <a:noFill/>
        </p:spPr>
        <p:txBody>
          <a:bodyPr wrap="square" lIns="45720" rIns="45720" anchor="t">
            <a:spAutoFit/>
          </a:bodyPr>
          <a:lstStyle/>
          <a:p>
            <a:pPr algn="r"/>
            <a:r>
              <a:rPr sz="900" b="0" i="0">
                <a:solidFill>
                  <a:srgbClr val="5F6B7A"/>
                </a:solidFill>
                <a:latin typeface="Calibri"/>
              </a:rPr>
              <a:t>6</a:t>
            </a:r>
          </a:p>
        </p:txBody>
      </p:sp>
      <p:sp>
        <p:nvSpPr>
          <p:cNvPr id="6" name="Rounded Rectangle 5"/>
          <p:cNvSpPr/>
          <p:nvPr/>
        </p:nvSpPr>
        <p:spPr>
          <a:xfrm>
            <a:off x="548640" y="1554480"/>
            <a:ext cx="2377440" cy="640080"/>
          </a:xfrm>
          <a:prstGeom prst="roundRect">
            <a:avLst>
              <a:gd name="adj" fmla="val 12000"/>
            </a:avLst>
          </a:prstGeom>
          <a:solidFill>
            <a:srgbClr val="1C4E80"/>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b="1" i="0">
                <a:solidFill>
                  <a:srgbClr val="FFFFFF"/>
                </a:solidFill>
                <a:latin typeface="Calibri"/>
              </a:rPr>
              <a:t>Collection Segment</a:t>
            </a:r>
          </a:p>
          <a:p>
            <a:pPr algn="ctr"/>
            <a:r>
              <a:rPr sz="900" b="0" i="0">
                <a:solidFill>
                  <a:srgbClr val="FFFFFF"/>
                </a:solidFill>
                <a:latin typeface="Calibri"/>
              </a:rPr>
              <a:t>org unit: company code, country, business area</a:t>
            </a:r>
          </a:p>
        </p:txBody>
      </p:sp>
      <p:sp>
        <p:nvSpPr>
          <p:cNvPr id="7" name="Down Arrow 6"/>
          <p:cNvSpPr/>
          <p:nvPr/>
        </p:nvSpPr>
        <p:spPr>
          <a:xfrm>
            <a:off x="1627632" y="2240280"/>
            <a:ext cx="219456" cy="228600"/>
          </a:xfrm>
          <a:prstGeom prst="downArrow">
            <a:avLst/>
          </a:prstGeom>
          <a:solidFill>
            <a:srgbClr val="C9D2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48640" y="2514600"/>
            <a:ext cx="2377440" cy="640080"/>
          </a:xfrm>
          <a:prstGeom prst="roundRect">
            <a:avLst>
              <a:gd name="adj" fmla="val 12000"/>
            </a:avLst>
          </a:prstGeom>
          <a:solidFill>
            <a:srgbClr val="1C4E80"/>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b="1" i="0">
                <a:solidFill>
                  <a:srgbClr val="FFFFFF"/>
                </a:solidFill>
                <a:latin typeface="Calibri"/>
              </a:rPr>
              <a:t>Collection Profile</a:t>
            </a:r>
          </a:p>
          <a:p>
            <a:pPr algn="ctr"/>
            <a:r>
              <a:rPr sz="900" b="0" i="0">
                <a:solidFill>
                  <a:srgbClr val="FFFFFF"/>
                </a:solidFill>
                <a:latin typeface="Calibri"/>
              </a:rPr>
              <a:t>bundle of segments → on the customer</a:t>
            </a:r>
          </a:p>
        </p:txBody>
      </p:sp>
      <p:sp>
        <p:nvSpPr>
          <p:cNvPr id="9" name="Down Arrow 8"/>
          <p:cNvSpPr/>
          <p:nvPr/>
        </p:nvSpPr>
        <p:spPr>
          <a:xfrm>
            <a:off x="1627632" y="3200400"/>
            <a:ext cx="219456" cy="228600"/>
          </a:xfrm>
          <a:prstGeom prst="downArrow">
            <a:avLst/>
          </a:prstGeom>
          <a:solidFill>
            <a:srgbClr val="C9D2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548640" y="3474720"/>
            <a:ext cx="2377440" cy="640080"/>
          </a:xfrm>
          <a:prstGeom prst="roundRect">
            <a:avLst>
              <a:gd name="adj" fmla="val 12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b="1" i="0">
                <a:solidFill>
                  <a:srgbClr val="FFFFFF"/>
                </a:solidFill>
                <a:latin typeface="Calibri"/>
              </a:rPr>
              <a:t>Collection Group</a:t>
            </a:r>
          </a:p>
          <a:p>
            <a:pPr algn="ctr"/>
            <a:r>
              <a:rPr sz="900" b="0" i="0">
                <a:solidFill>
                  <a:srgbClr val="FFFFFF"/>
                </a:solidFill>
                <a:latin typeface="Calibri"/>
              </a:rPr>
              <a:t>team with exactly one strategy</a:t>
            </a:r>
          </a:p>
        </p:txBody>
      </p:sp>
      <p:sp>
        <p:nvSpPr>
          <p:cNvPr id="11" name="Down Arrow 10"/>
          <p:cNvSpPr/>
          <p:nvPr/>
        </p:nvSpPr>
        <p:spPr>
          <a:xfrm>
            <a:off x="1627632" y="4160520"/>
            <a:ext cx="219456" cy="228600"/>
          </a:xfrm>
          <a:prstGeom prst="downArrow">
            <a:avLst/>
          </a:prstGeom>
          <a:solidFill>
            <a:srgbClr val="C9D2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48640" y="4434840"/>
            <a:ext cx="2377440" cy="640080"/>
          </a:xfrm>
          <a:prstGeom prst="roundRect">
            <a:avLst>
              <a:gd name="adj" fmla="val 12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b="1" i="0">
                <a:solidFill>
                  <a:srgbClr val="FFFFFF"/>
                </a:solidFill>
                <a:latin typeface="Calibri"/>
              </a:rPr>
              <a:t>Collection Specialist</a:t>
            </a:r>
          </a:p>
          <a:p>
            <a:pPr algn="ctr"/>
            <a:r>
              <a:rPr sz="900" b="0" i="0">
                <a:solidFill>
                  <a:srgbClr val="FFFFFF"/>
                </a:solidFill>
                <a:latin typeface="Calibri"/>
              </a:rPr>
              <a:t>user, substitute possible</a:t>
            </a:r>
          </a:p>
        </p:txBody>
      </p:sp>
      <p:sp>
        <p:nvSpPr>
          <p:cNvPr id="13" name="Rounded Rectangle 12"/>
          <p:cNvSpPr/>
          <p:nvPr/>
        </p:nvSpPr>
        <p:spPr>
          <a:xfrm>
            <a:off x="3383280" y="3474720"/>
            <a:ext cx="2011680" cy="640080"/>
          </a:xfrm>
          <a:prstGeom prst="roundRect">
            <a:avLst>
              <a:gd name="adj" fmla="val 12000"/>
            </a:avLst>
          </a:prstGeom>
          <a:solidFill>
            <a:srgbClr val="5F6B7A"/>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FFFFFF"/>
                </a:solidFill>
                <a:latin typeface="Calibri"/>
              </a:rPr>
              <a:t>Collection Strategy</a:t>
            </a:r>
          </a:p>
          <a:p>
            <a:pPr algn="ctr"/>
            <a:r>
              <a:rPr sz="900" b="0" i="0">
                <a:solidFill>
                  <a:srgbClr val="FFFFFF"/>
                </a:solidFill>
                <a:latin typeface="Calibri"/>
              </a:rPr>
              <a:t>rules → points → priority</a:t>
            </a:r>
          </a:p>
        </p:txBody>
      </p:sp>
      <p:sp>
        <p:nvSpPr>
          <p:cNvPr id="14" name="Right Arrow 13"/>
          <p:cNvSpPr/>
          <p:nvPr/>
        </p:nvSpPr>
        <p:spPr>
          <a:xfrm>
            <a:off x="2980944" y="3703320"/>
            <a:ext cx="365760" cy="182880"/>
          </a:xfrm>
          <a:prstGeom prst="rightArrow">
            <a:avLst/>
          </a:prstGeom>
          <a:solidFill>
            <a:srgbClr val="C9D2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5" name="Table 14"/>
          <p:cNvGraphicFramePr>
            <a:graphicFrameLocks noGrp="1"/>
          </p:cNvGraphicFramePr>
          <p:nvPr/>
        </p:nvGraphicFramePr>
        <p:xfrm>
          <a:off x="6035040" y="1554480"/>
          <a:ext cx="5577840" cy="3730752"/>
        </p:xfrm>
        <a:graphic>
          <a:graphicData uri="http://schemas.openxmlformats.org/drawingml/2006/table">
            <a:tbl>
              <a:tblPr>
                <a:tableStyleId>{5C22544A-7EE6-4342-B048-85BDC9FD1C3A}</a:tableStyleId>
              </a:tblPr>
              <a:tblGrid>
                <a:gridCol w="192024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457200">
                <a:tc>
                  <a:txBody>
                    <a:bodyPr/>
                    <a:lstStyle/>
                    <a:p>
                      <a:r>
                        <a:rPr sz="1000" b="1" i="0">
                          <a:solidFill>
                            <a:srgbClr val="FFFFFF"/>
                          </a:solidFill>
                          <a:latin typeface="Calibri"/>
                        </a:rPr>
                        <a:t>Object</a:t>
                      </a:r>
                    </a:p>
                  </a:txBody>
                  <a:tcPr marL="73152" marR="73152" marT="36576" marB="36576" anchor="ctr">
                    <a:solidFill>
                      <a:srgbClr val="1C4E80"/>
                    </a:solidFill>
                  </a:tcPr>
                </a:tc>
                <a:tc>
                  <a:txBody>
                    <a:bodyPr/>
                    <a:lstStyle/>
                    <a:p>
                      <a:r>
                        <a:rPr sz="1000" b="1" i="0">
                          <a:solidFill>
                            <a:srgbClr val="FFFFFF"/>
                          </a:solidFill>
                          <a:latin typeface="Calibri"/>
                        </a:rPr>
                        <a:t>Maintenance</a:t>
                      </a:r>
                    </a:p>
                  </a:txBody>
                  <a:tcPr marL="73152" marR="73152" marT="36576" marB="36576" anchor="ctr">
                    <a:solidFill>
                      <a:srgbClr val="1C4E80"/>
                    </a:solidFill>
                  </a:tcPr>
                </a:tc>
                <a:tc>
                  <a:txBody>
                    <a:bodyPr/>
                    <a:lstStyle/>
                    <a:p>
                      <a:r>
                        <a:rPr sz="1000" b="1" i="0">
                          <a:solidFill>
                            <a:srgbClr val="FFFFFF"/>
                          </a:solidFill>
                          <a:latin typeface="Calibri"/>
                        </a:rPr>
                        <a:t>Role</a:t>
                      </a:r>
                    </a:p>
                  </a:txBody>
                  <a:tcPr marL="73152" marR="73152" marT="36576" marB="36576" anchor="ctr">
                    <a:solidFill>
                      <a:srgbClr val="1C4E80"/>
                    </a:solidFill>
                  </a:tcPr>
                </a:tc>
                <a:extLst>
                  <a:ext uri="{0D108BD9-81ED-4DB2-BD59-A6C34878D82A}">
                    <a16:rowId xmlns:a16="http://schemas.microsoft.com/office/drawing/2014/main" val="10000"/>
                  </a:ext>
                </a:extLst>
              </a:tr>
              <a:tr h="457200">
                <a:tc>
                  <a:txBody>
                    <a:bodyPr/>
                    <a:lstStyle/>
                    <a:p>
                      <a:r>
                        <a:rPr sz="1000" b="1" i="0">
                          <a:solidFill>
                            <a:srgbClr val="1F2933"/>
                          </a:solidFill>
                          <a:latin typeface="Calibri"/>
                        </a:rPr>
                        <a:t>Accounting clerk / dunning clerk</a:t>
                      </a:r>
                    </a:p>
                  </a:txBody>
                  <a:tcPr marL="73152" marR="73152" marT="36576" marB="36576" anchor="ctr">
                    <a:solidFill>
                      <a:srgbClr val="FFFFFF"/>
                    </a:solidFill>
                  </a:tcPr>
                </a:tc>
                <a:tc>
                  <a:txBody>
                    <a:bodyPr/>
                    <a:lstStyle/>
                    <a:p>
                      <a:r>
                        <a:rPr sz="1000" b="0" i="0">
                          <a:solidFill>
                            <a:srgbClr val="1F2933"/>
                          </a:solidFill>
                          <a:latin typeface="Calibri"/>
                        </a:rPr>
                        <a:t>Define Accounting Clerks (S_ALR_87003335), customer master correspondence + dunning data</a:t>
                      </a:r>
                    </a:p>
                  </a:txBody>
                  <a:tcPr marL="73152" marR="73152" marT="36576" marB="36576" anchor="ctr">
                    <a:solidFill>
                      <a:srgbClr val="FFFFFF"/>
                    </a:solidFill>
                  </a:tcPr>
                </a:tc>
                <a:tc>
                  <a:txBody>
                    <a:bodyPr/>
                    <a:lstStyle/>
                    <a:p>
                      <a:r>
                        <a:rPr sz="1000" b="0" i="0">
                          <a:solidFill>
                            <a:srgbClr val="1F2933"/>
                          </a:solidFill>
                          <a:latin typeface="Calibri"/>
                        </a:rPr>
                        <a:t>AR Manager / Accountant</a:t>
                      </a:r>
                    </a:p>
                  </a:txBody>
                  <a:tcPr marL="73152" marR="73152" marT="36576" marB="36576" anchor="ctr">
                    <a:solidFill>
                      <a:srgbClr val="FFFFFF"/>
                    </a:solidFill>
                  </a:tcPr>
                </a:tc>
                <a:extLst>
                  <a:ext uri="{0D108BD9-81ED-4DB2-BD59-A6C34878D82A}">
                    <a16:rowId xmlns:a16="http://schemas.microsoft.com/office/drawing/2014/main" val="10001"/>
                  </a:ext>
                </a:extLst>
              </a:tr>
              <a:tr h="457200">
                <a:tc>
                  <a:txBody>
                    <a:bodyPr/>
                    <a:lstStyle/>
                    <a:p>
                      <a:r>
                        <a:rPr sz="1000" b="1" i="0">
                          <a:solidFill>
                            <a:srgbClr val="1F2933"/>
                          </a:solidFill>
                          <a:latin typeface="Calibri"/>
                        </a:rPr>
                        <a:t>Collection strategy</a:t>
                      </a:r>
                    </a:p>
                  </a:txBody>
                  <a:tcPr marL="73152" marR="73152" marT="36576" marB="36576" anchor="ctr">
                    <a:solidFill>
                      <a:srgbClr val="EEF3F8"/>
                    </a:solidFill>
                  </a:tcPr>
                </a:tc>
                <a:tc>
                  <a:txBody>
                    <a:bodyPr/>
                    <a:lstStyle/>
                    <a:p>
                      <a:r>
                        <a:rPr sz="1000" b="0" i="0">
                          <a:solidFill>
                            <a:srgbClr val="1F2933"/>
                          </a:solidFill>
                          <a:latin typeface="Calibri"/>
                        </a:rPr>
                        <a:t>Manage Collection Strategies (F2946)</a:t>
                      </a:r>
                    </a:p>
                  </a:txBody>
                  <a:tcPr marL="73152" marR="73152" marT="36576" marB="36576" anchor="ctr">
                    <a:solidFill>
                      <a:srgbClr val="EEF3F8"/>
                    </a:solidFill>
                  </a:tcPr>
                </a:tc>
                <a:tc>
                  <a:txBody>
                    <a:bodyPr/>
                    <a:lstStyle/>
                    <a:p>
                      <a:r>
                        <a:rPr sz="1000" b="0" i="0">
                          <a:solidFill>
                            <a:srgbClr val="1F2933"/>
                          </a:solidFill>
                          <a:latin typeface="Calibri"/>
                        </a:rPr>
                        <a:t>AR Manager</a:t>
                      </a:r>
                    </a:p>
                  </a:txBody>
                  <a:tcPr marL="73152" marR="73152" marT="36576" marB="36576" anchor="ctr">
                    <a:solidFill>
                      <a:srgbClr val="EEF3F8"/>
                    </a:solidFill>
                  </a:tcPr>
                </a:tc>
                <a:extLst>
                  <a:ext uri="{0D108BD9-81ED-4DB2-BD59-A6C34878D82A}">
                    <a16:rowId xmlns:a16="http://schemas.microsoft.com/office/drawing/2014/main" val="10002"/>
                  </a:ext>
                </a:extLst>
              </a:tr>
              <a:tr h="457200">
                <a:tc>
                  <a:txBody>
                    <a:bodyPr/>
                    <a:lstStyle/>
                    <a:p>
                      <a:r>
                        <a:rPr sz="1000" b="1" i="0">
                          <a:solidFill>
                            <a:srgbClr val="1F2933"/>
                          </a:solidFill>
                          <a:latin typeface="Calibri"/>
                        </a:rPr>
                        <a:t>Collection group + specialists</a:t>
                      </a:r>
                    </a:p>
                  </a:txBody>
                  <a:tcPr marL="73152" marR="73152" marT="36576" marB="36576" anchor="ctr">
                    <a:solidFill>
                      <a:srgbClr val="FFFFFF"/>
                    </a:solidFill>
                  </a:tcPr>
                </a:tc>
                <a:tc>
                  <a:txBody>
                    <a:bodyPr/>
                    <a:lstStyle/>
                    <a:p>
                      <a:r>
                        <a:rPr sz="1000" b="0" i="0">
                          <a:solidFill>
                            <a:srgbClr val="1F2933"/>
                          </a:solidFill>
                          <a:latin typeface="Calibri"/>
                        </a:rPr>
                        <a:t>Manage Collection Groups (UDM_GROUP)</a:t>
                      </a:r>
                    </a:p>
                  </a:txBody>
                  <a:tcPr marL="73152" marR="73152" marT="36576" marB="36576" anchor="ctr">
                    <a:solidFill>
                      <a:srgbClr val="FFFFFF"/>
                    </a:solidFill>
                  </a:tcPr>
                </a:tc>
                <a:tc>
                  <a:txBody>
                    <a:bodyPr/>
                    <a:lstStyle/>
                    <a:p>
                      <a:r>
                        <a:rPr sz="1000" b="0" i="0">
                          <a:solidFill>
                            <a:srgbClr val="1F2933"/>
                          </a:solidFill>
                          <a:latin typeface="Calibri"/>
                        </a:rPr>
                        <a:t>AR Manager</a:t>
                      </a:r>
                    </a:p>
                  </a:txBody>
                  <a:tcPr marL="73152" marR="73152" marT="36576" marB="36576" anchor="ctr">
                    <a:solidFill>
                      <a:srgbClr val="FFFFFF"/>
                    </a:solidFill>
                  </a:tcPr>
                </a:tc>
                <a:extLst>
                  <a:ext uri="{0D108BD9-81ED-4DB2-BD59-A6C34878D82A}">
                    <a16:rowId xmlns:a16="http://schemas.microsoft.com/office/drawing/2014/main" val="10003"/>
                  </a:ext>
                </a:extLst>
              </a:tr>
              <a:tr h="457200">
                <a:tc>
                  <a:txBody>
                    <a:bodyPr/>
                    <a:lstStyle/>
                    <a:p>
                      <a:r>
                        <a:rPr sz="1000" b="1" i="0">
                          <a:solidFill>
                            <a:srgbClr val="1F2933"/>
                          </a:solidFill>
                          <a:latin typeface="Calibri"/>
                        </a:rPr>
                        <a:t>Group ↔ segment</a:t>
                      </a:r>
                    </a:p>
                  </a:txBody>
                  <a:tcPr marL="73152" marR="73152" marT="36576" marB="36576" anchor="ctr">
                    <a:solidFill>
                      <a:srgbClr val="EEF3F8"/>
                    </a:solidFill>
                  </a:tcPr>
                </a:tc>
                <a:tc>
                  <a:txBody>
                    <a:bodyPr/>
                    <a:lstStyle/>
                    <a:p>
                      <a:r>
                        <a:rPr sz="1000" b="0" i="0">
                          <a:solidFill>
                            <a:srgbClr val="1F2933"/>
                          </a:solidFill>
                          <a:latin typeface="Calibri"/>
                        </a:rPr>
                        <a:t>Assign Collection Groups to Segments (UDM_GROUP2SGMT)</a:t>
                      </a:r>
                    </a:p>
                  </a:txBody>
                  <a:tcPr marL="73152" marR="73152" marT="36576" marB="36576" anchor="ctr">
                    <a:solidFill>
                      <a:srgbClr val="EEF3F8"/>
                    </a:solidFill>
                  </a:tcPr>
                </a:tc>
                <a:tc>
                  <a:txBody>
                    <a:bodyPr/>
                    <a:lstStyle/>
                    <a:p>
                      <a:r>
                        <a:rPr sz="1000" b="0" i="0">
                          <a:solidFill>
                            <a:srgbClr val="1F2933"/>
                          </a:solidFill>
                          <a:latin typeface="Calibri"/>
                        </a:rPr>
                        <a:t>AR Manager</a:t>
                      </a:r>
                    </a:p>
                  </a:txBody>
                  <a:tcPr marL="73152" marR="73152" marT="36576" marB="36576" anchor="ctr">
                    <a:solidFill>
                      <a:srgbClr val="EEF3F8"/>
                    </a:solidFill>
                  </a:tcPr>
                </a:tc>
                <a:extLst>
                  <a:ext uri="{0D108BD9-81ED-4DB2-BD59-A6C34878D82A}">
                    <a16:rowId xmlns:a16="http://schemas.microsoft.com/office/drawing/2014/main" val="10004"/>
                  </a:ext>
                </a:extLst>
              </a:tr>
              <a:tr h="457200">
                <a:tc>
                  <a:txBody>
                    <a:bodyPr/>
                    <a:lstStyle/>
                    <a:p>
                      <a:r>
                        <a:rPr sz="1000" b="1" i="0">
                          <a:solidFill>
                            <a:srgbClr val="1F2933"/>
                          </a:solidFill>
                          <a:latin typeface="Calibri"/>
                        </a:rPr>
                        <a:t>Customer: profile, group, specialist</a:t>
                      </a:r>
                    </a:p>
                  </a:txBody>
                  <a:tcPr marL="73152" marR="73152" marT="36576" marB="36576" anchor="ctr">
                    <a:solidFill>
                      <a:srgbClr val="FFFFFF"/>
                    </a:solidFill>
                  </a:tcPr>
                </a:tc>
                <a:tc>
                  <a:txBody>
                    <a:bodyPr/>
                    <a:lstStyle/>
                    <a:p>
                      <a:r>
                        <a:rPr sz="1000" b="0" i="0">
                          <a:solidFill>
                            <a:srgbClr val="1F2933"/>
                          </a:solidFill>
                          <a:latin typeface="Calibri"/>
                        </a:rPr>
                        <a:t>Manage Collections Master Data (F5400)</a:t>
                      </a:r>
                    </a:p>
                  </a:txBody>
                  <a:tcPr marL="73152" marR="73152" marT="36576" marB="36576" anchor="ctr">
                    <a:solidFill>
                      <a:srgbClr val="FFFFFF"/>
                    </a:solidFill>
                  </a:tcPr>
                </a:tc>
                <a:tc>
                  <a:txBody>
                    <a:bodyPr/>
                    <a:lstStyle/>
                    <a:p>
                      <a:r>
                        <a:rPr sz="1000" b="0" i="0">
                          <a:solidFill>
                            <a:srgbClr val="1F2933"/>
                          </a:solidFill>
                          <a:latin typeface="Calibri"/>
                        </a:rPr>
                        <a:t>AR Manager</a:t>
                      </a:r>
                    </a:p>
                  </a:txBody>
                  <a:tcPr marL="73152" marR="73152" marT="36576" marB="36576" anchor="ctr">
                    <a:solidFill>
                      <a:srgbClr val="FFFFFF"/>
                    </a:solidFill>
                  </a:tcPr>
                </a:tc>
                <a:extLst>
                  <a:ext uri="{0D108BD9-81ED-4DB2-BD59-A6C34878D82A}">
                    <a16:rowId xmlns:a16="http://schemas.microsoft.com/office/drawing/2014/main" val="10005"/>
                  </a:ext>
                </a:extLst>
              </a:tr>
              <a:tr h="457200">
                <a:tc>
                  <a:txBody>
                    <a:bodyPr/>
                    <a:lstStyle/>
                    <a:p>
                      <a:r>
                        <a:rPr sz="1000" b="1" i="0">
                          <a:solidFill>
                            <a:srgbClr val="1F2933"/>
                          </a:solidFill>
                          <a:latin typeface="Calibri"/>
                        </a:rPr>
                        <a:t>Mass assignment profile / segment / specialist</a:t>
                      </a:r>
                    </a:p>
                  </a:txBody>
                  <a:tcPr marL="73152" marR="73152" marT="36576" marB="36576" anchor="ctr">
                    <a:solidFill>
                      <a:srgbClr val="EEF3F8"/>
                    </a:solidFill>
                  </a:tcPr>
                </a:tc>
                <a:tc>
                  <a:txBody>
                    <a:bodyPr/>
                    <a:lstStyle/>
                    <a:p>
                      <a:r>
                        <a:rPr sz="1000" b="0" i="0">
                          <a:solidFill>
                            <a:srgbClr val="1F2933"/>
                          </a:solidFill>
                          <a:latin typeface="Calibri"/>
                        </a:rPr>
                        <a:t>Schedule Collections Management Jobs – Mass Changes (F3918)</a:t>
                      </a:r>
                    </a:p>
                  </a:txBody>
                  <a:tcPr marL="73152" marR="73152" marT="36576" marB="36576" anchor="ctr">
                    <a:solidFill>
                      <a:srgbClr val="EEF3F8"/>
                    </a:solidFill>
                  </a:tcPr>
                </a:tc>
                <a:tc>
                  <a:txBody>
                    <a:bodyPr/>
                    <a:lstStyle/>
                    <a:p>
                      <a:r>
                        <a:rPr sz="1000" b="0" i="0">
                          <a:solidFill>
                            <a:srgbClr val="1F2933"/>
                          </a:solidFill>
                          <a:latin typeface="Calibri"/>
                        </a:rPr>
                        <a:t>AR Accountant</a:t>
                      </a:r>
                    </a:p>
                  </a:txBody>
                  <a:tcPr marL="73152" marR="73152" marT="36576" marB="36576" anchor="ctr">
                    <a:solidFill>
                      <a:srgbClr val="EEF3F8"/>
                    </a:solidFill>
                  </a:tcPr>
                </a:tc>
                <a:extLst>
                  <a:ext uri="{0D108BD9-81ED-4DB2-BD59-A6C34878D82A}">
                    <a16:rowId xmlns:a16="http://schemas.microsoft.com/office/drawing/2014/main" val="10006"/>
                  </a:ext>
                </a:extLst>
              </a:tr>
              <a:tr h="457200">
                <a:tc>
                  <a:txBody>
                    <a:bodyPr/>
                    <a:lstStyle/>
                    <a:p>
                      <a:r>
                        <a:rPr sz="1000" b="1" i="0">
                          <a:solidFill>
                            <a:srgbClr val="1F2933"/>
                          </a:solidFill>
                          <a:latin typeface="Calibri"/>
                        </a:rPr>
                        <a:t>Dunning procedure 1001 / 1002</a:t>
                      </a:r>
                    </a:p>
                  </a:txBody>
                  <a:tcPr marL="73152" marR="73152" marT="36576" marB="36576" anchor="ctr">
                    <a:solidFill>
                      <a:srgbClr val="FFFFFF"/>
                    </a:solidFill>
                  </a:tcPr>
                </a:tc>
                <a:tc>
                  <a:txBody>
                    <a:bodyPr/>
                    <a:lstStyle/>
                    <a:p>
                      <a:r>
                        <a:rPr sz="1000" b="0" i="0">
                          <a:solidFill>
                            <a:srgbClr val="1F2933"/>
                          </a:solidFill>
                          <a:latin typeface="Calibri"/>
                        </a:rPr>
                        <a:t>Manage Customer Master Data (F0850A), company code data</a:t>
                      </a:r>
                    </a:p>
                  </a:txBody>
                  <a:tcPr marL="73152" marR="73152" marT="36576" marB="36576" anchor="ctr">
                    <a:solidFill>
                      <a:srgbClr val="FFFFFF"/>
                    </a:solidFill>
                  </a:tcPr>
                </a:tc>
                <a:tc>
                  <a:txBody>
                    <a:bodyPr/>
                    <a:lstStyle/>
                    <a:p>
                      <a:r>
                        <a:rPr sz="1000" b="0" i="0">
                          <a:solidFill>
                            <a:srgbClr val="1F2933"/>
                          </a:solidFill>
                          <a:latin typeface="Calibri"/>
                        </a:rPr>
                        <a:t>AR Accountant</a:t>
                      </a:r>
                    </a:p>
                  </a:txBody>
                  <a:tcPr marL="73152" marR="73152" marT="36576" marB="36576" anchor="ct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94415" cy="274320"/>
          </a:xfrm>
          <a:prstGeom prst="rect">
            <a:avLst/>
          </a:prstGeom>
          <a:noFill/>
        </p:spPr>
        <p:txBody>
          <a:bodyPr wrap="square" lIns="45720" rIns="45720" anchor="t">
            <a:spAutoFit/>
          </a:bodyPr>
          <a:lstStyle/>
          <a:p>
            <a:pPr algn="l"/>
            <a:r>
              <a:rPr sz="1100" b="1" i="0">
                <a:solidFill>
                  <a:srgbClr val="0F8B8D"/>
                </a:solidFill>
                <a:latin typeface="Calibri"/>
              </a:rPr>
              <a:t>A4  APPS</a:t>
            </a:r>
          </a:p>
        </p:txBody>
      </p:sp>
      <p:sp>
        <p:nvSpPr>
          <p:cNvPr id="3" name="TextBox 2"/>
          <p:cNvSpPr txBox="1"/>
          <p:nvPr/>
        </p:nvSpPr>
        <p:spPr>
          <a:xfrm>
            <a:off x="548640" y="548640"/>
            <a:ext cx="11094415" cy="868680"/>
          </a:xfrm>
          <a:prstGeom prst="rect">
            <a:avLst/>
          </a:prstGeom>
          <a:noFill/>
        </p:spPr>
        <p:txBody>
          <a:bodyPr wrap="square" lIns="45720" rIns="45720" anchor="ctr">
            <a:spAutoFit/>
          </a:bodyPr>
          <a:lstStyle/>
          <a:p>
            <a:pPr algn="l"/>
            <a:r>
              <a:rPr sz="2800" b="1" i="0">
                <a:solidFill>
                  <a:srgbClr val="1C4E80"/>
                </a:solidFill>
                <a:latin typeface="Calibri"/>
              </a:rPr>
              <a:t>Apps and roles in the collection workflow</a:t>
            </a:r>
          </a:p>
        </p:txBody>
      </p:sp>
      <p:sp>
        <p:nvSpPr>
          <p:cNvPr id="4" name="TextBox 3"/>
          <p:cNvSpPr txBox="1"/>
          <p:nvPr/>
        </p:nvSpPr>
        <p:spPr>
          <a:xfrm>
            <a:off x="548640" y="6446520"/>
            <a:ext cx="8229600" cy="274320"/>
          </a:xfrm>
          <a:prstGeom prst="rect">
            <a:avLst/>
          </a:prstGeom>
          <a:noFill/>
        </p:spPr>
        <p:txBody>
          <a:bodyPr wrap="square" lIns="45720" rIns="45720" anchor="t">
            <a:spAutoFit/>
          </a:bodyPr>
          <a:lstStyle/>
          <a:p>
            <a:pPr algn="l"/>
            <a:r>
              <a:rPr sz="900" b="0" i="0">
                <a:solidFill>
                  <a:srgbClr val="5F6B7A"/>
                </a:solidFill>
                <a:latin typeface="Calibri"/>
              </a:rPr>
              <a:t>F2S Workshop 4  |  Collections &amp; Dispute Management  |  A  Automated collection workflow</a:t>
            </a:r>
          </a:p>
        </p:txBody>
      </p:sp>
      <p:sp>
        <p:nvSpPr>
          <p:cNvPr id="5" name="TextBox 4"/>
          <p:cNvSpPr txBox="1"/>
          <p:nvPr/>
        </p:nvSpPr>
        <p:spPr>
          <a:xfrm>
            <a:off x="10728655" y="6446520"/>
            <a:ext cx="914400" cy="274320"/>
          </a:xfrm>
          <a:prstGeom prst="rect">
            <a:avLst/>
          </a:prstGeom>
          <a:noFill/>
        </p:spPr>
        <p:txBody>
          <a:bodyPr wrap="square" lIns="45720" rIns="45720" anchor="t">
            <a:spAutoFit/>
          </a:bodyPr>
          <a:lstStyle/>
          <a:p>
            <a:pPr algn="r"/>
            <a:r>
              <a:rPr sz="900" b="0" i="0">
                <a:solidFill>
                  <a:srgbClr val="5F6B7A"/>
                </a:solidFill>
                <a:latin typeface="Calibri"/>
              </a:rPr>
              <a:t>7</a:t>
            </a:r>
          </a:p>
        </p:txBody>
      </p:sp>
      <p:graphicFrame>
        <p:nvGraphicFramePr>
          <p:cNvPr id="6" name="Table 5"/>
          <p:cNvGraphicFramePr>
            <a:graphicFrameLocks noGrp="1"/>
          </p:cNvGraphicFramePr>
          <p:nvPr/>
        </p:nvGraphicFramePr>
        <p:xfrm>
          <a:off x="548640" y="1554480"/>
          <a:ext cx="11064240" cy="4114800"/>
        </p:xfrm>
        <a:graphic>
          <a:graphicData uri="http://schemas.openxmlformats.org/drawingml/2006/table">
            <a:tbl>
              <a:tblPr>
                <a:tableStyleId>{5C22544A-7EE6-4342-B048-85BDC9FD1C3A}</a:tableStyleId>
              </a:tblPr>
              <a:tblGrid>
                <a:gridCol w="18288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4114800">
                  <a:extLst>
                    <a:ext uri="{9D8B030D-6E8A-4147-A177-3AD203B41FA5}">
                      <a16:colId xmlns:a16="http://schemas.microsoft.com/office/drawing/2014/main" val="20003"/>
                    </a:ext>
                  </a:extLst>
                </a:gridCol>
              </a:tblGrid>
              <a:tr h="457200">
                <a:tc>
                  <a:txBody>
                    <a:bodyPr/>
                    <a:lstStyle/>
                    <a:p>
                      <a:r>
                        <a:rPr sz="1000" b="1" i="0">
                          <a:solidFill>
                            <a:srgbClr val="FFFFFF"/>
                          </a:solidFill>
                          <a:latin typeface="Calibri"/>
                        </a:rPr>
                        <a:t>Step</a:t>
                      </a:r>
                    </a:p>
                  </a:txBody>
                  <a:tcPr marL="73152" marR="73152" marT="36576" marB="36576" anchor="ctr">
                    <a:solidFill>
                      <a:srgbClr val="1C4E80"/>
                    </a:solidFill>
                  </a:tcPr>
                </a:tc>
                <a:tc>
                  <a:txBody>
                    <a:bodyPr/>
                    <a:lstStyle/>
                    <a:p>
                      <a:r>
                        <a:rPr sz="1000" b="1" i="0">
                          <a:solidFill>
                            <a:srgbClr val="FFFFFF"/>
                          </a:solidFill>
                          <a:latin typeface="Calibri"/>
                        </a:rPr>
                        <a:t>App (ID)</a:t>
                      </a:r>
                    </a:p>
                  </a:txBody>
                  <a:tcPr marL="73152" marR="73152" marT="36576" marB="36576" anchor="ctr">
                    <a:solidFill>
                      <a:srgbClr val="1C4E80"/>
                    </a:solidFill>
                  </a:tcPr>
                </a:tc>
                <a:tc>
                  <a:txBody>
                    <a:bodyPr/>
                    <a:lstStyle/>
                    <a:p>
                      <a:r>
                        <a:rPr sz="1000" b="1" i="0">
                          <a:solidFill>
                            <a:srgbClr val="FFFFFF"/>
                          </a:solidFill>
                          <a:latin typeface="Calibri"/>
                        </a:rPr>
                        <a:t>Role</a:t>
                      </a:r>
                    </a:p>
                  </a:txBody>
                  <a:tcPr marL="73152" marR="73152" marT="36576" marB="36576" anchor="ctr">
                    <a:solidFill>
                      <a:srgbClr val="1C4E80"/>
                    </a:solidFill>
                  </a:tcPr>
                </a:tc>
                <a:tc>
                  <a:txBody>
                    <a:bodyPr/>
                    <a:lstStyle/>
                    <a:p>
                      <a:r>
                        <a:rPr sz="1000" b="1" i="0">
                          <a:solidFill>
                            <a:srgbClr val="FFFFFF"/>
                          </a:solidFill>
                          <a:latin typeface="Calibri"/>
                        </a:rPr>
                        <a:t>What happens</a:t>
                      </a:r>
                    </a:p>
                  </a:txBody>
                  <a:tcPr marL="73152" marR="73152" marT="36576" marB="36576" anchor="ctr">
                    <a:solidFill>
                      <a:srgbClr val="1C4E80"/>
                    </a:solidFill>
                  </a:tcPr>
                </a:tc>
                <a:extLst>
                  <a:ext uri="{0D108BD9-81ED-4DB2-BD59-A6C34878D82A}">
                    <a16:rowId xmlns:a16="http://schemas.microsoft.com/office/drawing/2014/main" val="10000"/>
                  </a:ext>
                </a:extLst>
              </a:tr>
              <a:tr h="457200">
                <a:tc>
                  <a:txBody>
                    <a:bodyPr/>
                    <a:lstStyle/>
                    <a:p>
                      <a:r>
                        <a:rPr sz="1000" b="1" i="0">
                          <a:solidFill>
                            <a:srgbClr val="1F2933"/>
                          </a:solidFill>
                          <a:latin typeface="Calibri"/>
                        </a:rPr>
                        <a:t>Call worklist</a:t>
                      </a:r>
                    </a:p>
                  </a:txBody>
                  <a:tcPr marL="73152" marR="73152" marT="36576" marB="36576" anchor="ctr">
                    <a:solidFill>
                      <a:srgbClr val="FFFFFF"/>
                    </a:solidFill>
                  </a:tcPr>
                </a:tc>
                <a:tc>
                  <a:txBody>
                    <a:bodyPr/>
                    <a:lstStyle/>
                    <a:p>
                      <a:r>
                        <a:rPr sz="1000" b="0" i="0">
                          <a:solidFill>
                            <a:srgbClr val="1F2933"/>
                          </a:solidFill>
                          <a:latin typeface="Calibri"/>
                        </a:rPr>
                        <a:t>Process Collections Worklist (F0380)</a:t>
                      </a:r>
                    </a:p>
                  </a:txBody>
                  <a:tcPr marL="73152" marR="73152" marT="36576" marB="36576" anchor="ctr">
                    <a:solidFill>
                      <a:srgbClr val="FFFFFF"/>
                    </a:solidFill>
                  </a:tcPr>
                </a:tc>
                <a:tc>
                  <a:txBody>
                    <a:bodyPr/>
                    <a:lstStyle/>
                    <a:p>
                      <a:r>
                        <a:rPr sz="1000" b="0" i="0">
                          <a:solidFill>
                            <a:srgbClr val="1F2933"/>
                          </a:solidFill>
                          <a:latin typeface="Calibri"/>
                        </a:rPr>
                        <a:t>AR Accountant</a:t>
                      </a:r>
                    </a:p>
                  </a:txBody>
                  <a:tcPr marL="73152" marR="73152" marT="36576" marB="36576" anchor="ctr">
                    <a:solidFill>
                      <a:srgbClr val="FFFFFF"/>
                    </a:solidFill>
                  </a:tcPr>
                </a:tc>
                <a:tc>
                  <a:txBody>
                    <a:bodyPr/>
                    <a:lstStyle/>
                    <a:p>
                      <a:r>
                        <a:rPr sz="1000" b="0" i="0">
                          <a:solidFill>
                            <a:srgbClr val="1F2933"/>
                          </a:solidFill>
                          <a:latin typeface="Calibri"/>
                        </a:rPr>
                        <a:t>Prioritized customer list, My Open / Completed Items, mass correspondence</a:t>
                      </a:r>
                    </a:p>
                  </a:txBody>
                  <a:tcPr marL="73152" marR="73152" marT="36576" marB="36576" anchor="ctr">
                    <a:solidFill>
                      <a:srgbClr val="FFFFFF"/>
                    </a:solidFill>
                  </a:tcPr>
                </a:tc>
                <a:extLst>
                  <a:ext uri="{0D108BD9-81ED-4DB2-BD59-A6C34878D82A}">
                    <a16:rowId xmlns:a16="http://schemas.microsoft.com/office/drawing/2014/main" val="10001"/>
                  </a:ext>
                </a:extLst>
              </a:tr>
              <a:tr h="457200">
                <a:tc>
                  <a:txBody>
                    <a:bodyPr/>
                    <a:lstStyle/>
                    <a:p>
                      <a:r>
                        <a:rPr sz="1000" b="1" i="0">
                          <a:solidFill>
                            <a:srgbClr val="1F2933"/>
                          </a:solidFill>
                          <a:latin typeface="Calibri"/>
                        </a:rPr>
                        <a:t>Process customer</a:t>
                      </a:r>
                    </a:p>
                  </a:txBody>
                  <a:tcPr marL="73152" marR="73152" marT="36576" marB="36576" anchor="ctr">
                    <a:solidFill>
                      <a:srgbClr val="EEF3F8"/>
                    </a:solidFill>
                  </a:tcPr>
                </a:tc>
                <a:tc>
                  <a:txBody>
                    <a:bodyPr/>
                    <a:lstStyle/>
                    <a:p>
                      <a:r>
                        <a:rPr sz="1000" b="0" i="0">
                          <a:solidFill>
                            <a:srgbClr val="1F2933"/>
                          </a:solidFill>
                          <a:latin typeface="Calibri"/>
                        </a:rPr>
                        <a:t>Process Receivables (F0106A)</a:t>
                      </a:r>
                    </a:p>
                  </a:txBody>
                  <a:tcPr marL="73152" marR="73152" marT="36576" marB="36576" anchor="ctr">
                    <a:solidFill>
                      <a:srgbClr val="EEF3F8"/>
                    </a:solidFill>
                  </a:tcPr>
                </a:tc>
                <a:tc>
                  <a:txBody>
                    <a:bodyPr/>
                    <a:lstStyle/>
                    <a:p>
                      <a:r>
                        <a:rPr sz="1000" b="0" i="0">
                          <a:solidFill>
                            <a:srgbClr val="1F2933"/>
                          </a:solidFill>
                          <a:latin typeface="Calibri"/>
                        </a:rPr>
                        <a:t>AR Accountant</a:t>
                      </a:r>
                    </a:p>
                  </a:txBody>
                  <a:tcPr marL="73152" marR="73152" marT="36576" marB="36576" anchor="ctr">
                    <a:solidFill>
                      <a:srgbClr val="EEF3F8"/>
                    </a:solidFill>
                  </a:tcPr>
                </a:tc>
                <a:tc>
                  <a:txBody>
                    <a:bodyPr/>
                    <a:lstStyle/>
                    <a:p>
                      <a:r>
                        <a:rPr sz="1000" b="0" i="0">
                          <a:solidFill>
                            <a:srgbClr val="1F2933"/>
                          </a:solidFill>
                          <a:latin typeface="Calibri"/>
                        </a:rPr>
                        <a:t>Customer cockpit: invoices, disputes, promises, resubmissions, contacts</a:t>
                      </a:r>
                    </a:p>
                  </a:txBody>
                  <a:tcPr marL="73152" marR="73152" marT="36576" marB="36576" anchor="ctr">
                    <a:solidFill>
                      <a:srgbClr val="EEF3F8"/>
                    </a:solidFill>
                  </a:tcPr>
                </a:tc>
                <a:extLst>
                  <a:ext uri="{0D108BD9-81ED-4DB2-BD59-A6C34878D82A}">
                    <a16:rowId xmlns:a16="http://schemas.microsoft.com/office/drawing/2014/main" val="10002"/>
                  </a:ext>
                </a:extLst>
              </a:tr>
              <a:tr h="457200">
                <a:tc>
                  <a:txBody>
                    <a:bodyPr/>
                    <a:lstStyle/>
                    <a:p>
                      <a:r>
                        <a:rPr sz="1000" b="1" i="0">
                          <a:solidFill>
                            <a:srgbClr val="1F2933"/>
                          </a:solidFill>
                          <a:latin typeface="Calibri"/>
                        </a:rPr>
                        <a:t>Promise to pay</a:t>
                      </a:r>
                    </a:p>
                  </a:txBody>
                  <a:tcPr marL="73152" marR="73152" marT="36576" marB="36576" anchor="ctr">
                    <a:solidFill>
                      <a:srgbClr val="FFFFFF"/>
                    </a:solidFill>
                  </a:tcPr>
                </a:tc>
                <a:tc>
                  <a:txBody>
                    <a:bodyPr/>
                    <a:lstStyle/>
                    <a:p>
                      <a:r>
                        <a:rPr sz="1000" b="0" i="0">
                          <a:solidFill>
                            <a:srgbClr val="1F2933"/>
                          </a:solidFill>
                          <a:latin typeface="Calibri"/>
                        </a:rPr>
                        <a:t>Manage Promises to Pay (F4710)</a:t>
                      </a:r>
                    </a:p>
                  </a:txBody>
                  <a:tcPr marL="73152" marR="73152" marT="36576" marB="36576" anchor="ctr">
                    <a:solidFill>
                      <a:srgbClr val="FFFFFF"/>
                    </a:solidFill>
                  </a:tcPr>
                </a:tc>
                <a:tc>
                  <a:txBody>
                    <a:bodyPr/>
                    <a:lstStyle/>
                    <a:p>
                      <a:r>
                        <a:rPr sz="1000" b="0" i="0">
                          <a:solidFill>
                            <a:srgbClr val="1F2933"/>
                          </a:solidFill>
                          <a:latin typeface="Calibri"/>
                        </a:rPr>
                        <a:t>AR Accountant</a:t>
                      </a:r>
                    </a:p>
                  </a:txBody>
                  <a:tcPr marL="73152" marR="73152" marT="36576" marB="36576" anchor="ctr">
                    <a:solidFill>
                      <a:srgbClr val="FFFFFF"/>
                    </a:solidFill>
                  </a:tcPr>
                </a:tc>
                <a:tc>
                  <a:txBody>
                    <a:bodyPr/>
                    <a:lstStyle/>
                    <a:p>
                      <a:r>
                        <a:rPr sz="1000" b="0" i="0">
                          <a:solidFill>
                            <a:srgbClr val="1F2933"/>
                          </a:solidFill>
                          <a:latin typeface="Calibri"/>
                        </a:rPr>
                        <a:t>Amount, date; status Open → Kept / Broken</a:t>
                      </a:r>
                    </a:p>
                  </a:txBody>
                  <a:tcPr marL="73152" marR="73152" marT="36576" marB="36576" anchor="ctr">
                    <a:solidFill>
                      <a:srgbClr val="FFFFFF"/>
                    </a:solidFill>
                  </a:tcPr>
                </a:tc>
                <a:extLst>
                  <a:ext uri="{0D108BD9-81ED-4DB2-BD59-A6C34878D82A}">
                    <a16:rowId xmlns:a16="http://schemas.microsoft.com/office/drawing/2014/main" val="10003"/>
                  </a:ext>
                </a:extLst>
              </a:tr>
              <a:tr h="457200">
                <a:tc>
                  <a:txBody>
                    <a:bodyPr/>
                    <a:lstStyle/>
                    <a:p>
                      <a:r>
                        <a:rPr sz="1000" b="1" i="0">
                          <a:solidFill>
                            <a:srgbClr val="1F2933"/>
                          </a:solidFill>
                          <a:latin typeface="Calibri"/>
                        </a:rPr>
                        <a:t>Resubmission</a:t>
                      </a:r>
                    </a:p>
                  </a:txBody>
                  <a:tcPr marL="73152" marR="73152" marT="36576" marB="36576" anchor="ctr">
                    <a:solidFill>
                      <a:srgbClr val="EEF3F8"/>
                    </a:solidFill>
                  </a:tcPr>
                </a:tc>
                <a:tc>
                  <a:txBody>
                    <a:bodyPr/>
                    <a:lstStyle/>
                    <a:p>
                      <a:r>
                        <a:rPr sz="1000" b="0" i="0">
                          <a:solidFill>
                            <a:srgbClr val="1F2933"/>
                          </a:solidFill>
                          <a:latin typeface="Calibri"/>
                        </a:rPr>
                        <a:t>Manage Resubmissions (F4709)</a:t>
                      </a:r>
                    </a:p>
                  </a:txBody>
                  <a:tcPr marL="73152" marR="73152" marT="36576" marB="36576" anchor="ctr">
                    <a:solidFill>
                      <a:srgbClr val="EEF3F8"/>
                    </a:solidFill>
                  </a:tcPr>
                </a:tc>
                <a:tc>
                  <a:txBody>
                    <a:bodyPr/>
                    <a:lstStyle/>
                    <a:p>
                      <a:r>
                        <a:rPr sz="1000" b="0" i="0">
                          <a:solidFill>
                            <a:srgbClr val="1F2933"/>
                          </a:solidFill>
                          <a:latin typeface="Calibri"/>
                        </a:rPr>
                        <a:t>AR Accountant</a:t>
                      </a:r>
                    </a:p>
                  </a:txBody>
                  <a:tcPr marL="73152" marR="73152" marT="36576" marB="36576" anchor="ctr">
                    <a:solidFill>
                      <a:srgbClr val="EEF3F8"/>
                    </a:solidFill>
                  </a:tcPr>
                </a:tc>
                <a:tc>
                  <a:txBody>
                    <a:bodyPr/>
                    <a:lstStyle/>
                    <a:p>
                      <a:r>
                        <a:rPr sz="1000" b="0" i="0">
                          <a:solidFill>
                            <a:srgbClr val="1F2933"/>
                          </a:solidFill>
                          <a:latin typeface="Calibri"/>
                        </a:rPr>
                        <a:t>Date, reason; customer off the worklist until then</a:t>
                      </a:r>
                    </a:p>
                  </a:txBody>
                  <a:tcPr marL="73152" marR="73152" marT="36576" marB="36576" anchor="ctr">
                    <a:solidFill>
                      <a:srgbClr val="EEF3F8"/>
                    </a:solidFill>
                  </a:tcPr>
                </a:tc>
                <a:extLst>
                  <a:ext uri="{0D108BD9-81ED-4DB2-BD59-A6C34878D82A}">
                    <a16:rowId xmlns:a16="http://schemas.microsoft.com/office/drawing/2014/main" val="10004"/>
                  </a:ext>
                </a:extLst>
              </a:tr>
              <a:tr h="457200">
                <a:tc>
                  <a:txBody>
                    <a:bodyPr/>
                    <a:lstStyle/>
                    <a:p>
                      <a:r>
                        <a:rPr sz="1000" b="1" i="0">
                          <a:solidFill>
                            <a:srgbClr val="1F2933"/>
                          </a:solidFill>
                          <a:latin typeface="Calibri"/>
                        </a:rPr>
                        <a:t>Finish contact</a:t>
                      </a:r>
                    </a:p>
                  </a:txBody>
                  <a:tcPr marL="73152" marR="73152" marT="36576" marB="36576" anchor="ctr">
                    <a:solidFill>
                      <a:srgbClr val="FFFFFF"/>
                    </a:solidFill>
                  </a:tcPr>
                </a:tc>
                <a:tc>
                  <a:txBody>
                    <a:bodyPr/>
                    <a:lstStyle/>
                    <a:p>
                      <a:r>
                        <a:rPr sz="1000" b="0" i="0">
                          <a:solidFill>
                            <a:srgbClr val="1F2933"/>
                          </a:solidFill>
                          <a:latin typeface="Calibri"/>
                        </a:rPr>
                        <a:t>Manage Customer Contacts (F4707)</a:t>
                      </a:r>
                    </a:p>
                  </a:txBody>
                  <a:tcPr marL="73152" marR="73152" marT="36576" marB="36576" anchor="ctr">
                    <a:solidFill>
                      <a:srgbClr val="FFFFFF"/>
                    </a:solidFill>
                  </a:tcPr>
                </a:tc>
                <a:tc>
                  <a:txBody>
                    <a:bodyPr/>
                    <a:lstStyle/>
                    <a:p>
                      <a:r>
                        <a:rPr sz="1000" b="0" i="0">
                          <a:solidFill>
                            <a:srgbClr val="1F2933"/>
                          </a:solidFill>
                          <a:latin typeface="Calibri"/>
                        </a:rPr>
                        <a:t>AR Accountant</a:t>
                      </a:r>
                    </a:p>
                  </a:txBody>
                  <a:tcPr marL="73152" marR="73152" marT="36576" marB="36576" anchor="ctr">
                    <a:solidFill>
                      <a:srgbClr val="FFFFFF"/>
                    </a:solidFill>
                  </a:tcPr>
                </a:tc>
                <a:tc>
                  <a:txBody>
                    <a:bodyPr/>
                    <a:lstStyle/>
                    <a:p>
                      <a:r>
                        <a:rPr sz="1000" b="0" i="0">
                          <a:solidFill>
                            <a:srgbClr val="1F2933"/>
                          </a:solidFill>
                          <a:latin typeface="Calibri"/>
                        </a:rPr>
                        <a:t>Result, prefilled note, e-mail template Customer Contact Recap</a:t>
                      </a:r>
                    </a:p>
                  </a:txBody>
                  <a:tcPr marL="73152" marR="73152" marT="36576" marB="36576" anchor="ctr">
                    <a:solidFill>
                      <a:srgbClr val="FFFFFF"/>
                    </a:solidFill>
                  </a:tcPr>
                </a:tc>
                <a:extLst>
                  <a:ext uri="{0D108BD9-81ED-4DB2-BD59-A6C34878D82A}">
                    <a16:rowId xmlns:a16="http://schemas.microsoft.com/office/drawing/2014/main" val="10005"/>
                  </a:ext>
                </a:extLst>
              </a:tr>
              <a:tr h="457200">
                <a:tc>
                  <a:txBody>
                    <a:bodyPr/>
                    <a:lstStyle/>
                    <a:p>
                      <a:r>
                        <a:rPr sz="1000" b="1" i="0">
                          <a:solidFill>
                            <a:srgbClr val="1F2933"/>
                          </a:solidFill>
                          <a:latin typeface="Calibri"/>
                        </a:rPr>
                        <a:t>Dunning proposal</a:t>
                      </a:r>
                    </a:p>
                  </a:txBody>
                  <a:tcPr marL="73152" marR="73152" marT="36576" marB="36576" anchor="ctr">
                    <a:solidFill>
                      <a:srgbClr val="EEF3F8"/>
                    </a:solidFill>
                  </a:tcPr>
                </a:tc>
                <a:tc>
                  <a:txBody>
                    <a:bodyPr/>
                    <a:lstStyle/>
                    <a:p>
                      <a:r>
                        <a:rPr sz="1000" b="0" i="0">
                          <a:solidFill>
                            <a:srgbClr val="1F2933"/>
                          </a:solidFill>
                          <a:latin typeface="Calibri"/>
                        </a:rPr>
                        <a:t>My Dunning Proposals (F2435)</a:t>
                      </a:r>
                    </a:p>
                  </a:txBody>
                  <a:tcPr marL="73152" marR="73152" marT="36576" marB="36576" anchor="ctr">
                    <a:solidFill>
                      <a:srgbClr val="EEF3F8"/>
                    </a:solidFill>
                  </a:tcPr>
                </a:tc>
                <a:tc>
                  <a:txBody>
                    <a:bodyPr/>
                    <a:lstStyle/>
                    <a:p>
                      <a:r>
                        <a:rPr sz="1000" b="0" i="0">
                          <a:solidFill>
                            <a:srgbClr val="1F2933"/>
                          </a:solidFill>
                          <a:latin typeface="Calibri"/>
                        </a:rPr>
                        <a:t>AR Accountant</a:t>
                      </a:r>
                    </a:p>
                  </a:txBody>
                  <a:tcPr marL="73152" marR="73152" marT="36576" marB="36576" anchor="ctr">
                    <a:solidFill>
                      <a:srgbClr val="EEF3F8"/>
                    </a:solidFill>
                  </a:tcPr>
                </a:tc>
                <a:tc>
                  <a:txBody>
                    <a:bodyPr/>
                    <a:lstStyle/>
                    <a:p>
                      <a:r>
                        <a:rPr sz="1000" b="0" i="0">
                          <a:solidFill>
                            <a:srgbClr val="1F2933"/>
                          </a:solidFill>
                          <a:latin typeface="Calibri"/>
                        </a:rPr>
                        <a:t>Proposal per clerk, PDF preview, sending, dunning block</a:t>
                      </a:r>
                    </a:p>
                  </a:txBody>
                  <a:tcPr marL="73152" marR="73152" marT="36576" marB="36576" anchor="ctr">
                    <a:solidFill>
                      <a:srgbClr val="EEF3F8"/>
                    </a:solidFill>
                  </a:tcPr>
                </a:tc>
                <a:extLst>
                  <a:ext uri="{0D108BD9-81ED-4DB2-BD59-A6C34878D82A}">
                    <a16:rowId xmlns:a16="http://schemas.microsoft.com/office/drawing/2014/main" val="10006"/>
                  </a:ext>
                </a:extLst>
              </a:tr>
              <a:tr h="457200">
                <a:tc>
                  <a:txBody>
                    <a:bodyPr/>
                    <a:lstStyle/>
                    <a:p>
                      <a:r>
                        <a:rPr sz="1000" b="1" i="0">
                          <a:solidFill>
                            <a:srgbClr val="1F2933"/>
                          </a:solidFill>
                          <a:latin typeface="Calibri"/>
                        </a:rPr>
                        <a:t>Supervise team</a:t>
                      </a:r>
                    </a:p>
                  </a:txBody>
                  <a:tcPr marL="73152" marR="73152" marT="36576" marB="36576" anchor="ctr">
                    <a:solidFill>
                      <a:srgbClr val="FFFFFF"/>
                    </a:solidFill>
                  </a:tcPr>
                </a:tc>
                <a:tc>
                  <a:txBody>
                    <a:bodyPr/>
                    <a:lstStyle/>
                    <a:p>
                      <a:r>
                        <a:rPr sz="1000" b="0" i="0">
                          <a:solidFill>
                            <a:srgbClr val="1F2933"/>
                          </a:solidFill>
                          <a:latin typeface="Calibri"/>
                        </a:rPr>
                        <a:t>Supervise Collections Worklist (F2375)</a:t>
                      </a:r>
                    </a:p>
                  </a:txBody>
                  <a:tcPr marL="73152" marR="73152" marT="36576" marB="36576" anchor="ctr">
                    <a:solidFill>
                      <a:srgbClr val="FFFFFF"/>
                    </a:solidFill>
                  </a:tcPr>
                </a:tc>
                <a:tc>
                  <a:txBody>
                    <a:bodyPr/>
                    <a:lstStyle/>
                    <a:p>
                      <a:r>
                        <a:rPr sz="1000" b="0" i="0">
                          <a:solidFill>
                            <a:srgbClr val="1F2933"/>
                          </a:solidFill>
                          <a:latin typeface="Calibri"/>
                        </a:rPr>
                        <a:t>AR Manager</a:t>
                      </a:r>
                    </a:p>
                  </a:txBody>
                  <a:tcPr marL="73152" marR="73152" marT="36576" marB="36576" anchor="ctr">
                    <a:solidFill>
                      <a:srgbClr val="FFFFFF"/>
                    </a:solidFill>
                  </a:tcPr>
                </a:tc>
                <a:tc>
                  <a:txBody>
                    <a:bodyPr/>
                    <a:lstStyle/>
                    <a:p>
                      <a:r>
                        <a:rPr sz="1000" b="0" i="0">
                          <a:solidFill>
                            <a:srgbClr val="1F2933"/>
                          </a:solidFill>
                          <a:latin typeface="Calibri"/>
                        </a:rPr>
                        <a:t>All overdue customers, assign specialist, set blocks</a:t>
                      </a:r>
                    </a:p>
                  </a:txBody>
                  <a:tcPr marL="73152" marR="73152" marT="36576" marB="36576" anchor="ctr">
                    <a:solidFill>
                      <a:srgbClr val="FFFFFF"/>
                    </a:solidFill>
                  </a:tcPr>
                </a:tc>
                <a:extLst>
                  <a:ext uri="{0D108BD9-81ED-4DB2-BD59-A6C34878D82A}">
                    <a16:rowId xmlns:a16="http://schemas.microsoft.com/office/drawing/2014/main" val="10007"/>
                  </a:ext>
                </a:extLst>
              </a:tr>
              <a:tr h="457200">
                <a:tc>
                  <a:txBody>
                    <a:bodyPr/>
                    <a:lstStyle/>
                    <a:p>
                      <a:r>
                        <a:rPr sz="1000" b="1" i="0">
                          <a:solidFill>
                            <a:srgbClr val="1F2933"/>
                          </a:solidFill>
                          <a:latin typeface="Calibri"/>
                        </a:rPr>
                        <a:t>Progress</a:t>
                      </a:r>
                    </a:p>
                  </a:txBody>
                  <a:tcPr marL="73152" marR="73152" marT="36576" marB="36576" anchor="ctr">
                    <a:solidFill>
                      <a:srgbClr val="EEF3F8"/>
                    </a:solidFill>
                  </a:tcPr>
                </a:tc>
                <a:tc>
                  <a:txBody>
                    <a:bodyPr/>
                    <a:lstStyle/>
                    <a:p>
                      <a:r>
                        <a:rPr sz="1000" b="0" i="0">
                          <a:solidFill>
                            <a:srgbClr val="1F2933"/>
                          </a:solidFill>
                          <a:latin typeface="Calibri"/>
                        </a:rPr>
                        <a:t>Collections Management Reporting (F4495), Collection Progress (F1738), Promise to Pay (F1753), Cash Collection Tracker (F3182)</a:t>
                      </a:r>
                    </a:p>
                  </a:txBody>
                  <a:tcPr marL="73152" marR="73152" marT="36576" marB="36576" anchor="ctr">
                    <a:solidFill>
                      <a:srgbClr val="EEF3F8"/>
                    </a:solidFill>
                  </a:tcPr>
                </a:tc>
                <a:tc>
                  <a:txBody>
                    <a:bodyPr/>
                    <a:lstStyle/>
                    <a:p>
                      <a:r>
                        <a:rPr sz="1000" b="0" i="0">
                          <a:solidFill>
                            <a:srgbClr val="1F2933"/>
                          </a:solidFill>
                          <a:latin typeface="Calibri"/>
                        </a:rPr>
                        <a:t>AR Manager</a:t>
                      </a:r>
                    </a:p>
                  </a:txBody>
                  <a:tcPr marL="73152" marR="73152" marT="36576" marB="36576" anchor="ctr">
                    <a:solidFill>
                      <a:srgbClr val="EEF3F8"/>
                    </a:solidFill>
                  </a:tcPr>
                </a:tc>
                <a:tc>
                  <a:txBody>
                    <a:bodyPr/>
                    <a:lstStyle/>
                    <a:p>
                      <a:r>
                        <a:rPr sz="1000" b="0" i="0">
                          <a:solidFill>
                            <a:srgbClr val="1F2933"/>
                          </a:solidFill>
                          <a:latin typeface="Calibri"/>
                        </a:rPr>
                        <a:t>Progress per specialist / group, open and broken promises</a:t>
                      </a:r>
                    </a:p>
                  </a:txBody>
                  <a:tcPr marL="73152" marR="73152" marT="36576" marB="36576" anchor="ctr">
                    <a:solidFill>
                      <a:srgbClr val="EEF3F8"/>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94415" cy="274320"/>
          </a:xfrm>
          <a:prstGeom prst="rect">
            <a:avLst/>
          </a:prstGeom>
          <a:noFill/>
        </p:spPr>
        <p:txBody>
          <a:bodyPr wrap="square" lIns="45720" rIns="45720" anchor="t">
            <a:spAutoFit/>
          </a:bodyPr>
          <a:lstStyle/>
          <a:p>
            <a:pPr algn="l"/>
            <a:r>
              <a:rPr sz="1100" b="1" i="0">
                <a:solidFill>
                  <a:srgbClr val="0F8B8D"/>
                </a:solidFill>
                <a:latin typeface="Calibri"/>
              </a:rPr>
              <a:t>A5  PRACTICE</a:t>
            </a:r>
          </a:p>
        </p:txBody>
      </p:sp>
      <p:sp>
        <p:nvSpPr>
          <p:cNvPr id="3" name="TextBox 2"/>
          <p:cNvSpPr txBox="1"/>
          <p:nvPr/>
        </p:nvSpPr>
        <p:spPr>
          <a:xfrm>
            <a:off x="548640" y="548640"/>
            <a:ext cx="11094415" cy="868680"/>
          </a:xfrm>
          <a:prstGeom prst="rect">
            <a:avLst/>
          </a:prstGeom>
          <a:noFill/>
        </p:spPr>
        <p:txBody>
          <a:bodyPr wrap="square" lIns="45720" rIns="45720" anchor="ctr">
            <a:spAutoFit/>
          </a:bodyPr>
          <a:lstStyle/>
          <a:p>
            <a:pPr algn="l"/>
            <a:r>
              <a:rPr sz="2800" b="1" i="0">
                <a:solidFill>
                  <a:srgbClr val="1C4E80"/>
                </a:solidFill>
                <a:latin typeface="Calibri"/>
              </a:rPr>
              <a:t>Practice: a day in the collections team (demo scenario)</a:t>
            </a:r>
          </a:p>
        </p:txBody>
      </p:sp>
      <p:sp>
        <p:nvSpPr>
          <p:cNvPr id="4" name="TextBox 3"/>
          <p:cNvSpPr txBox="1"/>
          <p:nvPr/>
        </p:nvSpPr>
        <p:spPr>
          <a:xfrm>
            <a:off x="548640" y="6446520"/>
            <a:ext cx="8229600" cy="274320"/>
          </a:xfrm>
          <a:prstGeom prst="rect">
            <a:avLst/>
          </a:prstGeom>
          <a:noFill/>
        </p:spPr>
        <p:txBody>
          <a:bodyPr wrap="square" lIns="45720" rIns="45720" anchor="t">
            <a:spAutoFit/>
          </a:bodyPr>
          <a:lstStyle/>
          <a:p>
            <a:pPr algn="l"/>
            <a:r>
              <a:rPr sz="900" b="0" i="0">
                <a:solidFill>
                  <a:srgbClr val="5F6B7A"/>
                </a:solidFill>
                <a:latin typeface="Calibri"/>
              </a:rPr>
              <a:t>F2S Workshop 4  |  Collections &amp; Dispute Management  |  A  Automated collection workflow</a:t>
            </a:r>
          </a:p>
        </p:txBody>
      </p:sp>
      <p:sp>
        <p:nvSpPr>
          <p:cNvPr id="5" name="TextBox 4"/>
          <p:cNvSpPr txBox="1"/>
          <p:nvPr/>
        </p:nvSpPr>
        <p:spPr>
          <a:xfrm>
            <a:off x="10728655" y="6446520"/>
            <a:ext cx="914400" cy="274320"/>
          </a:xfrm>
          <a:prstGeom prst="rect">
            <a:avLst/>
          </a:prstGeom>
          <a:noFill/>
        </p:spPr>
        <p:txBody>
          <a:bodyPr wrap="square" lIns="45720" rIns="45720" anchor="t">
            <a:spAutoFit/>
          </a:bodyPr>
          <a:lstStyle/>
          <a:p>
            <a:pPr algn="r"/>
            <a:r>
              <a:rPr sz="900" b="0" i="0">
                <a:solidFill>
                  <a:srgbClr val="5F6B7A"/>
                </a:solidFill>
                <a:latin typeface="Calibri"/>
              </a:rPr>
              <a:t>8</a:t>
            </a:r>
          </a:p>
        </p:txBody>
      </p:sp>
      <p:sp>
        <p:nvSpPr>
          <p:cNvPr id="6" name="Rounded Rectangle 5"/>
          <p:cNvSpPr/>
          <p:nvPr/>
        </p:nvSpPr>
        <p:spPr>
          <a:xfrm>
            <a:off x="548640" y="1554480"/>
            <a:ext cx="3545738" cy="132588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685800" y="1691640"/>
            <a:ext cx="347472" cy="34747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1</a:t>
            </a:r>
          </a:p>
        </p:txBody>
      </p:sp>
      <p:sp>
        <p:nvSpPr>
          <p:cNvPr id="8" name="TextBox 7"/>
          <p:cNvSpPr txBox="1"/>
          <p:nvPr/>
        </p:nvSpPr>
        <p:spPr>
          <a:xfrm>
            <a:off x="1124712" y="1691640"/>
            <a:ext cx="2832506" cy="384048"/>
          </a:xfrm>
          <a:prstGeom prst="rect">
            <a:avLst/>
          </a:prstGeom>
          <a:noFill/>
        </p:spPr>
        <p:txBody>
          <a:bodyPr wrap="square" lIns="45720" rIns="45720" anchor="ctr">
            <a:spAutoFit/>
          </a:bodyPr>
          <a:lstStyle/>
          <a:p>
            <a:pPr algn="l"/>
            <a:r>
              <a:rPr sz="1400" b="1" i="0">
                <a:solidFill>
                  <a:srgbClr val="1C4E80"/>
                </a:solidFill>
                <a:latin typeface="Calibri"/>
              </a:rPr>
              <a:t>Manager checks the team</a:t>
            </a:r>
          </a:p>
        </p:txBody>
      </p:sp>
      <p:sp>
        <p:nvSpPr>
          <p:cNvPr id="9" name="TextBox 8"/>
          <p:cNvSpPr txBox="1"/>
          <p:nvPr/>
        </p:nvSpPr>
        <p:spPr>
          <a:xfrm>
            <a:off x="685800" y="2130552"/>
            <a:ext cx="3271418" cy="612648"/>
          </a:xfrm>
          <a:prstGeom prst="rect">
            <a:avLst/>
          </a:prstGeom>
          <a:noFill/>
        </p:spPr>
        <p:txBody>
          <a:bodyPr wrap="square" lIns="45720" rIns="45720" anchor="t">
            <a:spAutoFit/>
          </a:bodyPr>
          <a:lstStyle/>
          <a:p>
            <a:pPr algn="l"/>
            <a:r>
              <a:rPr sz="1200" b="0" i="0">
                <a:solidFill>
                  <a:srgbClr val="1F2933"/>
                </a:solidFill>
                <a:latin typeface="Calibri"/>
              </a:rPr>
              <a:t>Supervise Collections Worklist (F2375): customer without specialist → assign</a:t>
            </a:r>
          </a:p>
        </p:txBody>
      </p:sp>
      <p:sp>
        <p:nvSpPr>
          <p:cNvPr id="10" name="Rounded Rectangle 9"/>
          <p:cNvSpPr/>
          <p:nvPr/>
        </p:nvSpPr>
        <p:spPr>
          <a:xfrm>
            <a:off x="4322978" y="1554480"/>
            <a:ext cx="3545738" cy="132588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4460138" y="1691640"/>
            <a:ext cx="347472" cy="34747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2</a:t>
            </a:r>
          </a:p>
        </p:txBody>
      </p:sp>
      <p:sp>
        <p:nvSpPr>
          <p:cNvPr id="12" name="TextBox 11"/>
          <p:cNvSpPr txBox="1"/>
          <p:nvPr/>
        </p:nvSpPr>
        <p:spPr>
          <a:xfrm>
            <a:off x="4899050" y="1691640"/>
            <a:ext cx="2832506" cy="384048"/>
          </a:xfrm>
          <a:prstGeom prst="rect">
            <a:avLst/>
          </a:prstGeom>
          <a:noFill/>
        </p:spPr>
        <p:txBody>
          <a:bodyPr wrap="square" lIns="45720" rIns="45720" anchor="ctr">
            <a:spAutoFit/>
          </a:bodyPr>
          <a:lstStyle/>
          <a:p>
            <a:pPr algn="l"/>
            <a:r>
              <a:rPr sz="1400" b="1" i="0">
                <a:solidFill>
                  <a:srgbClr val="1C4E80"/>
                </a:solidFill>
                <a:latin typeface="Calibri"/>
              </a:rPr>
              <a:t>Specialist opens worklist</a:t>
            </a:r>
          </a:p>
        </p:txBody>
      </p:sp>
      <p:sp>
        <p:nvSpPr>
          <p:cNvPr id="13" name="TextBox 12"/>
          <p:cNvSpPr txBox="1"/>
          <p:nvPr/>
        </p:nvSpPr>
        <p:spPr>
          <a:xfrm>
            <a:off x="4460138" y="2130552"/>
            <a:ext cx="3271418" cy="612648"/>
          </a:xfrm>
          <a:prstGeom prst="rect">
            <a:avLst/>
          </a:prstGeom>
          <a:noFill/>
        </p:spPr>
        <p:txBody>
          <a:bodyPr wrap="square" lIns="45720" rIns="45720" anchor="t">
            <a:spAutoFit/>
          </a:bodyPr>
          <a:lstStyle/>
          <a:p>
            <a:pPr algn="l"/>
            <a:r>
              <a:rPr sz="1200" b="0" i="0">
                <a:solidFill>
                  <a:srgbClr val="1F2933"/>
                </a:solidFill>
                <a:latin typeface="Calibri"/>
              </a:rPr>
              <a:t>Process Collections Worklist (F0380): priority, amounts, aging</a:t>
            </a:r>
          </a:p>
        </p:txBody>
      </p:sp>
      <p:sp>
        <p:nvSpPr>
          <p:cNvPr id="14" name="Rounded Rectangle 13"/>
          <p:cNvSpPr/>
          <p:nvPr/>
        </p:nvSpPr>
        <p:spPr>
          <a:xfrm>
            <a:off x="8097316" y="1554480"/>
            <a:ext cx="3545738" cy="132588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8234476" y="1691640"/>
            <a:ext cx="347472" cy="34747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3</a:t>
            </a:r>
          </a:p>
        </p:txBody>
      </p:sp>
      <p:sp>
        <p:nvSpPr>
          <p:cNvPr id="16" name="TextBox 15"/>
          <p:cNvSpPr txBox="1"/>
          <p:nvPr/>
        </p:nvSpPr>
        <p:spPr>
          <a:xfrm>
            <a:off x="8673388" y="1691640"/>
            <a:ext cx="2832506" cy="384048"/>
          </a:xfrm>
          <a:prstGeom prst="rect">
            <a:avLst/>
          </a:prstGeom>
          <a:noFill/>
        </p:spPr>
        <p:txBody>
          <a:bodyPr wrap="square" lIns="45720" rIns="45720" anchor="ctr">
            <a:spAutoFit/>
          </a:bodyPr>
          <a:lstStyle/>
          <a:p>
            <a:pPr algn="l"/>
            <a:r>
              <a:rPr sz="1400" b="1" i="0">
                <a:solidFill>
                  <a:srgbClr val="1C4E80"/>
                </a:solidFill>
                <a:latin typeface="Calibri"/>
              </a:rPr>
              <a:t>Open customer</a:t>
            </a:r>
          </a:p>
        </p:txBody>
      </p:sp>
      <p:sp>
        <p:nvSpPr>
          <p:cNvPr id="17" name="TextBox 16"/>
          <p:cNvSpPr txBox="1"/>
          <p:nvPr/>
        </p:nvSpPr>
        <p:spPr>
          <a:xfrm>
            <a:off x="8234476" y="2130552"/>
            <a:ext cx="3271418" cy="612648"/>
          </a:xfrm>
          <a:prstGeom prst="rect">
            <a:avLst/>
          </a:prstGeom>
          <a:noFill/>
        </p:spPr>
        <p:txBody>
          <a:bodyPr wrap="square" lIns="45720" rIns="45720" anchor="t">
            <a:spAutoFit/>
          </a:bodyPr>
          <a:lstStyle/>
          <a:p>
            <a:pPr algn="l"/>
            <a:r>
              <a:rPr sz="1200" b="0" i="0">
                <a:solidFill>
                  <a:srgbClr val="1F2933"/>
                </a:solidFill>
                <a:latin typeface="Calibri"/>
              </a:rPr>
              <a:t>Process Receivables (F0106A): invoices, history, create contact person</a:t>
            </a:r>
          </a:p>
        </p:txBody>
      </p:sp>
      <p:sp>
        <p:nvSpPr>
          <p:cNvPr id="18" name="Rounded Rectangle 17"/>
          <p:cNvSpPr/>
          <p:nvPr/>
        </p:nvSpPr>
        <p:spPr>
          <a:xfrm>
            <a:off x="548640" y="3063240"/>
            <a:ext cx="3545738" cy="132588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685800" y="3200400"/>
            <a:ext cx="347472" cy="34747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4</a:t>
            </a:r>
          </a:p>
        </p:txBody>
      </p:sp>
      <p:sp>
        <p:nvSpPr>
          <p:cNvPr id="20" name="TextBox 19"/>
          <p:cNvSpPr txBox="1"/>
          <p:nvPr/>
        </p:nvSpPr>
        <p:spPr>
          <a:xfrm>
            <a:off x="1124712" y="3200400"/>
            <a:ext cx="2832506" cy="384048"/>
          </a:xfrm>
          <a:prstGeom prst="rect">
            <a:avLst/>
          </a:prstGeom>
          <a:noFill/>
        </p:spPr>
        <p:txBody>
          <a:bodyPr wrap="square" lIns="45720" rIns="45720" anchor="ctr">
            <a:spAutoFit/>
          </a:bodyPr>
          <a:lstStyle/>
          <a:p>
            <a:pPr algn="l"/>
            <a:r>
              <a:rPr sz="1400" b="1" i="0">
                <a:solidFill>
                  <a:srgbClr val="1C4E80"/>
                </a:solidFill>
                <a:latin typeface="Calibri"/>
              </a:rPr>
              <a:t>Document the call</a:t>
            </a:r>
          </a:p>
        </p:txBody>
      </p:sp>
      <p:sp>
        <p:nvSpPr>
          <p:cNvPr id="21" name="TextBox 20"/>
          <p:cNvSpPr txBox="1"/>
          <p:nvPr/>
        </p:nvSpPr>
        <p:spPr>
          <a:xfrm>
            <a:off x="685800" y="3639312"/>
            <a:ext cx="3271418" cy="612648"/>
          </a:xfrm>
          <a:prstGeom prst="rect">
            <a:avLst/>
          </a:prstGeom>
          <a:noFill/>
        </p:spPr>
        <p:txBody>
          <a:bodyPr wrap="square" lIns="45720" rIns="45720" anchor="t">
            <a:spAutoFit/>
          </a:bodyPr>
          <a:lstStyle/>
          <a:p>
            <a:pPr algn="l"/>
            <a:r>
              <a:rPr sz="1200" b="0" i="0">
                <a:solidFill>
                  <a:srgbClr val="1F2933"/>
                </a:solidFill>
                <a:latin typeface="Calibri"/>
              </a:rPr>
              <a:t>Promise to pay for small invoice, resubmission for second, dispute for large one</a:t>
            </a:r>
          </a:p>
        </p:txBody>
      </p:sp>
      <p:sp>
        <p:nvSpPr>
          <p:cNvPr id="22" name="Rounded Rectangle 21"/>
          <p:cNvSpPr/>
          <p:nvPr/>
        </p:nvSpPr>
        <p:spPr>
          <a:xfrm>
            <a:off x="4322978" y="3063240"/>
            <a:ext cx="3545738" cy="132588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4460138" y="3200400"/>
            <a:ext cx="347472" cy="34747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5</a:t>
            </a:r>
          </a:p>
        </p:txBody>
      </p:sp>
      <p:sp>
        <p:nvSpPr>
          <p:cNvPr id="24" name="TextBox 23"/>
          <p:cNvSpPr txBox="1"/>
          <p:nvPr/>
        </p:nvSpPr>
        <p:spPr>
          <a:xfrm>
            <a:off x="4899050" y="3200400"/>
            <a:ext cx="2832506" cy="384048"/>
          </a:xfrm>
          <a:prstGeom prst="rect">
            <a:avLst/>
          </a:prstGeom>
          <a:noFill/>
        </p:spPr>
        <p:txBody>
          <a:bodyPr wrap="square" lIns="45720" rIns="45720" anchor="ctr">
            <a:spAutoFit/>
          </a:bodyPr>
          <a:lstStyle/>
          <a:p>
            <a:pPr algn="l"/>
            <a:r>
              <a:rPr sz="1400" b="1" i="0">
                <a:solidFill>
                  <a:srgbClr val="1C4E80"/>
                </a:solidFill>
                <a:latin typeface="Calibri"/>
              </a:rPr>
              <a:t>Finish contact</a:t>
            </a:r>
          </a:p>
        </p:txBody>
      </p:sp>
      <p:sp>
        <p:nvSpPr>
          <p:cNvPr id="25" name="TextBox 24"/>
          <p:cNvSpPr txBox="1"/>
          <p:nvPr/>
        </p:nvSpPr>
        <p:spPr>
          <a:xfrm>
            <a:off x="4460138" y="3639312"/>
            <a:ext cx="3271418" cy="612648"/>
          </a:xfrm>
          <a:prstGeom prst="rect">
            <a:avLst/>
          </a:prstGeom>
          <a:noFill/>
        </p:spPr>
        <p:txBody>
          <a:bodyPr wrap="square" lIns="45720" rIns="45720" anchor="t">
            <a:spAutoFit/>
          </a:bodyPr>
          <a:lstStyle/>
          <a:p>
            <a:pPr algn="l"/>
            <a:r>
              <a:rPr sz="1200" b="0" i="0">
                <a:solidFill>
                  <a:srgbClr val="1F2933"/>
                </a:solidFill>
                <a:latin typeface="Calibri"/>
              </a:rPr>
              <a:t>Finish Customer Contact: result, note, e-mail Customer Contact Recap</a:t>
            </a:r>
          </a:p>
        </p:txBody>
      </p:sp>
      <p:sp>
        <p:nvSpPr>
          <p:cNvPr id="26" name="Rounded Rectangle 25"/>
          <p:cNvSpPr/>
          <p:nvPr/>
        </p:nvSpPr>
        <p:spPr>
          <a:xfrm>
            <a:off x="8097316" y="3063240"/>
            <a:ext cx="3545738" cy="132588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Oval 26"/>
          <p:cNvSpPr/>
          <p:nvPr/>
        </p:nvSpPr>
        <p:spPr>
          <a:xfrm>
            <a:off x="8234476" y="3200400"/>
            <a:ext cx="347472" cy="34747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6</a:t>
            </a:r>
          </a:p>
        </p:txBody>
      </p:sp>
      <p:sp>
        <p:nvSpPr>
          <p:cNvPr id="28" name="TextBox 27"/>
          <p:cNvSpPr txBox="1"/>
          <p:nvPr/>
        </p:nvSpPr>
        <p:spPr>
          <a:xfrm>
            <a:off x="8673388" y="3200400"/>
            <a:ext cx="2832506" cy="384048"/>
          </a:xfrm>
          <a:prstGeom prst="rect">
            <a:avLst/>
          </a:prstGeom>
          <a:noFill/>
        </p:spPr>
        <p:txBody>
          <a:bodyPr wrap="square" lIns="45720" rIns="45720" anchor="ctr">
            <a:spAutoFit/>
          </a:bodyPr>
          <a:lstStyle/>
          <a:p>
            <a:pPr algn="l"/>
            <a:r>
              <a:rPr sz="1400" b="1" i="0">
                <a:solidFill>
                  <a:srgbClr val="1C4E80"/>
                </a:solidFill>
                <a:latin typeface="Calibri"/>
              </a:rPr>
              <a:t>Back to the list</a:t>
            </a:r>
          </a:p>
        </p:txBody>
      </p:sp>
      <p:sp>
        <p:nvSpPr>
          <p:cNvPr id="29" name="TextBox 28"/>
          <p:cNvSpPr txBox="1"/>
          <p:nvPr/>
        </p:nvSpPr>
        <p:spPr>
          <a:xfrm>
            <a:off x="8234476" y="3639312"/>
            <a:ext cx="3271418" cy="612648"/>
          </a:xfrm>
          <a:prstGeom prst="rect">
            <a:avLst/>
          </a:prstGeom>
          <a:noFill/>
        </p:spPr>
        <p:txBody>
          <a:bodyPr wrap="square" lIns="45720" rIns="45720" anchor="t">
            <a:spAutoFit/>
          </a:bodyPr>
          <a:lstStyle/>
          <a:p>
            <a:pPr algn="l"/>
            <a:r>
              <a:rPr sz="1200" b="0" i="0">
                <a:solidFill>
                  <a:srgbClr val="1F2933"/>
                </a:solidFill>
                <a:latin typeface="Calibri"/>
              </a:rPr>
              <a:t>Customer in My Completed Items; mass correspondence for two more customers</a:t>
            </a:r>
          </a:p>
        </p:txBody>
      </p:sp>
      <p:sp>
        <p:nvSpPr>
          <p:cNvPr id="30" name="Rounded Rectangle 29"/>
          <p:cNvSpPr/>
          <p:nvPr/>
        </p:nvSpPr>
        <p:spPr>
          <a:xfrm>
            <a:off x="548640" y="4572000"/>
            <a:ext cx="11094415" cy="1097280"/>
          </a:xfrm>
          <a:prstGeom prst="roundRect">
            <a:avLst>
              <a:gd name="adj" fmla="val 12000"/>
            </a:avLst>
          </a:prstGeom>
          <a:solidFill>
            <a:srgbClr val="E6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731520" y="4663440"/>
            <a:ext cx="10728655" cy="1005840"/>
          </a:xfrm>
          <a:prstGeom prst="rect">
            <a:avLst/>
          </a:prstGeom>
          <a:noFill/>
        </p:spPr>
        <p:txBody>
          <a:bodyPr wrap="square" lIns="45720" rIns="45720">
            <a:spAutoFit/>
          </a:bodyPr>
          <a:lstStyle/>
          <a:p>
            <a:pPr marL="201168" indent="-201168">
              <a:spcAft>
                <a:spcPts val="400"/>
              </a:spcAft>
              <a:buChar char="•"/>
            </a:pPr>
            <a:r>
              <a:rPr sz="1200" b="1" i="0">
                <a:solidFill>
                  <a:srgbClr val="1F2933"/>
                </a:solidFill>
                <a:latin typeface="Calibri"/>
              </a:rPr>
              <a:t>Preparation the day before: </a:t>
            </a:r>
            <a:r>
              <a:rPr sz="1200" b="0" i="0">
                <a:solidFill>
                  <a:srgbClr val="1F2933"/>
                </a:solidFill>
                <a:latin typeface="Calibri"/>
              </a:rPr>
              <a:t>strategy active, group with demo user, customer with profile and specialist, overdue items &gt; 1,500 EUR and ≥ 5 days, accounting clerk 01 in customer master.</a:t>
            </a:r>
          </a:p>
          <a:p>
            <a:pPr marL="201168" indent="-201168">
              <a:spcAft>
                <a:spcPts val="400"/>
              </a:spcAft>
              <a:buChar char="•"/>
            </a:pPr>
            <a:r>
              <a:rPr sz="1200" b="1" i="0">
                <a:solidFill>
                  <a:srgbClr val="1F2933"/>
                </a:solidFill>
                <a:latin typeface="Calibri"/>
              </a:rPr>
              <a:t>Pitfalls: </a:t>
            </a:r>
            <a:r>
              <a:rPr sz="1200" b="0" i="0">
                <a:solidFill>
                  <a:srgbClr val="1F2933"/>
                </a:solidFill>
                <a:latin typeface="Calibri"/>
              </a:rPr>
              <a:t>worklist only overnight; no dunning proposal if last dunning run is less than 14 days old; e-mail sending needs output configuration (preview is enough).</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94415" cy="274320"/>
          </a:xfrm>
          <a:prstGeom prst="rect">
            <a:avLst/>
          </a:prstGeom>
          <a:noFill/>
        </p:spPr>
        <p:txBody>
          <a:bodyPr wrap="square" lIns="45720" rIns="45720" anchor="t">
            <a:spAutoFit/>
          </a:bodyPr>
          <a:lstStyle/>
          <a:p>
            <a:pPr algn="l"/>
            <a:r>
              <a:rPr sz="1100" b="1" i="0">
                <a:solidFill>
                  <a:srgbClr val="0F8B8D"/>
                </a:solidFill>
                <a:latin typeface="Calibri"/>
              </a:rPr>
              <a:t>B1  BUSINESS CONTEXT</a:t>
            </a:r>
          </a:p>
        </p:txBody>
      </p:sp>
      <p:sp>
        <p:nvSpPr>
          <p:cNvPr id="3" name="TextBox 2"/>
          <p:cNvSpPr txBox="1"/>
          <p:nvPr/>
        </p:nvSpPr>
        <p:spPr>
          <a:xfrm>
            <a:off x="548640" y="548640"/>
            <a:ext cx="11094415" cy="868680"/>
          </a:xfrm>
          <a:prstGeom prst="rect">
            <a:avLst/>
          </a:prstGeom>
          <a:noFill/>
        </p:spPr>
        <p:txBody>
          <a:bodyPr wrap="square" lIns="45720" rIns="45720" anchor="ctr">
            <a:spAutoFit/>
          </a:bodyPr>
          <a:lstStyle/>
          <a:p>
            <a:pPr algn="l"/>
            <a:r>
              <a:rPr sz="2800" b="1" i="0">
                <a:solidFill>
                  <a:srgbClr val="1C4E80"/>
                </a:solidFill>
                <a:latin typeface="Calibri"/>
              </a:rPr>
              <a:t>A sequence instead of a list: why the worklist is calculated</a:t>
            </a:r>
          </a:p>
        </p:txBody>
      </p:sp>
      <p:sp>
        <p:nvSpPr>
          <p:cNvPr id="4" name="TextBox 3"/>
          <p:cNvSpPr txBox="1"/>
          <p:nvPr/>
        </p:nvSpPr>
        <p:spPr>
          <a:xfrm>
            <a:off x="548640" y="6446520"/>
            <a:ext cx="8229600" cy="274320"/>
          </a:xfrm>
          <a:prstGeom prst="rect">
            <a:avLst/>
          </a:prstGeom>
          <a:noFill/>
        </p:spPr>
        <p:txBody>
          <a:bodyPr wrap="square" lIns="45720" rIns="45720" anchor="t">
            <a:spAutoFit/>
          </a:bodyPr>
          <a:lstStyle/>
          <a:p>
            <a:pPr algn="l"/>
            <a:r>
              <a:rPr sz="900" b="0" i="0">
                <a:solidFill>
                  <a:srgbClr val="5F6B7A"/>
                </a:solidFill>
                <a:latin typeface="Calibri"/>
              </a:rPr>
              <a:t>F2S Workshop 4  |  Collections &amp; Dispute Management  |  B  Worklist management</a:t>
            </a:r>
          </a:p>
        </p:txBody>
      </p:sp>
      <p:sp>
        <p:nvSpPr>
          <p:cNvPr id="5" name="TextBox 4"/>
          <p:cNvSpPr txBox="1"/>
          <p:nvPr/>
        </p:nvSpPr>
        <p:spPr>
          <a:xfrm>
            <a:off x="10728655" y="6446520"/>
            <a:ext cx="914400" cy="274320"/>
          </a:xfrm>
          <a:prstGeom prst="rect">
            <a:avLst/>
          </a:prstGeom>
          <a:noFill/>
        </p:spPr>
        <p:txBody>
          <a:bodyPr wrap="square" lIns="45720" rIns="45720" anchor="t">
            <a:spAutoFit/>
          </a:bodyPr>
          <a:lstStyle/>
          <a:p>
            <a:pPr algn="r"/>
            <a:r>
              <a:rPr sz="900" b="0" i="0">
                <a:solidFill>
                  <a:srgbClr val="5F6B7A"/>
                </a:solidFill>
                <a:latin typeface="Calibri"/>
              </a:rPr>
              <a:t>9</a:t>
            </a:r>
          </a:p>
        </p:txBody>
      </p:sp>
      <p:sp>
        <p:nvSpPr>
          <p:cNvPr id="6" name="Rounded Rectangle 5"/>
          <p:cNvSpPr/>
          <p:nvPr/>
        </p:nvSpPr>
        <p:spPr>
          <a:xfrm>
            <a:off x="548640" y="1554480"/>
            <a:ext cx="5410047" cy="210312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685800" y="1691640"/>
            <a:ext cx="5135727" cy="365760"/>
          </a:xfrm>
          <a:prstGeom prst="rect">
            <a:avLst/>
          </a:prstGeom>
          <a:noFill/>
        </p:spPr>
        <p:txBody>
          <a:bodyPr wrap="square" lIns="45720" rIns="45720" anchor="ctr">
            <a:spAutoFit/>
          </a:bodyPr>
          <a:lstStyle/>
          <a:p>
            <a:pPr algn="l"/>
            <a:r>
              <a:rPr sz="1400" b="1" i="0">
                <a:solidFill>
                  <a:srgbClr val="1C4E80"/>
                </a:solidFill>
                <a:latin typeface="Calibri"/>
              </a:rPr>
              <a:t>The problem without a worklist</a:t>
            </a:r>
          </a:p>
        </p:txBody>
      </p:sp>
      <p:sp>
        <p:nvSpPr>
          <p:cNvPr id="8" name="TextBox 7"/>
          <p:cNvSpPr txBox="1"/>
          <p:nvPr/>
        </p:nvSpPr>
        <p:spPr>
          <a:xfrm>
            <a:off x="685800" y="2075688"/>
            <a:ext cx="5135727" cy="1444752"/>
          </a:xfrm>
          <a:prstGeom prst="rect">
            <a:avLst/>
          </a:prstGeom>
          <a:noFill/>
        </p:spPr>
        <p:txBody>
          <a:bodyPr wrap="square" lIns="45720" rIns="45720">
            <a:spAutoFit/>
          </a:bodyPr>
          <a:lstStyle/>
          <a:p>
            <a:pPr marL="201168" indent="-201168">
              <a:spcAft>
                <a:spcPts val="300"/>
              </a:spcAft>
              <a:buChar char="•"/>
            </a:pPr>
            <a:r>
              <a:rPr sz="1200" b="0" i="0">
                <a:solidFill>
                  <a:srgbClr val="1F2933"/>
                </a:solidFill>
                <a:latin typeface="Calibri"/>
              </a:rPr>
              <a:t>List of all overdue customers is too long, selection by gut feeling</a:t>
            </a:r>
          </a:p>
          <a:p>
            <a:pPr marL="201168" indent="-201168">
              <a:spcAft>
                <a:spcPts val="300"/>
              </a:spcAft>
              <a:buChar char="•"/>
            </a:pPr>
            <a:r>
              <a:rPr sz="1200" b="0" i="0">
                <a:solidFill>
                  <a:srgbClr val="1F2933"/>
                </a:solidFill>
                <a:latin typeface="Calibri"/>
              </a:rPr>
              <a:t>Excel lists per employee, no shared status</a:t>
            </a:r>
          </a:p>
          <a:p>
            <a:pPr marL="201168" indent="-201168">
              <a:spcAft>
                <a:spcPts val="300"/>
              </a:spcAft>
              <a:buChar char="•"/>
            </a:pPr>
            <a:r>
              <a:rPr sz="1200" b="0" i="0">
                <a:solidFill>
                  <a:srgbClr val="1F2933"/>
                </a:solidFill>
                <a:latin typeface="Calibri"/>
              </a:rPr>
              <a:t>History is lost when someone substitutes</a:t>
            </a:r>
          </a:p>
          <a:p>
            <a:pPr marL="201168" indent="-201168">
              <a:spcAft>
                <a:spcPts val="300"/>
              </a:spcAft>
              <a:buChar char="•"/>
            </a:pPr>
            <a:r>
              <a:rPr sz="1200" b="0" i="0">
                <a:solidFill>
                  <a:srgbClr val="1F2933"/>
                </a:solidFill>
                <a:latin typeface="Calibri"/>
              </a:rPr>
              <a:t>Manager cannot see what the team moves</a:t>
            </a:r>
          </a:p>
        </p:txBody>
      </p:sp>
      <p:sp>
        <p:nvSpPr>
          <p:cNvPr id="9" name="Rounded Rectangle 8"/>
          <p:cNvSpPr/>
          <p:nvPr/>
        </p:nvSpPr>
        <p:spPr>
          <a:xfrm>
            <a:off x="6233007" y="1554480"/>
            <a:ext cx="5410047" cy="2103120"/>
          </a:xfrm>
          <a:prstGeom prst="roundRect">
            <a:avLst>
              <a:gd name="adj" fmla="val 12000"/>
            </a:avLst>
          </a:prstGeom>
          <a:solidFill>
            <a:srgbClr val="E6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370167" y="1691640"/>
            <a:ext cx="5135727" cy="365760"/>
          </a:xfrm>
          <a:prstGeom prst="rect">
            <a:avLst/>
          </a:prstGeom>
          <a:noFill/>
        </p:spPr>
        <p:txBody>
          <a:bodyPr wrap="square" lIns="45720" rIns="45720" anchor="ctr">
            <a:spAutoFit/>
          </a:bodyPr>
          <a:lstStyle/>
          <a:p>
            <a:pPr algn="l"/>
            <a:r>
              <a:rPr sz="1400" b="1" i="0">
                <a:solidFill>
                  <a:srgbClr val="1C4E80"/>
                </a:solidFill>
                <a:latin typeface="Calibri"/>
              </a:rPr>
              <a:t>What the worklist delivers</a:t>
            </a:r>
          </a:p>
        </p:txBody>
      </p:sp>
      <p:sp>
        <p:nvSpPr>
          <p:cNvPr id="11" name="TextBox 10"/>
          <p:cNvSpPr txBox="1"/>
          <p:nvPr/>
        </p:nvSpPr>
        <p:spPr>
          <a:xfrm>
            <a:off x="6370167" y="2075688"/>
            <a:ext cx="5135727" cy="1444752"/>
          </a:xfrm>
          <a:prstGeom prst="rect">
            <a:avLst/>
          </a:prstGeom>
          <a:noFill/>
        </p:spPr>
        <p:txBody>
          <a:bodyPr wrap="square" lIns="45720" rIns="45720">
            <a:spAutoFit/>
          </a:bodyPr>
          <a:lstStyle/>
          <a:p>
            <a:pPr marL="201168" indent="-201168">
              <a:spcAft>
                <a:spcPts val="300"/>
              </a:spcAft>
              <a:buChar char="•"/>
            </a:pPr>
            <a:r>
              <a:rPr sz="1200" b="0" i="0">
                <a:solidFill>
                  <a:srgbClr val="1F2933"/>
                </a:solidFill>
                <a:latin typeface="Calibri"/>
              </a:rPr>
              <a:t>Daily recalculated sequence by risk and amount</a:t>
            </a:r>
          </a:p>
          <a:p>
            <a:pPr marL="201168" indent="-201168">
              <a:spcAft>
                <a:spcPts val="300"/>
              </a:spcAft>
              <a:buChar char="•"/>
            </a:pPr>
            <a:r>
              <a:rPr sz="1200" b="0" i="0">
                <a:solidFill>
                  <a:srgbClr val="1F2933"/>
                </a:solidFill>
                <a:latin typeface="Calibri"/>
              </a:rPr>
              <a:t>Customers with resubmission or running promise disappear automatically</a:t>
            </a:r>
          </a:p>
          <a:p>
            <a:pPr marL="201168" indent="-201168">
              <a:spcAft>
                <a:spcPts val="300"/>
              </a:spcAft>
              <a:buChar char="•"/>
            </a:pPr>
            <a:r>
              <a:rPr sz="1200" b="0" i="0">
                <a:solidFill>
                  <a:srgbClr val="1F2933"/>
                </a:solidFill>
                <a:latin typeface="Calibri"/>
              </a:rPr>
              <a:t>Substitute sees the same list with the same history</a:t>
            </a:r>
          </a:p>
          <a:p>
            <a:pPr marL="201168" indent="-201168">
              <a:spcAft>
                <a:spcPts val="300"/>
              </a:spcAft>
              <a:buChar char="•"/>
            </a:pPr>
            <a:r>
              <a:rPr sz="1200" b="0" i="0">
                <a:solidFill>
                  <a:srgbClr val="1F2933"/>
                </a:solidFill>
                <a:latin typeface="Calibri"/>
              </a:rPr>
              <a:t>Manager reassigns, sees progress per specialist</a:t>
            </a:r>
          </a:p>
        </p:txBody>
      </p:sp>
      <p:sp>
        <p:nvSpPr>
          <p:cNvPr id="12" name="TextBox 11"/>
          <p:cNvSpPr txBox="1"/>
          <p:nvPr/>
        </p:nvSpPr>
        <p:spPr>
          <a:xfrm>
            <a:off x="548640" y="3886200"/>
            <a:ext cx="11094415" cy="365760"/>
          </a:xfrm>
          <a:prstGeom prst="rect">
            <a:avLst/>
          </a:prstGeom>
          <a:noFill/>
        </p:spPr>
        <p:txBody>
          <a:bodyPr wrap="square" lIns="45720" rIns="45720" anchor="t">
            <a:spAutoFit/>
          </a:bodyPr>
          <a:lstStyle/>
          <a:p>
            <a:pPr algn="l"/>
            <a:r>
              <a:rPr sz="1500" b="1" i="0">
                <a:solidFill>
                  <a:srgbClr val="1C4E80"/>
                </a:solidFill>
                <a:latin typeface="Calibri"/>
              </a:rPr>
              <a:t>Four user groups, one data basis</a:t>
            </a:r>
          </a:p>
        </p:txBody>
      </p:sp>
      <p:sp>
        <p:nvSpPr>
          <p:cNvPr id="13" name="Rounded Rectangle 12"/>
          <p:cNvSpPr/>
          <p:nvPr/>
        </p:nvSpPr>
        <p:spPr>
          <a:xfrm>
            <a:off x="548640" y="4297680"/>
            <a:ext cx="2602153" cy="160020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85800" y="4434840"/>
            <a:ext cx="2327833" cy="365760"/>
          </a:xfrm>
          <a:prstGeom prst="rect">
            <a:avLst/>
          </a:prstGeom>
          <a:noFill/>
        </p:spPr>
        <p:txBody>
          <a:bodyPr wrap="square" lIns="45720" rIns="45720" anchor="ctr">
            <a:spAutoFit/>
          </a:bodyPr>
          <a:lstStyle/>
          <a:p>
            <a:pPr algn="l"/>
            <a:r>
              <a:rPr sz="1400" b="1" i="0">
                <a:solidFill>
                  <a:srgbClr val="0F8B8D"/>
                </a:solidFill>
                <a:latin typeface="Calibri"/>
              </a:rPr>
              <a:t>Specialist</a:t>
            </a:r>
          </a:p>
        </p:txBody>
      </p:sp>
      <p:sp>
        <p:nvSpPr>
          <p:cNvPr id="15" name="TextBox 14"/>
          <p:cNvSpPr txBox="1"/>
          <p:nvPr/>
        </p:nvSpPr>
        <p:spPr>
          <a:xfrm>
            <a:off x="685800" y="4818888"/>
            <a:ext cx="2327833" cy="941832"/>
          </a:xfrm>
          <a:prstGeom prst="rect">
            <a:avLst/>
          </a:prstGeom>
          <a:noFill/>
        </p:spPr>
        <p:txBody>
          <a:bodyPr wrap="square" lIns="45720" rIns="45720" anchor="t">
            <a:spAutoFit/>
          </a:bodyPr>
          <a:lstStyle/>
          <a:p>
            <a:pPr algn="l"/>
            <a:r>
              <a:rPr sz="1200" b="0" i="0">
                <a:solidFill>
                  <a:srgbClr val="1F2933"/>
                </a:solidFill>
                <a:latin typeface="Calibri"/>
              </a:rPr>
              <a:t>Open in the morning, work from the top, close every contact with a result</a:t>
            </a:r>
          </a:p>
        </p:txBody>
      </p:sp>
      <p:sp>
        <p:nvSpPr>
          <p:cNvPr id="16" name="Rounded Rectangle 15"/>
          <p:cNvSpPr/>
          <p:nvPr/>
        </p:nvSpPr>
        <p:spPr>
          <a:xfrm>
            <a:off x="3379393" y="4297680"/>
            <a:ext cx="2602153" cy="160020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3516553" y="4434840"/>
            <a:ext cx="2327833" cy="365760"/>
          </a:xfrm>
          <a:prstGeom prst="rect">
            <a:avLst/>
          </a:prstGeom>
          <a:noFill/>
        </p:spPr>
        <p:txBody>
          <a:bodyPr wrap="square" lIns="45720" rIns="45720" anchor="ctr">
            <a:spAutoFit/>
          </a:bodyPr>
          <a:lstStyle/>
          <a:p>
            <a:pPr algn="l"/>
            <a:r>
              <a:rPr sz="1400" b="1" i="0">
                <a:solidFill>
                  <a:srgbClr val="0F8B8D"/>
                </a:solidFill>
                <a:latin typeface="Calibri"/>
              </a:rPr>
              <a:t>Substitute</a:t>
            </a:r>
          </a:p>
        </p:txBody>
      </p:sp>
      <p:sp>
        <p:nvSpPr>
          <p:cNvPr id="18" name="TextBox 17"/>
          <p:cNvSpPr txBox="1"/>
          <p:nvPr/>
        </p:nvSpPr>
        <p:spPr>
          <a:xfrm>
            <a:off x="3516553" y="4818888"/>
            <a:ext cx="2327833" cy="941832"/>
          </a:xfrm>
          <a:prstGeom prst="rect">
            <a:avLst/>
          </a:prstGeom>
          <a:noFill/>
        </p:spPr>
        <p:txBody>
          <a:bodyPr wrap="square" lIns="45720" rIns="45720" anchor="t">
            <a:spAutoFit/>
          </a:bodyPr>
          <a:lstStyle/>
          <a:p>
            <a:pPr algn="l"/>
            <a:r>
              <a:rPr sz="1200" b="0" i="0">
                <a:solidFill>
                  <a:srgbClr val="1F2933"/>
                </a:solidFill>
                <a:latin typeface="Calibri"/>
              </a:rPr>
              <a:t>Vacation or sick leave: Assigned to Others shows the colleague's list</a:t>
            </a:r>
          </a:p>
        </p:txBody>
      </p:sp>
      <p:sp>
        <p:nvSpPr>
          <p:cNvPr id="19" name="Rounded Rectangle 18"/>
          <p:cNvSpPr/>
          <p:nvPr/>
        </p:nvSpPr>
        <p:spPr>
          <a:xfrm>
            <a:off x="6210147" y="4297680"/>
            <a:ext cx="2602153" cy="160020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347307" y="4434840"/>
            <a:ext cx="2327833" cy="365760"/>
          </a:xfrm>
          <a:prstGeom prst="rect">
            <a:avLst/>
          </a:prstGeom>
          <a:noFill/>
        </p:spPr>
        <p:txBody>
          <a:bodyPr wrap="square" lIns="45720" rIns="45720" anchor="ctr">
            <a:spAutoFit/>
          </a:bodyPr>
          <a:lstStyle/>
          <a:p>
            <a:pPr algn="l"/>
            <a:r>
              <a:rPr sz="1400" b="1" i="0">
                <a:solidFill>
                  <a:srgbClr val="0F8B8D"/>
                </a:solidFill>
                <a:latin typeface="Calibri"/>
              </a:rPr>
              <a:t>Manager</a:t>
            </a:r>
          </a:p>
        </p:txBody>
      </p:sp>
      <p:sp>
        <p:nvSpPr>
          <p:cNvPr id="21" name="TextBox 20"/>
          <p:cNvSpPr txBox="1"/>
          <p:nvPr/>
        </p:nvSpPr>
        <p:spPr>
          <a:xfrm>
            <a:off x="6347307" y="4818888"/>
            <a:ext cx="2327833" cy="941832"/>
          </a:xfrm>
          <a:prstGeom prst="rect">
            <a:avLst/>
          </a:prstGeom>
          <a:noFill/>
        </p:spPr>
        <p:txBody>
          <a:bodyPr wrap="square" lIns="45720" rIns="45720" anchor="t">
            <a:spAutoFit/>
          </a:bodyPr>
          <a:lstStyle/>
          <a:p>
            <a:pPr algn="l"/>
            <a:r>
              <a:rPr sz="1200" b="0" i="0">
                <a:solidFill>
                  <a:srgbClr val="1F2933"/>
                </a:solidFill>
                <a:latin typeface="Calibri"/>
              </a:rPr>
              <a:t>All overdue customers, responsibilities, gaps, reassignment, blocks</a:t>
            </a:r>
          </a:p>
        </p:txBody>
      </p:sp>
      <p:sp>
        <p:nvSpPr>
          <p:cNvPr id="22" name="Rounded Rectangle 21"/>
          <p:cNvSpPr/>
          <p:nvPr/>
        </p:nvSpPr>
        <p:spPr>
          <a:xfrm>
            <a:off x="9040901" y="4297680"/>
            <a:ext cx="2602153" cy="160020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9178061" y="4434840"/>
            <a:ext cx="2327833" cy="365760"/>
          </a:xfrm>
          <a:prstGeom prst="rect">
            <a:avLst/>
          </a:prstGeom>
          <a:noFill/>
        </p:spPr>
        <p:txBody>
          <a:bodyPr wrap="square" lIns="45720" rIns="45720" anchor="ctr">
            <a:spAutoFit/>
          </a:bodyPr>
          <a:lstStyle/>
          <a:p>
            <a:pPr algn="l"/>
            <a:r>
              <a:rPr sz="1400" b="1" i="0">
                <a:solidFill>
                  <a:srgbClr val="0F8B8D"/>
                </a:solidFill>
                <a:latin typeface="Calibri"/>
              </a:rPr>
              <a:t>Mass processing</a:t>
            </a:r>
          </a:p>
        </p:txBody>
      </p:sp>
      <p:sp>
        <p:nvSpPr>
          <p:cNvPr id="24" name="TextBox 23"/>
          <p:cNvSpPr txBox="1"/>
          <p:nvPr/>
        </p:nvSpPr>
        <p:spPr>
          <a:xfrm>
            <a:off x="9178061" y="4818888"/>
            <a:ext cx="2327833" cy="941832"/>
          </a:xfrm>
          <a:prstGeom prst="rect">
            <a:avLst/>
          </a:prstGeom>
          <a:noFill/>
        </p:spPr>
        <p:txBody>
          <a:bodyPr wrap="square" lIns="45720" rIns="45720" anchor="t">
            <a:spAutoFit/>
          </a:bodyPr>
          <a:lstStyle/>
          <a:p>
            <a:pPr algn="l"/>
            <a:r>
              <a:rPr sz="1200" b="0" i="0">
                <a:solidFill>
                  <a:srgbClr val="1F2933"/>
                </a:solidFill>
                <a:latin typeface="Calibri"/>
              </a:rPr>
              <a:t>Small amounts: mass correspondence from the list instead of individual contact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94415" cy="274320"/>
          </a:xfrm>
          <a:prstGeom prst="rect">
            <a:avLst/>
          </a:prstGeom>
          <a:noFill/>
        </p:spPr>
        <p:txBody>
          <a:bodyPr wrap="square" lIns="45720" rIns="45720" anchor="t">
            <a:spAutoFit/>
          </a:bodyPr>
          <a:lstStyle/>
          <a:p>
            <a:pPr algn="l"/>
            <a:r>
              <a:rPr sz="1100" b="1" i="0">
                <a:solidFill>
                  <a:srgbClr val="0F8B8D"/>
                </a:solidFill>
                <a:latin typeface="Calibri"/>
              </a:rPr>
              <a:t>B2  PROCESS AND APPS</a:t>
            </a:r>
          </a:p>
        </p:txBody>
      </p:sp>
      <p:sp>
        <p:nvSpPr>
          <p:cNvPr id="3" name="TextBox 2"/>
          <p:cNvSpPr txBox="1"/>
          <p:nvPr/>
        </p:nvSpPr>
        <p:spPr>
          <a:xfrm>
            <a:off x="548640" y="548640"/>
            <a:ext cx="11094415" cy="868680"/>
          </a:xfrm>
          <a:prstGeom prst="rect">
            <a:avLst/>
          </a:prstGeom>
          <a:noFill/>
        </p:spPr>
        <p:txBody>
          <a:bodyPr wrap="square" lIns="45720" rIns="45720" anchor="ctr">
            <a:spAutoFit/>
          </a:bodyPr>
          <a:lstStyle/>
          <a:p>
            <a:pPr algn="l"/>
            <a:r>
              <a:rPr sz="2800" b="1" i="0">
                <a:solidFill>
                  <a:srgbClr val="1C4E80"/>
                </a:solidFill>
                <a:latin typeface="Calibri"/>
              </a:rPr>
              <a:t>Two views on the same customers: specialist and manager</a:t>
            </a:r>
          </a:p>
        </p:txBody>
      </p:sp>
      <p:sp>
        <p:nvSpPr>
          <p:cNvPr id="4" name="TextBox 3"/>
          <p:cNvSpPr txBox="1"/>
          <p:nvPr/>
        </p:nvSpPr>
        <p:spPr>
          <a:xfrm>
            <a:off x="548640" y="6446520"/>
            <a:ext cx="8229600" cy="274320"/>
          </a:xfrm>
          <a:prstGeom prst="rect">
            <a:avLst/>
          </a:prstGeom>
          <a:noFill/>
        </p:spPr>
        <p:txBody>
          <a:bodyPr wrap="square" lIns="45720" rIns="45720" anchor="t">
            <a:spAutoFit/>
          </a:bodyPr>
          <a:lstStyle/>
          <a:p>
            <a:pPr algn="l"/>
            <a:r>
              <a:rPr sz="900" b="0" i="0">
                <a:solidFill>
                  <a:srgbClr val="5F6B7A"/>
                </a:solidFill>
                <a:latin typeface="Calibri"/>
              </a:rPr>
              <a:t>F2S Workshop 4  |  Collections &amp; Dispute Management  |  B  Worklist management</a:t>
            </a:r>
          </a:p>
        </p:txBody>
      </p:sp>
      <p:sp>
        <p:nvSpPr>
          <p:cNvPr id="5" name="TextBox 4"/>
          <p:cNvSpPr txBox="1"/>
          <p:nvPr/>
        </p:nvSpPr>
        <p:spPr>
          <a:xfrm>
            <a:off x="10728655" y="6446520"/>
            <a:ext cx="914400" cy="274320"/>
          </a:xfrm>
          <a:prstGeom prst="rect">
            <a:avLst/>
          </a:prstGeom>
          <a:noFill/>
        </p:spPr>
        <p:txBody>
          <a:bodyPr wrap="square" lIns="45720" rIns="45720" anchor="t">
            <a:spAutoFit/>
          </a:bodyPr>
          <a:lstStyle/>
          <a:p>
            <a:pPr algn="r"/>
            <a:r>
              <a:rPr sz="900" b="0" i="0">
                <a:solidFill>
                  <a:srgbClr val="5F6B7A"/>
                </a:solidFill>
                <a:latin typeface="Calibri"/>
              </a:rPr>
              <a:t>10</a:t>
            </a:r>
          </a:p>
        </p:txBody>
      </p:sp>
      <p:sp>
        <p:nvSpPr>
          <p:cNvPr id="6" name="Rounded Rectangle 5"/>
          <p:cNvSpPr/>
          <p:nvPr/>
        </p:nvSpPr>
        <p:spPr>
          <a:xfrm>
            <a:off x="548640" y="1554480"/>
            <a:ext cx="5410047" cy="320040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685800" y="1691640"/>
            <a:ext cx="5135727" cy="365760"/>
          </a:xfrm>
          <a:prstGeom prst="rect">
            <a:avLst/>
          </a:prstGeom>
          <a:noFill/>
        </p:spPr>
        <p:txBody>
          <a:bodyPr wrap="square" lIns="45720" rIns="45720" anchor="ctr">
            <a:spAutoFit/>
          </a:bodyPr>
          <a:lstStyle/>
          <a:p>
            <a:pPr algn="l"/>
            <a:r>
              <a:rPr sz="1400" b="1" i="0">
                <a:solidFill>
                  <a:srgbClr val="1C4E80"/>
                </a:solidFill>
                <a:latin typeface="Calibri"/>
              </a:rPr>
              <a:t>Process Collections Worklist (F0380)  |  AR Accountant</a:t>
            </a:r>
          </a:p>
        </p:txBody>
      </p:sp>
      <p:sp>
        <p:nvSpPr>
          <p:cNvPr id="8" name="TextBox 7"/>
          <p:cNvSpPr txBox="1"/>
          <p:nvPr/>
        </p:nvSpPr>
        <p:spPr>
          <a:xfrm>
            <a:off x="685800" y="2075688"/>
            <a:ext cx="5135727" cy="2542032"/>
          </a:xfrm>
          <a:prstGeom prst="rect">
            <a:avLst/>
          </a:prstGeom>
          <a:noFill/>
        </p:spPr>
        <p:txBody>
          <a:bodyPr wrap="square" lIns="45720" rIns="45720">
            <a:spAutoFit/>
          </a:bodyPr>
          <a:lstStyle/>
          <a:p>
            <a:pPr marL="201168" indent="-201168">
              <a:spcAft>
                <a:spcPts val="300"/>
              </a:spcAft>
              <a:buChar char="•"/>
            </a:pPr>
            <a:r>
              <a:rPr sz="1200" b="1" i="0">
                <a:solidFill>
                  <a:srgbClr val="1F2933"/>
                </a:solidFill>
                <a:latin typeface="Calibri"/>
              </a:rPr>
              <a:t>My Open Items: </a:t>
            </a:r>
            <a:r>
              <a:rPr sz="1200" b="0" i="0">
                <a:solidFill>
                  <a:srgbClr val="1F2933"/>
                </a:solidFill>
                <a:latin typeface="Calibri"/>
              </a:rPr>
              <a:t>customers by priority with overdue amount, aging, result of last contact</a:t>
            </a:r>
          </a:p>
          <a:p>
            <a:pPr marL="201168" indent="-201168">
              <a:spcAft>
                <a:spcPts val="300"/>
              </a:spcAft>
              <a:buChar char="•"/>
            </a:pPr>
            <a:r>
              <a:rPr sz="1200" b="1" i="0">
                <a:solidFill>
                  <a:srgbClr val="1F2933"/>
                </a:solidFill>
                <a:latin typeface="Calibri"/>
              </a:rPr>
              <a:t>My Completed Items: </a:t>
            </a:r>
            <a:r>
              <a:rPr sz="1200" b="0" i="0">
                <a:solidFill>
                  <a:srgbClr val="1F2933"/>
                </a:solidFill>
                <a:latin typeface="Calibri"/>
              </a:rPr>
              <a:t>contacts completed today</a:t>
            </a:r>
          </a:p>
          <a:p>
            <a:pPr marL="201168" indent="-201168">
              <a:spcAft>
                <a:spcPts val="300"/>
              </a:spcAft>
              <a:buChar char="•"/>
            </a:pPr>
            <a:r>
              <a:rPr sz="1200" b="1" i="0">
                <a:solidFill>
                  <a:srgbClr val="1F2933"/>
                </a:solidFill>
                <a:latin typeface="Calibri"/>
              </a:rPr>
              <a:t>Customer dialog: </a:t>
            </a:r>
            <a:r>
              <a:rPr sz="1200" b="0" i="0">
                <a:solidFill>
                  <a:srgbClr val="1F2933"/>
                </a:solidFill>
                <a:latin typeface="Calibri"/>
              </a:rPr>
              <a:t>address, contact person, links to line items, incoming payments, Process Receivables</a:t>
            </a:r>
          </a:p>
          <a:p>
            <a:pPr marL="201168" indent="-201168">
              <a:spcAft>
                <a:spcPts val="300"/>
              </a:spcAft>
              <a:buChar char="•"/>
            </a:pPr>
            <a:r>
              <a:rPr sz="1200" b="1" i="0">
                <a:solidFill>
                  <a:srgbClr val="1F2933"/>
                </a:solidFill>
                <a:latin typeface="Calibri"/>
              </a:rPr>
              <a:t>Assigned to Others: </a:t>
            </a:r>
            <a:r>
              <a:rPr sz="1200" b="0" i="0">
                <a:solidFill>
                  <a:srgbClr val="1F2933"/>
                </a:solidFill>
                <a:latin typeface="Calibri"/>
              </a:rPr>
              <a:t>a colleague's worklist for substitution</a:t>
            </a:r>
          </a:p>
          <a:p>
            <a:pPr marL="201168" indent="-201168">
              <a:spcAft>
                <a:spcPts val="300"/>
              </a:spcAft>
              <a:buChar char="•"/>
            </a:pPr>
            <a:r>
              <a:rPr sz="1200" b="1" i="0">
                <a:solidFill>
                  <a:srgbClr val="1F2933"/>
                </a:solidFill>
                <a:latin typeface="Calibri"/>
              </a:rPr>
              <a:t>Create Correspondences: </a:t>
            </a:r>
            <a:r>
              <a:rPr sz="1200" b="0" i="0">
                <a:solidFill>
                  <a:srgbClr val="1F2933"/>
                </a:solidFill>
                <a:latin typeface="Calibri"/>
              </a:rPr>
              <a:t>mass correspondence with correspondence type, date, e-mail template; customers move to Completed</a:t>
            </a:r>
          </a:p>
        </p:txBody>
      </p:sp>
      <p:sp>
        <p:nvSpPr>
          <p:cNvPr id="9" name="Rounded Rectangle 8"/>
          <p:cNvSpPr/>
          <p:nvPr/>
        </p:nvSpPr>
        <p:spPr>
          <a:xfrm>
            <a:off x="6233007" y="1554480"/>
            <a:ext cx="5410047" cy="3200400"/>
          </a:xfrm>
          <a:prstGeom prst="roundRect">
            <a:avLst>
              <a:gd name="adj" fmla="val 12000"/>
            </a:avLst>
          </a:prstGeom>
          <a:solidFill>
            <a:srgbClr val="E6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370167" y="1691640"/>
            <a:ext cx="5135727" cy="365760"/>
          </a:xfrm>
          <a:prstGeom prst="rect">
            <a:avLst/>
          </a:prstGeom>
          <a:noFill/>
        </p:spPr>
        <p:txBody>
          <a:bodyPr wrap="square" lIns="45720" rIns="45720" anchor="ctr">
            <a:spAutoFit/>
          </a:bodyPr>
          <a:lstStyle/>
          <a:p>
            <a:pPr algn="l"/>
            <a:r>
              <a:rPr sz="1400" b="1" i="0">
                <a:solidFill>
                  <a:srgbClr val="1C4E80"/>
                </a:solidFill>
                <a:latin typeface="Calibri"/>
              </a:rPr>
              <a:t>Supervise Collections Worklist (F2375)  |  AR Manager</a:t>
            </a:r>
          </a:p>
        </p:txBody>
      </p:sp>
      <p:sp>
        <p:nvSpPr>
          <p:cNvPr id="11" name="TextBox 10"/>
          <p:cNvSpPr txBox="1"/>
          <p:nvPr/>
        </p:nvSpPr>
        <p:spPr>
          <a:xfrm>
            <a:off x="6370167" y="2075688"/>
            <a:ext cx="5135727" cy="2542032"/>
          </a:xfrm>
          <a:prstGeom prst="rect">
            <a:avLst/>
          </a:prstGeom>
          <a:noFill/>
        </p:spPr>
        <p:txBody>
          <a:bodyPr wrap="square" lIns="45720" rIns="45720">
            <a:spAutoFit/>
          </a:bodyPr>
          <a:lstStyle/>
          <a:p>
            <a:pPr marL="201168" indent="-201168">
              <a:spcAft>
                <a:spcPts val="300"/>
              </a:spcAft>
              <a:buChar char="•"/>
            </a:pPr>
            <a:r>
              <a:rPr sz="1200" b="1" i="0">
                <a:solidFill>
                  <a:srgbClr val="1F2933"/>
                </a:solidFill>
                <a:latin typeface="Calibri"/>
              </a:rPr>
              <a:t>Overall view: </a:t>
            </a:r>
            <a:r>
              <a:rPr sz="1200" b="0" i="0">
                <a:solidFill>
                  <a:srgbClr val="1F2933"/>
                </a:solidFill>
                <a:latin typeface="Calibri"/>
              </a:rPr>
              <a:t>all business partners with overdue receivables, column Specialist</a:t>
            </a:r>
          </a:p>
          <a:p>
            <a:pPr marL="201168" indent="-201168">
              <a:spcAft>
                <a:spcPts val="300"/>
              </a:spcAft>
              <a:buChar char="•"/>
            </a:pPr>
            <a:r>
              <a:rPr sz="1200" b="1" i="0">
                <a:solidFill>
                  <a:srgbClr val="1F2933"/>
                </a:solidFill>
                <a:latin typeface="Calibri"/>
              </a:rPr>
              <a:t>Assign to Specialist: </a:t>
            </a:r>
            <a:r>
              <a:rPr sz="1200" b="0" i="0">
                <a:solidFill>
                  <a:srgbClr val="1F2933"/>
                </a:solidFill>
                <a:latin typeface="Calibri"/>
              </a:rPr>
              <a:t>assign customers without owner, rebalance overload</a:t>
            </a:r>
          </a:p>
          <a:p>
            <a:pPr marL="201168" indent="-201168">
              <a:spcAft>
                <a:spcPts val="300"/>
              </a:spcAft>
              <a:buChar char="•"/>
            </a:pPr>
            <a:r>
              <a:rPr sz="1200" b="1" i="0">
                <a:solidFill>
                  <a:srgbClr val="1F2933"/>
                </a:solidFill>
                <a:latin typeface="Calibri"/>
              </a:rPr>
              <a:t>Drill-down: </a:t>
            </a:r>
            <a:r>
              <a:rPr sz="1200" b="0" i="0">
                <a:solidFill>
                  <a:srgbClr val="1F2933"/>
                </a:solidFill>
                <a:latin typeface="Calibri"/>
              </a:rPr>
              <a:t>customer line items, documents, journal entry</a:t>
            </a:r>
          </a:p>
          <a:p>
            <a:pPr marL="201168" indent="-201168">
              <a:spcAft>
                <a:spcPts val="300"/>
              </a:spcAft>
              <a:buChar char="•"/>
            </a:pPr>
            <a:r>
              <a:rPr sz="1200" b="1" i="0">
                <a:solidFill>
                  <a:srgbClr val="1F2933"/>
                </a:solidFill>
                <a:latin typeface="Calibri"/>
              </a:rPr>
              <a:t>Blocks: </a:t>
            </a:r>
            <a:r>
              <a:rPr sz="1200" b="0" i="0">
                <a:solidFill>
                  <a:srgbClr val="1F2933"/>
                </a:solidFill>
                <a:latin typeface="Calibri"/>
              </a:rPr>
              <a:t>dunning block and payment block per item with reason and note</a:t>
            </a:r>
          </a:p>
          <a:p>
            <a:pPr marL="201168" indent="-201168">
              <a:spcAft>
                <a:spcPts val="300"/>
              </a:spcAft>
              <a:buChar char="•"/>
            </a:pPr>
            <a:r>
              <a:rPr sz="1200" b="1" i="0">
                <a:solidFill>
                  <a:srgbClr val="1F2933"/>
                </a:solidFill>
                <a:latin typeface="Calibri"/>
              </a:rPr>
              <a:t>Reporting alongside: </a:t>
            </a:r>
            <a:r>
              <a:rPr sz="1200" b="0" i="0">
                <a:solidFill>
                  <a:srgbClr val="1F2933"/>
                </a:solidFill>
                <a:latin typeface="Calibri"/>
              </a:rPr>
              <a:t>Collection Progress (F1738), Promise to Pay (F1753), Cash Collection Tracker (F3182)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94415" cy="274320"/>
          </a:xfrm>
          <a:prstGeom prst="rect">
            <a:avLst/>
          </a:prstGeom>
          <a:noFill/>
        </p:spPr>
        <p:txBody>
          <a:bodyPr wrap="square" lIns="45720" rIns="45720" anchor="t">
            <a:spAutoFit/>
          </a:bodyPr>
          <a:lstStyle/>
          <a:p>
            <a:pPr algn="l"/>
            <a:r>
              <a:rPr sz="1100" b="1" i="0">
                <a:solidFill>
                  <a:srgbClr val="0F8B8D"/>
                </a:solidFill>
                <a:latin typeface="Calibri"/>
              </a:rPr>
              <a:t>B3  OUTCOME OBJECTS</a:t>
            </a:r>
          </a:p>
        </p:txBody>
      </p:sp>
      <p:sp>
        <p:nvSpPr>
          <p:cNvPr id="3" name="TextBox 2"/>
          <p:cNvSpPr txBox="1"/>
          <p:nvPr/>
        </p:nvSpPr>
        <p:spPr>
          <a:xfrm>
            <a:off x="548640" y="548640"/>
            <a:ext cx="11094415" cy="868680"/>
          </a:xfrm>
          <a:prstGeom prst="rect">
            <a:avLst/>
          </a:prstGeom>
          <a:noFill/>
        </p:spPr>
        <p:txBody>
          <a:bodyPr wrap="square" lIns="45720" rIns="45720" anchor="ctr">
            <a:spAutoFit/>
          </a:bodyPr>
          <a:lstStyle/>
          <a:p>
            <a:pPr algn="l"/>
            <a:r>
              <a:rPr sz="2800" b="1" i="0">
                <a:solidFill>
                  <a:srgbClr val="1C4E80"/>
                </a:solidFill>
                <a:latin typeface="Calibri"/>
              </a:rPr>
              <a:t>The conversation becomes a process step</a:t>
            </a:r>
          </a:p>
        </p:txBody>
      </p:sp>
      <p:sp>
        <p:nvSpPr>
          <p:cNvPr id="4" name="TextBox 3"/>
          <p:cNvSpPr txBox="1"/>
          <p:nvPr/>
        </p:nvSpPr>
        <p:spPr>
          <a:xfrm>
            <a:off x="548640" y="6446520"/>
            <a:ext cx="8229600" cy="274320"/>
          </a:xfrm>
          <a:prstGeom prst="rect">
            <a:avLst/>
          </a:prstGeom>
          <a:noFill/>
        </p:spPr>
        <p:txBody>
          <a:bodyPr wrap="square" lIns="45720" rIns="45720" anchor="t">
            <a:spAutoFit/>
          </a:bodyPr>
          <a:lstStyle/>
          <a:p>
            <a:pPr algn="l"/>
            <a:r>
              <a:rPr sz="900" b="0" i="0">
                <a:solidFill>
                  <a:srgbClr val="5F6B7A"/>
                </a:solidFill>
                <a:latin typeface="Calibri"/>
              </a:rPr>
              <a:t>F2S Workshop 4  |  Collections &amp; Dispute Management  |  B  Worklist management</a:t>
            </a:r>
          </a:p>
        </p:txBody>
      </p:sp>
      <p:sp>
        <p:nvSpPr>
          <p:cNvPr id="5" name="TextBox 4"/>
          <p:cNvSpPr txBox="1"/>
          <p:nvPr/>
        </p:nvSpPr>
        <p:spPr>
          <a:xfrm>
            <a:off x="10728655" y="6446520"/>
            <a:ext cx="914400" cy="274320"/>
          </a:xfrm>
          <a:prstGeom prst="rect">
            <a:avLst/>
          </a:prstGeom>
          <a:noFill/>
        </p:spPr>
        <p:txBody>
          <a:bodyPr wrap="square" lIns="45720" rIns="45720" anchor="t">
            <a:spAutoFit/>
          </a:bodyPr>
          <a:lstStyle/>
          <a:p>
            <a:pPr algn="r"/>
            <a:r>
              <a:rPr sz="900" b="0" i="0">
                <a:solidFill>
                  <a:srgbClr val="5F6B7A"/>
                </a:solidFill>
                <a:latin typeface="Calibri"/>
              </a:rPr>
              <a:t>11</a:t>
            </a:r>
          </a:p>
        </p:txBody>
      </p:sp>
      <p:sp>
        <p:nvSpPr>
          <p:cNvPr id="6" name="Rounded Rectangle 5"/>
          <p:cNvSpPr/>
          <p:nvPr/>
        </p:nvSpPr>
        <p:spPr>
          <a:xfrm>
            <a:off x="548640" y="1554480"/>
            <a:ext cx="3515258" cy="283464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31520" y="1691640"/>
            <a:ext cx="3149498" cy="411480"/>
          </a:xfrm>
          <a:prstGeom prst="rect">
            <a:avLst/>
          </a:prstGeom>
          <a:noFill/>
        </p:spPr>
        <p:txBody>
          <a:bodyPr wrap="square" lIns="45720" rIns="45720" anchor="t">
            <a:spAutoFit/>
          </a:bodyPr>
          <a:lstStyle/>
          <a:p>
            <a:pPr algn="l"/>
            <a:r>
              <a:rPr sz="1700" b="1" i="0">
                <a:solidFill>
                  <a:srgbClr val="1C4E80"/>
                </a:solidFill>
                <a:latin typeface="Calibri"/>
              </a:rPr>
              <a:t>Promise to pay</a:t>
            </a:r>
          </a:p>
        </p:txBody>
      </p:sp>
      <p:sp>
        <p:nvSpPr>
          <p:cNvPr id="8" name="TextBox 7"/>
          <p:cNvSpPr txBox="1"/>
          <p:nvPr/>
        </p:nvSpPr>
        <p:spPr>
          <a:xfrm>
            <a:off x="731520" y="2103120"/>
            <a:ext cx="3149498" cy="320040"/>
          </a:xfrm>
          <a:prstGeom prst="rect">
            <a:avLst/>
          </a:prstGeom>
          <a:noFill/>
        </p:spPr>
        <p:txBody>
          <a:bodyPr wrap="square" lIns="45720" rIns="45720" anchor="t">
            <a:spAutoFit/>
          </a:bodyPr>
          <a:lstStyle/>
          <a:p>
            <a:pPr algn="l"/>
            <a:r>
              <a:rPr sz="1100" b="0" i="1">
                <a:solidFill>
                  <a:srgbClr val="5F6B7A"/>
                </a:solidFill>
                <a:latin typeface="Calibri"/>
              </a:rPr>
              <a:t>Promise to Pay (F4710)</a:t>
            </a:r>
          </a:p>
        </p:txBody>
      </p:sp>
      <p:sp>
        <p:nvSpPr>
          <p:cNvPr id="9" name="TextBox 8"/>
          <p:cNvSpPr txBox="1"/>
          <p:nvPr/>
        </p:nvSpPr>
        <p:spPr>
          <a:xfrm>
            <a:off x="731520" y="2468880"/>
            <a:ext cx="3149498" cy="1828800"/>
          </a:xfrm>
          <a:prstGeom prst="rect">
            <a:avLst/>
          </a:prstGeom>
          <a:noFill/>
        </p:spPr>
        <p:txBody>
          <a:bodyPr wrap="square" lIns="45720" rIns="45720">
            <a:spAutoFit/>
          </a:bodyPr>
          <a:lstStyle/>
          <a:p>
            <a:pPr marL="201168" indent="-201168">
              <a:spcAft>
                <a:spcPts val="400"/>
              </a:spcAft>
              <a:buChar char="•"/>
            </a:pPr>
            <a:r>
              <a:rPr sz="1200" b="0" i="0">
                <a:solidFill>
                  <a:srgbClr val="1F2933"/>
                </a:solidFill>
                <a:latin typeface="Calibri"/>
              </a:rPr>
              <a:t>Customer commits to amount and date</a:t>
            </a:r>
          </a:p>
          <a:p>
            <a:pPr marL="201168" indent="-201168">
              <a:spcAft>
                <a:spcPts val="400"/>
              </a:spcAft>
              <a:buChar char="•"/>
            </a:pPr>
            <a:r>
              <a:rPr sz="1200" b="0" i="0">
                <a:solidFill>
                  <a:srgbClr val="1F2933"/>
                </a:solidFill>
                <a:latin typeface="Calibri"/>
              </a:rPr>
              <a:t>Item is not dunned while the promise is running</a:t>
            </a:r>
          </a:p>
          <a:p>
            <a:pPr marL="201168" indent="-201168">
              <a:spcAft>
                <a:spcPts val="400"/>
              </a:spcAft>
              <a:buChar char="•"/>
            </a:pPr>
            <a:r>
              <a:rPr sz="1200" b="0" i="0">
                <a:solidFill>
                  <a:srgbClr val="1F2933"/>
                </a:solidFill>
                <a:latin typeface="Calibri"/>
              </a:rPr>
              <a:t>System checks on the due date: Kept or Broken</a:t>
            </a:r>
          </a:p>
          <a:p>
            <a:pPr marL="201168" indent="-201168">
              <a:spcAft>
                <a:spcPts val="400"/>
              </a:spcAft>
              <a:buChar char="•"/>
            </a:pPr>
            <a:r>
              <a:rPr sz="1200" b="0" i="0">
                <a:solidFill>
                  <a:srgbClr val="1F2933"/>
                </a:solidFill>
                <a:latin typeface="Calibri"/>
              </a:rPr>
              <a:t>Broken promise raises priority via rule</a:t>
            </a:r>
          </a:p>
        </p:txBody>
      </p:sp>
      <p:sp>
        <p:nvSpPr>
          <p:cNvPr id="10" name="Rounded Rectangle 9"/>
          <p:cNvSpPr/>
          <p:nvPr/>
        </p:nvSpPr>
        <p:spPr>
          <a:xfrm>
            <a:off x="4338218" y="1554480"/>
            <a:ext cx="3515258" cy="283464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4521098" y="1691640"/>
            <a:ext cx="3149498" cy="411480"/>
          </a:xfrm>
          <a:prstGeom prst="rect">
            <a:avLst/>
          </a:prstGeom>
          <a:noFill/>
        </p:spPr>
        <p:txBody>
          <a:bodyPr wrap="square" lIns="45720" rIns="45720" anchor="t">
            <a:spAutoFit/>
          </a:bodyPr>
          <a:lstStyle/>
          <a:p>
            <a:pPr algn="l"/>
            <a:r>
              <a:rPr sz="1700" b="1" i="0">
                <a:solidFill>
                  <a:srgbClr val="1C4E80"/>
                </a:solidFill>
                <a:latin typeface="Calibri"/>
              </a:rPr>
              <a:t>Resubmission</a:t>
            </a:r>
          </a:p>
        </p:txBody>
      </p:sp>
      <p:sp>
        <p:nvSpPr>
          <p:cNvPr id="12" name="TextBox 11"/>
          <p:cNvSpPr txBox="1"/>
          <p:nvPr/>
        </p:nvSpPr>
        <p:spPr>
          <a:xfrm>
            <a:off x="4521098" y="2103120"/>
            <a:ext cx="3149498" cy="320040"/>
          </a:xfrm>
          <a:prstGeom prst="rect">
            <a:avLst/>
          </a:prstGeom>
          <a:noFill/>
        </p:spPr>
        <p:txBody>
          <a:bodyPr wrap="square" lIns="45720" rIns="45720" anchor="t">
            <a:spAutoFit/>
          </a:bodyPr>
          <a:lstStyle/>
          <a:p>
            <a:pPr algn="l"/>
            <a:r>
              <a:rPr sz="1100" b="0" i="1">
                <a:solidFill>
                  <a:srgbClr val="5F6B7A"/>
                </a:solidFill>
                <a:latin typeface="Calibri"/>
              </a:rPr>
              <a:t>Resubmission (F4709)</a:t>
            </a:r>
          </a:p>
        </p:txBody>
      </p:sp>
      <p:sp>
        <p:nvSpPr>
          <p:cNvPr id="13" name="TextBox 12"/>
          <p:cNvSpPr txBox="1"/>
          <p:nvPr/>
        </p:nvSpPr>
        <p:spPr>
          <a:xfrm>
            <a:off x="4521098" y="2468880"/>
            <a:ext cx="3149498" cy="1828800"/>
          </a:xfrm>
          <a:prstGeom prst="rect">
            <a:avLst/>
          </a:prstGeom>
          <a:noFill/>
        </p:spPr>
        <p:txBody>
          <a:bodyPr wrap="square" lIns="45720" rIns="45720">
            <a:spAutoFit/>
          </a:bodyPr>
          <a:lstStyle/>
          <a:p>
            <a:pPr marL="201168" indent="-201168">
              <a:spcAft>
                <a:spcPts val="400"/>
              </a:spcAft>
              <a:buChar char="•"/>
            </a:pPr>
            <a:r>
              <a:rPr sz="1200" b="0" i="0">
                <a:solidFill>
                  <a:srgbClr val="1F2933"/>
                </a:solidFill>
                <a:latin typeface="Calibri"/>
              </a:rPr>
              <a:t>No result, but a date: contact person on vacation, internal approval pending</a:t>
            </a:r>
          </a:p>
          <a:p>
            <a:pPr marL="201168" indent="-201168">
              <a:spcAft>
                <a:spcPts val="400"/>
              </a:spcAft>
              <a:buChar char="•"/>
            </a:pPr>
            <a:r>
              <a:rPr sz="1200" b="0" i="0">
                <a:solidFill>
                  <a:srgbClr val="1F2933"/>
                </a:solidFill>
                <a:latin typeface="Calibri"/>
              </a:rPr>
              <a:t>Reason from catalog, e.g. Contact Person Requests Callback</a:t>
            </a:r>
          </a:p>
          <a:p>
            <a:pPr marL="201168" indent="-201168">
              <a:spcAft>
                <a:spcPts val="400"/>
              </a:spcAft>
              <a:buChar char="•"/>
            </a:pPr>
            <a:r>
              <a:rPr sz="1200" b="0" i="0">
                <a:solidFill>
                  <a:srgbClr val="1F2933"/>
                </a:solidFill>
                <a:latin typeface="Calibri"/>
              </a:rPr>
              <a:t>Customer off the worklist until the date</a:t>
            </a:r>
          </a:p>
          <a:p>
            <a:pPr marL="201168" indent="-201168">
              <a:spcAft>
                <a:spcPts val="400"/>
              </a:spcAft>
              <a:buChar char="•"/>
            </a:pPr>
            <a:r>
              <a:rPr sz="1200" b="0" i="0">
                <a:solidFill>
                  <a:srgbClr val="1F2933"/>
                </a:solidFill>
                <a:latin typeface="Calibri"/>
              </a:rPr>
              <a:t>Specialist's time goes to other customers</a:t>
            </a:r>
          </a:p>
        </p:txBody>
      </p:sp>
      <p:sp>
        <p:nvSpPr>
          <p:cNvPr id="14" name="Rounded Rectangle 13"/>
          <p:cNvSpPr/>
          <p:nvPr/>
        </p:nvSpPr>
        <p:spPr>
          <a:xfrm>
            <a:off x="8127796" y="1554480"/>
            <a:ext cx="3515258" cy="283464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310676" y="1691640"/>
            <a:ext cx="3149498" cy="411480"/>
          </a:xfrm>
          <a:prstGeom prst="rect">
            <a:avLst/>
          </a:prstGeom>
          <a:noFill/>
        </p:spPr>
        <p:txBody>
          <a:bodyPr wrap="square" lIns="45720" rIns="45720" anchor="t">
            <a:spAutoFit/>
          </a:bodyPr>
          <a:lstStyle/>
          <a:p>
            <a:pPr algn="l"/>
            <a:r>
              <a:rPr sz="1700" b="1" i="0">
                <a:solidFill>
                  <a:srgbClr val="1C4E80"/>
                </a:solidFill>
                <a:latin typeface="Calibri"/>
              </a:rPr>
              <a:t>Contact documentation</a:t>
            </a:r>
          </a:p>
        </p:txBody>
      </p:sp>
      <p:sp>
        <p:nvSpPr>
          <p:cNvPr id="16" name="TextBox 15"/>
          <p:cNvSpPr txBox="1"/>
          <p:nvPr/>
        </p:nvSpPr>
        <p:spPr>
          <a:xfrm>
            <a:off x="8310676" y="2103120"/>
            <a:ext cx="3149498" cy="320040"/>
          </a:xfrm>
          <a:prstGeom prst="rect">
            <a:avLst/>
          </a:prstGeom>
          <a:noFill/>
        </p:spPr>
        <p:txBody>
          <a:bodyPr wrap="square" lIns="45720" rIns="45720" anchor="t">
            <a:spAutoFit/>
          </a:bodyPr>
          <a:lstStyle/>
          <a:p>
            <a:pPr algn="l"/>
            <a:r>
              <a:rPr sz="1100" b="0" i="1">
                <a:solidFill>
                  <a:srgbClr val="5F6B7A"/>
                </a:solidFill>
                <a:latin typeface="Calibri"/>
              </a:rPr>
              <a:t>Customer Contact (F4707)</a:t>
            </a:r>
          </a:p>
        </p:txBody>
      </p:sp>
      <p:sp>
        <p:nvSpPr>
          <p:cNvPr id="17" name="TextBox 16"/>
          <p:cNvSpPr txBox="1"/>
          <p:nvPr/>
        </p:nvSpPr>
        <p:spPr>
          <a:xfrm>
            <a:off x="8310676" y="2468880"/>
            <a:ext cx="3149498" cy="1828800"/>
          </a:xfrm>
          <a:prstGeom prst="rect">
            <a:avLst/>
          </a:prstGeom>
          <a:noFill/>
        </p:spPr>
        <p:txBody>
          <a:bodyPr wrap="square" lIns="45720" rIns="45720">
            <a:spAutoFit/>
          </a:bodyPr>
          <a:lstStyle/>
          <a:p>
            <a:pPr marL="201168" indent="-201168">
              <a:spcAft>
                <a:spcPts val="400"/>
              </a:spcAft>
              <a:buChar char="•"/>
            </a:pPr>
            <a:r>
              <a:rPr sz="1200" b="0" i="0">
                <a:solidFill>
                  <a:srgbClr val="1F2933"/>
                </a:solidFill>
                <a:latin typeface="Calibri"/>
              </a:rPr>
              <a:t>Result, contact person, note</a:t>
            </a:r>
          </a:p>
          <a:p>
            <a:pPr marL="201168" indent="-201168">
              <a:spcAft>
                <a:spcPts val="400"/>
              </a:spcAft>
              <a:buChar char="•"/>
            </a:pPr>
            <a:r>
              <a:rPr sz="1200" b="0" i="0">
                <a:solidFill>
                  <a:srgbClr val="1F2933"/>
                </a:solidFill>
                <a:latin typeface="Calibri"/>
              </a:rPr>
              <a:t>Note is prefilled with promises, resubmissions, disputes of the contact</a:t>
            </a:r>
          </a:p>
          <a:p>
            <a:pPr marL="201168" indent="-201168">
              <a:spcAft>
                <a:spcPts val="400"/>
              </a:spcAft>
              <a:buChar char="•"/>
            </a:pPr>
            <a:r>
              <a:rPr sz="1200" b="0" i="0">
                <a:solidFill>
                  <a:srgbClr val="1F2933"/>
                </a:solidFill>
                <a:latin typeface="Calibri"/>
              </a:rPr>
              <a:t>History for substitution, escalation, evidence</a:t>
            </a:r>
          </a:p>
          <a:p>
            <a:pPr marL="201168" indent="-201168">
              <a:spcAft>
                <a:spcPts val="400"/>
              </a:spcAft>
              <a:buChar char="•"/>
            </a:pPr>
            <a:r>
              <a:rPr sz="1200" b="0" i="0">
                <a:solidFill>
                  <a:srgbClr val="1F2933"/>
                </a:solidFill>
                <a:latin typeface="Calibri"/>
              </a:rPr>
              <a:t>Recap by e-mail to the customer (template Customer Contact Recap)</a:t>
            </a:r>
          </a:p>
        </p:txBody>
      </p:sp>
      <p:sp>
        <p:nvSpPr>
          <p:cNvPr id="18" name="Rounded Rectangle 17"/>
          <p:cNvSpPr/>
          <p:nvPr/>
        </p:nvSpPr>
        <p:spPr>
          <a:xfrm>
            <a:off x="548640" y="4572000"/>
            <a:ext cx="11094415" cy="685800"/>
          </a:xfrm>
          <a:prstGeom prst="roundRect">
            <a:avLst>
              <a:gd name="adj" fmla="val 12000"/>
            </a:avLst>
          </a:prstGeom>
          <a:solidFill>
            <a:srgbClr val="E6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777240" y="4572000"/>
            <a:ext cx="10637215" cy="685800"/>
          </a:xfrm>
          <a:prstGeom prst="rect">
            <a:avLst/>
          </a:prstGeom>
          <a:noFill/>
        </p:spPr>
        <p:txBody>
          <a:bodyPr wrap="square" lIns="45720" rIns="45720" anchor="ctr">
            <a:spAutoFit/>
          </a:bodyPr>
          <a:lstStyle/>
          <a:p>
            <a:pPr algn="l"/>
            <a:r>
              <a:rPr sz="1200" b="1" i="0">
                <a:solidFill>
                  <a:srgbClr val="0F8B8D"/>
                </a:solidFill>
                <a:latin typeface="Calibri"/>
              </a:rPr>
              <a:t>Dunning integration: the dunning run skips items with an open dispute case or an unbroken promise to pay. Dunning blocks with reason (Disputed, Promise to Pay, Sales, Legal, Other) can be set from My Dunning Proposals.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94415" cy="274320"/>
          </a:xfrm>
          <a:prstGeom prst="rect">
            <a:avLst/>
          </a:prstGeom>
          <a:noFill/>
        </p:spPr>
        <p:txBody>
          <a:bodyPr wrap="square" lIns="45720" rIns="45720" anchor="t">
            <a:spAutoFit/>
          </a:bodyPr>
          <a:lstStyle/>
          <a:p>
            <a:pPr algn="l"/>
            <a:r>
              <a:rPr sz="1100" b="1" i="0">
                <a:solidFill>
                  <a:srgbClr val="0F8B8D"/>
                </a:solidFill>
                <a:latin typeface="Calibri"/>
              </a:rPr>
              <a:t>B4  PRACTICE</a:t>
            </a:r>
          </a:p>
        </p:txBody>
      </p:sp>
      <p:sp>
        <p:nvSpPr>
          <p:cNvPr id="3" name="TextBox 2"/>
          <p:cNvSpPr txBox="1"/>
          <p:nvPr/>
        </p:nvSpPr>
        <p:spPr>
          <a:xfrm>
            <a:off x="548640" y="548640"/>
            <a:ext cx="11094415" cy="868680"/>
          </a:xfrm>
          <a:prstGeom prst="rect">
            <a:avLst/>
          </a:prstGeom>
          <a:noFill/>
        </p:spPr>
        <p:txBody>
          <a:bodyPr wrap="square" lIns="45720" rIns="45720" anchor="ctr">
            <a:spAutoFit/>
          </a:bodyPr>
          <a:lstStyle/>
          <a:p>
            <a:pPr algn="l"/>
            <a:r>
              <a:rPr sz="2800" b="1" i="0">
                <a:solidFill>
                  <a:srgbClr val="1C4E80"/>
                </a:solidFill>
                <a:latin typeface="Calibri"/>
              </a:rPr>
              <a:t>Practice: click sequence worklist and customer contact</a:t>
            </a:r>
          </a:p>
        </p:txBody>
      </p:sp>
      <p:sp>
        <p:nvSpPr>
          <p:cNvPr id="4" name="TextBox 3"/>
          <p:cNvSpPr txBox="1"/>
          <p:nvPr/>
        </p:nvSpPr>
        <p:spPr>
          <a:xfrm>
            <a:off x="548640" y="6446520"/>
            <a:ext cx="8229600" cy="274320"/>
          </a:xfrm>
          <a:prstGeom prst="rect">
            <a:avLst/>
          </a:prstGeom>
          <a:noFill/>
        </p:spPr>
        <p:txBody>
          <a:bodyPr wrap="square" lIns="45720" rIns="45720" anchor="t">
            <a:spAutoFit/>
          </a:bodyPr>
          <a:lstStyle/>
          <a:p>
            <a:pPr algn="l"/>
            <a:r>
              <a:rPr sz="900" b="0" i="0">
                <a:solidFill>
                  <a:srgbClr val="5F6B7A"/>
                </a:solidFill>
                <a:latin typeface="Calibri"/>
              </a:rPr>
              <a:t>F2S Workshop 4  |  Collections &amp; Dispute Management  |  B  Worklist management</a:t>
            </a:r>
          </a:p>
        </p:txBody>
      </p:sp>
      <p:sp>
        <p:nvSpPr>
          <p:cNvPr id="5" name="TextBox 4"/>
          <p:cNvSpPr txBox="1"/>
          <p:nvPr/>
        </p:nvSpPr>
        <p:spPr>
          <a:xfrm>
            <a:off x="10728655" y="6446520"/>
            <a:ext cx="914400" cy="274320"/>
          </a:xfrm>
          <a:prstGeom prst="rect">
            <a:avLst/>
          </a:prstGeom>
          <a:noFill/>
        </p:spPr>
        <p:txBody>
          <a:bodyPr wrap="square" lIns="45720" rIns="45720" anchor="t">
            <a:spAutoFit/>
          </a:bodyPr>
          <a:lstStyle/>
          <a:p>
            <a:pPr algn="r"/>
            <a:r>
              <a:rPr sz="900" b="0" i="0">
                <a:solidFill>
                  <a:srgbClr val="5F6B7A"/>
                </a:solidFill>
                <a:latin typeface="Calibri"/>
              </a:rPr>
              <a:t>12</a:t>
            </a:r>
          </a:p>
        </p:txBody>
      </p:sp>
      <p:graphicFrame>
        <p:nvGraphicFramePr>
          <p:cNvPr id="6" name="Table 5"/>
          <p:cNvGraphicFramePr>
            <a:graphicFrameLocks noGrp="1"/>
          </p:cNvGraphicFramePr>
          <p:nvPr/>
        </p:nvGraphicFramePr>
        <p:xfrm>
          <a:off x="548640" y="1554480"/>
          <a:ext cx="11064240" cy="4114800"/>
        </p:xfrm>
        <a:graphic>
          <a:graphicData uri="http://schemas.openxmlformats.org/drawingml/2006/table">
            <a:tbl>
              <a:tblPr>
                <a:tableStyleId>{5C22544A-7EE6-4342-B048-85BDC9FD1C3A}</a:tableStyleId>
              </a:tblPr>
              <a:tblGrid>
                <a:gridCol w="3657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3474720">
                  <a:extLst>
                    <a:ext uri="{9D8B030D-6E8A-4147-A177-3AD203B41FA5}">
                      <a16:colId xmlns:a16="http://schemas.microsoft.com/office/drawing/2014/main" val="20003"/>
                    </a:ext>
                  </a:extLst>
                </a:gridCol>
                <a:gridCol w="2651760">
                  <a:extLst>
                    <a:ext uri="{9D8B030D-6E8A-4147-A177-3AD203B41FA5}">
                      <a16:colId xmlns:a16="http://schemas.microsoft.com/office/drawing/2014/main" val="20004"/>
                    </a:ext>
                  </a:extLst>
                </a:gridCol>
              </a:tblGrid>
              <a:tr h="457200">
                <a:tc>
                  <a:txBody>
                    <a:bodyPr/>
                    <a:lstStyle/>
                    <a:p>
                      <a:r>
                        <a:rPr sz="1000" b="1" i="0">
                          <a:solidFill>
                            <a:srgbClr val="FFFFFF"/>
                          </a:solidFill>
                          <a:latin typeface="Calibri"/>
                        </a:rPr>
                        <a:t>#</a:t>
                      </a:r>
                    </a:p>
                  </a:txBody>
                  <a:tcPr marL="73152" marR="73152" marT="36576" marB="36576" anchor="ctr">
                    <a:solidFill>
                      <a:srgbClr val="1C4E80"/>
                    </a:solidFill>
                  </a:tcPr>
                </a:tc>
                <a:tc>
                  <a:txBody>
                    <a:bodyPr/>
                    <a:lstStyle/>
                    <a:p>
                      <a:r>
                        <a:rPr sz="1000" b="1" i="0">
                          <a:solidFill>
                            <a:srgbClr val="FFFFFF"/>
                          </a:solidFill>
                          <a:latin typeface="Calibri"/>
                        </a:rPr>
                        <a:t>Role</a:t>
                      </a:r>
                    </a:p>
                  </a:txBody>
                  <a:tcPr marL="73152" marR="73152" marT="36576" marB="36576" anchor="ctr">
                    <a:solidFill>
                      <a:srgbClr val="1C4E80"/>
                    </a:solidFill>
                  </a:tcPr>
                </a:tc>
                <a:tc>
                  <a:txBody>
                    <a:bodyPr/>
                    <a:lstStyle/>
                    <a:p>
                      <a:r>
                        <a:rPr sz="1000" b="1" i="0">
                          <a:solidFill>
                            <a:srgbClr val="FFFFFF"/>
                          </a:solidFill>
                          <a:latin typeface="Calibri"/>
                        </a:rPr>
                        <a:t>App</a:t>
                      </a:r>
                    </a:p>
                  </a:txBody>
                  <a:tcPr marL="73152" marR="73152" marT="36576" marB="36576" anchor="ctr">
                    <a:solidFill>
                      <a:srgbClr val="1C4E80"/>
                    </a:solidFill>
                  </a:tcPr>
                </a:tc>
                <a:tc>
                  <a:txBody>
                    <a:bodyPr/>
                    <a:lstStyle/>
                    <a:p>
                      <a:r>
                        <a:rPr sz="1000" b="1" i="0">
                          <a:solidFill>
                            <a:srgbClr val="FFFFFF"/>
                          </a:solidFill>
                          <a:latin typeface="Calibri"/>
                        </a:rPr>
                        <a:t>Action</a:t>
                      </a:r>
                    </a:p>
                  </a:txBody>
                  <a:tcPr marL="73152" marR="73152" marT="36576" marB="36576" anchor="ctr">
                    <a:solidFill>
                      <a:srgbClr val="1C4E80"/>
                    </a:solidFill>
                  </a:tcPr>
                </a:tc>
                <a:tc>
                  <a:txBody>
                    <a:bodyPr/>
                    <a:lstStyle/>
                    <a:p>
                      <a:r>
                        <a:rPr sz="1000" b="1" i="0">
                          <a:solidFill>
                            <a:srgbClr val="FFFFFF"/>
                          </a:solidFill>
                          <a:latin typeface="Calibri"/>
                        </a:rPr>
                        <a:t>Show</a:t>
                      </a:r>
                    </a:p>
                  </a:txBody>
                  <a:tcPr marL="73152" marR="73152" marT="36576" marB="36576" anchor="ctr">
                    <a:solidFill>
                      <a:srgbClr val="1C4E80"/>
                    </a:solidFill>
                  </a:tcPr>
                </a:tc>
                <a:extLst>
                  <a:ext uri="{0D108BD9-81ED-4DB2-BD59-A6C34878D82A}">
                    <a16:rowId xmlns:a16="http://schemas.microsoft.com/office/drawing/2014/main" val="10000"/>
                  </a:ext>
                </a:extLst>
              </a:tr>
              <a:tr h="457200">
                <a:tc>
                  <a:txBody>
                    <a:bodyPr/>
                    <a:lstStyle/>
                    <a:p>
                      <a:r>
                        <a:rPr sz="1000" b="1" i="0">
                          <a:solidFill>
                            <a:srgbClr val="1F2933"/>
                          </a:solidFill>
                          <a:latin typeface="Calibri"/>
                        </a:rPr>
                        <a:t>1</a:t>
                      </a:r>
                    </a:p>
                  </a:txBody>
                  <a:tcPr marL="73152" marR="73152" marT="36576" marB="36576" anchor="ctr">
                    <a:solidFill>
                      <a:srgbClr val="FFFFFF"/>
                    </a:solidFill>
                  </a:tcPr>
                </a:tc>
                <a:tc>
                  <a:txBody>
                    <a:bodyPr/>
                    <a:lstStyle/>
                    <a:p>
                      <a:r>
                        <a:rPr sz="1000" b="0" i="0">
                          <a:solidFill>
                            <a:srgbClr val="1F2933"/>
                          </a:solidFill>
                          <a:latin typeface="Calibri"/>
                        </a:rPr>
                        <a:t>AR Manager</a:t>
                      </a:r>
                    </a:p>
                  </a:txBody>
                  <a:tcPr marL="73152" marR="73152" marT="36576" marB="36576" anchor="ctr">
                    <a:solidFill>
                      <a:srgbClr val="FFFFFF"/>
                    </a:solidFill>
                  </a:tcPr>
                </a:tc>
                <a:tc>
                  <a:txBody>
                    <a:bodyPr/>
                    <a:lstStyle/>
                    <a:p>
                      <a:r>
                        <a:rPr sz="1000" b="0" i="0">
                          <a:solidFill>
                            <a:srgbClr val="1F2933"/>
                          </a:solidFill>
                          <a:latin typeface="Calibri"/>
                        </a:rPr>
                        <a:t>Supervise Collections Worklist (F2375)</a:t>
                      </a:r>
                    </a:p>
                  </a:txBody>
                  <a:tcPr marL="73152" marR="73152" marT="36576" marB="36576" anchor="ctr">
                    <a:solidFill>
                      <a:srgbClr val="FFFFFF"/>
                    </a:solidFill>
                  </a:tcPr>
                </a:tc>
                <a:tc>
                  <a:txBody>
                    <a:bodyPr/>
                    <a:lstStyle/>
                    <a:p>
                      <a:r>
                        <a:rPr sz="1000" b="0" i="0">
                          <a:solidFill>
                            <a:srgbClr val="1F2933"/>
                          </a:solidFill>
                          <a:latin typeface="Calibri"/>
                        </a:rPr>
                        <a:t>Customer without specialist → Assign to Specialist</a:t>
                      </a:r>
                    </a:p>
                  </a:txBody>
                  <a:tcPr marL="73152" marR="73152" marT="36576" marB="36576" anchor="ctr">
                    <a:solidFill>
                      <a:srgbClr val="FFFFFF"/>
                    </a:solidFill>
                  </a:tcPr>
                </a:tc>
                <a:tc>
                  <a:txBody>
                    <a:bodyPr/>
                    <a:lstStyle/>
                    <a:p>
                      <a:r>
                        <a:rPr sz="1000" b="0" i="0">
                          <a:solidFill>
                            <a:srgbClr val="1F2933"/>
                          </a:solidFill>
                          <a:latin typeface="Calibri"/>
                        </a:rPr>
                        <a:t>Overall view, column Specialist</a:t>
                      </a:r>
                    </a:p>
                  </a:txBody>
                  <a:tcPr marL="73152" marR="73152" marT="36576" marB="36576" anchor="ctr">
                    <a:solidFill>
                      <a:srgbClr val="FFFFFF"/>
                    </a:solidFill>
                  </a:tcPr>
                </a:tc>
                <a:extLst>
                  <a:ext uri="{0D108BD9-81ED-4DB2-BD59-A6C34878D82A}">
                    <a16:rowId xmlns:a16="http://schemas.microsoft.com/office/drawing/2014/main" val="10001"/>
                  </a:ext>
                </a:extLst>
              </a:tr>
              <a:tr h="457200">
                <a:tc>
                  <a:txBody>
                    <a:bodyPr/>
                    <a:lstStyle/>
                    <a:p>
                      <a:r>
                        <a:rPr sz="1000" b="1" i="0">
                          <a:solidFill>
                            <a:srgbClr val="1F2933"/>
                          </a:solidFill>
                          <a:latin typeface="Calibri"/>
                        </a:rPr>
                        <a:t>2</a:t>
                      </a:r>
                    </a:p>
                  </a:txBody>
                  <a:tcPr marL="73152" marR="73152" marT="36576" marB="36576" anchor="ctr">
                    <a:solidFill>
                      <a:srgbClr val="EEF3F8"/>
                    </a:solidFill>
                  </a:tcPr>
                </a:tc>
                <a:tc>
                  <a:txBody>
                    <a:bodyPr/>
                    <a:lstStyle/>
                    <a:p>
                      <a:r>
                        <a:rPr sz="1000" b="0" i="0">
                          <a:solidFill>
                            <a:srgbClr val="1F2933"/>
                          </a:solidFill>
                          <a:latin typeface="Calibri"/>
                        </a:rPr>
                        <a:t>AR Accountant</a:t>
                      </a:r>
                    </a:p>
                  </a:txBody>
                  <a:tcPr marL="73152" marR="73152" marT="36576" marB="36576" anchor="ctr">
                    <a:solidFill>
                      <a:srgbClr val="EEF3F8"/>
                    </a:solidFill>
                  </a:tcPr>
                </a:tc>
                <a:tc>
                  <a:txBody>
                    <a:bodyPr/>
                    <a:lstStyle/>
                    <a:p>
                      <a:r>
                        <a:rPr sz="1000" b="0" i="0">
                          <a:solidFill>
                            <a:srgbClr val="1F2933"/>
                          </a:solidFill>
                          <a:latin typeface="Calibri"/>
                        </a:rPr>
                        <a:t>Process Collections Worklist (F0380)</a:t>
                      </a:r>
                    </a:p>
                  </a:txBody>
                  <a:tcPr marL="73152" marR="73152" marT="36576" marB="36576" anchor="ctr">
                    <a:solidFill>
                      <a:srgbClr val="EEF3F8"/>
                    </a:solidFill>
                  </a:tcPr>
                </a:tc>
                <a:tc>
                  <a:txBody>
                    <a:bodyPr/>
                    <a:lstStyle/>
                    <a:p>
                      <a:r>
                        <a:rPr sz="1000" b="0" i="0">
                          <a:solidFill>
                            <a:srgbClr val="1F2933"/>
                          </a:solidFill>
                          <a:latin typeface="Calibri"/>
                        </a:rPr>
                        <a:t>My Open Items, double-click S10100251</a:t>
                      </a:r>
                    </a:p>
                  </a:txBody>
                  <a:tcPr marL="73152" marR="73152" marT="36576" marB="36576" anchor="ctr">
                    <a:solidFill>
                      <a:srgbClr val="EEF3F8"/>
                    </a:solidFill>
                  </a:tcPr>
                </a:tc>
                <a:tc>
                  <a:txBody>
                    <a:bodyPr/>
                    <a:lstStyle/>
                    <a:p>
                      <a:r>
                        <a:rPr sz="1000" b="0" i="0">
                          <a:solidFill>
                            <a:srgbClr val="1F2933"/>
                          </a:solidFill>
                          <a:latin typeface="Calibri"/>
                        </a:rPr>
                        <a:t>Priority, aging, customer dialog</a:t>
                      </a:r>
                    </a:p>
                  </a:txBody>
                  <a:tcPr marL="73152" marR="73152" marT="36576" marB="36576" anchor="ctr">
                    <a:solidFill>
                      <a:srgbClr val="EEF3F8"/>
                    </a:solidFill>
                  </a:tcPr>
                </a:tc>
                <a:extLst>
                  <a:ext uri="{0D108BD9-81ED-4DB2-BD59-A6C34878D82A}">
                    <a16:rowId xmlns:a16="http://schemas.microsoft.com/office/drawing/2014/main" val="10002"/>
                  </a:ext>
                </a:extLst>
              </a:tr>
              <a:tr h="457200">
                <a:tc>
                  <a:txBody>
                    <a:bodyPr/>
                    <a:lstStyle/>
                    <a:p>
                      <a:r>
                        <a:rPr sz="1000" b="1" i="0">
                          <a:solidFill>
                            <a:srgbClr val="1F2933"/>
                          </a:solidFill>
                          <a:latin typeface="Calibri"/>
                        </a:rPr>
                        <a:t>3</a:t>
                      </a:r>
                    </a:p>
                  </a:txBody>
                  <a:tcPr marL="73152" marR="73152" marT="36576" marB="36576" anchor="ctr">
                    <a:solidFill>
                      <a:srgbClr val="FFFFFF"/>
                    </a:solidFill>
                  </a:tcPr>
                </a:tc>
                <a:tc>
                  <a:txBody>
                    <a:bodyPr/>
                    <a:lstStyle/>
                    <a:p>
                      <a:r>
                        <a:rPr sz="1000" b="0" i="0">
                          <a:solidFill>
                            <a:srgbClr val="1F2933"/>
                          </a:solidFill>
                          <a:latin typeface="Calibri"/>
                        </a:rPr>
                        <a:t>AR Accountant</a:t>
                      </a:r>
                    </a:p>
                  </a:txBody>
                  <a:tcPr marL="73152" marR="73152" marT="36576" marB="36576" anchor="ctr">
                    <a:solidFill>
                      <a:srgbClr val="FFFFFF"/>
                    </a:solidFill>
                  </a:tcPr>
                </a:tc>
                <a:tc>
                  <a:txBody>
                    <a:bodyPr/>
                    <a:lstStyle/>
                    <a:p>
                      <a:r>
                        <a:rPr sz="1000" b="0" i="0">
                          <a:solidFill>
                            <a:srgbClr val="1F2933"/>
                          </a:solidFill>
                          <a:latin typeface="Calibri"/>
                        </a:rPr>
                        <a:t>Process Receivables (F0106A)</a:t>
                      </a:r>
                    </a:p>
                  </a:txBody>
                  <a:tcPr marL="73152" marR="73152" marT="36576" marB="36576" anchor="ctr">
                    <a:solidFill>
                      <a:srgbClr val="FFFFFF"/>
                    </a:solidFill>
                  </a:tcPr>
                </a:tc>
                <a:tc>
                  <a:txBody>
                    <a:bodyPr/>
                    <a:lstStyle/>
                    <a:p>
                      <a:r>
                        <a:rPr sz="1000" b="0" i="0">
                          <a:solidFill>
                            <a:srgbClr val="1F2933"/>
                          </a:solidFill>
                          <a:latin typeface="Calibri"/>
                        </a:rPr>
                        <a:t>Collection Contacts → Create: contact person</a:t>
                      </a:r>
                    </a:p>
                  </a:txBody>
                  <a:tcPr marL="73152" marR="73152" marT="36576" marB="36576" anchor="ctr">
                    <a:solidFill>
                      <a:srgbClr val="FFFFFF"/>
                    </a:solidFill>
                  </a:tcPr>
                </a:tc>
                <a:tc>
                  <a:txBody>
                    <a:bodyPr/>
                    <a:lstStyle/>
                    <a:p>
                      <a:r>
                        <a:rPr sz="1000" b="0" i="0">
                          <a:solidFill>
                            <a:srgbClr val="1F2933"/>
                          </a:solidFill>
                          <a:latin typeface="Calibri"/>
                        </a:rPr>
                        <a:t>Tabs Invoices, Contact History</a:t>
                      </a:r>
                    </a:p>
                  </a:txBody>
                  <a:tcPr marL="73152" marR="73152" marT="36576" marB="36576" anchor="ctr">
                    <a:solidFill>
                      <a:srgbClr val="FFFFFF"/>
                    </a:solidFill>
                  </a:tcPr>
                </a:tc>
                <a:extLst>
                  <a:ext uri="{0D108BD9-81ED-4DB2-BD59-A6C34878D82A}">
                    <a16:rowId xmlns:a16="http://schemas.microsoft.com/office/drawing/2014/main" val="10003"/>
                  </a:ext>
                </a:extLst>
              </a:tr>
              <a:tr h="457200">
                <a:tc>
                  <a:txBody>
                    <a:bodyPr/>
                    <a:lstStyle/>
                    <a:p>
                      <a:r>
                        <a:rPr sz="1000" b="1" i="0">
                          <a:solidFill>
                            <a:srgbClr val="1F2933"/>
                          </a:solidFill>
                          <a:latin typeface="Calibri"/>
                        </a:rPr>
                        <a:t>4</a:t>
                      </a:r>
                    </a:p>
                  </a:txBody>
                  <a:tcPr marL="73152" marR="73152" marT="36576" marB="36576" anchor="ctr">
                    <a:solidFill>
                      <a:srgbClr val="EEF3F8"/>
                    </a:solidFill>
                  </a:tcPr>
                </a:tc>
                <a:tc>
                  <a:txBody>
                    <a:bodyPr/>
                    <a:lstStyle/>
                    <a:p>
                      <a:r>
                        <a:rPr sz="1000" b="0" i="0">
                          <a:solidFill>
                            <a:srgbClr val="1F2933"/>
                          </a:solidFill>
                          <a:latin typeface="Calibri"/>
                        </a:rPr>
                        <a:t>AR Accountant</a:t>
                      </a:r>
                    </a:p>
                  </a:txBody>
                  <a:tcPr marL="73152" marR="73152" marT="36576" marB="36576" anchor="ctr">
                    <a:solidFill>
                      <a:srgbClr val="EEF3F8"/>
                    </a:solidFill>
                  </a:tcPr>
                </a:tc>
                <a:tc>
                  <a:txBody>
                    <a:bodyPr/>
                    <a:lstStyle/>
                    <a:p>
                      <a:r>
                        <a:rPr sz="1000" b="0" i="0">
                          <a:solidFill>
                            <a:srgbClr val="1F2933"/>
                          </a:solidFill>
                          <a:latin typeface="Calibri"/>
                        </a:rPr>
                        <a:t>Process Receivables → Create Promise to Pay</a:t>
                      </a:r>
                    </a:p>
                  </a:txBody>
                  <a:tcPr marL="73152" marR="73152" marT="36576" marB="36576" anchor="ctr">
                    <a:solidFill>
                      <a:srgbClr val="EEF3F8"/>
                    </a:solidFill>
                  </a:tcPr>
                </a:tc>
                <a:tc>
                  <a:txBody>
                    <a:bodyPr/>
                    <a:lstStyle/>
                    <a:p>
                      <a:r>
                        <a:rPr sz="1000" b="0" i="0">
                          <a:solidFill>
                            <a:srgbClr val="1F2933"/>
                          </a:solidFill>
                          <a:latin typeface="Calibri"/>
                        </a:rPr>
                        <a:t>Small invoice, date today + 7</a:t>
                      </a:r>
                    </a:p>
                  </a:txBody>
                  <a:tcPr marL="73152" marR="73152" marT="36576" marB="36576" anchor="ctr">
                    <a:solidFill>
                      <a:srgbClr val="EEF3F8"/>
                    </a:solidFill>
                  </a:tcPr>
                </a:tc>
                <a:tc>
                  <a:txBody>
                    <a:bodyPr/>
                    <a:lstStyle/>
                    <a:p>
                      <a:r>
                        <a:rPr sz="1000" b="0" i="0">
                          <a:solidFill>
                            <a:srgbClr val="1F2933"/>
                          </a:solidFill>
                          <a:latin typeface="Calibri"/>
                        </a:rPr>
                        <a:t>Tab Promises to Pay, status Open</a:t>
                      </a:r>
                    </a:p>
                  </a:txBody>
                  <a:tcPr marL="73152" marR="73152" marT="36576" marB="36576" anchor="ctr">
                    <a:solidFill>
                      <a:srgbClr val="EEF3F8"/>
                    </a:solidFill>
                  </a:tcPr>
                </a:tc>
                <a:extLst>
                  <a:ext uri="{0D108BD9-81ED-4DB2-BD59-A6C34878D82A}">
                    <a16:rowId xmlns:a16="http://schemas.microsoft.com/office/drawing/2014/main" val="10004"/>
                  </a:ext>
                </a:extLst>
              </a:tr>
              <a:tr h="457200">
                <a:tc>
                  <a:txBody>
                    <a:bodyPr/>
                    <a:lstStyle/>
                    <a:p>
                      <a:r>
                        <a:rPr sz="1000" b="1" i="0">
                          <a:solidFill>
                            <a:srgbClr val="1F2933"/>
                          </a:solidFill>
                          <a:latin typeface="Calibri"/>
                        </a:rPr>
                        <a:t>5</a:t>
                      </a:r>
                    </a:p>
                  </a:txBody>
                  <a:tcPr marL="73152" marR="73152" marT="36576" marB="36576" anchor="ctr">
                    <a:solidFill>
                      <a:srgbClr val="FFFFFF"/>
                    </a:solidFill>
                  </a:tcPr>
                </a:tc>
                <a:tc>
                  <a:txBody>
                    <a:bodyPr/>
                    <a:lstStyle/>
                    <a:p>
                      <a:r>
                        <a:rPr sz="1000" b="0" i="0">
                          <a:solidFill>
                            <a:srgbClr val="1F2933"/>
                          </a:solidFill>
                          <a:latin typeface="Calibri"/>
                        </a:rPr>
                        <a:t>AR Accountant</a:t>
                      </a:r>
                    </a:p>
                  </a:txBody>
                  <a:tcPr marL="73152" marR="73152" marT="36576" marB="36576" anchor="ctr">
                    <a:solidFill>
                      <a:srgbClr val="FFFFFF"/>
                    </a:solidFill>
                  </a:tcPr>
                </a:tc>
                <a:tc>
                  <a:txBody>
                    <a:bodyPr/>
                    <a:lstStyle/>
                    <a:p>
                      <a:r>
                        <a:rPr sz="1000" b="0" i="0">
                          <a:solidFill>
                            <a:srgbClr val="1F2933"/>
                          </a:solidFill>
                          <a:latin typeface="Calibri"/>
                        </a:rPr>
                        <a:t>Process Receivables → Create Resubmission</a:t>
                      </a:r>
                    </a:p>
                  </a:txBody>
                  <a:tcPr marL="73152" marR="73152" marT="36576" marB="36576" anchor="ctr">
                    <a:solidFill>
                      <a:srgbClr val="FFFFFF"/>
                    </a:solidFill>
                  </a:tcPr>
                </a:tc>
                <a:tc>
                  <a:txBody>
                    <a:bodyPr/>
                    <a:lstStyle/>
                    <a:p>
                      <a:r>
                        <a:rPr sz="1000" b="0" i="0">
                          <a:solidFill>
                            <a:srgbClr val="1F2933"/>
                          </a:solidFill>
                          <a:latin typeface="Calibri"/>
                        </a:rPr>
                        <a:t>Second invoice, today + 2, reason Callback</a:t>
                      </a:r>
                    </a:p>
                  </a:txBody>
                  <a:tcPr marL="73152" marR="73152" marT="36576" marB="36576" anchor="ctr">
                    <a:solidFill>
                      <a:srgbClr val="FFFFFF"/>
                    </a:solidFill>
                  </a:tcPr>
                </a:tc>
                <a:tc>
                  <a:txBody>
                    <a:bodyPr/>
                    <a:lstStyle/>
                    <a:p>
                      <a:r>
                        <a:rPr sz="1000" b="0" i="0">
                          <a:solidFill>
                            <a:srgbClr val="1F2933"/>
                          </a:solidFill>
                          <a:latin typeface="Calibri"/>
                        </a:rPr>
                        <a:t>Tab Resubmissions</a:t>
                      </a:r>
                    </a:p>
                  </a:txBody>
                  <a:tcPr marL="73152" marR="73152" marT="36576" marB="36576" anchor="ctr">
                    <a:solidFill>
                      <a:srgbClr val="FFFFFF"/>
                    </a:solidFill>
                  </a:tcPr>
                </a:tc>
                <a:extLst>
                  <a:ext uri="{0D108BD9-81ED-4DB2-BD59-A6C34878D82A}">
                    <a16:rowId xmlns:a16="http://schemas.microsoft.com/office/drawing/2014/main" val="10005"/>
                  </a:ext>
                </a:extLst>
              </a:tr>
              <a:tr h="457200">
                <a:tc>
                  <a:txBody>
                    <a:bodyPr/>
                    <a:lstStyle/>
                    <a:p>
                      <a:r>
                        <a:rPr sz="1000" b="1" i="0">
                          <a:solidFill>
                            <a:srgbClr val="1F2933"/>
                          </a:solidFill>
                          <a:latin typeface="Calibri"/>
                        </a:rPr>
                        <a:t>6</a:t>
                      </a:r>
                    </a:p>
                  </a:txBody>
                  <a:tcPr marL="73152" marR="73152" marT="36576" marB="36576" anchor="ctr">
                    <a:solidFill>
                      <a:srgbClr val="EEF3F8"/>
                    </a:solidFill>
                  </a:tcPr>
                </a:tc>
                <a:tc>
                  <a:txBody>
                    <a:bodyPr/>
                    <a:lstStyle/>
                    <a:p>
                      <a:r>
                        <a:rPr sz="1000" b="0" i="0">
                          <a:solidFill>
                            <a:srgbClr val="1F2933"/>
                          </a:solidFill>
                          <a:latin typeface="Calibri"/>
                        </a:rPr>
                        <a:t>AR Accountant</a:t>
                      </a:r>
                    </a:p>
                  </a:txBody>
                  <a:tcPr marL="73152" marR="73152" marT="36576" marB="36576" anchor="ctr">
                    <a:solidFill>
                      <a:srgbClr val="EEF3F8"/>
                    </a:solidFill>
                  </a:tcPr>
                </a:tc>
                <a:tc>
                  <a:txBody>
                    <a:bodyPr/>
                    <a:lstStyle/>
                    <a:p>
                      <a:r>
                        <a:rPr sz="1000" b="0" i="0">
                          <a:solidFill>
                            <a:srgbClr val="1F2933"/>
                          </a:solidFill>
                          <a:latin typeface="Calibri"/>
                        </a:rPr>
                        <a:t>Process Receivables → Finish Customer Contact</a:t>
                      </a:r>
                    </a:p>
                  </a:txBody>
                  <a:tcPr marL="73152" marR="73152" marT="36576" marB="36576" anchor="ctr">
                    <a:solidFill>
                      <a:srgbClr val="EEF3F8"/>
                    </a:solidFill>
                  </a:tcPr>
                </a:tc>
                <a:tc>
                  <a:txBody>
                    <a:bodyPr/>
                    <a:lstStyle/>
                    <a:p>
                      <a:r>
                        <a:rPr sz="1000" b="0" i="0">
                          <a:solidFill>
                            <a:srgbClr val="1F2933"/>
                          </a:solidFill>
                          <a:latin typeface="Calibri"/>
                        </a:rPr>
                        <a:t>Result, prefilled note, Create Email, template</a:t>
                      </a:r>
                    </a:p>
                  </a:txBody>
                  <a:tcPr marL="73152" marR="73152" marT="36576" marB="36576" anchor="ctr">
                    <a:solidFill>
                      <a:srgbClr val="EEF3F8"/>
                    </a:solidFill>
                  </a:tcPr>
                </a:tc>
                <a:tc>
                  <a:txBody>
                    <a:bodyPr/>
                    <a:lstStyle/>
                    <a:p>
                      <a:r>
                        <a:rPr sz="1000" b="0" i="0">
                          <a:solidFill>
                            <a:srgbClr val="1F2933"/>
                          </a:solidFill>
                          <a:latin typeface="Calibri"/>
                        </a:rPr>
                        <a:t>E-mail preview</a:t>
                      </a:r>
                    </a:p>
                  </a:txBody>
                  <a:tcPr marL="73152" marR="73152" marT="36576" marB="36576" anchor="ctr">
                    <a:solidFill>
                      <a:srgbClr val="EEF3F8"/>
                    </a:solidFill>
                  </a:tcPr>
                </a:tc>
                <a:extLst>
                  <a:ext uri="{0D108BD9-81ED-4DB2-BD59-A6C34878D82A}">
                    <a16:rowId xmlns:a16="http://schemas.microsoft.com/office/drawing/2014/main" val="10006"/>
                  </a:ext>
                </a:extLst>
              </a:tr>
              <a:tr h="457200">
                <a:tc>
                  <a:txBody>
                    <a:bodyPr/>
                    <a:lstStyle/>
                    <a:p>
                      <a:r>
                        <a:rPr sz="1000" b="1" i="0">
                          <a:solidFill>
                            <a:srgbClr val="1F2933"/>
                          </a:solidFill>
                          <a:latin typeface="Calibri"/>
                        </a:rPr>
                        <a:t>7</a:t>
                      </a:r>
                    </a:p>
                  </a:txBody>
                  <a:tcPr marL="73152" marR="73152" marT="36576" marB="36576" anchor="ctr">
                    <a:solidFill>
                      <a:srgbClr val="FFFFFF"/>
                    </a:solidFill>
                  </a:tcPr>
                </a:tc>
                <a:tc>
                  <a:txBody>
                    <a:bodyPr/>
                    <a:lstStyle/>
                    <a:p>
                      <a:r>
                        <a:rPr sz="1000" b="0" i="0">
                          <a:solidFill>
                            <a:srgbClr val="1F2933"/>
                          </a:solidFill>
                          <a:latin typeface="Calibri"/>
                        </a:rPr>
                        <a:t>AR Accountant</a:t>
                      </a:r>
                    </a:p>
                  </a:txBody>
                  <a:tcPr marL="73152" marR="73152" marT="36576" marB="36576" anchor="ctr">
                    <a:solidFill>
                      <a:srgbClr val="FFFFFF"/>
                    </a:solidFill>
                  </a:tcPr>
                </a:tc>
                <a:tc>
                  <a:txBody>
                    <a:bodyPr/>
                    <a:lstStyle/>
                    <a:p>
                      <a:r>
                        <a:rPr sz="1000" b="0" i="0">
                          <a:solidFill>
                            <a:srgbClr val="1F2933"/>
                          </a:solidFill>
                          <a:latin typeface="Calibri"/>
                        </a:rPr>
                        <a:t>Process Collections Worklist (F0380)</a:t>
                      </a:r>
                    </a:p>
                  </a:txBody>
                  <a:tcPr marL="73152" marR="73152" marT="36576" marB="36576" anchor="ctr">
                    <a:solidFill>
                      <a:srgbClr val="FFFFFF"/>
                    </a:solidFill>
                  </a:tcPr>
                </a:tc>
                <a:tc>
                  <a:txBody>
                    <a:bodyPr/>
                    <a:lstStyle/>
                    <a:p>
                      <a:r>
                        <a:rPr sz="1000" b="0" i="0">
                          <a:solidFill>
                            <a:srgbClr val="1F2933"/>
                          </a:solidFill>
                          <a:latin typeface="Calibri"/>
                        </a:rPr>
                        <a:t>Select two customers → Create Correspondences</a:t>
                      </a:r>
                    </a:p>
                  </a:txBody>
                  <a:tcPr marL="73152" marR="73152" marT="36576" marB="36576" anchor="ctr">
                    <a:solidFill>
                      <a:srgbClr val="FFFFFF"/>
                    </a:solidFill>
                  </a:tcPr>
                </a:tc>
                <a:tc>
                  <a:txBody>
                    <a:bodyPr/>
                    <a:lstStyle/>
                    <a:p>
                      <a:r>
                        <a:rPr sz="1000" b="0" i="0">
                          <a:solidFill>
                            <a:srgbClr val="1F2933"/>
                          </a:solidFill>
                          <a:latin typeface="Calibri"/>
                        </a:rPr>
                        <a:t>Mass correspondence up to preview</a:t>
                      </a:r>
                    </a:p>
                  </a:txBody>
                  <a:tcPr marL="73152" marR="73152" marT="36576" marB="36576" anchor="ctr">
                    <a:solidFill>
                      <a:srgbClr val="FFFFFF"/>
                    </a:solidFill>
                  </a:tcPr>
                </a:tc>
                <a:extLst>
                  <a:ext uri="{0D108BD9-81ED-4DB2-BD59-A6C34878D82A}">
                    <a16:rowId xmlns:a16="http://schemas.microsoft.com/office/drawing/2014/main" val="10007"/>
                  </a:ext>
                </a:extLst>
              </a:tr>
              <a:tr h="457200">
                <a:tc>
                  <a:txBody>
                    <a:bodyPr/>
                    <a:lstStyle/>
                    <a:p>
                      <a:r>
                        <a:rPr sz="1000" b="1" i="0">
                          <a:solidFill>
                            <a:srgbClr val="1F2933"/>
                          </a:solidFill>
                          <a:latin typeface="Calibri"/>
                        </a:rPr>
                        <a:t>8</a:t>
                      </a:r>
                    </a:p>
                  </a:txBody>
                  <a:tcPr marL="73152" marR="73152" marT="36576" marB="36576" anchor="ctr">
                    <a:solidFill>
                      <a:srgbClr val="EEF3F8"/>
                    </a:solidFill>
                  </a:tcPr>
                </a:tc>
                <a:tc>
                  <a:txBody>
                    <a:bodyPr/>
                    <a:lstStyle/>
                    <a:p>
                      <a:r>
                        <a:rPr sz="1000" b="0" i="0">
                          <a:solidFill>
                            <a:srgbClr val="1F2933"/>
                          </a:solidFill>
                          <a:latin typeface="Calibri"/>
                        </a:rPr>
                        <a:t>AR Accountant</a:t>
                      </a:r>
                    </a:p>
                  </a:txBody>
                  <a:tcPr marL="73152" marR="73152" marT="36576" marB="36576" anchor="ctr">
                    <a:solidFill>
                      <a:srgbClr val="EEF3F8"/>
                    </a:solidFill>
                  </a:tcPr>
                </a:tc>
                <a:tc>
                  <a:txBody>
                    <a:bodyPr/>
                    <a:lstStyle/>
                    <a:p>
                      <a:r>
                        <a:rPr sz="1000" b="0" i="0">
                          <a:solidFill>
                            <a:srgbClr val="1F2933"/>
                          </a:solidFill>
                          <a:latin typeface="Calibri"/>
                        </a:rPr>
                        <a:t>My Dunning Proposals (F2435)</a:t>
                      </a:r>
                    </a:p>
                  </a:txBody>
                  <a:tcPr marL="73152" marR="73152" marT="36576" marB="36576" anchor="ctr">
                    <a:solidFill>
                      <a:srgbClr val="EEF3F8"/>
                    </a:solidFill>
                  </a:tcPr>
                </a:tc>
                <a:tc>
                  <a:txBody>
                    <a:bodyPr/>
                    <a:lstStyle/>
                    <a:p>
                      <a:r>
                        <a:rPr sz="1000" b="0" i="0">
                          <a:solidFill>
                            <a:srgbClr val="1F2933"/>
                          </a:solidFill>
                          <a:latin typeface="Calibri"/>
                        </a:rPr>
                        <a:t>Create dunning proposal, PDF, dunning block</a:t>
                      </a:r>
                    </a:p>
                  </a:txBody>
                  <a:tcPr marL="73152" marR="73152" marT="36576" marB="36576" anchor="ctr">
                    <a:solidFill>
                      <a:srgbClr val="EEF3F8"/>
                    </a:solidFill>
                  </a:tcPr>
                </a:tc>
                <a:tc>
                  <a:txBody>
                    <a:bodyPr/>
                    <a:lstStyle/>
                    <a:p>
                      <a:r>
                        <a:rPr sz="1000" b="0" i="0">
                          <a:solidFill>
                            <a:srgbClr val="1F2933"/>
                          </a:solidFill>
                          <a:latin typeface="Calibri"/>
                        </a:rPr>
                        <a:t>Promised invoice missing from proposal</a:t>
                      </a:r>
                    </a:p>
                  </a:txBody>
                  <a:tcPr marL="73152" marR="73152" marT="36576" marB="36576" anchor="ctr">
                    <a:solidFill>
                      <a:srgbClr val="EEF3F8"/>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94415" cy="274320"/>
          </a:xfrm>
          <a:prstGeom prst="rect">
            <a:avLst/>
          </a:prstGeom>
          <a:noFill/>
        </p:spPr>
        <p:txBody>
          <a:bodyPr wrap="square" lIns="45720" rIns="45720" anchor="t">
            <a:spAutoFit/>
          </a:bodyPr>
          <a:lstStyle/>
          <a:p>
            <a:pPr algn="l"/>
            <a:r>
              <a:rPr sz="1100" b="1" i="0">
                <a:solidFill>
                  <a:srgbClr val="0F8B8D"/>
                </a:solidFill>
                <a:latin typeface="Calibri"/>
              </a:rPr>
              <a:t>C1  BUSINESS CONTEXT</a:t>
            </a:r>
          </a:p>
        </p:txBody>
      </p:sp>
      <p:sp>
        <p:nvSpPr>
          <p:cNvPr id="3" name="TextBox 2"/>
          <p:cNvSpPr txBox="1"/>
          <p:nvPr/>
        </p:nvSpPr>
        <p:spPr>
          <a:xfrm>
            <a:off x="548640" y="548640"/>
            <a:ext cx="11094415" cy="868680"/>
          </a:xfrm>
          <a:prstGeom prst="rect">
            <a:avLst/>
          </a:prstGeom>
          <a:noFill/>
        </p:spPr>
        <p:txBody>
          <a:bodyPr wrap="square" lIns="45720" rIns="45720" anchor="ctr">
            <a:spAutoFit/>
          </a:bodyPr>
          <a:lstStyle/>
          <a:p>
            <a:pPr algn="l"/>
            <a:r>
              <a:rPr sz="2800" b="1" i="0">
                <a:solidFill>
                  <a:srgbClr val="1C4E80"/>
                </a:solidFill>
                <a:latin typeface="Calibri"/>
              </a:rPr>
              <a:t>Disputes block cash and arise in three places</a:t>
            </a:r>
          </a:p>
        </p:txBody>
      </p:sp>
      <p:sp>
        <p:nvSpPr>
          <p:cNvPr id="4" name="TextBox 3"/>
          <p:cNvSpPr txBox="1"/>
          <p:nvPr/>
        </p:nvSpPr>
        <p:spPr>
          <a:xfrm>
            <a:off x="548640" y="6446520"/>
            <a:ext cx="8229600" cy="274320"/>
          </a:xfrm>
          <a:prstGeom prst="rect">
            <a:avLst/>
          </a:prstGeom>
          <a:noFill/>
        </p:spPr>
        <p:txBody>
          <a:bodyPr wrap="square" lIns="45720" rIns="45720" anchor="t">
            <a:spAutoFit/>
          </a:bodyPr>
          <a:lstStyle/>
          <a:p>
            <a:pPr algn="l"/>
            <a:r>
              <a:rPr sz="900" b="0" i="0">
                <a:solidFill>
                  <a:srgbClr val="5F6B7A"/>
                </a:solidFill>
                <a:latin typeface="Calibri"/>
              </a:rPr>
              <a:t>F2S Workshop 4  |  Collections &amp; Dispute Management  |  C  Dispute case: creation and resolution</a:t>
            </a:r>
          </a:p>
        </p:txBody>
      </p:sp>
      <p:sp>
        <p:nvSpPr>
          <p:cNvPr id="5" name="TextBox 4"/>
          <p:cNvSpPr txBox="1"/>
          <p:nvPr/>
        </p:nvSpPr>
        <p:spPr>
          <a:xfrm>
            <a:off x="10728655" y="6446520"/>
            <a:ext cx="914400" cy="274320"/>
          </a:xfrm>
          <a:prstGeom prst="rect">
            <a:avLst/>
          </a:prstGeom>
          <a:noFill/>
        </p:spPr>
        <p:txBody>
          <a:bodyPr wrap="square" lIns="45720" rIns="45720" anchor="t">
            <a:spAutoFit/>
          </a:bodyPr>
          <a:lstStyle/>
          <a:p>
            <a:pPr algn="r"/>
            <a:r>
              <a:rPr sz="900" b="0" i="0">
                <a:solidFill>
                  <a:srgbClr val="5F6B7A"/>
                </a:solidFill>
                <a:latin typeface="Calibri"/>
              </a:rPr>
              <a:t>13</a:t>
            </a:r>
          </a:p>
        </p:txBody>
      </p:sp>
      <p:sp>
        <p:nvSpPr>
          <p:cNvPr id="6" name="Rounded Rectangle 5"/>
          <p:cNvSpPr/>
          <p:nvPr/>
        </p:nvSpPr>
        <p:spPr>
          <a:xfrm>
            <a:off x="548640" y="1554480"/>
            <a:ext cx="3515258" cy="178308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685800" y="1691640"/>
            <a:ext cx="347472" cy="34747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1</a:t>
            </a:r>
          </a:p>
        </p:txBody>
      </p:sp>
      <p:sp>
        <p:nvSpPr>
          <p:cNvPr id="8" name="TextBox 7"/>
          <p:cNvSpPr txBox="1"/>
          <p:nvPr/>
        </p:nvSpPr>
        <p:spPr>
          <a:xfrm>
            <a:off x="1124712" y="1691640"/>
            <a:ext cx="2802026" cy="384048"/>
          </a:xfrm>
          <a:prstGeom prst="rect">
            <a:avLst/>
          </a:prstGeom>
          <a:noFill/>
        </p:spPr>
        <p:txBody>
          <a:bodyPr wrap="square" lIns="45720" rIns="45720" anchor="ctr">
            <a:spAutoFit/>
          </a:bodyPr>
          <a:lstStyle/>
          <a:p>
            <a:pPr algn="l"/>
            <a:r>
              <a:rPr sz="1400" b="1" i="0">
                <a:solidFill>
                  <a:srgbClr val="1C4E80"/>
                </a:solidFill>
                <a:latin typeface="Calibri"/>
              </a:rPr>
              <a:t>At incoming payment</a:t>
            </a:r>
          </a:p>
        </p:txBody>
      </p:sp>
      <p:sp>
        <p:nvSpPr>
          <p:cNvPr id="9" name="TextBox 8"/>
          <p:cNvSpPr txBox="1"/>
          <p:nvPr/>
        </p:nvSpPr>
        <p:spPr>
          <a:xfrm>
            <a:off x="685800" y="2130552"/>
            <a:ext cx="3240938" cy="1069848"/>
          </a:xfrm>
          <a:prstGeom prst="rect">
            <a:avLst/>
          </a:prstGeom>
          <a:noFill/>
        </p:spPr>
        <p:txBody>
          <a:bodyPr wrap="square" lIns="45720" rIns="45720" anchor="t">
            <a:spAutoFit/>
          </a:bodyPr>
          <a:lstStyle/>
          <a:p>
            <a:pPr algn="l"/>
            <a:r>
              <a:rPr sz="1200" b="0" i="0">
                <a:solidFill>
                  <a:srgbClr val="1F2933"/>
                </a:solidFill>
                <a:latin typeface="Calibri"/>
              </a:rPr>
              <a:t>Customer pays less and states a reason: cash discount despite deadline, quantity difference, return. Residual items are small but numerous. Candidate for automatic creation.</a:t>
            </a:r>
          </a:p>
        </p:txBody>
      </p:sp>
      <p:sp>
        <p:nvSpPr>
          <p:cNvPr id="10" name="Rounded Rectangle 9"/>
          <p:cNvSpPr/>
          <p:nvPr/>
        </p:nvSpPr>
        <p:spPr>
          <a:xfrm>
            <a:off x="4338218" y="1554480"/>
            <a:ext cx="3515258" cy="178308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4475378" y="1691640"/>
            <a:ext cx="347472" cy="34747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2</a:t>
            </a:r>
          </a:p>
        </p:txBody>
      </p:sp>
      <p:sp>
        <p:nvSpPr>
          <p:cNvPr id="12" name="TextBox 11"/>
          <p:cNvSpPr txBox="1"/>
          <p:nvPr/>
        </p:nvSpPr>
        <p:spPr>
          <a:xfrm>
            <a:off x="4914290" y="1691640"/>
            <a:ext cx="2802026" cy="384048"/>
          </a:xfrm>
          <a:prstGeom prst="rect">
            <a:avLst/>
          </a:prstGeom>
          <a:noFill/>
        </p:spPr>
        <p:txBody>
          <a:bodyPr wrap="square" lIns="45720" rIns="45720" anchor="ctr">
            <a:spAutoFit/>
          </a:bodyPr>
          <a:lstStyle/>
          <a:p>
            <a:pPr algn="l"/>
            <a:r>
              <a:rPr sz="1400" b="1" i="0">
                <a:solidFill>
                  <a:srgbClr val="1C4E80"/>
                </a:solidFill>
                <a:latin typeface="Calibri"/>
              </a:rPr>
              <a:t>During customer contact</a:t>
            </a:r>
          </a:p>
        </p:txBody>
      </p:sp>
      <p:sp>
        <p:nvSpPr>
          <p:cNvPr id="13" name="TextBox 12"/>
          <p:cNvSpPr txBox="1"/>
          <p:nvPr/>
        </p:nvSpPr>
        <p:spPr>
          <a:xfrm>
            <a:off x="4475378" y="2130552"/>
            <a:ext cx="3240938" cy="1069848"/>
          </a:xfrm>
          <a:prstGeom prst="rect">
            <a:avLst/>
          </a:prstGeom>
          <a:noFill/>
        </p:spPr>
        <p:txBody>
          <a:bodyPr wrap="square" lIns="45720" rIns="45720" anchor="t">
            <a:spAutoFit/>
          </a:bodyPr>
          <a:lstStyle/>
          <a:p>
            <a:pPr algn="l"/>
            <a:r>
              <a:rPr sz="1200" b="0" i="0">
                <a:solidFill>
                  <a:srgbClr val="1F2933"/>
                </a:solidFill>
                <a:latin typeface="Calibri"/>
              </a:rPr>
              <a:t>Specialist calls and learns that the invoice is contested. Dispute case directly from the conversation.</a:t>
            </a:r>
          </a:p>
        </p:txBody>
      </p:sp>
      <p:sp>
        <p:nvSpPr>
          <p:cNvPr id="14" name="Rounded Rectangle 13"/>
          <p:cNvSpPr/>
          <p:nvPr/>
        </p:nvSpPr>
        <p:spPr>
          <a:xfrm>
            <a:off x="8127796" y="1554480"/>
            <a:ext cx="3515258" cy="178308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8264956" y="1691640"/>
            <a:ext cx="347472" cy="34747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3</a:t>
            </a:r>
          </a:p>
        </p:txBody>
      </p:sp>
      <p:sp>
        <p:nvSpPr>
          <p:cNvPr id="16" name="TextBox 15"/>
          <p:cNvSpPr txBox="1"/>
          <p:nvPr/>
        </p:nvSpPr>
        <p:spPr>
          <a:xfrm>
            <a:off x="8703868" y="1691640"/>
            <a:ext cx="2802026" cy="384048"/>
          </a:xfrm>
          <a:prstGeom prst="rect">
            <a:avLst/>
          </a:prstGeom>
          <a:noFill/>
        </p:spPr>
        <p:txBody>
          <a:bodyPr wrap="square" lIns="45720" rIns="45720" anchor="ctr">
            <a:spAutoFit/>
          </a:bodyPr>
          <a:lstStyle/>
          <a:p>
            <a:pPr algn="l"/>
            <a:r>
              <a:rPr sz="1400" b="1" i="0">
                <a:solidFill>
                  <a:srgbClr val="1C4E80"/>
                </a:solidFill>
                <a:latin typeface="Calibri"/>
              </a:rPr>
              <a:t>In sales or service</a:t>
            </a:r>
          </a:p>
        </p:txBody>
      </p:sp>
      <p:sp>
        <p:nvSpPr>
          <p:cNvPr id="17" name="TextBox 16"/>
          <p:cNvSpPr txBox="1"/>
          <p:nvPr/>
        </p:nvSpPr>
        <p:spPr>
          <a:xfrm>
            <a:off x="8264956" y="2130552"/>
            <a:ext cx="3240938" cy="1069848"/>
          </a:xfrm>
          <a:prstGeom prst="rect">
            <a:avLst/>
          </a:prstGeom>
          <a:noFill/>
        </p:spPr>
        <p:txBody>
          <a:bodyPr wrap="square" lIns="45720" rIns="45720" anchor="t">
            <a:spAutoFit/>
          </a:bodyPr>
          <a:lstStyle/>
          <a:p>
            <a:pPr algn="l"/>
            <a:r>
              <a:rPr sz="1200" b="0" i="0">
                <a:solidFill>
                  <a:srgbClr val="1F2933"/>
                </a:solidFill>
                <a:latin typeface="Calibri"/>
              </a:rPr>
              <a:t>Complaint arrives by e-mail or phone, often before the due date. Accounting or the department creates the case.</a:t>
            </a:r>
          </a:p>
        </p:txBody>
      </p:sp>
      <p:sp>
        <p:nvSpPr>
          <p:cNvPr id="18" name="Rounded Rectangle 17"/>
          <p:cNvSpPr/>
          <p:nvPr/>
        </p:nvSpPr>
        <p:spPr>
          <a:xfrm>
            <a:off x="548640" y="3566160"/>
            <a:ext cx="5410047" cy="205740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85800" y="3703320"/>
            <a:ext cx="5135727" cy="365760"/>
          </a:xfrm>
          <a:prstGeom prst="rect">
            <a:avLst/>
          </a:prstGeom>
          <a:noFill/>
        </p:spPr>
        <p:txBody>
          <a:bodyPr wrap="square" lIns="45720" rIns="45720" anchor="ctr">
            <a:spAutoFit/>
          </a:bodyPr>
          <a:lstStyle/>
          <a:p>
            <a:pPr algn="l"/>
            <a:r>
              <a:rPr sz="1400" b="1" i="0">
                <a:solidFill>
                  <a:srgbClr val="1C4E80"/>
                </a:solidFill>
                <a:latin typeface="Calibri"/>
              </a:rPr>
              <a:t>What a dispute case delivers</a:t>
            </a:r>
          </a:p>
        </p:txBody>
      </p:sp>
      <p:sp>
        <p:nvSpPr>
          <p:cNvPr id="20" name="TextBox 19"/>
          <p:cNvSpPr txBox="1"/>
          <p:nvPr/>
        </p:nvSpPr>
        <p:spPr>
          <a:xfrm>
            <a:off x="685800" y="4087368"/>
            <a:ext cx="5135727" cy="1399032"/>
          </a:xfrm>
          <a:prstGeom prst="rect">
            <a:avLst/>
          </a:prstGeom>
          <a:noFill/>
        </p:spPr>
        <p:txBody>
          <a:bodyPr wrap="square" lIns="45720" rIns="45720">
            <a:spAutoFit/>
          </a:bodyPr>
          <a:lstStyle/>
          <a:p>
            <a:pPr marL="201168" indent="-201168">
              <a:spcAft>
                <a:spcPts val="300"/>
              </a:spcAft>
              <a:buChar char="•"/>
            </a:pPr>
            <a:r>
              <a:rPr sz="1200" b="0" i="0">
                <a:solidFill>
                  <a:srgbClr val="1F2933"/>
                </a:solidFill>
                <a:latin typeface="Calibri"/>
              </a:rPr>
              <a:t>Disputed amount, reason, priority, documents in one place</a:t>
            </a:r>
          </a:p>
          <a:p>
            <a:pPr marL="201168" indent="-201168">
              <a:spcAft>
                <a:spcPts val="300"/>
              </a:spcAft>
              <a:buChar char="•"/>
            </a:pPr>
            <a:r>
              <a:rPr sz="1200" b="0" i="0">
                <a:solidFill>
                  <a:srgbClr val="1F2933"/>
                </a:solidFill>
                <a:latin typeface="Calibri"/>
              </a:rPr>
              <a:t>One processor, one coordinator: clear who is up</a:t>
            </a:r>
          </a:p>
          <a:p>
            <a:pPr marL="201168" indent="-201168">
              <a:spcAft>
                <a:spcPts val="300"/>
              </a:spcAft>
              <a:buChar char="•"/>
            </a:pPr>
            <a:r>
              <a:rPr sz="1200" b="0" i="0">
                <a:solidFill>
                  <a:srgbClr val="1F2933"/>
                </a:solidFill>
                <a:latin typeface="Calibri"/>
              </a:rPr>
              <a:t>Notes, attachments, e-mails with the customer in the case</a:t>
            </a:r>
          </a:p>
          <a:p>
            <a:pPr marL="201168" indent="-201168">
              <a:spcAft>
                <a:spcPts val="300"/>
              </a:spcAft>
              <a:buChar char="•"/>
            </a:pPr>
            <a:r>
              <a:rPr sz="1200" b="0" i="0">
                <a:solidFill>
                  <a:srgbClr val="1F2933"/>
                </a:solidFill>
                <a:latin typeface="Calibri"/>
              </a:rPr>
              <a:t>Blocks the item for dunning</a:t>
            </a:r>
          </a:p>
          <a:p>
            <a:pPr marL="201168" indent="-201168">
              <a:spcAft>
                <a:spcPts val="300"/>
              </a:spcAft>
              <a:buChar char="•"/>
            </a:pPr>
            <a:r>
              <a:rPr sz="1200" b="0" i="0">
                <a:solidFill>
                  <a:srgbClr val="1F2933"/>
                </a:solidFill>
                <a:latin typeface="Calibri"/>
              </a:rPr>
              <a:t>Analysis by reason and root cause</a:t>
            </a:r>
          </a:p>
        </p:txBody>
      </p:sp>
      <p:sp>
        <p:nvSpPr>
          <p:cNvPr id="21" name="Rounded Rectangle 20"/>
          <p:cNvSpPr/>
          <p:nvPr/>
        </p:nvSpPr>
        <p:spPr>
          <a:xfrm>
            <a:off x="6233007" y="3566160"/>
            <a:ext cx="5410047" cy="2057400"/>
          </a:xfrm>
          <a:prstGeom prst="roundRect">
            <a:avLst>
              <a:gd name="adj" fmla="val 12000"/>
            </a:avLst>
          </a:prstGeom>
          <a:solidFill>
            <a:srgbClr val="E6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370167" y="3703320"/>
            <a:ext cx="5135727" cy="365760"/>
          </a:xfrm>
          <a:prstGeom prst="rect">
            <a:avLst/>
          </a:prstGeom>
          <a:noFill/>
        </p:spPr>
        <p:txBody>
          <a:bodyPr wrap="square" lIns="45720" rIns="45720" anchor="ctr">
            <a:spAutoFit/>
          </a:bodyPr>
          <a:lstStyle/>
          <a:p>
            <a:pPr algn="l"/>
            <a:r>
              <a:rPr sz="1400" b="1" i="0">
                <a:solidFill>
                  <a:srgbClr val="1C4E80"/>
                </a:solidFill>
                <a:latin typeface="Calibri"/>
              </a:rPr>
              <a:t>Role model</a:t>
            </a:r>
          </a:p>
        </p:txBody>
      </p:sp>
      <p:sp>
        <p:nvSpPr>
          <p:cNvPr id="23" name="TextBox 22"/>
          <p:cNvSpPr txBox="1"/>
          <p:nvPr/>
        </p:nvSpPr>
        <p:spPr>
          <a:xfrm>
            <a:off x="6370167" y="4087368"/>
            <a:ext cx="5135727" cy="1399032"/>
          </a:xfrm>
          <a:prstGeom prst="rect">
            <a:avLst/>
          </a:prstGeom>
          <a:noFill/>
        </p:spPr>
        <p:txBody>
          <a:bodyPr wrap="square" lIns="45720" rIns="45720">
            <a:spAutoFit/>
          </a:bodyPr>
          <a:lstStyle/>
          <a:p>
            <a:pPr marL="201168" indent="-201168">
              <a:spcAft>
                <a:spcPts val="300"/>
              </a:spcAft>
              <a:buChar char="•"/>
            </a:pPr>
            <a:r>
              <a:rPr sz="1200" b="1" i="0">
                <a:solidFill>
                  <a:srgbClr val="1F2933"/>
                </a:solidFill>
                <a:latin typeface="Calibri"/>
              </a:rPr>
              <a:t>Coordinator: </a:t>
            </a:r>
            <a:r>
              <a:rPr sz="1200" b="0" i="0">
                <a:solidFill>
                  <a:srgbClr val="1F2933"/>
                </a:solidFill>
                <a:latin typeface="Calibri"/>
              </a:rPr>
              <a:t>accounts receivable, assigns and escalates</a:t>
            </a:r>
          </a:p>
          <a:p>
            <a:pPr marL="201168" indent="-201168">
              <a:spcAft>
                <a:spcPts val="300"/>
              </a:spcAft>
              <a:buChar char="•"/>
            </a:pPr>
            <a:r>
              <a:rPr sz="1200" b="1" i="0">
                <a:solidFill>
                  <a:srgbClr val="1F2933"/>
                </a:solidFill>
                <a:latin typeface="Calibri"/>
              </a:rPr>
              <a:t>Processor: </a:t>
            </a:r>
            <a:r>
              <a:rPr sz="1200" b="0" i="0">
                <a:solidFill>
                  <a:srgbClr val="1F2933"/>
                </a:solidFill>
                <a:latin typeface="Calibri"/>
              </a:rPr>
              <a:t>accounting, sales, logistics, service, depending on reason</a:t>
            </a:r>
          </a:p>
          <a:p>
            <a:pPr marL="201168" indent="-201168">
              <a:spcAft>
                <a:spcPts val="300"/>
              </a:spcAft>
              <a:buChar char="•"/>
            </a:pPr>
            <a:r>
              <a:rPr sz="1200" b="1" i="0">
                <a:solidFill>
                  <a:srgbClr val="1F2933"/>
                </a:solidFill>
                <a:latin typeface="Calibri"/>
              </a:rPr>
              <a:t>Decision in the workshop: </a:t>
            </a:r>
            <a:r>
              <a:rPr sz="1200" b="0" i="0">
                <a:solidFill>
                  <a:srgbClr val="1F2933"/>
                </a:solidFill>
                <a:latin typeface="Calibri"/>
              </a:rPr>
              <a:t>do departments work in the system themselves or does accounting maintain on their behalf?</a:t>
            </a:r>
          </a:p>
          <a:p>
            <a:pPr marL="201168" indent="-201168">
              <a:spcAft>
                <a:spcPts val="300"/>
              </a:spcAft>
              <a:buChar char="•"/>
            </a:pPr>
            <a:r>
              <a:rPr sz="1200" b="1" i="0">
                <a:solidFill>
                  <a:srgbClr val="1F2933"/>
                </a:solidFill>
                <a:latin typeface="Calibri"/>
              </a:rPr>
              <a:t>KPIs: </a:t>
            </a:r>
            <a:r>
              <a:rPr sz="1200" b="0" i="0">
                <a:solidFill>
                  <a:srgbClr val="1F2933"/>
                </a:solidFill>
                <a:latin typeface="Calibri"/>
              </a:rPr>
              <a:t>cycle time, disputed volume, share of justified cases per reason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94415" cy="274320"/>
          </a:xfrm>
          <a:prstGeom prst="rect">
            <a:avLst/>
          </a:prstGeom>
          <a:noFill/>
        </p:spPr>
        <p:txBody>
          <a:bodyPr wrap="square" lIns="45720" rIns="45720" anchor="t">
            <a:spAutoFit/>
          </a:bodyPr>
          <a:lstStyle/>
          <a:p>
            <a:pPr algn="l"/>
            <a:r>
              <a:rPr sz="1100" b="1" i="0">
                <a:solidFill>
                  <a:srgbClr val="0F8B8D"/>
                </a:solidFill>
                <a:latin typeface="Calibri"/>
              </a:rPr>
              <a:t>C2  DISPUTE CREATION</a:t>
            </a:r>
          </a:p>
        </p:txBody>
      </p:sp>
      <p:sp>
        <p:nvSpPr>
          <p:cNvPr id="3" name="TextBox 2"/>
          <p:cNvSpPr txBox="1"/>
          <p:nvPr/>
        </p:nvSpPr>
        <p:spPr>
          <a:xfrm>
            <a:off x="548640" y="548640"/>
            <a:ext cx="11094415" cy="868680"/>
          </a:xfrm>
          <a:prstGeom prst="rect">
            <a:avLst/>
          </a:prstGeom>
          <a:noFill/>
        </p:spPr>
        <p:txBody>
          <a:bodyPr wrap="square" lIns="45720" rIns="45720" anchor="ctr">
            <a:spAutoFit/>
          </a:bodyPr>
          <a:lstStyle/>
          <a:p>
            <a:pPr algn="l"/>
            <a:r>
              <a:rPr sz="2800" b="1" i="0">
                <a:solidFill>
                  <a:srgbClr val="1C4E80"/>
                </a:solidFill>
                <a:latin typeface="Calibri"/>
              </a:rPr>
              <a:t>Three creation paths, one case</a:t>
            </a:r>
          </a:p>
        </p:txBody>
      </p:sp>
      <p:sp>
        <p:nvSpPr>
          <p:cNvPr id="4" name="TextBox 3"/>
          <p:cNvSpPr txBox="1"/>
          <p:nvPr/>
        </p:nvSpPr>
        <p:spPr>
          <a:xfrm>
            <a:off x="548640" y="6446520"/>
            <a:ext cx="8229600" cy="274320"/>
          </a:xfrm>
          <a:prstGeom prst="rect">
            <a:avLst/>
          </a:prstGeom>
          <a:noFill/>
        </p:spPr>
        <p:txBody>
          <a:bodyPr wrap="square" lIns="45720" rIns="45720" anchor="t">
            <a:spAutoFit/>
          </a:bodyPr>
          <a:lstStyle/>
          <a:p>
            <a:pPr algn="l"/>
            <a:r>
              <a:rPr sz="900" b="0" i="0">
                <a:solidFill>
                  <a:srgbClr val="5F6B7A"/>
                </a:solidFill>
                <a:latin typeface="Calibri"/>
              </a:rPr>
              <a:t>F2S Workshop 4  |  Collections &amp; Dispute Management  |  C  Dispute case: creation and resolution</a:t>
            </a:r>
          </a:p>
        </p:txBody>
      </p:sp>
      <p:sp>
        <p:nvSpPr>
          <p:cNvPr id="5" name="TextBox 4"/>
          <p:cNvSpPr txBox="1"/>
          <p:nvPr/>
        </p:nvSpPr>
        <p:spPr>
          <a:xfrm>
            <a:off x="10728655" y="6446520"/>
            <a:ext cx="914400" cy="274320"/>
          </a:xfrm>
          <a:prstGeom prst="rect">
            <a:avLst/>
          </a:prstGeom>
          <a:noFill/>
        </p:spPr>
        <p:txBody>
          <a:bodyPr wrap="square" lIns="45720" rIns="45720" anchor="t">
            <a:spAutoFit/>
          </a:bodyPr>
          <a:lstStyle/>
          <a:p>
            <a:pPr algn="r"/>
            <a:r>
              <a:rPr sz="900" b="0" i="0">
                <a:solidFill>
                  <a:srgbClr val="5F6B7A"/>
                </a:solidFill>
                <a:latin typeface="Calibri"/>
              </a:rPr>
              <a:t>14</a:t>
            </a:r>
          </a:p>
        </p:txBody>
      </p:sp>
      <p:sp>
        <p:nvSpPr>
          <p:cNvPr id="6" name="Rounded Rectangle 5"/>
          <p:cNvSpPr/>
          <p:nvPr/>
        </p:nvSpPr>
        <p:spPr>
          <a:xfrm>
            <a:off x="548640" y="1554480"/>
            <a:ext cx="3515258" cy="283464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731520" y="1719072"/>
            <a:ext cx="384048" cy="38404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i="0">
                <a:solidFill>
                  <a:srgbClr val="FFFFFF"/>
                </a:solidFill>
                <a:latin typeface="Calibri"/>
              </a:rPr>
              <a:t>1</a:t>
            </a:r>
          </a:p>
        </p:txBody>
      </p:sp>
      <p:sp>
        <p:nvSpPr>
          <p:cNvPr id="8" name="TextBox 7"/>
          <p:cNvSpPr txBox="1"/>
          <p:nvPr/>
        </p:nvSpPr>
        <p:spPr>
          <a:xfrm>
            <a:off x="1207008" y="1691640"/>
            <a:ext cx="2692298" cy="457200"/>
          </a:xfrm>
          <a:prstGeom prst="rect">
            <a:avLst/>
          </a:prstGeom>
          <a:noFill/>
        </p:spPr>
        <p:txBody>
          <a:bodyPr wrap="square" lIns="45720" rIns="45720" anchor="ctr">
            <a:spAutoFit/>
          </a:bodyPr>
          <a:lstStyle/>
          <a:p>
            <a:pPr algn="l"/>
            <a:r>
              <a:rPr sz="1600" b="1" i="0">
                <a:solidFill>
                  <a:srgbClr val="1C4E80"/>
                </a:solidFill>
                <a:latin typeface="Calibri"/>
              </a:rPr>
              <a:t>Manually during contact</a:t>
            </a:r>
          </a:p>
        </p:txBody>
      </p:sp>
      <p:sp>
        <p:nvSpPr>
          <p:cNvPr id="9" name="TextBox 8"/>
          <p:cNvSpPr txBox="1"/>
          <p:nvPr/>
        </p:nvSpPr>
        <p:spPr>
          <a:xfrm>
            <a:off x="731520" y="2194560"/>
            <a:ext cx="3149498" cy="457200"/>
          </a:xfrm>
          <a:prstGeom prst="rect">
            <a:avLst/>
          </a:prstGeom>
          <a:noFill/>
        </p:spPr>
        <p:txBody>
          <a:bodyPr wrap="square" lIns="45720" rIns="45720" anchor="t">
            <a:spAutoFit/>
          </a:bodyPr>
          <a:lstStyle/>
          <a:p>
            <a:pPr algn="l"/>
            <a:r>
              <a:rPr sz="1100" b="0" i="1">
                <a:solidFill>
                  <a:srgbClr val="5F6B7A"/>
                </a:solidFill>
                <a:latin typeface="Calibri"/>
              </a:rPr>
              <a:t>Process Receivables (F0106A)  |  AR Accountant</a:t>
            </a:r>
          </a:p>
        </p:txBody>
      </p:sp>
      <p:sp>
        <p:nvSpPr>
          <p:cNvPr id="10" name="TextBox 9"/>
          <p:cNvSpPr txBox="1"/>
          <p:nvPr/>
        </p:nvSpPr>
        <p:spPr>
          <a:xfrm>
            <a:off x="731520" y="2697480"/>
            <a:ext cx="3149498" cy="1645920"/>
          </a:xfrm>
          <a:prstGeom prst="rect">
            <a:avLst/>
          </a:prstGeom>
          <a:noFill/>
        </p:spPr>
        <p:txBody>
          <a:bodyPr wrap="square" lIns="45720" rIns="45720">
            <a:spAutoFit/>
          </a:bodyPr>
          <a:lstStyle/>
          <a:p>
            <a:pPr marL="201168" indent="-201168">
              <a:spcAft>
                <a:spcPts val="400"/>
              </a:spcAft>
              <a:buChar char="•"/>
            </a:pPr>
            <a:r>
              <a:rPr sz="1200" b="0" i="0">
                <a:solidFill>
                  <a:srgbClr val="1F2933"/>
                </a:solidFill>
                <a:latin typeface="Calibri"/>
              </a:rPr>
              <a:t>Select invoice → Create Dispute Case</a:t>
            </a:r>
          </a:p>
          <a:p>
            <a:pPr marL="201168" indent="-201168">
              <a:spcAft>
                <a:spcPts val="400"/>
              </a:spcAft>
              <a:buChar char="•"/>
            </a:pPr>
            <a:r>
              <a:rPr sz="1200" b="0" i="0">
                <a:solidFill>
                  <a:srgbClr val="1F2933"/>
                </a:solidFill>
                <a:latin typeface="Calibri"/>
              </a:rPr>
              <a:t>Title, reason (e.g. Price Differences), priority, processor, contact person, note, attachment</a:t>
            </a:r>
          </a:p>
          <a:p>
            <a:pPr marL="201168" indent="-201168">
              <a:spcAft>
                <a:spcPts val="400"/>
              </a:spcAft>
              <a:buChar char="•"/>
            </a:pPr>
            <a:r>
              <a:rPr sz="1200" b="0" i="0">
                <a:solidFill>
                  <a:srgbClr val="1F2933"/>
                </a:solidFill>
                <a:latin typeface="Calibri"/>
              </a:rPr>
              <a:t>Typical: specialist learns the objection in the call</a:t>
            </a:r>
          </a:p>
        </p:txBody>
      </p:sp>
      <p:sp>
        <p:nvSpPr>
          <p:cNvPr id="11" name="Rounded Rectangle 10"/>
          <p:cNvSpPr/>
          <p:nvPr/>
        </p:nvSpPr>
        <p:spPr>
          <a:xfrm>
            <a:off x="4338218" y="1554480"/>
            <a:ext cx="3515258" cy="283464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4521098" y="1719072"/>
            <a:ext cx="384048" cy="38404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i="0">
                <a:solidFill>
                  <a:srgbClr val="FFFFFF"/>
                </a:solidFill>
                <a:latin typeface="Calibri"/>
              </a:rPr>
              <a:t>2</a:t>
            </a:r>
          </a:p>
        </p:txBody>
      </p:sp>
      <p:sp>
        <p:nvSpPr>
          <p:cNvPr id="13" name="TextBox 12"/>
          <p:cNvSpPr txBox="1"/>
          <p:nvPr/>
        </p:nvSpPr>
        <p:spPr>
          <a:xfrm>
            <a:off x="4996586" y="1691640"/>
            <a:ext cx="2692298" cy="457200"/>
          </a:xfrm>
          <a:prstGeom prst="rect">
            <a:avLst/>
          </a:prstGeom>
          <a:noFill/>
        </p:spPr>
        <p:txBody>
          <a:bodyPr wrap="square" lIns="45720" rIns="45720" anchor="ctr">
            <a:spAutoFit/>
          </a:bodyPr>
          <a:lstStyle/>
          <a:p>
            <a:pPr algn="l"/>
            <a:r>
              <a:rPr sz="1600" b="1" i="0">
                <a:solidFill>
                  <a:srgbClr val="1C4E80"/>
                </a:solidFill>
                <a:latin typeface="Calibri"/>
              </a:rPr>
              <a:t>From an underpayment</a:t>
            </a:r>
          </a:p>
        </p:txBody>
      </p:sp>
      <p:sp>
        <p:nvSpPr>
          <p:cNvPr id="14" name="TextBox 13"/>
          <p:cNvSpPr txBox="1"/>
          <p:nvPr/>
        </p:nvSpPr>
        <p:spPr>
          <a:xfrm>
            <a:off x="4521098" y="2194560"/>
            <a:ext cx="3149498" cy="457200"/>
          </a:xfrm>
          <a:prstGeom prst="rect">
            <a:avLst/>
          </a:prstGeom>
          <a:noFill/>
        </p:spPr>
        <p:txBody>
          <a:bodyPr wrap="square" lIns="45720" rIns="45720" anchor="t">
            <a:spAutoFit/>
          </a:bodyPr>
          <a:lstStyle/>
          <a:p>
            <a:pPr algn="l"/>
            <a:r>
              <a:rPr sz="1100" b="0" i="1">
                <a:solidFill>
                  <a:srgbClr val="5F6B7A"/>
                </a:solidFill>
                <a:latin typeface="Calibri"/>
              </a:rPr>
              <a:t>Reprocess Bank Statement Items (F1520)  |  Cash Specialist</a:t>
            </a:r>
          </a:p>
        </p:txBody>
      </p:sp>
      <p:sp>
        <p:nvSpPr>
          <p:cNvPr id="15" name="TextBox 14"/>
          <p:cNvSpPr txBox="1"/>
          <p:nvPr/>
        </p:nvSpPr>
        <p:spPr>
          <a:xfrm>
            <a:off x="4521098" y="2697480"/>
            <a:ext cx="3149498" cy="1645920"/>
          </a:xfrm>
          <a:prstGeom prst="rect">
            <a:avLst/>
          </a:prstGeom>
          <a:noFill/>
        </p:spPr>
        <p:txBody>
          <a:bodyPr wrap="square" lIns="45720" rIns="45720">
            <a:spAutoFit/>
          </a:bodyPr>
          <a:lstStyle/>
          <a:p>
            <a:pPr marL="201168" indent="-201168">
              <a:spcAft>
                <a:spcPts val="400"/>
              </a:spcAft>
              <a:buChar char="•"/>
            </a:pPr>
            <a:r>
              <a:rPr sz="1200" b="0" i="0">
                <a:solidFill>
                  <a:srgbClr val="1F2933"/>
                </a:solidFill>
                <a:latin typeface="Calibri"/>
              </a:rPr>
              <a:t>Payment lower than invoice → clear invoice, residual item</a:t>
            </a:r>
          </a:p>
          <a:p>
            <a:pPr marL="201168" indent="-201168">
              <a:spcAft>
                <a:spcPts val="400"/>
              </a:spcAft>
              <a:buChar char="•"/>
            </a:pPr>
            <a:r>
              <a:rPr sz="1200" b="0" i="0">
                <a:solidFill>
                  <a:srgbClr val="1F2933"/>
                </a:solidFill>
                <a:latin typeface="Calibri"/>
              </a:rPr>
              <a:t>Create Dispute in the clearing dialog → post</a:t>
            </a:r>
          </a:p>
          <a:p>
            <a:pPr marL="201168" indent="-201168">
              <a:spcAft>
                <a:spcPts val="400"/>
              </a:spcAft>
              <a:buChar char="•"/>
            </a:pPr>
            <a:r>
              <a:rPr sz="1200" b="0" i="0">
                <a:solidFill>
                  <a:srgbClr val="1F2933"/>
                </a:solidFill>
                <a:latin typeface="Calibri"/>
              </a:rPr>
              <a:t>Typical: deductions on the remittance advice</a:t>
            </a:r>
          </a:p>
        </p:txBody>
      </p:sp>
      <p:sp>
        <p:nvSpPr>
          <p:cNvPr id="16" name="Rounded Rectangle 15"/>
          <p:cNvSpPr/>
          <p:nvPr/>
        </p:nvSpPr>
        <p:spPr>
          <a:xfrm>
            <a:off x="8127796" y="1554480"/>
            <a:ext cx="3515258" cy="283464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8310676" y="1719072"/>
            <a:ext cx="384048" cy="38404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i="0">
                <a:solidFill>
                  <a:srgbClr val="FFFFFF"/>
                </a:solidFill>
                <a:latin typeface="Calibri"/>
              </a:rPr>
              <a:t>3</a:t>
            </a:r>
          </a:p>
        </p:txBody>
      </p:sp>
      <p:sp>
        <p:nvSpPr>
          <p:cNvPr id="18" name="TextBox 17"/>
          <p:cNvSpPr txBox="1"/>
          <p:nvPr/>
        </p:nvSpPr>
        <p:spPr>
          <a:xfrm>
            <a:off x="8786164" y="1691640"/>
            <a:ext cx="2692298" cy="457200"/>
          </a:xfrm>
          <a:prstGeom prst="rect">
            <a:avLst/>
          </a:prstGeom>
          <a:noFill/>
        </p:spPr>
        <p:txBody>
          <a:bodyPr wrap="square" lIns="45720" rIns="45720" anchor="ctr">
            <a:spAutoFit/>
          </a:bodyPr>
          <a:lstStyle/>
          <a:p>
            <a:pPr algn="l"/>
            <a:r>
              <a:rPr sz="1600" b="1" i="0">
                <a:solidFill>
                  <a:srgbClr val="1C4E80"/>
                </a:solidFill>
                <a:latin typeface="Calibri"/>
              </a:rPr>
              <a:t>Automatically by job</a:t>
            </a:r>
          </a:p>
        </p:txBody>
      </p:sp>
      <p:sp>
        <p:nvSpPr>
          <p:cNvPr id="19" name="TextBox 18"/>
          <p:cNvSpPr txBox="1"/>
          <p:nvPr/>
        </p:nvSpPr>
        <p:spPr>
          <a:xfrm>
            <a:off x="8310676" y="2194560"/>
            <a:ext cx="3149498" cy="457200"/>
          </a:xfrm>
          <a:prstGeom prst="rect">
            <a:avLst/>
          </a:prstGeom>
          <a:noFill/>
        </p:spPr>
        <p:txBody>
          <a:bodyPr wrap="square" lIns="45720" rIns="45720" anchor="t">
            <a:spAutoFit/>
          </a:bodyPr>
          <a:lstStyle/>
          <a:p>
            <a:pPr algn="l"/>
            <a:r>
              <a:rPr sz="1100" b="0" i="1">
                <a:solidFill>
                  <a:srgbClr val="5F6B7A"/>
                </a:solidFill>
                <a:latin typeface="Calibri"/>
              </a:rPr>
              <a:t>Schedule Dispute Management Jobs (F3578)  |  AR Accountant</a:t>
            </a:r>
          </a:p>
        </p:txBody>
      </p:sp>
      <p:sp>
        <p:nvSpPr>
          <p:cNvPr id="20" name="TextBox 19"/>
          <p:cNvSpPr txBox="1"/>
          <p:nvPr/>
        </p:nvSpPr>
        <p:spPr>
          <a:xfrm>
            <a:off x="8310676" y="2697480"/>
            <a:ext cx="3149498" cy="1645920"/>
          </a:xfrm>
          <a:prstGeom prst="rect">
            <a:avLst/>
          </a:prstGeom>
          <a:noFill/>
        </p:spPr>
        <p:txBody>
          <a:bodyPr wrap="square" lIns="45720" rIns="45720">
            <a:spAutoFit/>
          </a:bodyPr>
          <a:lstStyle/>
          <a:p>
            <a:pPr marL="201168" indent="-201168">
              <a:spcAft>
                <a:spcPts val="400"/>
              </a:spcAft>
              <a:buChar char="•"/>
            </a:pPr>
            <a:r>
              <a:rPr sz="1200" b="0" i="0">
                <a:solidFill>
                  <a:srgbClr val="1F2933"/>
                </a:solidFill>
                <a:latin typeface="Calibri"/>
              </a:rPr>
              <a:t>Template Automatic Creation of Dispute Cases</a:t>
            </a:r>
          </a:p>
          <a:p>
            <a:pPr marL="201168" indent="-201168">
              <a:spcAft>
                <a:spcPts val="400"/>
              </a:spcAft>
              <a:buChar char="•"/>
            </a:pPr>
            <a:r>
              <a:rPr sz="1200" b="0" i="0">
                <a:solidFill>
                  <a:srgbClr val="1F2933"/>
                </a:solidFill>
                <a:latin typeface="Calibri"/>
              </a:rPr>
              <a:t>Residual items from automatic payment processing become cases overnight</a:t>
            </a:r>
          </a:p>
          <a:p>
            <a:pPr marL="201168" indent="-201168">
              <a:spcAft>
                <a:spcPts val="400"/>
              </a:spcAft>
              <a:buChar char="•"/>
            </a:pPr>
            <a:r>
              <a:rPr sz="1200" b="0" i="0">
                <a:solidFill>
                  <a:srgbClr val="1F2933"/>
                </a:solidFill>
                <a:latin typeface="Calibri"/>
              </a:rPr>
              <a:t>Typical: high volume of small differences</a:t>
            </a:r>
          </a:p>
        </p:txBody>
      </p:sp>
      <p:sp>
        <p:nvSpPr>
          <p:cNvPr id="21" name="Rounded Rectangle 20"/>
          <p:cNvSpPr/>
          <p:nvPr/>
        </p:nvSpPr>
        <p:spPr>
          <a:xfrm>
            <a:off x="548640" y="4663440"/>
            <a:ext cx="2650159" cy="777240"/>
          </a:xfrm>
          <a:prstGeom prst="roundRect">
            <a:avLst>
              <a:gd name="adj" fmla="val 12000"/>
            </a:avLst>
          </a:prstGeom>
          <a:solidFill>
            <a:srgbClr val="5F6B7A"/>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FFFFFF"/>
                </a:solidFill>
                <a:latin typeface="Calibri"/>
              </a:rPr>
              <a:t>Case created</a:t>
            </a:r>
          </a:p>
          <a:p>
            <a:pPr algn="ctr"/>
            <a:r>
              <a:rPr sz="900" b="0" i="0">
                <a:solidFill>
                  <a:srgbClr val="FFFFFF"/>
                </a:solidFill>
                <a:latin typeface="Calibri"/>
              </a:rPr>
              <a:t>status New, no processor</a:t>
            </a:r>
          </a:p>
        </p:txBody>
      </p:sp>
      <p:sp>
        <p:nvSpPr>
          <p:cNvPr id="22" name="Right Arrow 21"/>
          <p:cNvSpPr/>
          <p:nvPr/>
        </p:nvSpPr>
        <p:spPr>
          <a:xfrm>
            <a:off x="3217087" y="4960620"/>
            <a:ext cx="128016" cy="182880"/>
          </a:xfrm>
          <a:prstGeom prst="rightArrow">
            <a:avLst/>
          </a:prstGeom>
          <a:solidFill>
            <a:srgbClr val="C9D2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3363391" y="4663440"/>
            <a:ext cx="2650159" cy="777240"/>
          </a:xfrm>
          <a:prstGeom prst="roundRect">
            <a:avLst>
              <a:gd name="adj" fmla="val 12000"/>
            </a:avLst>
          </a:prstGeom>
          <a:solidFill>
            <a:srgbClr val="1C4E80"/>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FFFFFF"/>
                </a:solidFill>
                <a:latin typeface="Calibri"/>
              </a:rPr>
              <a:t>Coordinator assigns</a:t>
            </a:r>
          </a:p>
          <a:p>
            <a:pPr algn="ctr"/>
            <a:r>
              <a:rPr sz="900" b="0" i="0">
                <a:solidFill>
                  <a:srgbClr val="FFFFFF"/>
                </a:solidFill>
                <a:latin typeface="Calibri"/>
              </a:rPr>
              <a:t>Manage Dispute Cases F0702A</a:t>
            </a:r>
          </a:p>
        </p:txBody>
      </p:sp>
      <p:sp>
        <p:nvSpPr>
          <p:cNvPr id="24" name="Right Arrow 23"/>
          <p:cNvSpPr/>
          <p:nvPr/>
        </p:nvSpPr>
        <p:spPr>
          <a:xfrm>
            <a:off x="6031838" y="4960620"/>
            <a:ext cx="128016" cy="182880"/>
          </a:xfrm>
          <a:prstGeom prst="rightArrow">
            <a:avLst/>
          </a:prstGeom>
          <a:solidFill>
            <a:srgbClr val="C9D2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6178142" y="4663440"/>
            <a:ext cx="2650159" cy="777240"/>
          </a:xfrm>
          <a:prstGeom prst="roundRect">
            <a:avLst>
              <a:gd name="adj" fmla="val 12000"/>
            </a:avLst>
          </a:prstGeom>
          <a:solidFill>
            <a:srgbClr val="1C4E80"/>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FFFFFF"/>
                </a:solidFill>
                <a:latin typeface="Calibri"/>
              </a:rPr>
              <a:t>Processor investigates</a:t>
            </a:r>
          </a:p>
          <a:p>
            <a:pPr algn="ctr"/>
            <a:r>
              <a:rPr sz="900" b="0" i="0">
                <a:solidFill>
                  <a:srgbClr val="FFFFFF"/>
                </a:solidFill>
                <a:latin typeface="Calibri"/>
              </a:rPr>
              <a:t>status In Process, notes, e-mail</a:t>
            </a:r>
          </a:p>
        </p:txBody>
      </p:sp>
      <p:sp>
        <p:nvSpPr>
          <p:cNvPr id="26" name="Right Arrow 25"/>
          <p:cNvSpPr/>
          <p:nvPr/>
        </p:nvSpPr>
        <p:spPr>
          <a:xfrm>
            <a:off x="8846589" y="4960620"/>
            <a:ext cx="128016" cy="182880"/>
          </a:xfrm>
          <a:prstGeom prst="rightArrow">
            <a:avLst/>
          </a:prstGeom>
          <a:solidFill>
            <a:srgbClr val="C9D2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8992893" y="4663440"/>
            <a:ext cx="2650159" cy="777240"/>
          </a:xfrm>
          <a:prstGeom prst="roundRect">
            <a:avLst>
              <a:gd name="adj" fmla="val 12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FFFFFF"/>
                </a:solidFill>
                <a:latin typeface="Calibri"/>
              </a:rPr>
              <a:t>Decision</a:t>
            </a:r>
          </a:p>
          <a:p>
            <a:pPr algn="ctr"/>
            <a:r>
              <a:rPr sz="900" b="0" i="0">
                <a:solidFill>
                  <a:srgbClr val="FFFFFF"/>
                </a:solidFill>
                <a:latin typeface="Calibri"/>
              </a:rPr>
              <a:t>see next slide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94415" cy="274320"/>
          </a:xfrm>
          <a:prstGeom prst="rect">
            <a:avLst/>
          </a:prstGeom>
          <a:noFill/>
        </p:spPr>
        <p:txBody>
          <a:bodyPr wrap="square" lIns="45720" rIns="45720" anchor="t">
            <a:spAutoFit/>
          </a:bodyPr>
          <a:lstStyle/>
          <a:p>
            <a:pPr algn="l"/>
            <a:r>
              <a:rPr sz="1100" b="1" i="0">
                <a:solidFill>
                  <a:srgbClr val="0F8B8D"/>
                </a:solidFill>
                <a:latin typeface="Calibri"/>
              </a:rPr>
              <a:t>C3  DISPUTE RESOLUTION</a:t>
            </a:r>
          </a:p>
        </p:txBody>
      </p:sp>
      <p:sp>
        <p:nvSpPr>
          <p:cNvPr id="3" name="TextBox 2"/>
          <p:cNvSpPr txBox="1"/>
          <p:nvPr/>
        </p:nvSpPr>
        <p:spPr>
          <a:xfrm>
            <a:off x="548640" y="548640"/>
            <a:ext cx="11094415" cy="868680"/>
          </a:xfrm>
          <a:prstGeom prst="rect">
            <a:avLst/>
          </a:prstGeom>
          <a:noFill/>
        </p:spPr>
        <p:txBody>
          <a:bodyPr wrap="square" lIns="45720" rIns="45720" anchor="ctr">
            <a:spAutoFit/>
          </a:bodyPr>
          <a:lstStyle/>
          <a:p>
            <a:pPr algn="l"/>
            <a:r>
              <a:rPr sz="2800" b="1" i="0">
                <a:solidFill>
                  <a:srgbClr val="1C4E80"/>
                </a:solidFill>
                <a:latin typeface="Calibri"/>
              </a:rPr>
              <a:t>Every decision has an accounting consequence</a:t>
            </a:r>
          </a:p>
        </p:txBody>
      </p:sp>
      <p:sp>
        <p:nvSpPr>
          <p:cNvPr id="4" name="TextBox 3"/>
          <p:cNvSpPr txBox="1"/>
          <p:nvPr/>
        </p:nvSpPr>
        <p:spPr>
          <a:xfrm>
            <a:off x="548640" y="6446520"/>
            <a:ext cx="8229600" cy="274320"/>
          </a:xfrm>
          <a:prstGeom prst="rect">
            <a:avLst/>
          </a:prstGeom>
          <a:noFill/>
        </p:spPr>
        <p:txBody>
          <a:bodyPr wrap="square" lIns="45720" rIns="45720" anchor="t">
            <a:spAutoFit/>
          </a:bodyPr>
          <a:lstStyle/>
          <a:p>
            <a:pPr algn="l"/>
            <a:r>
              <a:rPr sz="900" b="0" i="0">
                <a:solidFill>
                  <a:srgbClr val="5F6B7A"/>
                </a:solidFill>
                <a:latin typeface="Calibri"/>
              </a:rPr>
              <a:t>F2S Workshop 4  |  Collections &amp; Dispute Management  |  C  Dispute case: creation and resolution</a:t>
            </a:r>
          </a:p>
        </p:txBody>
      </p:sp>
      <p:sp>
        <p:nvSpPr>
          <p:cNvPr id="5" name="TextBox 4"/>
          <p:cNvSpPr txBox="1"/>
          <p:nvPr/>
        </p:nvSpPr>
        <p:spPr>
          <a:xfrm>
            <a:off x="10728655" y="6446520"/>
            <a:ext cx="914400" cy="274320"/>
          </a:xfrm>
          <a:prstGeom prst="rect">
            <a:avLst/>
          </a:prstGeom>
          <a:noFill/>
        </p:spPr>
        <p:txBody>
          <a:bodyPr wrap="square" lIns="45720" rIns="45720" anchor="t">
            <a:spAutoFit/>
          </a:bodyPr>
          <a:lstStyle/>
          <a:p>
            <a:pPr algn="r"/>
            <a:r>
              <a:rPr sz="900" b="0" i="0">
                <a:solidFill>
                  <a:srgbClr val="5F6B7A"/>
                </a:solidFill>
                <a:latin typeface="Calibri"/>
              </a:rPr>
              <a:t>15</a:t>
            </a:r>
          </a:p>
        </p:txBody>
      </p:sp>
      <p:sp>
        <p:nvSpPr>
          <p:cNvPr id="6" name="Rounded Rectangle 5"/>
          <p:cNvSpPr/>
          <p:nvPr/>
        </p:nvSpPr>
        <p:spPr>
          <a:xfrm>
            <a:off x="548640" y="1554480"/>
            <a:ext cx="2650159" cy="822960"/>
          </a:xfrm>
          <a:prstGeom prst="roundRect">
            <a:avLst>
              <a:gd name="adj" fmla="val 12000"/>
            </a:avLst>
          </a:prstGeom>
          <a:solidFill>
            <a:srgbClr val="5F6B7A"/>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b="1" i="0">
                <a:solidFill>
                  <a:srgbClr val="FFFFFF"/>
                </a:solidFill>
                <a:latin typeface="Calibri"/>
              </a:rPr>
              <a:t>New</a:t>
            </a:r>
          </a:p>
          <a:p>
            <a:pPr algn="ctr"/>
            <a:r>
              <a:rPr sz="1000" b="0" i="0">
                <a:solidFill>
                  <a:srgbClr val="FFFFFF"/>
                </a:solidFill>
                <a:latin typeface="Calibri"/>
              </a:rPr>
              <a:t>created, unassigned</a:t>
            </a:r>
          </a:p>
        </p:txBody>
      </p:sp>
      <p:sp>
        <p:nvSpPr>
          <p:cNvPr id="7" name="Right Arrow 6"/>
          <p:cNvSpPr/>
          <p:nvPr/>
        </p:nvSpPr>
        <p:spPr>
          <a:xfrm>
            <a:off x="3217087" y="1874520"/>
            <a:ext cx="128016" cy="182880"/>
          </a:xfrm>
          <a:prstGeom prst="rightArrow">
            <a:avLst/>
          </a:prstGeom>
          <a:solidFill>
            <a:srgbClr val="C9D2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363391" y="1554480"/>
            <a:ext cx="2650159" cy="822960"/>
          </a:xfrm>
          <a:prstGeom prst="roundRect">
            <a:avLst>
              <a:gd name="adj" fmla="val 12000"/>
            </a:avLst>
          </a:prstGeom>
          <a:solidFill>
            <a:srgbClr val="1C4E80"/>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b="1" i="0">
                <a:solidFill>
                  <a:srgbClr val="FFFFFF"/>
                </a:solidFill>
                <a:latin typeface="Calibri"/>
              </a:rPr>
              <a:t>Assigned</a:t>
            </a:r>
          </a:p>
          <a:p>
            <a:pPr algn="ctr"/>
            <a:r>
              <a:rPr sz="1000" b="0" i="0">
                <a:solidFill>
                  <a:srgbClr val="FFFFFF"/>
                </a:solidFill>
                <a:latin typeface="Calibri"/>
              </a:rPr>
              <a:t>coordinator → processor</a:t>
            </a:r>
          </a:p>
        </p:txBody>
      </p:sp>
      <p:sp>
        <p:nvSpPr>
          <p:cNvPr id="9" name="Right Arrow 8"/>
          <p:cNvSpPr/>
          <p:nvPr/>
        </p:nvSpPr>
        <p:spPr>
          <a:xfrm>
            <a:off x="6031838" y="1874520"/>
            <a:ext cx="128016" cy="182880"/>
          </a:xfrm>
          <a:prstGeom prst="rightArrow">
            <a:avLst/>
          </a:prstGeom>
          <a:solidFill>
            <a:srgbClr val="C9D2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178142" y="1554480"/>
            <a:ext cx="2650159" cy="822960"/>
          </a:xfrm>
          <a:prstGeom prst="roundRect">
            <a:avLst>
              <a:gd name="adj" fmla="val 12000"/>
            </a:avLst>
          </a:prstGeom>
          <a:solidFill>
            <a:srgbClr val="1C4E80"/>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b="1" i="0">
                <a:solidFill>
                  <a:srgbClr val="FFFFFF"/>
                </a:solidFill>
                <a:latin typeface="Calibri"/>
              </a:rPr>
              <a:t>In process</a:t>
            </a:r>
          </a:p>
          <a:p>
            <a:pPr algn="ctr"/>
            <a:r>
              <a:rPr sz="1000" b="0" i="0">
                <a:solidFill>
                  <a:srgbClr val="FFFFFF"/>
                </a:solidFill>
                <a:latin typeface="Calibri"/>
              </a:rPr>
              <a:t>investigation, notes, correspondence</a:t>
            </a:r>
          </a:p>
        </p:txBody>
      </p:sp>
      <p:sp>
        <p:nvSpPr>
          <p:cNvPr id="11" name="Right Arrow 10"/>
          <p:cNvSpPr/>
          <p:nvPr/>
        </p:nvSpPr>
        <p:spPr>
          <a:xfrm>
            <a:off x="8846589" y="1874520"/>
            <a:ext cx="128016" cy="182880"/>
          </a:xfrm>
          <a:prstGeom prst="rightArrow">
            <a:avLst/>
          </a:prstGeom>
          <a:solidFill>
            <a:srgbClr val="C9D2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8992893" y="1554480"/>
            <a:ext cx="2650159" cy="822960"/>
          </a:xfrm>
          <a:prstGeom prst="roundRect">
            <a:avLst>
              <a:gd name="adj" fmla="val 12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b="1" i="0">
                <a:solidFill>
                  <a:srgbClr val="FFFFFF"/>
                </a:solidFill>
                <a:latin typeface="Calibri"/>
              </a:rPr>
              <a:t>Decided</a:t>
            </a:r>
          </a:p>
          <a:p>
            <a:pPr algn="ctr"/>
            <a:r>
              <a:rPr sz="1000" b="0" i="0">
                <a:solidFill>
                  <a:srgbClr val="FFFFFF"/>
                </a:solidFill>
                <a:latin typeface="Calibri"/>
              </a:rPr>
              <a:t>one of five options</a:t>
            </a:r>
          </a:p>
        </p:txBody>
      </p:sp>
      <p:graphicFrame>
        <p:nvGraphicFramePr>
          <p:cNvPr id="13" name="Table 12"/>
          <p:cNvGraphicFramePr>
            <a:graphicFrameLocks noGrp="1"/>
          </p:cNvGraphicFramePr>
          <p:nvPr/>
        </p:nvGraphicFramePr>
        <p:xfrm>
          <a:off x="548640" y="2651760"/>
          <a:ext cx="11064240" cy="2852928"/>
        </p:xfrm>
        <a:graphic>
          <a:graphicData uri="http://schemas.openxmlformats.org/drawingml/2006/table">
            <a:tbl>
              <a:tblPr>
                <a:tableStyleId>{5C22544A-7EE6-4342-B048-85BDC9FD1C3A}</a:tableStyleId>
              </a:tblPr>
              <a:tblGrid>
                <a:gridCol w="201168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6675120">
                  <a:extLst>
                    <a:ext uri="{9D8B030D-6E8A-4147-A177-3AD203B41FA5}">
                      <a16:colId xmlns:a16="http://schemas.microsoft.com/office/drawing/2014/main" val="20002"/>
                    </a:ext>
                  </a:extLst>
                </a:gridCol>
              </a:tblGrid>
              <a:tr h="475488">
                <a:tc>
                  <a:txBody>
                    <a:bodyPr/>
                    <a:lstStyle/>
                    <a:p>
                      <a:r>
                        <a:rPr sz="1100" b="1" i="0">
                          <a:solidFill>
                            <a:srgbClr val="FFFFFF"/>
                          </a:solidFill>
                          <a:latin typeface="Calibri"/>
                        </a:rPr>
                        <a:t>Decision</a:t>
                      </a:r>
                    </a:p>
                  </a:txBody>
                  <a:tcPr marL="73152" marR="73152" marT="36576" marB="36576" anchor="ctr">
                    <a:solidFill>
                      <a:srgbClr val="1C4E80"/>
                    </a:solidFill>
                  </a:tcPr>
                </a:tc>
                <a:tc>
                  <a:txBody>
                    <a:bodyPr/>
                    <a:lstStyle/>
                    <a:p>
                      <a:r>
                        <a:rPr sz="1100" b="1" i="0">
                          <a:solidFill>
                            <a:srgbClr val="FFFFFF"/>
                          </a:solidFill>
                          <a:latin typeface="Calibri"/>
                        </a:rPr>
                        <a:t>Meaning</a:t>
                      </a:r>
                    </a:p>
                  </a:txBody>
                  <a:tcPr marL="73152" marR="73152" marT="36576" marB="36576" anchor="ctr">
                    <a:solidFill>
                      <a:srgbClr val="1C4E80"/>
                    </a:solidFill>
                  </a:tcPr>
                </a:tc>
                <a:tc>
                  <a:txBody>
                    <a:bodyPr/>
                    <a:lstStyle/>
                    <a:p>
                      <a:r>
                        <a:rPr sz="1100" b="1" i="0">
                          <a:solidFill>
                            <a:srgbClr val="FFFFFF"/>
                          </a:solidFill>
                          <a:latin typeface="Calibri"/>
                        </a:rPr>
                        <a:t>Consequence in the system</a:t>
                      </a:r>
                    </a:p>
                  </a:txBody>
                  <a:tcPr marL="73152" marR="73152" marT="36576" marB="36576" anchor="ctr">
                    <a:solidFill>
                      <a:srgbClr val="1C4E80"/>
                    </a:solidFill>
                  </a:tcPr>
                </a:tc>
                <a:extLst>
                  <a:ext uri="{0D108BD9-81ED-4DB2-BD59-A6C34878D82A}">
                    <a16:rowId xmlns:a16="http://schemas.microsoft.com/office/drawing/2014/main" val="10000"/>
                  </a:ext>
                </a:extLst>
              </a:tr>
              <a:tr h="475488">
                <a:tc>
                  <a:txBody>
                    <a:bodyPr/>
                    <a:lstStyle/>
                    <a:p>
                      <a:r>
                        <a:rPr sz="1100" b="1" i="0">
                          <a:solidFill>
                            <a:srgbClr val="1F2933"/>
                          </a:solidFill>
                          <a:latin typeface="Calibri"/>
                        </a:rPr>
                        <a:t>Justified</a:t>
                      </a:r>
                    </a:p>
                  </a:txBody>
                  <a:tcPr marL="73152" marR="73152" marT="36576" marB="36576" anchor="ctr">
                    <a:solidFill>
                      <a:srgbClr val="FFFFFF"/>
                    </a:solidFill>
                  </a:tcPr>
                </a:tc>
                <a:tc>
                  <a:txBody>
                    <a:bodyPr/>
                    <a:lstStyle/>
                    <a:p>
                      <a:r>
                        <a:rPr sz="1100" b="0" i="0">
                          <a:solidFill>
                            <a:srgbClr val="1F2933"/>
                          </a:solidFill>
                          <a:latin typeface="Calibri"/>
                        </a:rPr>
                        <a:t>The customer is right</a:t>
                      </a:r>
                    </a:p>
                  </a:txBody>
                  <a:tcPr marL="73152" marR="73152" marT="36576" marB="36576" anchor="ctr">
                    <a:solidFill>
                      <a:srgbClr val="FFFFFF"/>
                    </a:solidFill>
                  </a:tcPr>
                </a:tc>
                <a:tc>
                  <a:txBody>
                    <a:bodyPr/>
                    <a:lstStyle/>
                    <a:p>
                      <a:r>
                        <a:rPr sz="1100" b="0" i="0">
                          <a:solidFill>
                            <a:srgbClr val="1F2933"/>
                          </a:solidFill>
                          <a:latin typeface="Calibri"/>
                        </a:rPr>
                        <a:t>Credit memo for the disputed amount; when the invoice is cleared the case closes automatically; reason for root cause analysis</a:t>
                      </a:r>
                    </a:p>
                  </a:txBody>
                  <a:tcPr marL="73152" marR="73152" marT="36576" marB="36576" anchor="ctr">
                    <a:solidFill>
                      <a:srgbClr val="FFFFFF"/>
                    </a:solidFill>
                  </a:tcPr>
                </a:tc>
                <a:extLst>
                  <a:ext uri="{0D108BD9-81ED-4DB2-BD59-A6C34878D82A}">
                    <a16:rowId xmlns:a16="http://schemas.microsoft.com/office/drawing/2014/main" val="10001"/>
                  </a:ext>
                </a:extLst>
              </a:tr>
              <a:tr h="475488">
                <a:tc>
                  <a:txBody>
                    <a:bodyPr/>
                    <a:lstStyle/>
                    <a:p>
                      <a:r>
                        <a:rPr sz="1100" b="1" i="0">
                          <a:solidFill>
                            <a:srgbClr val="1F2933"/>
                          </a:solidFill>
                          <a:latin typeface="Calibri"/>
                        </a:rPr>
                        <a:t>Not justified</a:t>
                      </a:r>
                    </a:p>
                  </a:txBody>
                  <a:tcPr marL="73152" marR="73152" marT="36576" marB="36576" anchor="ctr">
                    <a:solidFill>
                      <a:srgbClr val="EEF3F8"/>
                    </a:solidFill>
                  </a:tcPr>
                </a:tc>
                <a:tc>
                  <a:txBody>
                    <a:bodyPr/>
                    <a:lstStyle/>
                    <a:p>
                      <a:r>
                        <a:rPr sz="1100" b="0" i="0">
                          <a:solidFill>
                            <a:srgbClr val="1F2933"/>
                          </a:solidFill>
                          <a:latin typeface="Calibri"/>
                        </a:rPr>
                        <a:t>The customer is wrong</a:t>
                      </a:r>
                    </a:p>
                  </a:txBody>
                  <a:tcPr marL="73152" marR="73152" marT="36576" marB="36576" anchor="ctr">
                    <a:solidFill>
                      <a:srgbClr val="EEF3F8"/>
                    </a:solidFill>
                  </a:tcPr>
                </a:tc>
                <a:tc>
                  <a:txBody>
                    <a:bodyPr/>
                    <a:lstStyle/>
                    <a:p>
                      <a:r>
                        <a:rPr sz="1100" b="0" i="0">
                          <a:solidFill>
                            <a:srgbClr val="1F2933"/>
                          </a:solidFill>
                          <a:latin typeface="Calibri"/>
                        </a:rPr>
                        <a:t>Status Not justified; case is forwarded to collections; dunning block lifted; specialist collects</a:t>
                      </a:r>
                    </a:p>
                  </a:txBody>
                  <a:tcPr marL="73152" marR="73152" marT="36576" marB="36576" anchor="ctr">
                    <a:solidFill>
                      <a:srgbClr val="EEF3F8"/>
                    </a:solidFill>
                  </a:tcPr>
                </a:tc>
                <a:extLst>
                  <a:ext uri="{0D108BD9-81ED-4DB2-BD59-A6C34878D82A}">
                    <a16:rowId xmlns:a16="http://schemas.microsoft.com/office/drawing/2014/main" val="10002"/>
                  </a:ext>
                </a:extLst>
              </a:tr>
              <a:tr h="475488">
                <a:tc>
                  <a:txBody>
                    <a:bodyPr/>
                    <a:lstStyle/>
                    <a:p>
                      <a:r>
                        <a:rPr sz="1100" b="1" i="0">
                          <a:solidFill>
                            <a:srgbClr val="1F2933"/>
                          </a:solidFill>
                          <a:latin typeface="Calibri"/>
                        </a:rPr>
                        <a:t>Partially justified</a:t>
                      </a:r>
                    </a:p>
                  </a:txBody>
                  <a:tcPr marL="73152" marR="73152" marT="36576" marB="36576" anchor="ctr">
                    <a:solidFill>
                      <a:srgbClr val="FFFFFF"/>
                    </a:solidFill>
                  </a:tcPr>
                </a:tc>
                <a:tc>
                  <a:txBody>
                    <a:bodyPr/>
                    <a:lstStyle/>
                    <a:p>
                      <a:r>
                        <a:rPr sz="1100" b="0" i="0">
                          <a:solidFill>
                            <a:srgbClr val="1F2933"/>
                          </a:solidFill>
                          <a:latin typeface="Calibri"/>
                        </a:rPr>
                        <a:t>In between</a:t>
                      </a:r>
                    </a:p>
                  </a:txBody>
                  <a:tcPr marL="73152" marR="73152" marT="36576" marB="36576" anchor="ctr">
                    <a:solidFill>
                      <a:srgbClr val="FFFFFF"/>
                    </a:solidFill>
                  </a:tcPr>
                </a:tc>
                <a:tc>
                  <a:txBody>
                    <a:bodyPr/>
                    <a:lstStyle/>
                    <a:p>
                      <a:r>
                        <a:rPr sz="1100" b="0" i="0">
                          <a:solidFill>
                            <a:srgbClr val="1F2933"/>
                          </a:solidFill>
                          <a:latin typeface="Calibri"/>
                        </a:rPr>
                        <a:t>Partial credit memo, remainder is collected</a:t>
                      </a:r>
                    </a:p>
                  </a:txBody>
                  <a:tcPr marL="73152" marR="73152" marT="36576" marB="36576" anchor="ctr">
                    <a:solidFill>
                      <a:srgbClr val="FFFFFF"/>
                    </a:solidFill>
                  </a:tcPr>
                </a:tc>
                <a:extLst>
                  <a:ext uri="{0D108BD9-81ED-4DB2-BD59-A6C34878D82A}">
                    <a16:rowId xmlns:a16="http://schemas.microsoft.com/office/drawing/2014/main" val="10003"/>
                  </a:ext>
                </a:extLst>
              </a:tr>
              <a:tr h="475488">
                <a:tc>
                  <a:txBody>
                    <a:bodyPr/>
                    <a:lstStyle/>
                    <a:p>
                      <a:r>
                        <a:rPr sz="1100" b="1" i="0">
                          <a:solidFill>
                            <a:srgbClr val="1F2933"/>
                          </a:solidFill>
                          <a:latin typeface="Calibri"/>
                        </a:rPr>
                        <a:t>Write-off</a:t>
                      </a:r>
                    </a:p>
                  </a:txBody>
                  <a:tcPr marL="73152" marR="73152" marT="36576" marB="36576" anchor="ctr">
                    <a:solidFill>
                      <a:srgbClr val="EEF3F8"/>
                    </a:solidFill>
                  </a:tcPr>
                </a:tc>
                <a:tc>
                  <a:txBody>
                    <a:bodyPr/>
                    <a:lstStyle/>
                    <a:p>
                      <a:r>
                        <a:rPr sz="1100" b="0" i="0">
                          <a:solidFill>
                            <a:srgbClr val="1F2933"/>
                          </a:solidFill>
                          <a:latin typeface="Calibri"/>
                        </a:rPr>
                        <a:t>Too small or not enforceable</a:t>
                      </a:r>
                    </a:p>
                  </a:txBody>
                  <a:tcPr marL="73152" marR="73152" marT="36576" marB="36576" anchor="ctr">
                    <a:solidFill>
                      <a:srgbClr val="EEF3F8"/>
                    </a:solidFill>
                  </a:tcPr>
                </a:tc>
                <a:tc>
                  <a:txBody>
                    <a:bodyPr/>
                    <a:lstStyle/>
                    <a:p>
                      <a:r>
                        <a:rPr sz="1100" b="0" i="0">
                          <a:solidFill>
                            <a:srgbClr val="1F2933"/>
                          </a:solidFill>
                          <a:latin typeface="Calibri"/>
                        </a:rPr>
                        <a:t>Job Automatic Write-Off of Dispute Cases (F3578) for escalated cases; amount limits and approval project-specific</a:t>
                      </a:r>
                    </a:p>
                  </a:txBody>
                  <a:tcPr marL="73152" marR="73152" marT="36576" marB="36576" anchor="ctr">
                    <a:solidFill>
                      <a:srgbClr val="EEF3F8"/>
                    </a:solidFill>
                  </a:tcPr>
                </a:tc>
                <a:extLst>
                  <a:ext uri="{0D108BD9-81ED-4DB2-BD59-A6C34878D82A}">
                    <a16:rowId xmlns:a16="http://schemas.microsoft.com/office/drawing/2014/main" val="10004"/>
                  </a:ext>
                </a:extLst>
              </a:tr>
              <a:tr h="475488">
                <a:tc>
                  <a:txBody>
                    <a:bodyPr/>
                    <a:lstStyle/>
                    <a:p>
                      <a:r>
                        <a:rPr sz="1100" b="1" i="0">
                          <a:solidFill>
                            <a:srgbClr val="1F2933"/>
                          </a:solidFill>
                          <a:latin typeface="Calibri"/>
                        </a:rPr>
                        <a:t>Created in error</a:t>
                      </a:r>
                    </a:p>
                  </a:txBody>
                  <a:tcPr marL="73152" marR="73152" marT="36576" marB="36576" anchor="ctr">
                    <a:solidFill>
                      <a:srgbClr val="FFFFFF"/>
                    </a:solidFill>
                  </a:tcPr>
                </a:tc>
                <a:tc>
                  <a:txBody>
                    <a:bodyPr/>
                    <a:lstStyle/>
                    <a:p>
                      <a:r>
                        <a:rPr sz="1100" b="0" i="0">
                          <a:solidFill>
                            <a:srgbClr val="1F2933"/>
                          </a:solidFill>
                          <a:latin typeface="Calibri"/>
                        </a:rPr>
                        <a:t>Should not have been created</a:t>
                      </a:r>
                    </a:p>
                  </a:txBody>
                  <a:tcPr marL="73152" marR="73152" marT="36576" marB="36576" anchor="ctr">
                    <a:solidFill>
                      <a:srgbClr val="FFFFFF"/>
                    </a:solidFill>
                  </a:tcPr>
                </a:tc>
                <a:tc>
                  <a:txBody>
                    <a:bodyPr/>
                    <a:lstStyle/>
                    <a:p>
                      <a:r>
                        <a:rPr sz="1100" b="0" i="0">
                          <a:solidFill>
                            <a:srgbClr val="1F2933"/>
                          </a:solidFill>
                          <a:latin typeface="Calibri"/>
                        </a:rPr>
                        <a:t>Void Dispute Case; remains traceable, is not deleted</a:t>
                      </a:r>
                    </a:p>
                  </a:txBody>
                  <a:tcPr marL="73152" marR="73152" marT="36576" marB="36576"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94415" cy="274320"/>
          </a:xfrm>
          <a:prstGeom prst="rect">
            <a:avLst/>
          </a:prstGeom>
          <a:noFill/>
        </p:spPr>
        <p:txBody>
          <a:bodyPr wrap="square" lIns="45720" rIns="45720" anchor="t">
            <a:spAutoFit/>
          </a:bodyPr>
          <a:lstStyle/>
          <a:p>
            <a:pPr algn="l"/>
            <a:r>
              <a:rPr sz="1100" b="1" i="0">
                <a:solidFill>
                  <a:srgbClr val="0F8B8D"/>
                </a:solidFill>
                <a:latin typeface="Calibri"/>
              </a:rPr>
              <a:t>C4  APPS</a:t>
            </a:r>
          </a:p>
        </p:txBody>
      </p:sp>
      <p:sp>
        <p:nvSpPr>
          <p:cNvPr id="3" name="TextBox 2"/>
          <p:cNvSpPr txBox="1"/>
          <p:nvPr/>
        </p:nvSpPr>
        <p:spPr>
          <a:xfrm>
            <a:off x="548640" y="548640"/>
            <a:ext cx="11094415" cy="868680"/>
          </a:xfrm>
          <a:prstGeom prst="rect">
            <a:avLst/>
          </a:prstGeom>
          <a:noFill/>
        </p:spPr>
        <p:txBody>
          <a:bodyPr wrap="square" lIns="45720" rIns="45720" anchor="ctr">
            <a:spAutoFit/>
          </a:bodyPr>
          <a:lstStyle/>
          <a:p>
            <a:pPr algn="l"/>
            <a:r>
              <a:rPr sz="2800" b="1" i="0">
                <a:solidFill>
                  <a:srgbClr val="1C4E80"/>
                </a:solidFill>
                <a:latin typeface="Calibri"/>
              </a:rPr>
              <a:t>Apps, roles and reporting in Dispute Management</a:t>
            </a:r>
          </a:p>
        </p:txBody>
      </p:sp>
      <p:sp>
        <p:nvSpPr>
          <p:cNvPr id="4" name="TextBox 3"/>
          <p:cNvSpPr txBox="1"/>
          <p:nvPr/>
        </p:nvSpPr>
        <p:spPr>
          <a:xfrm>
            <a:off x="548640" y="6446520"/>
            <a:ext cx="8229600" cy="274320"/>
          </a:xfrm>
          <a:prstGeom prst="rect">
            <a:avLst/>
          </a:prstGeom>
          <a:noFill/>
        </p:spPr>
        <p:txBody>
          <a:bodyPr wrap="square" lIns="45720" rIns="45720" anchor="t">
            <a:spAutoFit/>
          </a:bodyPr>
          <a:lstStyle/>
          <a:p>
            <a:pPr algn="l"/>
            <a:r>
              <a:rPr sz="900" b="0" i="0">
                <a:solidFill>
                  <a:srgbClr val="5F6B7A"/>
                </a:solidFill>
                <a:latin typeface="Calibri"/>
              </a:rPr>
              <a:t>F2S Workshop 4  |  Collections &amp; Dispute Management  |  C  Dispute case: creation and resolution</a:t>
            </a:r>
          </a:p>
        </p:txBody>
      </p:sp>
      <p:sp>
        <p:nvSpPr>
          <p:cNvPr id="5" name="TextBox 4"/>
          <p:cNvSpPr txBox="1"/>
          <p:nvPr/>
        </p:nvSpPr>
        <p:spPr>
          <a:xfrm>
            <a:off x="10728655" y="6446520"/>
            <a:ext cx="914400" cy="274320"/>
          </a:xfrm>
          <a:prstGeom prst="rect">
            <a:avLst/>
          </a:prstGeom>
          <a:noFill/>
        </p:spPr>
        <p:txBody>
          <a:bodyPr wrap="square" lIns="45720" rIns="45720" anchor="t">
            <a:spAutoFit/>
          </a:bodyPr>
          <a:lstStyle/>
          <a:p>
            <a:pPr algn="r"/>
            <a:r>
              <a:rPr sz="900" b="0" i="0">
                <a:solidFill>
                  <a:srgbClr val="5F6B7A"/>
                </a:solidFill>
                <a:latin typeface="Calibri"/>
              </a:rPr>
              <a:t>16</a:t>
            </a:r>
          </a:p>
        </p:txBody>
      </p:sp>
      <p:graphicFrame>
        <p:nvGraphicFramePr>
          <p:cNvPr id="6" name="Table 5"/>
          <p:cNvGraphicFramePr>
            <a:graphicFrameLocks noGrp="1"/>
          </p:cNvGraphicFramePr>
          <p:nvPr/>
        </p:nvGraphicFramePr>
        <p:xfrm>
          <a:off x="548640" y="1554480"/>
          <a:ext cx="5760720" cy="3273552"/>
        </p:xfrm>
        <a:graphic>
          <a:graphicData uri="http://schemas.openxmlformats.org/drawingml/2006/table">
            <a:tbl>
              <a:tblPr>
                <a:tableStyleId>{5C22544A-7EE6-4342-B048-85BDC9FD1C3A}</a:tableStyleId>
              </a:tblPr>
              <a:tblGrid>
                <a:gridCol w="23774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457200">
                <a:tc>
                  <a:txBody>
                    <a:bodyPr/>
                    <a:lstStyle/>
                    <a:p>
                      <a:r>
                        <a:rPr sz="1000" b="1" i="0">
                          <a:solidFill>
                            <a:srgbClr val="FFFFFF"/>
                          </a:solidFill>
                          <a:latin typeface="Calibri"/>
                        </a:rPr>
                        <a:t>Purpose</a:t>
                      </a:r>
                    </a:p>
                  </a:txBody>
                  <a:tcPr marL="73152" marR="73152" marT="36576" marB="36576" anchor="ctr">
                    <a:solidFill>
                      <a:srgbClr val="1C4E80"/>
                    </a:solidFill>
                  </a:tcPr>
                </a:tc>
                <a:tc>
                  <a:txBody>
                    <a:bodyPr/>
                    <a:lstStyle/>
                    <a:p>
                      <a:r>
                        <a:rPr sz="1000" b="1" i="0">
                          <a:solidFill>
                            <a:srgbClr val="FFFFFF"/>
                          </a:solidFill>
                          <a:latin typeface="Calibri"/>
                        </a:rPr>
                        <a:t>App (ID)</a:t>
                      </a:r>
                    </a:p>
                  </a:txBody>
                  <a:tcPr marL="73152" marR="73152" marT="36576" marB="36576" anchor="ctr">
                    <a:solidFill>
                      <a:srgbClr val="1C4E80"/>
                    </a:solidFill>
                  </a:tcPr>
                </a:tc>
                <a:tc>
                  <a:txBody>
                    <a:bodyPr/>
                    <a:lstStyle/>
                    <a:p>
                      <a:r>
                        <a:rPr sz="1000" b="1" i="0">
                          <a:solidFill>
                            <a:srgbClr val="FFFFFF"/>
                          </a:solidFill>
                          <a:latin typeface="Calibri"/>
                        </a:rPr>
                        <a:t>Role</a:t>
                      </a:r>
                    </a:p>
                  </a:txBody>
                  <a:tcPr marL="73152" marR="73152" marT="36576" marB="36576" anchor="ctr">
                    <a:solidFill>
                      <a:srgbClr val="1C4E80"/>
                    </a:solidFill>
                  </a:tcPr>
                </a:tc>
                <a:extLst>
                  <a:ext uri="{0D108BD9-81ED-4DB2-BD59-A6C34878D82A}">
                    <a16:rowId xmlns:a16="http://schemas.microsoft.com/office/drawing/2014/main" val="10000"/>
                  </a:ext>
                </a:extLst>
              </a:tr>
              <a:tr h="457200">
                <a:tc>
                  <a:txBody>
                    <a:bodyPr/>
                    <a:lstStyle/>
                    <a:p>
                      <a:r>
                        <a:rPr sz="1000" b="1" i="0">
                          <a:solidFill>
                            <a:srgbClr val="1F2933"/>
                          </a:solidFill>
                          <a:latin typeface="Calibri"/>
                        </a:rPr>
                        <a:t>Create case from customer contact</a:t>
                      </a:r>
                    </a:p>
                  </a:txBody>
                  <a:tcPr marL="73152" marR="73152" marT="36576" marB="36576" anchor="ctr">
                    <a:solidFill>
                      <a:srgbClr val="FFFFFF"/>
                    </a:solidFill>
                  </a:tcPr>
                </a:tc>
                <a:tc>
                  <a:txBody>
                    <a:bodyPr/>
                    <a:lstStyle/>
                    <a:p>
                      <a:r>
                        <a:rPr sz="1000" b="0" i="0">
                          <a:solidFill>
                            <a:srgbClr val="1F2933"/>
                          </a:solidFill>
                          <a:latin typeface="Calibri"/>
                        </a:rPr>
                        <a:t>Process Receivables (F0106A)</a:t>
                      </a:r>
                    </a:p>
                  </a:txBody>
                  <a:tcPr marL="73152" marR="73152" marT="36576" marB="36576" anchor="ctr">
                    <a:solidFill>
                      <a:srgbClr val="FFFFFF"/>
                    </a:solidFill>
                  </a:tcPr>
                </a:tc>
                <a:tc>
                  <a:txBody>
                    <a:bodyPr/>
                    <a:lstStyle/>
                    <a:p>
                      <a:r>
                        <a:rPr sz="1000" b="0" i="0">
                          <a:solidFill>
                            <a:srgbClr val="1F2933"/>
                          </a:solidFill>
                          <a:latin typeface="Calibri"/>
                        </a:rPr>
                        <a:t>AR Accountant</a:t>
                      </a:r>
                    </a:p>
                  </a:txBody>
                  <a:tcPr marL="73152" marR="73152" marT="36576" marB="36576" anchor="ctr">
                    <a:solidFill>
                      <a:srgbClr val="FFFFFF"/>
                    </a:solidFill>
                  </a:tcPr>
                </a:tc>
                <a:extLst>
                  <a:ext uri="{0D108BD9-81ED-4DB2-BD59-A6C34878D82A}">
                    <a16:rowId xmlns:a16="http://schemas.microsoft.com/office/drawing/2014/main" val="10001"/>
                  </a:ext>
                </a:extLst>
              </a:tr>
              <a:tr h="457200">
                <a:tc>
                  <a:txBody>
                    <a:bodyPr/>
                    <a:lstStyle/>
                    <a:p>
                      <a:r>
                        <a:rPr sz="1000" b="1" i="0">
                          <a:solidFill>
                            <a:srgbClr val="1F2933"/>
                          </a:solidFill>
                          <a:latin typeface="Calibri"/>
                        </a:rPr>
                        <a:t>Create case from underpayment</a:t>
                      </a:r>
                    </a:p>
                  </a:txBody>
                  <a:tcPr marL="73152" marR="73152" marT="36576" marB="36576" anchor="ctr">
                    <a:solidFill>
                      <a:srgbClr val="EEF3F8"/>
                    </a:solidFill>
                  </a:tcPr>
                </a:tc>
                <a:tc>
                  <a:txBody>
                    <a:bodyPr/>
                    <a:lstStyle/>
                    <a:p>
                      <a:r>
                        <a:rPr sz="1000" b="0" i="0">
                          <a:solidFill>
                            <a:srgbClr val="1F2933"/>
                          </a:solidFill>
                          <a:latin typeface="Calibri"/>
                        </a:rPr>
                        <a:t>Reprocess Bank Statement Items (F1520)</a:t>
                      </a:r>
                    </a:p>
                  </a:txBody>
                  <a:tcPr marL="73152" marR="73152" marT="36576" marB="36576" anchor="ctr">
                    <a:solidFill>
                      <a:srgbClr val="EEF3F8"/>
                    </a:solidFill>
                  </a:tcPr>
                </a:tc>
                <a:tc>
                  <a:txBody>
                    <a:bodyPr/>
                    <a:lstStyle/>
                    <a:p>
                      <a:r>
                        <a:rPr sz="1000" b="0" i="0">
                          <a:solidFill>
                            <a:srgbClr val="1F2933"/>
                          </a:solidFill>
                          <a:latin typeface="Calibri"/>
                        </a:rPr>
                        <a:t>Cash Management Specialist</a:t>
                      </a:r>
                    </a:p>
                  </a:txBody>
                  <a:tcPr marL="73152" marR="73152" marT="36576" marB="36576" anchor="ctr">
                    <a:solidFill>
                      <a:srgbClr val="EEF3F8"/>
                    </a:solidFill>
                  </a:tcPr>
                </a:tc>
                <a:extLst>
                  <a:ext uri="{0D108BD9-81ED-4DB2-BD59-A6C34878D82A}">
                    <a16:rowId xmlns:a16="http://schemas.microsoft.com/office/drawing/2014/main" val="10002"/>
                  </a:ext>
                </a:extLst>
              </a:tr>
              <a:tr h="457200">
                <a:tc>
                  <a:txBody>
                    <a:bodyPr/>
                    <a:lstStyle/>
                    <a:p>
                      <a:r>
                        <a:rPr sz="1000" b="1" i="0">
                          <a:solidFill>
                            <a:srgbClr val="1F2933"/>
                          </a:solidFill>
                          <a:latin typeface="Calibri"/>
                        </a:rPr>
                        <a:t>Create / write off cases automatically</a:t>
                      </a:r>
                    </a:p>
                  </a:txBody>
                  <a:tcPr marL="73152" marR="73152" marT="36576" marB="36576" anchor="ctr">
                    <a:solidFill>
                      <a:srgbClr val="FFFFFF"/>
                    </a:solidFill>
                  </a:tcPr>
                </a:tc>
                <a:tc>
                  <a:txBody>
                    <a:bodyPr/>
                    <a:lstStyle/>
                    <a:p>
                      <a:r>
                        <a:rPr sz="1000" b="0" i="0">
                          <a:solidFill>
                            <a:srgbClr val="1F2933"/>
                          </a:solidFill>
                          <a:latin typeface="Calibri"/>
                        </a:rPr>
                        <a:t>Schedule Dispute Management Jobs (F3578)</a:t>
                      </a:r>
                    </a:p>
                  </a:txBody>
                  <a:tcPr marL="73152" marR="73152" marT="36576" marB="36576" anchor="ctr">
                    <a:solidFill>
                      <a:srgbClr val="FFFFFF"/>
                    </a:solidFill>
                  </a:tcPr>
                </a:tc>
                <a:tc>
                  <a:txBody>
                    <a:bodyPr/>
                    <a:lstStyle/>
                    <a:p>
                      <a:r>
                        <a:rPr sz="1000" b="0" i="0">
                          <a:solidFill>
                            <a:srgbClr val="1F2933"/>
                          </a:solidFill>
                          <a:latin typeface="Calibri"/>
                        </a:rPr>
                        <a:t>AR Accountant</a:t>
                      </a:r>
                    </a:p>
                  </a:txBody>
                  <a:tcPr marL="73152" marR="73152" marT="36576" marB="36576" anchor="ctr">
                    <a:solidFill>
                      <a:srgbClr val="FFFFFF"/>
                    </a:solidFill>
                  </a:tcPr>
                </a:tc>
                <a:extLst>
                  <a:ext uri="{0D108BD9-81ED-4DB2-BD59-A6C34878D82A}">
                    <a16:rowId xmlns:a16="http://schemas.microsoft.com/office/drawing/2014/main" val="10003"/>
                  </a:ext>
                </a:extLst>
              </a:tr>
              <a:tr h="457200">
                <a:tc>
                  <a:txBody>
                    <a:bodyPr/>
                    <a:lstStyle/>
                    <a:p>
                      <a:r>
                        <a:rPr sz="1000" b="1" i="0">
                          <a:solidFill>
                            <a:srgbClr val="1F2933"/>
                          </a:solidFill>
                          <a:latin typeface="Calibri"/>
                        </a:rPr>
                        <a:t>Assign, process, decide, e-mail, void</a:t>
                      </a:r>
                    </a:p>
                  </a:txBody>
                  <a:tcPr marL="73152" marR="73152" marT="36576" marB="36576" anchor="ctr">
                    <a:solidFill>
                      <a:srgbClr val="EEF3F8"/>
                    </a:solidFill>
                  </a:tcPr>
                </a:tc>
                <a:tc>
                  <a:txBody>
                    <a:bodyPr/>
                    <a:lstStyle/>
                    <a:p>
                      <a:r>
                        <a:rPr sz="1000" b="0" i="0">
                          <a:solidFill>
                            <a:srgbClr val="1F2933"/>
                          </a:solidFill>
                          <a:latin typeface="Calibri"/>
                        </a:rPr>
                        <a:t>Manage Dispute Cases – As Coordinator (F0702A)</a:t>
                      </a:r>
                    </a:p>
                  </a:txBody>
                  <a:tcPr marL="73152" marR="73152" marT="36576" marB="36576" anchor="ctr">
                    <a:solidFill>
                      <a:srgbClr val="EEF3F8"/>
                    </a:solidFill>
                  </a:tcPr>
                </a:tc>
                <a:tc>
                  <a:txBody>
                    <a:bodyPr/>
                    <a:lstStyle/>
                    <a:p>
                      <a:r>
                        <a:rPr sz="1000" b="0" i="0">
                          <a:solidFill>
                            <a:srgbClr val="1F2933"/>
                          </a:solidFill>
                          <a:latin typeface="Calibri"/>
                        </a:rPr>
                        <a:t>AR Accountant</a:t>
                      </a:r>
                    </a:p>
                  </a:txBody>
                  <a:tcPr marL="73152" marR="73152" marT="36576" marB="36576" anchor="ctr">
                    <a:solidFill>
                      <a:srgbClr val="EEF3F8"/>
                    </a:solidFill>
                  </a:tcPr>
                </a:tc>
                <a:extLst>
                  <a:ext uri="{0D108BD9-81ED-4DB2-BD59-A6C34878D82A}">
                    <a16:rowId xmlns:a16="http://schemas.microsoft.com/office/drawing/2014/main" val="10004"/>
                  </a:ext>
                </a:extLst>
              </a:tr>
              <a:tr h="457200">
                <a:tc>
                  <a:txBody>
                    <a:bodyPr/>
                    <a:lstStyle/>
                    <a:p>
                      <a:r>
                        <a:rPr sz="1000" b="1" i="0">
                          <a:solidFill>
                            <a:srgbClr val="1F2933"/>
                          </a:solidFill>
                          <a:latin typeface="Calibri"/>
                        </a:rPr>
                        <a:t>Check credit memo and clearing</a:t>
                      </a:r>
                    </a:p>
                  </a:txBody>
                  <a:tcPr marL="73152" marR="73152" marT="36576" marB="36576" anchor="ctr">
                    <a:solidFill>
                      <a:srgbClr val="FFFFFF"/>
                    </a:solidFill>
                  </a:tcPr>
                </a:tc>
                <a:tc>
                  <a:txBody>
                    <a:bodyPr/>
                    <a:lstStyle/>
                    <a:p>
                      <a:r>
                        <a:rPr sz="1000" b="0" i="0">
                          <a:solidFill>
                            <a:srgbClr val="1F2933"/>
                          </a:solidFill>
                          <a:latin typeface="Calibri"/>
                        </a:rPr>
                        <a:t>Manage Customer Line Items (F0711)</a:t>
                      </a:r>
                    </a:p>
                  </a:txBody>
                  <a:tcPr marL="73152" marR="73152" marT="36576" marB="36576" anchor="ctr">
                    <a:solidFill>
                      <a:srgbClr val="FFFFFF"/>
                    </a:solidFill>
                  </a:tcPr>
                </a:tc>
                <a:tc>
                  <a:txBody>
                    <a:bodyPr/>
                    <a:lstStyle/>
                    <a:p>
                      <a:r>
                        <a:rPr sz="1000" b="0" i="0">
                          <a:solidFill>
                            <a:srgbClr val="1F2933"/>
                          </a:solidFill>
                          <a:latin typeface="Calibri"/>
                        </a:rPr>
                        <a:t>AR Accountant</a:t>
                      </a:r>
                    </a:p>
                  </a:txBody>
                  <a:tcPr marL="73152" marR="73152" marT="36576" marB="36576" anchor="ctr">
                    <a:solidFill>
                      <a:srgbClr val="FFFFFF"/>
                    </a:solidFill>
                  </a:tcPr>
                </a:tc>
                <a:extLst>
                  <a:ext uri="{0D108BD9-81ED-4DB2-BD59-A6C34878D82A}">
                    <a16:rowId xmlns:a16="http://schemas.microsoft.com/office/drawing/2014/main" val="10005"/>
                  </a:ext>
                </a:extLst>
              </a:tr>
              <a:tr h="457200">
                <a:tc>
                  <a:txBody>
                    <a:bodyPr/>
                    <a:lstStyle/>
                    <a:p>
                      <a:r>
                        <a:rPr sz="1000" b="1" i="0">
                          <a:solidFill>
                            <a:srgbClr val="1F2933"/>
                          </a:solidFill>
                          <a:latin typeface="Calibri"/>
                        </a:rPr>
                        <a:t>Dunning proposal without disputed items</a:t>
                      </a:r>
                    </a:p>
                  </a:txBody>
                  <a:tcPr marL="73152" marR="73152" marT="36576" marB="36576" anchor="ctr">
                    <a:solidFill>
                      <a:srgbClr val="EEF3F8"/>
                    </a:solidFill>
                  </a:tcPr>
                </a:tc>
                <a:tc>
                  <a:txBody>
                    <a:bodyPr/>
                    <a:lstStyle/>
                    <a:p>
                      <a:r>
                        <a:rPr sz="1000" b="0" i="0">
                          <a:solidFill>
                            <a:srgbClr val="1F2933"/>
                          </a:solidFill>
                          <a:latin typeface="Calibri"/>
                        </a:rPr>
                        <a:t>My Dunning Proposals (F2435)</a:t>
                      </a:r>
                    </a:p>
                  </a:txBody>
                  <a:tcPr marL="73152" marR="73152" marT="36576" marB="36576" anchor="ctr">
                    <a:solidFill>
                      <a:srgbClr val="EEF3F8"/>
                    </a:solidFill>
                  </a:tcPr>
                </a:tc>
                <a:tc>
                  <a:txBody>
                    <a:bodyPr/>
                    <a:lstStyle/>
                    <a:p>
                      <a:r>
                        <a:rPr sz="1000" b="0" i="0">
                          <a:solidFill>
                            <a:srgbClr val="1F2933"/>
                          </a:solidFill>
                          <a:latin typeface="Calibri"/>
                        </a:rPr>
                        <a:t>AR Accountant</a:t>
                      </a:r>
                    </a:p>
                  </a:txBody>
                  <a:tcPr marL="73152" marR="73152" marT="36576" marB="36576" anchor="ctr">
                    <a:solidFill>
                      <a:srgbClr val="EEF3F8"/>
                    </a:solidFill>
                  </a:tcPr>
                </a:tc>
                <a:extLst>
                  <a:ext uri="{0D108BD9-81ED-4DB2-BD59-A6C34878D82A}">
                    <a16:rowId xmlns:a16="http://schemas.microsoft.com/office/drawing/2014/main" val="10006"/>
                  </a:ext>
                </a:extLst>
              </a:tr>
            </a:tbl>
          </a:graphicData>
        </a:graphic>
      </p:graphicFrame>
      <p:sp>
        <p:nvSpPr>
          <p:cNvPr id="7" name="Rounded Rectangle 6"/>
          <p:cNvSpPr/>
          <p:nvPr/>
        </p:nvSpPr>
        <p:spPr>
          <a:xfrm>
            <a:off x="6583680" y="1554480"/>
            <a:ext cx="5029200" cy="3246120"/>
          </a:xfrm>
          <a:prstGeom prst="roundRect">
            <a:avLst>
              <a:gd name="adj" fmla="val 12000"/>
            </a:avLst>
          </a:prstGeom>
          <a:solidFill>
            <a:srgbClr val="E6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720840" y="1691640"/>
            <a:ext cx="4754880" cy="365760"/>
          </a:xfrm>
          <a:prstGeom prst="rect">
            <a:avLst/>
          </a:prstGeom>
          <a:noFill/>
        </p:spPr>
        <p:txBody>
          <a:bodyPr wrap="square" lIns="45720" rIns="45720" anchor="ctr">
            <a:spAutoFit/>
          </a:bodyPr>
          <a:lstStyle/>
          <a:p>
            <a:pPr algn="l"/>
            <a:r>
              <a:rPr sz="1400" b="1" i="0">
                <a:solidFill>
                  <a:srgbClr val="1C4E80"/>
                </a:solidFill>
                <a:latin typeface="Calibri"/>
              </a:rPr>
              <a:t>Reporting (AR Manager)</a:t>
            </a:r>
          </a:p>
        </p:txBody>
      </p:sp>
      <p:sp>
        <p:nvSpPr>
          <p:cNvPr id="9" name="TextBox 8"/>
          <p:cNvSpPr txBox="1"/>
          <p:nvPr/>
        </p:nvSpPr>
        <p:spPr>
          <a:xfrm>
            <a:off x="6720840" y="2075688"/>
            <a:ext cx="4754880" cy="2587752"/>
          </a:xfrm>
          <a:prstGeom prst="rect">
            <a:avLst/>
          </a:prstGeom>
          <a:noFill/>
        </p:spPr>
        <p:txBody>
          <a:bodyPr wrap="square" lIns="45720" rIns="45720">
            <a:spAutoFit/>
          </a:bodyPr>
          <a:lstStyle/>
          <a:p>
            <a:pPr marL="201168" indent="-201168">
              <a:spcAft>
                <a:spcPts val="300"/>
              </a:spcAft>
              <a:buChar char="•"/>
            </a:pPr>
            <a:r>
              <a:rPr sz="1100" b="1" i="0">
                <a:solidFill>
                  <a:srgbClr val="1F2933"/>
                </a:solidFill>
                <a:latin typeface="Calibri"/>
              </a:rPr>
              <a:t>Dispute Management Reporting (F4370): </a:t>
            </a:r>
            <a:r>
              <a:rPr sz="1100" b="0" i="0">
                <a:solidFill>
                  <a:srgbClr val="1F2933"/>
                </a:solidFill>
                <a:latin typeface="Calibri"/>
              </a:rPr>
              <a:t>Open, Processing Days, New and Solved, Solved; by priority, reason, root cause, processor</a:t>
            </a:r>
          </a:p>
          <a:p>
            <a:pPr marL="201168" indent="-201168">
              <a:spcAft>
                <a:spcPts val="300"/>
              </a:spcAft>
              <a:buChar char="•"/>
            </a:pPr>
            <a:r>
              <a:rPr sz="1100" b="1" i="0">
                <a:solidFill>
                  <a:srgbClr val="1F2933"/>
                </a:solidFill>
                <a:latin typeface="Calibri"/>
              </a:rPr>
              <a:t>Open Disputes – Today (F1752): </a:t>
            </a:r>
            <a:r>
              <a:rPr sz="1100" b="0" i="0">
                <a:solidFill>
                  <a:srgbClr val="1F2933"/>
                </a:solidFill>
                <a:latin typeface="Calibri"/>
              </a:rPr>
              <a:t>top customers, reasons, processors</a:t>
            </a:r>
          </a:p>
          <a:p>
            <a:pPr marL="201168" indent="-201168">
              <a:spcAft>
                <a:spcPts val="300"/>
              </a:spcAft>
              <a:buChar char="•"/>
            </a:pPr>
            <a:r>
              <a:rPr sz="1100" b="1" i="0">
                <a:solidFill>
                  <a:srgbClr val="1F2933"/>
                </a:solidFill>
                <a:latin typeface="Calibri"/>
              </a:rPr>
              <a:t>Overdue Receivables – In Dispute (F2540): </a:t>
            </a:r>
            <a:r>
              <a:rPr sz="1100" b="0" i="0">
                <a:solidFill>
                  <a:srgbClr val="1F2933"/>
                </a:solidFill>
                <a:latin typeface="Calibri"/>
              </a:rPr>
              <a:t>disputed overdue volume</a:t>
            </a:r>
          </a:p>
          <a:p>
            <a:pPr marL="201168" indent="-201168">
              <a:spcAft>
                <a:spcPts val="300"/>
              </a:spcAft>
              <a:buChar char="•"/>
            </a:pPr>
            <a:r>
              <a:rPr sz="1100" b="1" i="0">
                <a:solidFill>
                  <a:srgbClr val="1F2933"/>
                </a:solidFill>
                <a:latin typeface="Calibri"/>
              </a:rPr>
              <a:t>Solved Disputes – Last 12 Months (F2521): </a:t>
            </a:r>
            <a:r>
              <a:rPr sz="1100" b="0" i="0">
                <a:solidFill>
                  <a:srgbClr val="1F2933"/>
                </a:solidFill>
                <a:latin typeface="Calibri"/>
              </a:rPr>
              <a:t>resolution time per processor</a:t>
            </a:r>
          </a:p>
          <a:p>
            <a:pPr marL="201168" indent="-201168">
              <a:spcAft>
                <a:spcPts val="300"/>
              </a:spcAft>
              <a:buChar char="•"/>
            </a:pPr>
            <a:r>
              <a:rPr sz="1100" b="1" i="0">
                <a:solidFill>
                  <a:srgbClr val="1F2933"/>
                </a:solidFill>
                <a:latin typeface="Calibri"/>
              </a:rPr>
              <a:t>New vs Solved (F2523), Processing Days (F2522): </a:t>
            </a:r>
            <a:r>
              <a:rPr sz="1100" b="0" i="0">
                <a:solidFill>
                  <a:srgbClr val="1F2933"/>
                </a:solidFill>
                <a:latin typeface="Calibri"/>
              </a:rPr>
              <a:t>trend and age of open cases</a:t>
            </a:r>
          </a:p>
        </p:txBody>
      </p:sp>
      <p:sp>
        <p:nvSpPr>
          <p:cNvPr id="10" name="TextBox 9"/>
          <p:cNvSpPr txBox="1"/>
          <p:nvPr/>
        </p:nvSpPr>
        <p:spPr>
          <a:xfrm>
            <a:off x="548640" y="4983480"/>
            <a:ext cx="11094415" cy="822960"/>
          </a:xfrm>
          <a:prstGeom prst="rect">
            <a:avLst/>
          </a:prstGeom>
          <a:noFill/>
        </p:spPr>
        <p:txBody>
          <a:bodyPr wrap="square" lIns="45720" rIns="45720" anchor="t">
            <a:spAutoFit/>
          </a:bodyPr>
          <a:lstStyle/>
          <a:p>
            <a:pPr algn="l"/>
            <a:r>
              <a:rPr sz="1300" b="1" i="0">
                <a:solidFill>
                  <a:srgbClr val="0F8B8D"/>
                </a:solidFill>
                <a:latin typeface="Calibri"/>
              </a:rPr>
              <a:t>The most valuable KPI: share of justified cases per reason. It shows where the company itself makes mistakes that cost cash (pricing, delivery quality, invoicing).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94415" cy="274320"/>
          </a:xfrm>
          <a:prstGeom prst="rect">
            <a:avLst/>
          </a:prstGeom>
          <a:noFill/>
        </p:spPr>
        <p:txBody>
          <a:bodyPr wrap="square" lIns="45720" rIns="45720" anchor="t">
            <a:spAutoFit/>
          </a:bodyPr>
          <a:lstStyle/>
          <a:p>
            <a:pPr algn="l"/>
            <a:r>
              <a:rPr sz="1100" b="1" i="0">
                <a:solidFill>
                  <a:srgbClr val="0F8B8D"/>
                </a:solidFill>
                <a:latin typeface="Calibri"/>
              </a:rPr>
              <a:t>C5  PRACTICE</a:t>
            </a:r>
          </a:p>
        </p:txBody>
      </p:sp>
      <p:sp>
        <p:nvSpPr>
          <p:cNvPr id="3" name="TextBox 2"/>
          <p:cNvSpPr txBox="1"/>
          <p:nvPr/>
        </p:nvSpPr>
        <p:spPr>
          <a:xfrm>
            <a:off x="548640" y="548640"/>
            <a:ext cx="11094415" cy="868680"/>
          </a:xfrm>
          <a:prstGeom prst="rect">
            <a:avLst/>
          </a:prstGeom>
          <a:noFill/>
        </p:spPr>
        <p:txBody>
          <a:bodyPr wrap="square" lIns="45720" rIns="45720" anchor="ctr">
            <a:spAutoFit/>
          </a:bodyPr>
          <a:lstStyle/>
          <a:p>
            <a:pPr algn="l"/>
            <a:r>
              <a:rPr sz="2800" b="1" i="0">
                <a:solidFill>
                  <a:srgbClr val="1C4E80"/>
                </a:solidFill>
                <a:latin typeface="Calibri"/>
              </a:rPr>
              <a:t>Practice: a dispute case from creation to decision</a:t>
            </a:r>
          </a:p>
        </p:txBody>
      </p:sp>
      <p:sp>
        <p:nvSpPr>
          <p:cNvPr id="4" name="TextBox 3"/>
          <p:cNvSpPr txBox="1"/>
          <p:nvPr/>
        </p:nvSpPr>
        <p:spPr>
          <a:xfrm>
            <a:off x="548640" y="6446520"/>
            <a:ext cx="8229600" cy="274320"/>
          </a:xfrm>
          <a:prstGeom prst="rect">
            <a:avLst/>
          </a:prstGeom>
          <a:noFill/>
        </p:spPr>
        <p:txBody>
          <a:bodyPr wrap="square" lIns="45720" rIns="45720" anchor="t">
            <a:spAutoFit/>
          </a:bodyPr>
          <a:lstStyle/>
          <a:p>
            <a:pPr algn="l"/>
            <a:r>
              <a:rPr sz="900" b="0" i="0">
                <a:solidFill>
                  <a:srgbClr val="5F6B7A"/>
                </a:solidFill>
                <a:latin typeface="Calibri"/>
              </a:rPr>
              <a:t>F2S Workshop 4  |  Collections &amp; Dispute Management  |  C  Dispute case: creation and resolution</a:t>
            </a:r>
          </a:p>
        </p:txBody>
      </p:sp>
      <p:sp>
        <p:nvSpPr>
          <p:cNvPr id="5" name="TextBox 4"/>
          <p:cNvSpPr txBox="1"/>
          <p:nvPr/>
        </p:nvSpPr>
        <p:spPr>
          <a:xfrm>
            <a:off x="10728655" y="6446520"/>
            <a:ext cx="914400" cy="274320"/>
          </a:xfrm>
          <a:prstGeom prst="rect">
            <a:avLst/>
          </a:prstGeom>
          <a:noFill/>
        </p:spPr>
        <p:txBody>
          <a:bodyPr wrap="square" lIns="45720" rIns="45720" anchor="t">
            <a:spAutoFit/>
          </a:bodyPr>
          <a:lstStyle/>
          <a:p>
            <a:pPr algn="r"/>
            <a:r>
              <a:rPr sz="900" b="0" i="0">
                <a:solidFill>
                  <a:srgbClr val="5F6B7A"/>
                </a:solidFill>
                <a:latin typeface="Calibri"/>
              </a:rPr>
              <a:t>17</a:t>
            </a:r>
          </a:p>
        </p:txBody>
      </p:sp>
      <p:graphicFrame>
        <p:nvGraphicFramePr>
          <p:cNvPr id="6" name="Table 5"/>
          <p:cNvGraphicFramePr>
            <a:graphicFrameLocks noGrp="1"/>
          </p:cNvGraphicFramePr>
          <p:nvPr/>
        </p:nvGraphicFramePr>
        <p:xfrm>
          <a:off x="548640" y="1554480"/>
          <a:ext cx="11064240" cy="4114800"/>
        </p:xfrm>
        <a:graphic>
          <a:graphicData uri="http://schemas.openxmlformats.org/drawingml/2006/table">
            <a:tbl>
              <a:tblPr>
                <a:tableStyleId>{5C22544A-7EE6-4342-B048-85BDC9FD1C3A}</a:tableStyleId>
              </a:tblPr>
              <a:tblGrid>
                <a:gridCol w="36576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3840480">
                  <a:extLst>
                    <a:ext uri="{9D8B030D-6E8A-4147-A177-3AD203B41FA5}">
                      <a16:colId xmlns:a16="http://schemas.microsoft.com/office/drawing/2014/main" val="20003"/>
                    </a:ext>
                  </a:extLst>
                </a:gridCol>
                <a:gridCol w="2926080">
                  <a:extLst>
                    <a:ext uri="{9D8B030D-6E8A-4147-A177-3AD203B41FA5}">
                      <a16:colId xmlns:a16="http://schemas.microsoft.com/office/drawing/2014/main" val="20004"/>
                    </a:ext>
                  </a:extLst>
                </a:gridCol>
              </a:tblGrid>
              <a:tr h="457200">
                <a:tc>
                  <a:txBody>
                    <a:bodyPr/>
                    <a:lstStyle/>
                    <a:p>
                      <a:r>
                        <a:rPr sz="1000" b="1" i="0">
                          <a:solidFill>
                            <a:srgbClr val="FFFFFF"/>
                          </a:solidFill>
                          <a:latin typeface="Calibri"/>
                        </a:rPr>
                        <a:t>#</a:t>
                      </a:r>
                    </a:p>
                  </a:txBody>
                  <a:tcPr marL="73152" marR="73152" marT="36576" marB="36576" anchor="ctr">
                    <a:solidFill>
                      <a:srgbClr val="1C4E80"/>
                    </a:solidFill>
                  </a:tcPr>
                </a:tc>
                <a:tc>
                  <a:txBody>
                    <a:bodyPr/>
                    <a:lstStyle/>
                    <a:p>
                      <a:r>
                        <a:rPr sz="1000" b="1" i="0">
                          <a:solidFill>
                            <a:srgbClr val="FFFFFF"/>
                          </a:solidFill>
                          <a:latin typeface="Calibri"/>
                        </a:rPr>
                        <a:t>Role</a:t>
                      </a:r>
                    </a:p>
                  </a:txBody>
                  <a:tcPr marL="73152" marR="73152" marT="36576" marB="36576" anchor="ctr">
                    <a:solidFill>
                      <a:srgbClr val="1C4E80"/>
                    </a:solidFill>
                  </a:tcPr>
                </a:tc>
                <a:tc>
                  <a:txBody>
                    <a:bodyPr/>
                    <a:lstStyle/>
                    <a:p>
                      <a:r>
                        <a:rPr sz="1000" b="1" i="0">
                          <a:solidFill>
                            <a:srgbClr val="FFFFFF"/>
                          </a:solidFill>
                          <a:latin typeface="Calibri"/>
                        </a:rPr>
                        <a:t>App</a:t>
                      </a:r>
                    </a:p>
                  </a:txBody>
                  <a:tcPr marL="73152" marR="73152" marT="36576" marB="36576" anchor="ctr">
                    <a:solidFill>
                      <a:srgbClr val="1C4E80"/>
                    </a:solidFill>
                  </a:tcPr>
                </a:tc>
                <a:tc>
                  <a:txBody>
                    <a:bodyPr/>
                    <a:lstStyle/>
                    <a:p>
                      <a:r>
                        <a:rPr sz="1000" b="1" i="0">
                          <a:solidFill>
                            <a:srgbClr val="FFFFFF"/>
                          </a:solidFill>
                          <a:latin typeface="Calibri"/>
                        </a:rPr>
                        <a:t>Action</a:t>
                      </a:r>
                    </a:p>
                  </a:txBody>
                  <a:tcPr marL="73152" marR="73152" marT="36576" marB="36576" anchor="ctr">
                    <a:solidFill>
                      <a:srgbClr val="1C4E80"/>
                    </a:solidFill>
                  </a:tcPr>
                </a:tc>
                <a:tc>
                  <a:txBody>
                    <a:bodyPr/>
                    <a:lstStyle/>
                    <a:p>
                      <a:r>
                        <a:rPr sz="1000" b="1" i="0">
                          <a:solidFill>
                            <a:srgbClr val="FFFFFF"/>
                          </a:solidFill>
                          <a:latin typeface="Calibri"/>
                        </a:rPr>
                        <a:t>Message</a:t>
                      </a:r>
                    </a:p>
                  </a:txBody>
                  <a:tcPr marL="73152" marR="73152" marT="36576" marB="36576" anchor="ctr">
                    <a:solidFill>
                      <a:srgbClr val="1C4E80"/>
                    </a:solidFill>
                  </a:tcPr>
                </a:tc>
                <a:extLst>
                  <a:ext uri="{0D108BD9-81ED-4DB2-BD59-A6C34878D82A}">
                    <a16:rowId xmlns:a16="http://schemas.microsoft.com/office/drawing/2014/main" val="10000"/>
                  </a:ext>
                </a:extLst>
              </a:tr>
              <a:tr h="457200">
                <a:tc>
                  <a:txBody>
                    <a:bodyPr/>
                    <a:lstStyle/>
                    <a:p>
                      <a:r>
                        <a:rPr sz="1000" b="1" i="0">
                          <a:solidFill>
                            <a:srgbClr val="1F2933"/>
                          </a:solidFill>
                          <a:latin typeface="Calibri"/>
                        </a:rPr>
                        <a:t>1</a:t>
                      </a:r>
                    </a:p>
                  </a:txBody>
                  <a:tcPr marL="73152" marR="73152" marT="36576" marB="36576" anchor="ctr">
                    <a:solidFill>
                      <a:srgbClr val="FFFFFF"/>
                    </a:solidFill>
                  </a:tcPr>
                </a:tc>
                <a:tc>
                  <a:txBody>
                    <a:bodyPr/>
                    <a:lstStyle/>
                    <a:p>
                      <a:r>
                        <a:rPr sz="1000" b="0" i="0">
                          <a:solidFill>
                            <a:srgbClr val="1F2933"/>
                          </a:solidFill>
                          <a:latin typeface="Calibri"/>
                        </a:rPr>
                        <a:t>AR Accountant</a:t>
                      </a:r>
                    </a:p>
                  </a:txBody>
                  <a:tcPr marL="73152" marR="73152" marT="36576" marB="36576" anchor="ctr">
                    <a:solidFill>
                      <a:srgbClr val="FFFFFF"/>
                    </a:solidFill>
                  </a:tcPr>
                </a:tc>
                <a:tc>
                  <a:txBody>
                    <a:bodyPr/>
                    <a:lstStyle/>
                    <a:p>
                      <a:r>
                        <a:rPr sz="1000" b="0" i="0">
                          <a:solidFill>
                            <a:srgbClr val="1F2933"/>
                          </a:solidFill>
                          <a:latin typeface="Calibri"/>
                        </a:rPr>
                        <a:t>Process Receivables (F0106A)</a:t>
                      </a:r>
                    </a:p>
                  </a:txBody>
                  <a:tcPr marL="73152" marR="73152" marT="36576" marB="36576" anchor="ctr">
                    <a:solidFill>
                      <a:srgbClr val="FFFFFF"/>
                    </a:solidFill>
                  </a:tcPr>
                </a:tc>
                <a:tc>
                  <a:txBody>
                    <a:bodyPr/>
                    <a:lstStyle/>
                    <a:p>
                      <a:r>
                        <a:rPr sz="1000" b="0" i="0">
                          <a:solidFill>
                            <a:srgbClr val="1F2933"/>
                          </a:solidFill>
                          <a:latin typeface="Calibri"/>
                        </a:rPr>
                        <a:t>Large invoice → Create Dispute Case: title, reason, priority High, note</a:t>
                      </a:r>
                    </a:p>
                  </a:txBody>
                  <a:tcPr marL="73152" marR="73152" marT="36576" marB="36576" anchor="ctr">
                    <a:solidFill>
                      <a:srgbClr val="FFFFFF"/>
                    </a:solidFill>
                  </a:tcPr>
                </a:tc>
                <a:tc>
                  <a:txBody>
                    <a:bodyPr/>
                    <a:lstStyle/>
                    <a:p>
                      <a:r>
                        <a:rPr sz="1000" b="0" i="0">
                          <a:solidFill>
                            <a:srgbClr val="1F2933"/>
                          </a:solidFill>
                          <a:latin typeface="Calibri"/>
                        </a:rPr>
                        <a:t>Complaint arises in the call; item out of the dunning run</a:t>
                      </a:r>
                    </a:p>
                  </a:txBody>
                  <a:tcPr marL="73152" marR="73152" marT="36576" marB="36576" anchor="ctr">
                    <a:solidFill>
                      <a:srgbClr val="FFFFFF"/>
                    </a:solidFill>
                  </a:tcPr>
                </a:tc>
                <a:extLst>
                  <a:ext uri="{0D108BD9-81ED-4DB2-BD59-A6C34878D82A}">
                    <a16:rowId xmlns:a16="http://schemas.microsoft.com/office/drawing/2014/main" val="10001"/>
                  </a:ext>
                </a:extLst>
              </a:tr>
              <a:tr h="457200">
                <a:tc>
                  <a:txBody>
                    <a:bodyPr/>
                    <a:lstStyle/>
                    <a:p>
                      <a:r>
                        <a:rPr sz="1000" b="1" i="0">
                          <a:solidFill>
                            <a:srgbClr val="1F2933"/>
                          </a:solidFill>
                          <a:latin typeface="Calibri"/>
                        </a:rPr>
                        <a:t>2</a:t>
                      </a:r>
                    </a:p>
                  </a:txBody>
                  <a:tcPr marL="73152" marR="73152" marT="36576" marB="36576" anchor="ctr">
                    <a:solidFill>
                      <a:srgbClr val="EEF3F8"/>
                    </a:solidFill>
                  </a:tcPr>
                </a:tc>
                <a:tc>
                  <a:txBody>
                    <a:bodyPr/>
                    <a:lstStyle/>
                    <a:p>
                      <a:r>
                        <a:rPr sz="1000" b="0" i="0">
                          <a:solidFill>
                            <a:srgbClr val="1F2933"/>
                          </a:solidFill>
                          <a:latin typeface="Calibri"/>
                        </a:rPr>
                        <a:t>Coordinator</a:t>
                      </a:r>
                    </a:p>
                  </a:txBody>
                  <a:tcPr marL="73152" marR="73152" marT="36576" marB="36576" anchor="ctr">
                    <a:solidFill>
                      <a:srgbClr val="EEF3F8"/>
                    </a:solidFill>
                  </a:tcPr>
                </a:tc>
                <a:tc>
                  <a:txBody>
                    <a:bodyPr/>
                    <a:lstStyle/>
                    <a:p>
                      <a:r>
                        <a:rPr sz="1000" b="0" i="0">
                          <a:solidFill>
                            <a:srgbClr val="1F2933"/>
                          </a:solidFill>
                          <a:latin typeface="Calibri"/>
                        </a:rPr>
                        <a:t>Manage Dispute Cases (F0702A)</a:t>
                      </a:r>
                    </a:p>
                  </a:txBody>
                  <a:tcPr marL="73152" marR="73152" marT="36576" marB="36576" anchor="ctr">
                    <a:solidFill>
                      <a:srgbClr val="EEF3F8"/>
                    </a:solidFill>
                  </a:tcPr>
                </a:tc>
                <a:tc>
                  <a:txBody>
                    <a:bodyPr/>
                    <a:lstStyle/>
                    <a:p>
                      <a:r>
                        <a:rPr sz="1000" b="0" i="0">
                          <a:solidFill>
                            <a:srgbClr val="1F2933"/>
                          </a:solidFill>
                          <a:latin typeface="Calibri"/>
                        </a:rPr>
                        <a:t>Go without filter → cases without processor → Edit → processor, note</a:t>
                      </a:r>
                    </a:p>
                  </a:txBody>
                  <a:tcPr marL="73152" marR="73152" marT="36576" marB="36576" anchor="ctr">
                    <a:solidFill>
                      <a:srgbClr val="EEF3F8"/>
                    </a:solidFill>
                  </a:tcPr>
                </a:tc>
                <a:tc>
                  <a:txBody>
                    <a:bodyPr/>
                    <a:lstStyle/>
                    <a:p>
                      <a:r>
                        <a:rPr sz="1000" b="0" i="0">
                          <a:solidFill>
                            <a:srgbClr val="1F2933"/>
                          </a:solidFill>
                          <a:latin typeface="Calibri"/>
                        </a:rPr>
                        <a:t>Unassigned cases are visible immediately</a:t>
                      </a:r>
                    </a:p>
                  </a:txBody>
                  <a:tcPr marL="73152" marR="73152" marT="36576" marB="36576" anchor="ctr">
                    <a:solidFill>
                      <a:srgbClr val="EEF3F8"/>
                    </a:solidFill>
                  </a:tcPr>
                </a:tc>
                <a:extLst>
                  <a:ext uri="{0D108BD9-81ED-4DB2-BD59-A6C34878D82A}">
                    <a16:rowId xmlns:a16="http://schemas.microsoft.com/office/drawing/2014/main" val="10002"/>
                  </a:ext>
                </a:extLst>
              </a:tr>
              <a:tr h="457200">
                <a:tc>
                  <a:txBody>
                    <a:bodyPr/>
                    <a:lstStyle/>
                    <a:p>
                      <a:r>
                        <a:rPr sz="1000" b="1" i="0">
                          <a:solidFill>
                            <a:srgbClr val="1F2933"/>
                          </a:solidFill>
                          <a:latin typeface="Calibri"/>
                        </a:rPr>
                        <a:t>3</a:t>
                      </a:r>
                    </a:p>
                  </a:txBody>
                  <a:tcPr marL="73152" marR="73152" marT="36576" marB="36576" anchor="ctr">
                    <a:solidFill>
                      <a:srgbClr val="FFFFFF"/>
                    </a:solidFill>
                  </a:tcPr>
                </a:tc>
                <a:tc>
                  <a:txBody>
                    <a:bodyPr/>
                    <a:lstStyle/>
                    <a:p>
                      <a:r>
                        <a:rPr sz="1000" b="0" i="0">
                          <a:solidFill>
                            <a:srgbClr val="1F2933"/>
                          </a:solidFill>
                          <a:latin typeface="Calibri"/>
                        </a:rPr>
                        <a:t>Processor</a:t>
                      </a:r>
                    </a:p>
                  </a:txBody>
                  <a:tcPr marL="73152" marR="73152" marT="36576" marB="36576" anchor="ctr">
                    <a:solidFill>
                      <a:srgbClr val="FFFFFF"/>
                    </a:solidFill>
                  </a:tcPr>
                </a:tc>
                <a:tc>
                  <a:txBody>
                    <a:bodyPr/>
                    <a:lstStyle/>
                    <a:p>
                      <a:r>
                        <a:rPr sz="1000" b="0" i="0">
                          <a:solidFill>
                            <a:srgbClr val="1F2933"/>
                          </a:solidFill>
                          <a:latin typeface="Calibri"/>
                        </a:rPr>
                        <a:t>Manage Dispute Cases (F0702A)</a:t>
                      </a:r>
                    </a:p>
                  </a:txBody>
                  <a:tcPr marL="73152" marR="73152" marT="36576" marB="36576" anchor="ctr">
                    <a:solidFill>
                      <a:srgbClr val="FFFFFF"/>
                    </a:solidFill>
                  </a:tcPr>
                </a:tc>
                <a:tc>
                  <a:txBody>
                    <a:bodyPr/>
                    <a:lstStyle/>
                    <a:p>
                      <a:r>
                        <a:rPr sz="1000" b="0" i="0">
                          <a:solidFill>
                            <a:srgbClr val="1F2933"/>
                          </a:solidFill>
                          <a:latin typeface="Calibri"/>
                        </a:rPr>
                        <a:t>Filter own user → status In Process, attachment, e-mail to customer</a:t>
                      </a:r>
                    </a:p>
                  </a:txBody>
                  <a:tcPr marL="73152" marR="73152" marT="36576" marB="36576" anchor="ctr">
                    <a:solidFill>
                      <a:srgbClr val="FFFFFF"/>
                    </a:solidFill>
                  </a:tcPr>
                </a:tc>
                <a:tc>
                  <a:txBody>
                    <a:bodyPr/>
                    <a:lstStyle/>
                    <a:p>
                      <a:r>
                        <a:rPr sz="1000" b="0" i="0">
                          <a:solidFill>
                            <a:srgbClr val="1F2933"/>
                          </a:solidFill>
                          <a:latin typeface="Calibri"/>
                        </a:rPr>
                        <a:t>Everything in the case: documents, notes, e-mails</a:t>
                      </a:r>
                    </a:p>
                  </a:txBody>
                  <a:tcPr marL="73152" marR="73152" marT="36576" marB="36576" anchor="ctr">
                    <a:solidFill>
                      <a:srgbClr val="FFFFFF"/>
                    </a:solidFill>
                  </a:tcPr>
                </a:tc>
                <a:extLst>
                  <a:ext uri="{0D108BD9-81ED-4DB2-BD59-A6C34878D82A}">
                    <a16:rowId xmlns:a16="http://schemas.microsoft.com/office/drawing/2014/main" val="10003"/>
                  </a:ext>
                </a:extLst>
              </a:tr>
              <a:tr h="457200">
                <a:tc>
                  <a:txBody>
                    <a:bodyPr/>
                    <a:lstStyle/>
                    <a:p>
                      <a:r>
                        <a:rPr sz="1000" b="1" i="0">
                          <a:solidFill>
                            <a:srgbClr val="1F2933"/>
                          </a:solidFill>
                          <a:latin typeface="Calibri"/>
                        </a:rPr>
                        <a:t>4</a:t>
                      </a:r>
                    </a:p>
                  </a:txBody>
                  <a:tcPr marL="73152" marR="73152" marT="36576" marB="36576" anchor="ctr">
                    <a:solidFill>
                      <a:srgbClr val="EEF3F8"/>
                    </a:solidFill>
                  </a:tcPr>
                </a:tc>
                <a:tc>
                  <a:txBody>
                    <a:bodyPr/>
                    <a:lstStyle/>
                    <a:p>
                      <a:r>
                        <a:rPr sz="1000" b="0" i="0">
                          <a:solidFill>
                            <a:srgbClr val="1F2933"/>
                          </a:solidFill>
                          <a:latin typeface="Calibri"/>
                        </a:rPr>
                        <a:t>Processor</a:t>
                      </a:r>
                    </a:p>
                  </a:txBody>
                  <a:tcPr marL="73152" marR="73152" marT="36576" marB="36576" anchor="ctr">
                    <a:solidFill>
                      <a:srgbClr val="EEF3F8"/>
                    </a:solidFill>
                  </a:tcPr>
                </a:tc>
                <a:tc>
                  <a:txBody>
                    <a:bodyPr/>
                    <a:lstStyle/>
                    <a:p>
                      <a:r>
                        <a:rPr sz="1000" b="0" i="0">
                          <a:solidFill>
                            <a:srgbClr val="1F2933"/>
                          </a:solidFill>
                          <a:latin typeface="Calibri"/>
                        </a:rPr>
                        <a:t>Manage Dispute Cases (F0702A)</a:t>
                      </a:r>
                    </a:p>
                  </a:txBody>
                  <a:tcPr marL="73152" marR="73152" marT="36576" marB="36576" anchor="ctr">
                    <a:solidFill>
                      <a:srgbClr val="EEF3F8"/>
                    </a:solidFill>
                  </a:tcPr>
                </a:tc>
                <a:tc>
                  <a:txBody>
                    <a:bodyPr/>
                    <a:lstStyle/>
                    <a:p>
                      <a:r>
                        <a:rPr sz="1000" b="0" i="0">
                          <a:solidFill>
                            <a:srgbClr val="1F2933"/>
                          </a:solidFill>
                          <a:latin typeface="Calibri"/>
                        </a:rPr>
                        <a:t>Path A: justified → explain credit memo, show clearing in F0711</a:t>
                      </a:r>
                    </a:p>
                  </a:txBody>
                  <a:tcPr marL="73152" marR="73152" marT="36576" marB="36576" anchor="ctr">
                    <a:solidFill>
                      <a:srgbClr val="EEF3F8"/>
                    </a:solidFill>
                  </a:tcPr>
                </a:tc>
                <a:tc>
                  <a:txBody>
                    <a:bodyPr/>
                    <a:lstStyle/>
                    <a:p>
                      <a:r>
                        <a:rPr sz="1000" b="0" i="0">
                          <a:solidFill>
                            <a:srgbClr val="1F2933"/>
                          </a:solidFill>
                          <a:latin typeface="Calibri"/>
                        </a:rPr>
                        <a:t>Case closes automatically on clearing</a:t>
                      </a:r>
                    </a:p>
                  </a:txBody>
                  <a:tcPr marL="73152" marR="73152" marT="36576" marB="36576" anchor="ctr">
                    <a:solidFill>
                      <a:srgbClr val="EEF3F8"/>
                    </a:solidFill>
                  </a:tcPr>
                </a:tc>
                <a:extLst>
                  <a:ext uri="{0D108BD9-81ED-4DB2-BD59-A6C34878D82A}">
                    <a16:rowId xmlns:a16="http://schemas.microsoft.com/office/drawing/2014/main" val="10004"/>
                  </a:ext>
                </a:extLst>
              </a:tr>
              <a:tr h="457200">
                <a:tc>
                  <a:txBody>
                    <a:bodyPr/>
                    <a:lstStyle/>
                    <a:p>
                      <a:r>
                        <a:rPr sz="1000" b="1" i="0">
                          <a:solidFill>
                            <a:srgbClr val="1F2933"/>
                          </a:solidFill>
                          <a:latin typeface="Calibri"/>
                        </a:rPr>
                        <a:t>5</a:t>
                      </a:r>
                    </a:p>
                  </a:txBody>
                  <a:tcPr marL="73152" marR="73152" marT="36576" marB="36576" anchor="ctr">
                    <a:solidFill>
                      <a:srgbClr val="FFFFFF"/>
                    </a:solidFill>
                  </a:tcPr>
                </a:tc>
                <a:tc>
                  <a:txBody>
                    <a:bodyPr/>
                    <a:lstStyle/>
                    <a:p>
                      <a:r>
                        <a:rPr sz="1000" b="0" i="0">
                          <a:solidFill>
                            <a:srgbClr val="1F2933"/>
                          </a:solidFill>
                          <a:latin typeface="Calibri"/>
                        </a:rPr>
                        <a:t>Processor</a:t>
                      </a:r>
                    </a:p>
                  </a:txBody>
                  <a:tcPr marL="73152" marR="73152" marT="36576" marB="36576" anchor="ctr">
                    <a:solidFill>
                      <a:srgbClr val="FFFFFF"/>
                    </a:solidFill>
                  </a:tcPr>
                </a:tc>
                <a:tc>
                  <a:txBody>
                    <a:bodyPr/>
                    <a:lstStyle/>
                    <a:p>
                      <a:r>
                        <a:rPr sz="1000" b="0" i="0">
                          <a:solidFill>
                            <a:srgbClr val="1F2933"/>
                          </a:solidFill>
                          <a:latin typeface="Calibri"/>
                        </a:rPr>
                        <a:t>Manage Dispute Cases (F0702A)</a:t>
                      </a:r>
                    </a:p>
                  </a:txBody>
                  <a:tcPr marL="73152" marR="73152" marT="36576" marB="36576" anchor="ctr">
                    <a:solidFill>
                      <a:srgbClr val="FFFFFF"/>
                    </a:solidFill>
                  </a:tcPr>
                </a:tc>
                <a:tc>
                  <a:txBody>
                    <a:bodyPr/>
                    <a:lstStyle/>
                    <a:p>
                      <a:r>
                        <a:rPr sz="1000" b="0" i="0">
                          <a:solidFill>
                            <a:srgbClr val="1F2933"/>
                          </a:solidFill>
                          <a:latin typeface="Calibri"/>
                        </a:rPr>
                        <a:t>Path B: second case → status Not justified → Save</a:t>
                      </a:r>
                    </a:p>
                  </a:txBody>
                  <a:tcPr marL="73152" marR="73152" marT="36576" marB="36576" anchor="ctr">
                    <a:solidFill>
                      <a:srgbClr val="FFFFFF"/>
                    </a:solidFill>
                  </a:tcPr>
                </a:tc>
                <a:tc>
                  <a:txBody>
                    <a:bodyPr/>
                    <a:lstStyle/>
                    <a:p>
                      <a:r>
                        <a:rPr sz="1000" b="0" i="0">
                          <a:solidFill>
                            <a:srgbClr val="1F2933"/>
                          </a:solidFill>
                          <a:latin typeface="Calibri"/>
                        </a:rPr>
                        <a:t>Back to collections, dunning block lifted</a:t>
                      </a:r>
                    </a:p>
                  </a:txBody>
                  <a:tcPr marL="73152" marR="73152" marT="36576" marB="36576" anchor="ctr">
                    <a:solidFill>
                      <a:srgbClr val="FFFFFF"/>
                    </a:solidFill>
                  </a:tcPr>
                </a:tc>
                <a:extLst>
                  <a:ext uri="{0D108BD9-81ED-4DB2-BD59-A6C34878D82A}">
                    <a16:rowId xmlns:a16="http://schemas.microsoft.com/office/drawing/2014/main" val="10005"/>
                  </a:ext>
                </a:extLst>
              </a:tr>
              <a:tr h="457200">
                <a:tc>
                  <a:txBody>
                    <a:bodyPr/>
                    <a:lstStyle/>
                    <a:p>
                      <a:r>
                        <a:rPr sz="1000" b="1" i="0">
                          <a:solidFill>
                            <a:srgbClr val="1F2933"/>
                          </a:solidFill>
                          <a:latin typeface="Calibri"/>
                        </a:rPr>
                        <a:t>6</a:t>
                      </a:r>
                    </a:p>
                  </a:txBody>
                  <a:tcPr marL="73152" marR="73152" marT="36576" marB="36576" anchor="ctr">
                    <a:solidFill>
                      <a:srgbClr val="EEF3F8"/>
                    </a:solidFill>
                  </a:tcPr>
                </a:tc>
                <a:tc>
                  <a:txBody>
                    <a:bodyPr/>
                    <a:lstStyle/>
                    <a:p>
                      <a:r>
                        <a:rPr sz="1000" b="0" i="0">
                          <a:solidFill>
                            <a:srgbClr val="1F2933"/>
                          </a:solidFill>
                          <a:latin typeface="Calibri"/>
                        </a:rPr>
                        <a:t>Processor</a:t>
                      </a:r>
                    </a:p>
                  </a:txBody>
                  <a:tcPr marL="73152" marR="73152" marT="36576" marB="36576" anchor="ctr">
                    <a:solidFill>
                      <a:srgbClr val="EEF3F8"/>
                    </a:solidFill>
                  </a:tcPr>
                </a:tc>
                <a:tc>
                  <a:txBody>
                    <a:bodyPr/>
                    <a:lstStyle/>
                    <a:p>
                      <a:r>
                        <a:rPr sz="1000" b="0" i="0">
                          <a:solidFill>
                            <a:srgbClr val="1F2933"/>
                          </a:solidFill>
                          <a:latin typeface="Calibri"/>
                        </a:rPr>
                        <a:t>Manage Dispute Cases (F0702A)</a:t>
                      </a:r>
                    </a:p>
                  </a:txBody>
                  <a:tcPr marL="73152" marR="73152" marT="36576" marB="36576" anchor="ctr">
                    <a:solidFill>
                      <a:srgbClr val="EEF3F8"/>
                    </a:solidFill>
                  </a:tcPr>
                </a:tc>
                <a:tc>
                  <a:txBody>
                    <a:bodyPr/>
                    <a:lstStyle/>
                    <a:p>
                      <a:r>
                        <a:rPr sz="1000" b="0" i="0">
                          <a:solidFill>
                            <a:srgbClr val="1F2933"/>
                          </a:solidFill>
                          <a:latin typeface="Calibri"/>
                        </a:rPr>
                        <a:t>Void Dispute Case on a test case</a:t>
                      </a:r>
                    </a:p>
                  </a:txBody>
                  <a:tcPr marL="73152" marR="73152" marT="36576" marB="36576" anchor="ctr">
                    <a:solidFill>
                      <a:srgbClr val="EEF3F8"/>
                    </a:solidFill>
                  </a:tcPr>
                </a:tc>
                <a:tc>
                  <a:txBody>
                    <a:bodyPr/>
                    <a:lstStyle/>
                    <a:p>
                      <a:r>
                        <a:rPr sz="1000" b="0" i="0">
                          <a:solidFill>
                            <a:srgbClr val="1F2933"/>
                          </a:solidFill>
                          <a:latin typeface="Calibri"/>
                        </a:rPr>
                        <a:t>Erroneous cases voided, not deleted</a:t>
                      </a:r>
                    </a:p>
                  </a:txBody>
                  <a:tcPr marL="73152" marR="73152" marT="36576" marB="36576" anchor="ctr">
                    <a:solidFill>
                      <a:srgbClr val="EEF3F8"/>
                    </a:solidFill>
                  </a:tcPr>
                </a:tc>
                <a:extLst>
                  <a:ext uri="{0D108BD9-81ED-4DB2-BD59-A6C34878D82A}">
                    <a16:rowId xmlns:a16="http://schemas.microsoft.com/office/drawing/2014/main" val="10006"/>
                  </a:ext>
                </a:extLst>
              </a:tr>
              <a:tr h="457200">
                <a:tc>
                  <a:txBody>
                    <a:bodyPr/>
                    <a:lstStyle/>
                    <a:p>
                      <a:r>
                        <a:rPr sz="1000" b="1" i="0">
                          <a:solidFill>
                            <a:srgbClr val="1F2933"/>
                          </a:solidFill>
                          <a:latin typeface="Calibri"/>
                        </a:rPr>
                        <a:t>7</a:t>
                      </a:r>
                    </a:p>
                  </a:txBody>
                  <a:tcPr marL="73152" marR="73152" marT="36576" marB="36576" anchor="ctr">
                    <a:solidFill>
                      <a:srgbClr val="FFFFFF"/>
                    </a:solidFill>
                  </a:tcPr>
                </a:tc>
                <a:tc>
                  <a:txBody>
                    <a:bodyPr/>
                    <a:lstStyle/>
                    <a:p>
                      <a:r>
                        <a:rPr sz="1000" b="0" i="0">
                          <a:solidFill>
                            <a:srgbClr val="1F2933"/>
                          </a:solidFill>
                          <a:latin typeface="Calibri"/>
                        </a:rPr>
                        <a:t>Cash Specialist</a:t>
                      </a:r>
                    </a:p>
                  </a:txBody>
                  <a:tcPr marL="73152" marR="73152" marT="36576" marB="36576" anchor="ctr">
                    <a:solidFill>
                      <a:srgbClr val="FFFFFF"/>
                    </a:solidFill>
                  </a:tcPr>
                </a:tc>
                <a:tc>
                  <a:txBody>
                    <a:bodyPr/>
                    <a:lstStyle/>
                    <a:p>
                      <a:r>
                        <a:rPr sz="1000" b="0" i="0">
                          <a:solidFill>
                            <a:srgbClr val="1F2933"/>
                          </a:solidFill>
                          <a:latin typeface="Calibri"/>
                        </a:rPr>
                        <a:t>Reprocess Bank Statement Items (F1520)</a:t>
                      </a:r>
                    </a:p>
                  </a:txBody>
                  <a:tcPr marL="73152" marR="73152" marT="36576" marB="36576" anchor="ctr">
                    <a:solidFill>
                      <a:srgbClr val="FFFFFF"/>
                    </a:solidFill>
                  </a:tcPr>
                </a:tc>
                <a:tc>
                  <a:txBody>
                    <a:bodyPr/>
                    <a:lstStyle/>
                    <a:p>
                      <a:r>
                        <a:rPr sz="1000" b="0" i="0">
                          <a:solidFill>
                            <a:srgbClr val="1F2933"/>
                          </a:solidFill>
                          <a:latin typeface="Calibri"/>
                        </a:rPr>
                        <a:t>Underpayment → Clear → Create Dispute → Post (only if prepared)</a:t>
                      </a:r>
                    </a:p>
                  </a:txBody>
                  <a:tcPr marL="73152" marR="73152" marT="36576" marB="36576" anchor="ctr">
                    <a:solidFill>
                      <a:srgbClr val="FFFFFF"/>
                    </a:solidFill>
                  </a:tcPr>
                </a:tc>
                <a:tc>
                  <a:txBody>
                    <a:bodyPr/>
                    <a:lstStyle/>
                    <a:p>
                      <a:r>
                        <a:rPr sz="1000" b="0" i="0">
                          <a:solidFill>
                            <a:srgbClr val="1F2933"/>
                          </a:solidFill>
                          <a:latin typeface="Calibri"/>
                        </a:rPr>
                        <a:t>Residual item becomes a case directly</a:t>
                      </a:r>
                    </a:p>
                  </a:txBody>
                  <a:tcPr marL="73152" marR="73152" marT="36576" marB="36576" anchor="ctr">
                    <a:solidFill>
                      <a:srgbClr val="FFFFFF"/>
                    </a:solidFill>
                  </a:tcPr>
                </a:tc>
                <a:extLst>
                  <a:ext uri="{0D108BD9-81ED-4DB2-BD59-A6C34878D82A}">
                    <a16:rowId xmlns:a16="http://schemas.microsoft.com/office/drawing/2014/main" val="10007"/>
                  </a:ext>
                </a:extLst>
              </a:tr>
              <a:tr h="457200">
                <a:tc>
                  <a:txBody>
                    <a:bodyPr/>
                    <a:lstStyle/>
                    <a:p>
                      <a:r>
                        <a:rPr sz="1000" b="1" i="0">
                          <a:solidFill>
                            <a:srgbClr val="1F2933"/>
                          </a:solidFill>
                          <a:latin typeface="Calibri"/>
                        </a:rPr>
                        <a:t>8</a:t>
                      </a:r>
                    </a:p>
                  </a:txBody>
                  <a:tcPr marL="73152" marR="73152" marT="36576" marB="36576" anchor="ctr">
                    <a:solidFill>
                      <a:srgbClr val="EEF3F8"/>
                    </a:solidFill>
                  </a:tcPr>
                </a:tc>
                <a:tc>
                  <a:txBody>
                    <a:bodyPr/>
                    <a:lstStyle/>
                    <a:p>
                      <a:r>
                        <a:rPr sz="1000" b="0" i="0">
                          <a:solidFill>
                            <a:srgbClr val="1F2933"/>
                          </a:solidFill>
                          <a:latin typeface="Calibri"/>
                        </a:rPr>
                        <a:t>AR Accountant</a:t>
                      </a:r>
                    </a:p>
                  </a:txBody>
                  <a:tcPr marL="73152" marR="73152" marT="36576" marB="36576" anchor="ctr">
                    <a:solidFill>
                      <a:srgbClr val="EEF3F8"/>
                    </a:solidFill>
                  </a:tcPr>
                </a:tc>
                <a:tc>
                  <a:txBody>
                    <a:bodyPr/>
                    <a:lstStyle/>
                    <a:p>
                      <a:r>
                        <a:rPr sz="1000" b="0" i="0">
                          <a:solidFill>
                            <a:srgbClr val="1F2933"/>
                          </a:solidFill>
                          <a:latin typeface="Calibri"/>
                        </a:rPr>
                        <a:t>Schedule Dispute Management Jobs (F3578)</a:t>
                      </a:r>
                    </a:p>
                  </a:txBody>
                  <a:tcPr marL="73152" marR="73152" marT="36576" marB="36576" anchor="ctr">
                    <a:solidFill>
                      <a:srgbClr val="EEF3F8"/>
                    </a:solidFill>
                  </a:tcPr>
                </a:tc>
                <a:tc>
                  <a:txBody>
                    <a:bodyPr/>
                    <a:lstStyle/>
                    <a:p>
                      <a:r>
                        <a:rPr sz="1000" b="0" i="0">
                          <a:solidFill>
                            <a:srgbClr val="1F2933"/>
                          </a:solidFill>
                          <a:latin typeface="Calibri"/>
                        </a:rPr>
                        <a:t>Automatic Creation as test run → log</a:t>
                      </a:r>
                    </a:p>
                  </a:txBody>
                  <a:tcPr marL="73152" marR="73152" marT="36576" marB="36576" anchor="ctr">
                    <a:solidFill>
                      <a:srgbClr val="EEF3F8"/>
                    </a:solidFill>
                  </a:tcPr>
                </a:tc>
                <a:tc>
                  <a:txBody>
                    <a:bodyPr/>
                    <a:lstStyle/>
                    <a:p>
                      <a:r>
                        <a:rPr sz="1000" b="0" i="0">
                          <a:solidFill>
                            <a:srgbClr val="1F2933"/>
                          </a:solidFill>
                          <a:latin typeface="Calibri"/>
                        </a:rPr>
                        <a:t>Automation for high volume</a:t>
                      </a:r>
                    </a:p>
                  </a:txBody>
                  <a:tcPr marL="73152" marR="73152" marT="36576" marB="36576" anchor="ctr">
                    <a:solidFill>
                      <a:srgbClr val="EEF3F8"/>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94415" cy="274320"/>
          </a:xfrm>
          <a:prstGeom prst="rect">
            <a:avLst/>
          </a:prstGeom>
          <a:noFill/>
        </p:spPr>
        <p:txBody>
          <a:bodyPr wrap="square" lIns="45720" rIns="45720" anchor="t">
            <a:spAutoFit/>
          </a:bodyPr>
          <a:lstStyle/>
          <a:p>
            <a:pPr algn="l"/>
            <a:r>
              <a:rPr sz="1100" b="1" i="0">
                <a:solidFill>
                  <a:srgbClr val="0F8B8D"/>
                </a:solidFill>
                <a:latin typeface="Calibri"/>
              </a:rPr>
              <a:t>D1  BUSINESS CONTEXT</a:t>
            </a:r>
          </a:p>
        </p:txBody>
      </p:sp>
      <p:sp>
        <p:nvSpPr>
          <p:cNvPr id="3" name="TextBox 2"/>
          <p:cNvSpPr txBox="1"/>
          <p:nvPr/>
        </p:nvSpPr>
        <p:spPr>
          <a:xfrm>
            <a:off x="548640" y="548640"/>
            <a:ext cx="11094415" cy="868680"/>
          </a:xfrm>
          <a:prstGeom prst="rect">
            <a:avLst/>
          </a:prstGeom>
          <a:noFill/>
        </p:spPr>
        <p:txBody>
          <a:bodyPr wrap="square" lIns="45720" rIns="45720" anchor="ctr">
            <a:spAutoFit/>
          </a:bodyPr>
          <a:lstStyle/>
          <a:p>
            <a:pPr algn="l"/>
            <a:r>
              <a:rPr sz="2800" b="1" i="0">
                <a:solidFill>
                  <a:srgbClr val="1C4E80"/>
                </a:solidFill>
                <a:latin typeface="Calibri"/>
              </a:rPr>
              <a:t>The strategy is the company's risk policy expressed as rules</a:t>
            </a:r>
          </a:p>
        </p:txBody>
      </p:sp>
      <p:sp>
        <p:nvSpPr>
          <p:cNvPr id="4" name="TextBox 3"/>
          <p:cNvSpPr txBox="1"/>
          <p:nvPr/>
        </p:nvSpPr>
        <p:spPr>
          <a:xfrm>
            <a:off x="548640" y="6446520"/>
            <a:ext cx="8229600" cy="274320"/>
          </a:xfrm>
          <a:prstGeom prst="rect">
            <a:avLst/>
          </a:prstGeom>
          <a:noFill/>
        </p:spPr>
        <p:txBody>
          <a:bodyPr wrap="square" lIns="45720" rIns="45720" anchor="t">
            <a:spAutoFit/>
          </a:bodyPr>
          <a:lstStyle/>
          <a:p>
            <a:pPr algn="l"/>
            <a:r>
              <a:rPr sz="900" b="0" i="0">
                <a:solidFill>
                  <a:srgbClr val="5F6B7A"/>
                </a:solidFill>
                <a:latin typeface="Calibri"/>
              </a:rPr>
              <a:t>F2S Workshop 4  |  Collections &amp; Dispute Management  |  D  Collection strategy configuration</a:t>
            </a:r>
          </a:p>
        </p:txBody>
      </p:sp>
      <p:sp>
        <p:nvSpPr>
          <p:cNvPr id="5" name="TextBox 4"/>
          <p:cNvSpPr txBox="1"/>
          <p:nvPr/>
        </p:nvSpPr>
        <p:spPr>
          <a:xfrm>
            <a:off x="10728655" y="6446520"/>
            <a:ext cx="914400" cy="274320"/>
          </a:xfrm>
          <a:prstGeom prst="rect">
            <a:avLst/>
          </a:prstGeom>
          <a:noFill/>
        </p:spPr>
        <p:txBody>
          <a:bodyPr wrap="square" lIns="45720" rIns="45720" anchor="t">
            <a:spAutoFit/>
          </a:bodyPr>
          <a:lstStyle/>
          <a:p>
            <a:pPr algn="r"/>
            <a:r>
              <a:rPr sz="900" b="0" i="0">
                <a:solidFill>
                  <a:srgbClr val="5F6B7A"/>
                </a:solidFill>
                <a:latin typeface="Calibri"/>
              </a:rPr>
              <a:t>18</a:t>
            </a:r>
          </a:p>
        </p:txBody>
      </p:sp>
      <p:sp>
        <p:nvSpPr>
          <p:cNvPr id="6" name="Rounded Rectangle 5"/>
          <p:cNvSpPr/>
          <p:nvPr/>
        </p:nvSpPr>
        <p:spPr>
          <a:xfrm>
            <a:off x="548640" y="1554480"/>
            <a:ext cx="3515258" cy="146304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685800" y="1691640"/>
            <a:ext cx="3240938" cy="365760"/>
          </a:xfrm>
          <a:prstGeom prst="rect">
            <a:avLst/>
          </a:prstGeom>
          <a:noFill/>
        </p:spPr>
        <p:txBody>
          <a:bodyPr wrap="square" lIns="45720" rIns="45720" anchor="ctr">
            <a:spAutoFit/>
          </a:bodyPr>
          <a:lstStyle/>
          <a:p>
            <a:pPr algn="l"/>
            <a:r>
              <a:rPr sz="1400" b="1" i="0">
                <a:solidFill>
                  <a:srgbClr val="0F8B8D"/>
                </a:solidFill>
                <a:latin typeface="Calibri"/>
              </a:rPr>
              <a:t>Few key accounts</a:t>
            </a:r>
          </a:p>
        </p:txBody>
      </p:sp>
      <p:sp>
        <p:nvSpPr>
          <p:cNvPr id="8" name="TextBox 7"/>
          <p:cNvSpPr txBox="1"/>
          <p:nvPr/>
        </p:nvSpPr>
        <p:spPr>
          <a:xfrm>
            <a:off x="685800" y="2075688"/>
            <a:ext cx="3240938" cy="804672"/>
          </a:xfrm>
          <a:prstGeom prst="rect">
            <a:avLst/>
          </a:prstGeom>
          <a:noFill/>
        </p:spPr>
        <p:txBody>
          <a:bodyPr wrap="square" lIns="45720" rIns="45720" anchor="t">
            <a:spAutoFit/>
          </a:bodyPr>
          <a:lstStyle/>
          <a:p>
            <a:pPr algn="l"/>
            <a:r>
              <a:rPr sz="1200" b="0" i="0">
                <a:solidFill>
                  <a:srgbClr val="1F2933"/>
                </a:solidFill>
                <a:latin typeface="Calibri"/>
              </a:rPr>
              <a:t>Weight large single items high, early contact before due date, key account specialists, soft dunning procedure</a:t>
            </a:r>
          </a:p>
        </p:txBody>
      </p:sp>
      <p:sp>
        <p:nvSpPr>
          <p:cNvPr id="9" name="Rounded Rectangle 8"/>
          <p:cNvSpPr/>
          <p:nvPr/>
        </p:nvSpPr>
        <p:spPr>
          <a:xfrm>
            <a:off x="4338218" y="1554480"/>
            <a:ext cx="3515258" cy="146304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4475378" y="1691640"/>
            <a:ext cx="3240938" cy="365760"/>
          </a:xfrm>
          <a:prstGeom prst="rect">
            <a:avLst/>
          </a:prstGeom>
          <a:noFill/>
        </p:spPr>
        <p:txBody>
          <a:bodyPr wrap="square" lIns="45720" rIns="45720" anchor="ctr">
            <a:spAutoFit/>
          </a:bodyPr>
          <a:lstStyle/>
          <a:p>
            <a:pPr algn="l"/>
            <a:r>
              <a:rPr sz="1400" b="1" i="0">
                <a:solidFill>
                  <a:srgbClr val="0F8B8D"/>
                </a:solidFill>
                <a:latin typeface="Calibri"/>
              </a:rPr>
              <a:t>Many small customers</a:t>
            </a:r>
          </a:p>
        </p:txBody>
      </p:sp>
      <p:sp>
        <p:nvSpPr>
          <p:cNvPr id="11" name="TextBox 10"/>
          <p:cNvSpPr txBox="1"/>
          <p:nvPr/>
        </p:nvSpPr>
        <p:spPr>
          <a:xfrm>
            <a:off x="4475378" y="2075688"/>
            <a:ext cx="3240938" cy="804672"/>
          </a:xfrm>
          <a:prstGeom prst="rect">
            <a:avLst/>
          </a:prstGeom>
          <a:noFill/>
        </p:spPr>
        <p:txBody>
          <a:bodyPr wrap="square" lIns="45720" rIns="45720" anchor="t">
            <a:spAutoFit/>
          </a:bodyPr>
          <a:lstStyle/>
          <a:p>
            <a:pPr algn="l"/>
            <a:r>
              <a:rPr sz="1200" b="0" i="0">
                <a:solidFill>
                  <a:srgbClr val="1F2933"/>
                </a:solidFill>
                <a:latin typeface="Calibri"/>
              </a:rPr>
              <a:t>Weight overdue total and days since last contact, work through systematically, mass correspondence</a:t>
            </a:r>
          </a:p>
        </p:txBody>
      </p:sp>
      <p:sp>
        <p:nvSpPr>
          <p:cNvPr id="12" name="Rounded Rectangle 11"/>
          <p:cNvSpPr/>
          <p:nvPr/>
        </p:nvSpPr>
        <p:spPr>
          <a:xfrm>
            <a:off x="8127796" y="1554480"/>
            <a:ext cx="3515258" cy="146304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264956" y="1691640"/>
            <a:ext cx="3240938" cy="365760"/>
          </a:xfrm>
          <a:prstGeom prst="rect">
            <a:avLst/>
          </a:prstGeom>
          <a:noFill/>
        </p:spPr>
        <p:txBody>
          <a:bodyPr wrap="square" lIns="45720" rIns="45720" anchor="ctr">
            <a:spAutoFit/>
          </a:bodyPr>
          <a:lstStyle/>
          <a:p>
            <a:pPr algn="l"/>
            <a:r>
              <a:rPr sz="1400" b="1" i="0">
                <a:solidFill>
                  <a:srgbClr val="0F8B8D"/>
                </a:solidFill>
                <a:latin typeface="Calibri"/>
              </a:rPr>
              <a:t>Credit data available</a:t>
            </a:r>
          </a:p>
        </p:txBody>
      </p:sp>
      <p:sp>
        <p:nvSpPr>
          <p:cNvPr id="14" name="TextBox 13"/>
          <p:cNvSpPr txBox="1"/>
          <p:nvPr/>
        </p:nvSpPr>
        <p:spPr>
          <a:xfrm>
            <a:off x="8264956" y="2075688"/>
            <a:ext cx="3240938" cy="804672"/>
          </a:xfrm>
          <a:prstGeom prst="rect">
            <a:avLst/>
          </a:prstGeom>
          <a:noFill/>
        </p:spPr>
        <p:txBody>
          <a:bodyPr wrap="square" lIns="45720" rIns="45720" anchor="t">
            <a:spAutoFit/>
          </a:bodyPr>
          <a:lstStyle/>
          <a:p>
            <a:pPr algn="l"/>
            <a:r>
              <a:rPr sz="1200" b="0" i="0">
                <a:solidFill>
                  <a:srgbClr val="1F2933"/>
                </a:solidFill>
                <a:latin typeface="Calibri"/>
              </a:rPr>
              <a:t>Risk class from Credit Management as criterion; collection profile only for critical classes</a:t>
            </a:r>
          </a:p>
        </p:txBody>
      </p:sp>
      <p:sp>
        <p:nvSpPr>
          <p:cNvPr id="15" name="Rounded Rectangle 14"/>
          <p:cNvSpPr/>
          <p:nvPr/>
        </p:nvSpPr>
        <p:spPr>
          <a:xfrm>
            <a:off x="548640" y="3246120"/>
            <a:ext cx="2650159" cy="822960"/>
          </a:xfrm>
          <a:prstGeom prst="roundRect">
            <a:avLst>
              <a:gd name="adj" fmla="val 12000"/>
            </a:avLst>
          </a:prstGeom>
          <a:solidFill>
            <a:srgbClr val="1C4E80"/>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b="1" i="0">
                <a:solidFill>
                  <a:srgbClr val="FFFFFF"/>
                </a:solidFill>
                <a:latin typeface="Calibri"/>
              </a:rPr>
              <a:t>Rule</a:t>
            </a:r>
          </a:p>
          <a:p>
            <a:pPr algn="ctr"/>
            <a:r>
              <a:rPr sz="1000" b="0" i="0">
                <a:solidFill>
                  <a:srgbClr val="FFFFFF"/>
                </a:solidFill>
                <a:latin typeface="Calibri"/>
              </a:rPr>
              <a:t>question to the customer: more than X overdue for Y days?</a:t>
            </a:r>
          </a:p>
        </p:txBody>
      </p:sp>
      <p:sp>
        <p:nvSpPr>
          <p:cNvPr id="16" name="Right Arrow 15"/>
          <p:cNvSpPr/>
          <p:nvPr/>
        </p:nvSpPr>
        <p:spPr>
          <a:xfrm>
            <a:off x="3217087" y="3566160"/>
            <a:ext cx="128016" cy="182880"/>
          </a:xfrm>
          <a:prstGeom prst="rightArrow">
            <a:avLst/>
          </a:prstGeom>
          <a:solidFill>
            <a:srgbClr val="C9D2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3363391" y="3246120"/>
            <a:ext cx="2650159" cy="822960"/>
          </a:xfrm>
          <a:prstGeom prst="roundRect">
            <a:avLst>
              <a:gd name="adj" fmla="val 12000"/>
            </a:avLst>
          </a:prstGeom>
          <a:solidFill>
            <a:srgbClr val="1C4E80"/>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b="1" i="0">
                <a:solidFill>
                  <a:srgbClr val="FFFFFF"/>
                </a:solidFill>
                <a:latin typeface="Calibri"/>
              </a:rPr>
              <a:t>Weight</a:t>
            </a:r>
          </a:p>
          <a:p>
            <a:pPr algn="ctr"/>
            <a:r>
              <a:rPr sz="1000" b="0" i="0">
                <a:solidFill>
                  <a:srgbClr val="FFFFFF"/>
                </a:solidFill>
                <a:latin typeface="Calibri"/>
              </a:rPr>
              <a:t>points per matching rule</a:t>
            </a:r>
          </a:p>
        </p:txBody>
      </p:sp>
      <p:sp>
        <p:nvSpPr>
          <p:cNvPr id="18" name="Right Arrow 17"/>
          <p:cNvSpPr/>
          <p:nvPr/>
        </p:nvSpPr>
        <p:spPr>
          <a:xfrm>
            <a:off x="6031838" y="3566160"/>
            <a:ext cx="128016" cy="182880"/>
          </a:xfrm>
          <a:prstGeom prst="rightArrow">
            <a:avLst/>
          </a:prstGeom>
          <a:solidFill>
            <a:srgbClr val="C9D2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178142" y="3246120"/>
            <a:ext cx="2650159" cy="822960"/>
          </a:xfrm>
          <a:prstGeom prst="roundRect">
            <a:avLst>
              <a:gd name="adj" fmla="val 12000"/>
            </a:avLst>
          </a:prstGeom>
          <a:solidFill>
            <a:srgbClr val="1C4E80"/>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b="1" i="0">
                <a:solidFill>
                  <a:srgbClr val="FFFFFF"/>
                </a:solidFill>
                <a:latin typeface="Calibri"/>
              </a:rPr>
              <a:t>Sum</a:t>
            </a:r>
          </a:p>
          <a:p>
            <a:pPr algn="ctr"/>
            <a:r>
              <a:rPr sz="1000" b="0" i="0">
                <a:solidFill>
                  <a:srgbClr val="FFFFFF"/>
                </a:solidFill>
                <a:latin typeface="Calibri"/>
              </a:rPr>
              <a:t>relative to the maximum valuation</a:t>
            </a:r>
          </a:p>
        </p:txBody>
      </p:sp>
      <p:sp>
        <p:nvSpPr>
          <p:cNvPr id="20" name="Right Arrow 19"/>
          <p:cNvSpPr/>
          <p:nvPr/>
        </p:nvSpPr>
        <p:spPr>
          <a:xfrm>
            <a:off x="8846589" y="3566160"/>
            <a:ext cx="128016" cy="182880"/>
          </a:xfrm>
          <a:prstGeom prst="rightArrow">
            <a:avLst/>
          </a:prstGeom>
          <a:solidFill>
            <a:srgbClr val="C9D2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8992893" y="3246120"/>
            <a:ext cx="2650159" cy="822960"/>
          </a:xfrm>
          <a:prstGeom prst="roundRect">
            <a:avLst>
              <a:gd name="adj" fmla="val 12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b="1" i="0">
                <a:solidFill>
                  <a:srgbClr val="FFFFFF"/>
                </a:solidFill>
                <a:latin typeface="Calibri"/>
              </a:rPr>
              <a:t>Priority</a:t>
            </a:r>
          </a:p>
          <a:p>
            <a:pPr algn="ctr"/>
            <a:r>
              <a:rPr sz="1000" b="0" i="0">
                <a:solidFill>
                  <a:srgbClr val="FFFFFF"/>
                </a:solidFill>
                <a:latin typeface="Calibri"/>
              </a:rPr>
              <a:t>order on the worklist</a:t>
            </a:r>
          </a:p>
        </p:txBody>
      </p:sp>
      <p:sp>
        <p:nvSpPr>
          <p:cNvPr id="22" name="Rounded Rectangle 21"/>
          <p:cNvSpPr/>
          <p:nvPr/>
        </p:nvSpPr>
        <p:spPr>
          <a:xfrm>
            <a:off x="548640" y="4297680"/>
            <a:ext cx="11094415" cy="1280160"/>
          </a:xfrm>
          <a:prstGeom prst="roundRect">
            <a:avLst>
              <a:gd name="adj" fmla="val 12000"/>
            </a:avLst>
          </a:prstGeom>
          <a:solidFill>
            <a:srgbClr val="E6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777240" y="4389120"/>
            <a:ext cx="10637215" cy="1188720"/>
          </a:xfrm>
          <a:prstGeom prst="rect">
            <a:avLst/>
          </a:prstGeom>
          <a:noFill/>
        </p:spPr>
        <p:txBody>
          <a:bodyPr wrap="square" lIns="45720" rIns="45720">
            <a:spAutoFit/>
          </a:bodyPr>
          <a:lstStyle/>
          <a:p>
            <a:pPr marL="201168" indent="-201168">
              <a:spcAft>
                <a:spcPts val="400"/>
              </a:spcAft>
              <a:buChar char="•"/>
            </a:pPr>
            <a:r>
              <a:rPr sz="1200" b="1" i="0">
                <a:solidFill>
                  <a:srgbClr val="1F2933"/>
                </a:solidFill>
                <a:latin typeface="Calibri"/>
              </a:rPr>
              <a:t>Design question in the workshop: </a:t>
            </a:r>
            <a:r>
              <a:rPr sz="1200" b="0" i="0">
                <a:solidFill>
                  <a:srgbClr val="1F2933"/>
                </a:solidFill>
                <a:latin typeface="Calibri"/>
              </a:rPr>
              <a:t>how many different approaches exist in the customer's receivables management? That is the number of groups and strategies needed.</a:t>
            </a:r>
          </a:p>
          <a:p>
            <a:pPr marL="201168" indent="-201168">
              <a:spcAft>
                <a:spcPts val="400"/>
              </a:spcAft>
              <a:buChar char="•"/>
            </a:pPr>
            <a:r>
              <a:rPr sz="1200" b="1" i="0">
                <a:solidFill>
                  <a:srgbClr val="1F2933"/>
                </a:solidFill>
                <a:latin typeface="Calibri"/>
              </a:rPr>
              <a:t>Interplay: </a:t>
            </a:r>
            <a:r>
              <a:rPr sz="1200" b="0" i="0">
                <a:solidFill>
                  <a:srgbClr val="1F2933"/>
                </a:solidFill>
                <a:latin typeface="Calibri"/>
              </a:rPr>
              <a:t>the strategy also defines whether dunning levels enter the valuation and whether payment terms trigger proactive contact before the due date.</a:t>
            </a:r>
          </a:p>
          <a:p>
            <a:pPr marL="201168" indent="-201168">
              <a:spcAft>
                <a:spcPts val="400"/>
              </a:spcAft>
              <a:buChar char="•"/>
            </a:pPr>
            <a:r>
              <a:rPr sz="1200" b="1" i="0">
                <a:solidFill>
                  <a:srgbClr val="1F2933"/>
                </a:solidFill>
                <a:latin typeface="Calibri"/>
              </a:rPr>
              <a:t>Not a one-time setup: </a:t>
            </a:r>
            <a:r>
              <a:rPr sz="1200" b="0" i="0">
                <a:solidFill>
                  <a:srgbClr val="1F2933"/>
                </a:solidFill>
                <a:latin typeface="Calibri"/>
              </a:rPr>
              <a:t>if customers with broken promises appear too late, raise the weight. Effective from the next nightly run.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94415" cy="274320"/>
          </a:xfrm>
          <a:prstGeom prst="rect">
            <a:avLst/>
          </a:prstGeom>
          <a:noFill/>
        </p:spPr>
        <p:txBody>
          <a:bodyPr wrap="square" lIns="45720" rIns="45720" anchor="t">
            <a:spAutoFit/>
          </a:bodyPr>
          <a:lstStyle/>
          <a:p>
            <a:pPr algn="l"/>
            <a:r>
              <a:rPr sz="1100" b="1" i="0">
                <a:solidFill>
                  <a:srgbClr val="0F8B8D"/>
                </a:solidFill>
                <a:latin typeface="Calibri"/>
              </a:rPr>
              <a:t>D2  CONFIGURATION</a:t>
            </a:r>
          </a:p>
        </p:txBody>
      </p:sp>
      <p:sp>
        <p:nvSpPr>
          <p:cNvPr id="3" name="TextBox 2"/>
          <p:cNvSpPr txBox="1"/>
          <p:nvPr/>
        </p:nvSpPr>
        <p:spPr>
          <a:xfrm>
            <a:off x="548640" y="548640"/>
            <a:ext cx="11094415" cy="868680"/>
          </a:xfrm>
          <a:prstGeom prst="rect">
            <a:avLst/>
          </a:prstGeom>
          <a:noFill/>
        </p:spPr>
        <p:txBody>
          <a:bodyPr wrap="square" lIns="45720" rIns="45720" anchor="ctr">
            <a:spAutoFit/>
          </a:bodyPr>
          <a:lstStyle/>
          <a:p>
            <a:pPr algn="l"/>
            <a:r>
              <a:rPr sz="2800" b="1" i="0">
                <a:solidFill>
                  <a:srgbClr val="1C4E80"/>
                </a:solidFill>
                <a:latin typeface="Calibri"/>
              </a:rPr>
              <a:t>Structure of a strategy in Manage Collection Strategies (F2946)</a:t>
            </a:r>
          </a:p>
        </p:txBody>
      </p:sp>
      <p:sp>
        <p:nvSpPr>
          <p:cNvPr id="4" name="TextBox 3"/>
          <p:cNvSpPr txBox="1"/>
          <p:nvPr/>
        </p:nvSpPr>
        <p:spPr>
          <a:xfrm>
            <a:off x="548640" y="6446520"/>
            <a:ext cx="8229600" cy="274320"/>
          </a:xfrm>
          <a:prstGeom prst="rect">
            <a:avLst/>
          </a:prstGeom>
          <a:noFill/>
        </p:spPr>
        <p:txBody>
          <a:bodyPr wrap="square" lIns="45720" rIns="45720" anchor="t">
            <a:spAutoFit/>
          </a:bodyPr>
          <a:lstStyle/>
          <a:p>
            <a:pPr algn="l"/>
            <a:r>
              <a:rPr sz="900" b="0" i="0">
                <a:solidFill>
                  <a:srgbClr val="5F6B7A"/>
                </a:solidFill>
                <a:latin typeface="Calibri"/>
              </a:rPr>
              <a:t>F2S Workshop 4  |  Collections &amp; Dispute Management  |  D  Collection strategy configuration</a:t>
            </a:r>
          </a:p>
        </p:txBody>
      </p:sp>
      <p:sp>
        <p:nvSpPr>
          <p:cNvPr id="5" name="TextBox 4"/>
          <p:cNvSpPr txBox="1"/>
          <p:nvPr/>
        </p:nvSpPr>
        <p:spPr>
          <a:xfrm>
            <a:off x="10728655" y="6446520"/>
            <a:ext cx="914400" cy="274320"/>
          </a:xfrm>
          <a:prstGeom prst="rect">
            <a:avLst/>
          </a:prstGeom>
          <a:noFill/>
        </p:spPr>
        <p:txBody>
          <a:bodyPr wrap="square" lIns="45720" rIns="45720" anchor="t">
            <a:spAutoFit/>
          </a:bodyPr>
          <a:lstStyle/>
          <a:p>
            <a:pPr algn="r"/>
            <a:r>
              <a:rPr sz="900" b="0" i="0">
                <a:solidFill>
                  <a:srgbClr val="5F6B7A"/>
                </a:solidFill>
                <a:latin typeface="Calibri"/>
              </a:rPr>
              <a:t>19</a:t>
            </a:r>
          </a:p>
        </p:txBody>
      </p:sp>
      <p:sp>
        <p:nvSpPr>
          <p:cNvPr id="6" name="Rounded Rectangle 5"/>
          <p:cNvSpPr/>
          <p:nvPr/>
        </p:nvSpPr>
        <p:spPr>
          <a:xfrm>
            <a:off x="548640" y="1554480"/>
            <a:ext cx="4206240" cy="429768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685800" y="1691640"/>
            <a:ext cx="3931920" cy="365760"/>
          </a:xfrm>
          <a:prstGeom prst="rect">
            <a:avLst/>
          </a:prstGeom>
          <a:noFill/>
        </p:spPr>
        <p:txBody>
          <a:bodyPr wrap="square" lIns="45720" rIns="45720" anchor="ctr">
            <a:spAutoFit/>
          </a:bodyPr>
          <a:lstStyle/>
          <a:p>
            <a:pPr algn="l"/>
            <a:r>
              <a:rPr sz="1400" b="1" i="0">
                <a:solidFill>
                  <a:srgbClr val="1C4E80"/>
                </a:solidFill>
                <a:latin typeface="Calibri"/>
              </a:rPr>
              <a:t>Building blocks of the strategy</a:t>
            </a:r>
          </a:p>
        </p:txBody>
      </p:sp>
      <p:sp>
        <p:nvSpPr>
          <p:cNvPr id="8" name="TextBox 7"/>
          <p:cNvSpPr txBox="1"/>
          <p:nvPr/>
        </p:nvSpPr>
        <p:spPr>
          <a:xfrm>
            <a:off x="685800" y="2075688"/>
            <a:ext cx="3931920" cy="3639312"/>
          </a:xfrm>
          <a:prstGeom prst="rect">
            <a:avLst/>
          </a:prstGeom>
          <a:noFill/>
        </p:spPr>
        <p:txBody>
          <a:bodyPr wrap="square" lIns="45720" rIns="45720">
            <a:spAutoFit/>
          </a:bodyPr>
          <a:lstStyle/>
          <a:p>
            <a:pPr marL="201168" indent="-201168">
              <a:spcAft>
                <a:spcPts val="300"/>
              </a:spcAft>
              <a:buChar char="•"/>
            </a:pPr>
            <a:r>
              <a:rPr sz="1200" b="1" i="0">
                <a:solidFill>
                  <a:srgbClr val="1F2933"/>
                </a:solidFill>
                <a:latin typeface="Calibri"/>
              </a:rPr>
              <a:t>Header: </a:t>
            </a:r>
            <a:r>
              <a:rPr sz="1200" b="0" i="0">
                <a:solidFill>
                  <a:srgbClr val="1F2933"/>
                </a:solidFill>
                <a:latin typeface="Calibri"/>
              </a:rPr>
              <a:t>ID, name, strategy currency, maximum valuation, status active / inactive</a:t>
            </a:r>
          </a:p>
          <a:p>
            <a:pPr marL="201168" indent="-201168">
              <a:spcAft>
                <a:spcPts val="300"/>
              </a:spcAft>
              <a:buChar char="•"/>
            </a:pPr>
            <a:r>
              <a:rPr sz="1200" b="1" i="0">
                <a:solidFill>
                  <a:srgbClr val="1F2933"/>
                </a:solidFill>
                <a:latin typeface="Calibri"/>
              </a:rPr>
              <a:t>Collection rules: </a:t>
            </a:r>
            <a:r>
              <a:rPr sz="1200" b="0" i="0">
                <a:solidFill>
                  <a:srgbClr val="1F2933"/>
                </a:solidFill>
                <a:latin typeface="Calibri"/>
              </a:rPr>
              <a:t>predefined rules with conditions (amount, days, promises, contact) and valuation in points</a:t>
            </a:r>
          </a:p>
          <a:p>
            <a:pPr marL="201168" indent="-201168">
              <a:spcAft>
                <a:spcPts val="300"/>
              </a:spcAft>
              <a:buChar char="•"/>
            </a:pPr>
            <a:r>
              <a:rPr sz="1200" b="1" i="0">
                <a:solidFill>
                  <a:srgbClr val="1F2933"/>
                </a:solidFill>
                <a:latin typeface="Calibri"/>
              </a:rPr>
              <a:t>Aging periods: </a:t>
            </a:r>
            <a:r>
              <a:rPr sz="1200" b="0" i="0">
                <a:solidFill>
                  <a:srgbClr val="1F2933"/>
                </a:solidFill>
                <a:latin typeface="Calibri"/>
              </a:rPr>
              <a:t>overdue periods 1–30, 31–60, 61–90, &gt; 90 days and due date periods</a:t>
            </a:r>
          </a:p>
          <a:p>
            <a:pPr marL="201168" indent="-201168">
              <a:spcAft>
                <a:spcPts val="300"/>
              </a:spcAft>
              <a:buChar char="•"/>
            </a:pPr>
            <a:r>
              <a:rPr sz="1200" b="1" i="0">
                <a:solidFill>
                  <a:srgbClr val="1F2933"/>
                </a:solidFill>
                <a:latin typeface="Calibri"/>
              </a:rPr>
              <a:t>Dunning integration: </a:t>
            </a:r>
            <a:r>
              <a:rPr sz="1200" b="0" i="0">
                <a:solidFill>
                  <a:srgbClr val="1F2933"/>
                </a:solidFill>
                <a:latin typeface="Calibri"/>
              </a:rPr>
              <a:t>dunning levels as criterion</a:t>
            </a:r>
          </a:p>
          <a:p>
            <a:pPr marL="201168" indent="-201168">
              <a:spcAft>
                <a:spcPts val="300"/>
              </a:spcAft>
              <a:buChar char="•"/>
            </a:pPr>
            <a:r>
              <a:rPr sz="1200" b="1" i="0">
                <a:solidFill>
                  <a:srgbClr val="1F2933"/>
                </a:solidFill>
                <a:latin typeface="Calibri"/>
              </a:rPr>
              <a:t>Payment terms: </a:t>
            </a:r>
            <a:r>
              <a:rPr sz="1200" b="0" i="0">
                <a:solidFill>
                  <a:srgbClr val="1F2933"/>
                </a:solidFill>
                <a:latin typeface="Calibri"/>
              </a:rPr>
              <a:t>proactive processing before due date</a:t>
            </a:r>
          </a:p>
          <a:p>
            <a:pPr marL="201168" indent="-201168">
              <a:spcAft>
                <a:spcPts val="300"/>
              </a:spcAft>
              <a:buChar char="•"/>
            </a:pPr>
            <a:r>
              <a:rPr sz="1200" b="1" i="0">
                <a:solidFill>
                  <a:srgbClr val="1F2933"/>
                </a:solidFill>
                <a:latin typeface="Calibri"/>
              </a:rPr>
              <a:t>Show Assignment: </a:t>
            </a:r>
            <a:r>
              <a:rPr sz="1200" b="0" i="0">
                <a:solidFill>
                  <a:srgbClr val="1F2933"/>
                </a:solidFill>
                <a:latin typeface="Calibri"/>
              </a:rPr>
              <a:t>which groups use the strategy</a:t>
            </a:r>
          </a:p>
        </p:txBody>
      </p:sp>
      <p:graphicFrame>
        <p:nvGraphicFramePr>
          <p:cNvPr id="9" name="Table 8"/>
          <p:cNvGraphicFramePr>
            <a:graphicFrameLocks noGrp="1"/>
          </p:cNvGraphicFramePr>
          <p:nvPr/>
        </p:nvGraphicFramePr>
        <p:xfrm>
          <a:off x="4983480" y="1554480"/>
          <a:ext cx="6629400" cy="2286000"/>
        </p:xfrm>
        <a:graphic>
          <a:graphicData uri="http://schemas.openxmlformats.org/drawingml/2006/table">
            <a:tbl>
              <a:tblPr>
                <a:tableStyleId>{5C22544A-7EE6-4342-B048-85BDC9FD1C3A}</a:tableStyleId>
              </a:tblPr>
              <a:tblGrid>
                <a:gridCol w="118872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457200">
                <a:tc>
                  <a:txBody>
                    <a:bodyPr/>
                    <a:lstStyle/>
                    <a:p>
                      <a:r>
                        <a:rPr sz="1100" b="1" i="0">
                          <a:solidFill>
                            <a:srgbClr val="FFFFFF"/>
                          </a:solidFill>
                          <a:latin typeface="Calibri"/>
                        </a:rPr>
                        <a:t>Rule</a:t>
                      </a:r>
                    </a:p>
                  </a:txBody>
                  <a:tcPr marL="73152" marR="73152" marT="36576" marB="36576" anchor="ctr">
                    <a:solidFill>
                      <a:srgbClr val="1C4E80"/>
                    </a:solidFill>
                  </a:tcPr>
                </a:tc>
                <a:tc>
                  <a:txBody>
                    <a:bodyPr/>
                    <a:lstStyle/>
                    <a:p>
                      <a:r>
                        <a:rPr sz="1100" b="1" i="0">
                          <a:solidFill>
                            <a:srgbClr val="FFFFFF"/>
                          </a:solidFill>
                          <a:latin typeface="Calibri"/>
                        </a:rPr>
                        <a:t>Condition (example)</a:t>
                      </a:r>
                    </a:p>
                  </a:txBody>
                  <a:tcPr marL="73152" marR="73152" marT="36576" marB="36576" anchor="ctr">
                    <a:solidFill>
                      <a:srgbClr val="1C4E80"/>
                    </a:solidFill>
                  </a:tcPr>
                </a:tc>
                <a:tc>
                  <a:txBody>
                    <a:bodyPr/>
                    <a:lstStyle/>
                    <a:p>
                      <a:r>
                        <a:rPr sz="1100" b="1" i="0">
                          <a:solidFill>
                            <a:srgbClr val="FFFFFF"/>
                          </a:solidFill>
                          <a:latin typeface="Calibri"/>
                        </a:rPr>
                        <a:t>Points</a:t>
                      </a:r>
                    </a:p>
                  </a:txBody>
                  <a:tcPr marL="73152" marR="73152" marT="36576" marB="36576" anchor="ctr">
                    <a:solidFill>
                      <a:srgbClr val="1C4E80"/>
                    </a:solidFill>
                  </a:tcPr>
                </a:tc>
                <a:tc>
                  <a:txBody>
                    <a:bodyPr/>
                    <a:lstStyle/>
                    <a:p>
                      <a:r>
                        <a:rPr sz="1100" b="1" i="0">
                          <a:solidFill>
                            <a:srgbClr val="FFFFFF"/>
                          </a:solidFill>
                          <a:latin typeface="Calibri"/>
                        </a:rPr>
                        <a:t>Business meaning</a:t>
                      </a:r>
                    </a:p>
                  </a:txBody>
                  <a:tcPr marL="73152" marR="73152" marT="36576" marB="36576" anchor="ctr">
                    <a:solidFill>
                      <a:srgbClr val="1C4E80"/>
                    </a:solidFill>
                  </a:tcPr>
                </a:tc>
                <a:extLst>
                  <a:ext uri="{0D108BD9-81ED-4DB2-BD59-A6C34878D82A}">
                    <a16:rowId xmlns:a16="http://schemas.microsoft.com/office/drawing/2014/main" val="10000"/>
                  </a:ext>
                </a:extLst>
              </a:tr>
              <a:tr h="457200">
                <a:tc>
                  <a:txBody>
                    <a:bodyPr/>
                    <a:lstStyle/>
                    <a:p>
                      <a:r>
                        <a:rPr sz="1100" b="1" i="0">
                          <a:solidFill>
                            <a:srgbClr val="1F2933"/>
                          </a:solidFill>
                          <a:latin typeface="Calibri"/>
                        </a:rPr>
                        <a:t>CR00000002</a:t>
                      </a:r>
                    </a:p>
                  </a:txBody>
                  <a:tcPr marL="73152" marR="73152" marT="36576" marB="36576" anchor="ctr">
                    <a:solidFill>
                      <a:srgbClr val="FFFFFF"/>
                    </a:solidFill>
                  </a:tcPr>
                </a:tc>
                <a:tc>
                  <a:txBody>
                    <a:bodyPr/>
                    <a:lstStyle/>
                    <a:p>
                      <a:r>
                        <a:rPr sz="1100" b="0" i="0">
                          <a:solidFill>
                            <a:srgbClr val="1F2933"/>
                          </a:solidFill>
                          <a:latin typeface="Calibri"/>
                        </a:rPr>
                        <a:t>Overdue total &gt; 1,500 EUR and ≥ 5 days</a:t>
                      </a:r>
                    </a:p>
                  </a:txBody>
                  <a:tcPr marL="73152" marR="73152" marT="36576" marB="36576" anchor="ctr">
                    <a:solidFill>
                      <a:srgbClr val="FFFFFF"/>
                    </a:solidFill>
                  </a:tcPr>
                </a:tc>
                <a:tc>
                  <a:txBody>
                    <a:bodyPr/>
                    <a:lstStyle/>
                    <a:p>
                      <a:r>
                        <a:rPr sz="1100" b="0" i="0">
                          <a:solidFill>
                            <a:srgbClr val="1F2933"/>
                          </a:solidFill>
                          <a:latin typeface="Calibri"/>
                        </a:rPr>
                        <a:t>15</a:t>
                      </a:r>
                    </a:p>
                  </a:txBody>
                  <a:tcPr marL="73152" marR="73152" marT="36576" marB="36576" anchor="ctr">
                    <a:solidFill>
                      <a:srgbClr val="FFFFFF"/>
                    </a:solidFill>
                  </a:tcPr>
                </a:tc>
                <a:tc>
                  <a:txBody>
                    <a:bodyPr/>
                    <a:lstStyle/>
                    <a:p>
                      <a:r>
                        <a:rPr sz="1100" b="0" i="0">
                          <a:solidFill>
                            <a:srgbClr val="1F2933"/>
                          </a:solidFill>
                          <a:latin typeface="Calibri"/>
                        </a:rPr>
                        <a:t>Large overall arrears</a:t>
                      </a:r>
                    </a:p>
                  </a:txBody>
                  <a:tcPr marL="73152" marR="73152" marT="36576" marB="36576" anchor="ctr">
                    <a:solidFill>
                      <a:srgbClr val="FFFFFF"/>
                    </a:solidFill>
                  </a:tcPr>
                </a:tc>
                <a:extLst>
                  <a:ext uri="{0D108BD9-81ED-4DB2-BD59-A6C34878D82A}">
                    <a16:rowId xmlns:a16="http://schemas.microsoft.com/office/drawing/2014/main" val="10001"/>
                  </a:ext>
                </a:extLst>
              </a:tr>
              <a:tr h="457200">
                <a:tc>
                  <a:txBody>
                    <a:bodyPr/>
                    <a:lstStyle/>
                    <a:p>
                      <a:r>
                        <a:rPr sz="1100" b="1" i="0">
                          <a:solidFill>
                            <a:srgbClr val="1F2933"/>
                          </a:solidFill>
                          <a:latin typeface="Calibri"/>
                        </a:rPr>
                        <a:t>CR00000003</a:t>
                      </a:r>
                    </a:p>
                  </a:txBody>
                  <a:tcPr marL="73152" marR="73152" marT="36576" marB="36576" anchor="ctr">
                    <a:solidFill>
                      <a:srgbClr val="EEF3F8"/>
                    </a:solidFill>
                  </a:tcPr>
                </a:tc>
                <a:tc>
                  <a:txBody>
                    <a:bodyPr/>
                    <a:lstStyle/>
                    <a:p>
                      <a:r>
                        <a:rPr sz="1100" b="0" i="0">
                          <a:solidFill>
                            <a:srgbClr val="1F2933"/>
                          </a:solidFill>
                          <a:latin typeface="Calibri"/>
                        </a:rPr>
                        <a:t>Single item &gt; 5,000 EUR and ≥ 5 days</a:t>
                      </a:r>
                    </a:p>
                  </a:txBody>
                  <a:tcPr marL="73152" marR="73152" marT="36576" marB="36576" anchor="ctr">
                    <a:solidFill>
                      <a:srgbClr val="EEF3F8"/>
                    </a:solidFill>
                  </a:tcPr>
                </a:tc>
                <a:tc>
                  <a:txBody>
                    <a:bodyPr/>
                    <a:lstStyle/>
                    <a:p>
                      <a:r>
                        <a:rPr sz="1100" b="0" i="0">
                          <a:solidFill>
                            <a:srgbClr val="1F2933"/>
                          </a:solidFill>
                          <a:latin typeface="Calibri"/>
                        </a:rPr>
                        <a:t>10</a:t>
                      </a:r>
                    </a:p>
                  </a:txBody>
                  <a:tcPr marL="73152" marR="73152" marT="36576" marB="36576" anchor="ctr">
                    <a:solidFill>
                      <a:srgbClr val="EEF3F8"/>
                    </a:solidFill>
                  </a:tcPr>
                </a:tc>
                <a:tc>
                  <a:txBody>
                    <a:bodyPr/>
                    <a:lstStyle/>
                    <a:p>
                      <a:r>
                        <a:rPr sz="1100" b="0" i="0">
                          <a:solidFill>
                            <a:srgbClr val="1F2933"/>
                          </a:solidFill>
                          <a:latin typeface="Calibri"/>
                        </a:rPr>
                        <a:t>One large invoice</a:t>
                      </a:r>
                    </a:p>
                  </a:txBody>
                  <a:tcPr marL="73152" marR="73152" marT="36576" marB="36576" anchor="ctr">
                    <a:solidFill>
                      <a:srgbClr val="EEF3F8"/>
                    </a:solidFill>
                  </a:tcPr>
                </a:tc>
                <a:extLst>
                  <a:ext uri="{0D108BD9-81ED-4DB2-BD59-A6C34878D82A}">
                    <a16:rowId xmlns:a16="http://schemas.microsoft.com/office/drawing/2014/main" val="10002"/>
                  </a:ext>
                </a:extLst>
              </a:tr>
              <a:tr h="457200">
                <a:tc>
                  <a:txBody>
                    <a:bodyPr/>
                    <a:lstStyle/>
                    <a:p>
                      <a:r>
                        <a:rPr sz="1100" b="1" i="0">
                          <a:solidFill>
                            <a:srgbClr val="1F2933"/>
                          </a:solidFill>
                          <a:latin typeface="Calibri"/>
                        </a:rPr>
                        <a:t>CR00000013</a:t>
                      </a:r>
                    </a:p>
                  </a:txBody>
                  <a:tcPr marL="73152" marR="73152" marT="36576" marB="36576" anchor="ctr">
                    <a:solidFill>
                      <a:srgbClr val="FFFFFF"/>
                    </a:solidFill>
                  </a:tcPr>
                </a:tc>
                <a:tc>
                  <a:txBody>
                    <a:bodyPr/>
                    <a:lstStyle/>
                    <a:p>
                      <a:r>
                        <a:rPr sz="1100" b="0" i="0">
                          <a:solidFill>
                            <a:srgbClr val="1F2933"/>
                          </a:solidFill>
                          <a:latin typeface="Calibri"/>
                        </a:rPr>
                        <a:t>Total promised &gt; 500 EUR</a:t>
                      </a:r>
                    </a:p>
                  </a:txBody>
                  <a:tcPr marL="73152" marR="73152" marT="36576" marB="36576" anchor="ctr">
                    <a:solidFill>
                      <a:srgbClr val="FFFFFF"/>
                    </a:solidFill>
                  </a:tcPr>
                </a:tc>
                <a:tc>
                  <a:txBody>
                    <a:bodyPr/>
                    <a:lstStyle/>
                    <a:p>
                      <a:r>
                        <a:rPr sz="1100" b="0" i="0">
                          <a:solidFill>
                            <a:srgbClr val="1F2933"/>
                          </a:solidFill>
                          <a:latin typeface="Calibri"/>
                        </a:rPr>
                        <a:t>10</a:t>
                      </a:r>
                    </a:p>
                  </a:txBody>
                  <a:tcPr marL="73152" marR="73152" marT="36576" marB="36576" anchor="ctr">
                    <a:solidFill>
                      <a:srgbClr val="FFFFFF"/>
                    </a:solidFill>
                  </a:tcPr>
                </a:tc>
                <a:tc>
                  <a:txBody>
                    <a:bodyPr/>
                    <a:lstStyle/>
                    <a:p>
                      <a:r>
                        <a:rPr sz="1100" b="0" i="0">
                          <a:solidFill>
                            <a:srgbClr val="1F2933"/>
                          </a:solidFill>
                          <a:latin typeface="Calibri"/>
                        </a:rPr>
                        <a:t>Follow up on open commitments</a:t>
                      </a:r>
                    </a:p>
                  </a:txBody>
                  <a:tcPr marL="73152" marR="73152" marT="36576" marB="36576" anchor="ctr">
                    <a:solidFill>
                      <a:srgbClr val="FFFFFF"/>
                    </a:solidFill>
                  </a:tcPr>
                </a:tc>
                <a:extLst>
                  <a:ext uri="{0D108BD9-81ED-4DB2-BD59-A6C34878D82A}">
                    <a16:rowId xmlns:a16="http://schemas.microsoft.com/office/drawing/2014/main" val="10003"/>
                  </a:ext>
                </a:extLst>
              </a:tr>
              <a:tr h="457200">
                <a:tc>
                  <a:txBody>
                    <a:bodyPr/>
                    <a:lstStyle/>
                    <a:p>
                      <a:r>
                        <a:rPr sz="1100" b="1" i="0">
                          <a:solidFill>
                            <a:srgbClr val="1F2933"/>
                          </a:solidFill>
                          <a:latin typeface="Calibri"/>
                        </a:rPr>
                        <a:t>CR00000019</a:t>
                      </a:r>
                    </a:p>
                  </a:txBody>
                  <a:tcPr marL="73152" marR="73152" marT="36576" marB="36576" anchor="ctr">
                    <a:solidFill>
                      <a:srgbClr val="EEF3F8"/>
                    </a:solidFill>
                  </a:tcPr>
                </a:tc>
                <a:tc>
                  <a:txBody>
                    <a:bodyPr/>
                    <a:lstStyle/>
                    <a:p>
                      <a:r>
                        <a:rPr sz="1100" b="0" i="0">
                          <a:solidFill>
                            <a:srgbClr val="1F2933"/>
                          </a:solidFill>
                          <a:latin typeface="Calibri"/>
                        </a:rPr>
                        <a:t>Days since last contact ≥ 10</a:t>
                      </a:r>
                    </a:p>
                  </a:txBody>
                  <a:tcPr marL="73152" marR="73152" marT="36576" marB="36576" anchor="ctr">
                    <a:solidFill>
                      <a:srgbClr val="EEF3F8"/>
                    </a:solidFill>
                  </a:tcPr>
                </a:tc>
                <a:tc>
                  <a:txBody>
                    <a:bodyPr/>
                    <a:lstStyle/>
                    <a:p>
                      <a:r>
                        <a:rPr sz="1100" b="0" i="0">
                          <a:solidFill>
                            <a:srgbClr val="1F2933"/>
                          </a:solidFill>
                          <a:latin typeface="Calibri"/>
                        </a:rPr>
                        <a:t>5</a:t>
                      </a:r>
                    </a:p>
                  </a:txBody>
                  <a:tcPr marL="73152" marR="73152" marT="36576" marB="36576" anchor="ctr">
                    <a:solidFill>
                      <a:srgbClr val="EEF3F8"/>
                    </a:solidFill>
                  </a:tcPr>
                </a:tc>
                <a:tc>
                  <a:txBody>
                    <a:bodyPr/>
                    <a:lstStyle/>
                    <a:p>
                      <a:r>
                        <a:rPr sz="1100" b="0" i="0">
                          <a:solidFill>
                            <a:srgbClr val="1F2933"/>
                          </a:solidFill>
                          <a:latin typeface="Calibri"/>
                        </a:rPr>
                        <a:t>Not contacted for a long time</a:t>
                      </a:r>
                    </a:p>
                  </a:txBody>
                  <a:tcPr marL="73152" marR="73152" marT="36576" marB="36576" anchor="ctr">
                    <a:solidFill>
                      <a:srgbClr val="EEF3F8"/>
                    </a:solidFill>
                  </a:tcPr>
                </a:tc>
                <a:extLst>
                  <a:ext uri="{0D108BD9-81ED-4DB2-BD59-A6C34878D82A}">
                    <a16:rowId xmlns:a16="http://schemas.microsoft.com/office/drawing/2014/main" val="10004"/>
                  </a:ext>
                </a:extLst>
              </a:tr>
            </a:tbl>
          </a:graphicData>
        </a:graphic>
      </p:graphicFrame>
      <p:sp>
        <p:nvSpPr>
          <p:cNvPr id="10" name="Rounded Rectangle 9"/>
          <p:cNvSpPr/>
          <p:nvPr/>
        </p:nvSpPr>
        <p:spPr>
          <a:xfrm>
            <a:off x="4983480" y="4069080"/>
            <a:ext cx="6629400" cy="1783080"/>
          </a:xfrm>
          <a:prstGeom prst="roundRect">
            <a:avLst>
              <a:gd name="adj" fmla="val 12000"/>
            </a:avLst>
          </a:prstGeom>
          <a:solidFill>
            <a:srgbClr val="E6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5166360" y="4160520"/>
            <a:ext cx="6309360" cy="1645920"/>
          </a:xfrm>
          <a:prstGeom prst="rect">
            <a:avLst/>
          </a:prstGeom>
          <a:noFill/>
        </p:spPr>
        <p:txBody>
          <a:bodyPr wrap="square" lIns="45720" rIns="45720">
            <a:spAutoFit/>
          </a:bodyPr>
          <a:lstStyle/>
          <a:p>
            <a:pPr marL="201168" indent="-201168">
              <a:spcAft>
                <a:spcPts val="400"/>
              </a:spcAft>
              <a:buChar char="•"/>
            </a:pPr>
            <a:r>
              <a:rPr sz="1200" b="1" i="0">
                <a:solidFill>
                  <a:srgbClr val="1F2933"/>
                </a:solidFill>
                <a:latin typeface="Calibri"/>
              </a:rPr>
              <a:t>Example: </a:t>
            </a:r>
            <a:r>
              <a:rPr sz="1200" b="0" i="0">
                <a:solidFill>
                  <a:srgbClr val="1F2933"/>
                </a:solidFill>
                <a:latin typeface="Calibri"/>
              </a:rPr>
              <a:t>customer with 8,000 EUR total arrears, one item over 6,000 EUR, last contact 12 days ago: 15 + 10 + 5 = 30 points out of a maximum of 40 → high priority.</a:t>
            </a:r>
          </a:p>
          <a:p>
            <a:pPr marL="201168" indent="-201168">
              <a:spcAft>
                <a:spcPts val="400"/>
              </a:spcAft>
              <a:buChar char="•"/>
            </a:pPr>
            <a:r>
              <a:rPr sz="1200" b="1" i="0">
                <a:solidFill>
                  <a:srgbClr val="1F2933"/>
                </a:solidFill>
                <a:latin typeface="Calibri"/>
              </a:rPr>
              <a:t>Second customer: </a:t>
            </a:r>
            <a:r>
              <a:rPr sz="1200" b="0" i="0">
                <a:solidFill>
                  <a:srgbClr val="1F2933"/>
                </a:solidFill>
                <a:latin typeface="Calibri"/>
              </a:rPr>
              <a:t>1,200 EUR arrears, no large item, contacted yesterday: 0 points → not on the worklist.</a:t>
            </a:r>
          </a:p>
          <a:p>
            <a:pPr marL="201168" indent="-201168">
              <a:spcAft>
                <a:spcPts val="400"/>
              </a:spcAft>
              <a:buChar char="•"/>
            </a:pPr>
            <a:r>
              <a:rPr sz="1200" b="1" i="0">
                <a:solidFill>
                  <a:srgbClr val="1F2933"/>
                </a:solidFill>
                <a:latin typeface="Calibri"/>
              </a:rPr>
              <a:t>Consequence: </a:t>
            </a:r>
            <a:r>
              <a:rPr sz="1200" b="0" i="0">
                <a:solidFill>
                  <a:srgbClr val="1F2933"/>
                </a:solidFill>
                <a:latin typeface="Calibri"/>
              </a:rPr>
              <a:t>in the morning the specialist sees the first customer at the top and the second not at all.</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94415" cy="274320"/>
          </a:xfrm>
          <a:prstGeom prst="rect">
            <a:avLst/>
          </a:prstGeom>
          <a:noFill/>
        </p:spPr>
        <p:txBody>
          <a:bodyPr wrap="square" lIns="45720" rIns="45720" anchor="t">
            <a:spAutoFit/>
          </a:bodyPr>
          <a:lstStyle/>
          <a:p>
            <a:pPr algn="l"/>
            <a:r>
              <a:rPr sz="1100" b="1" i="0">
                <a:solidFill>
                  <a:srgbClr val="0F8B8D"/>
                </a:solidFill>
                <a:latin typeface="Calibri"/>
              </a:rPr>
              <a:t>D3  PRACTICE</a:t>
            </a:r>
          </a:p>
        </p:txBody>
      </p:sp>
      <p:sp>
        <p:nvSpPr>
          <p:cNvPr id="3" name="TextBox 2"/>
          <p:cNvSpPr txBox="1"/>
          <p:nvPr/>
        </p:nvSpPr>
        <p:spPr>
          <a:xfrm>
            <a:off x="548640" y="548640"/>
            <a:ext cx="11094415" cy="868680"/>
          </a:xfrm>
          <a:prstGeom prst="rect">
            <a:avLst/>
          </a:prstGeom>
          <a:noFill/>
        </p:spPr>
        <p:txBody>
          <a:bodyPr wrap="square" lIns="45720" rIns="45720" anchor="ctr">
            <a:spAutoFit/>
          </a:bodyPr>
          <a:lstStyle/>
          <a:p>
            <a:pPr algn="l"/>
            <a:r>
              <a:rPr sz="2800" b="1" i="0">
                <a:solidFill>
                  <a:srgbClr val="1C4E80"/>
                </a:solidFill>
                <a:latin typeface="Calibri"/>
              </a:rPr>
              <a:t>Practice: configuration sequence and mass assignment</a:t>
            </a:r>
          </a:p>
        </p:txBody>
      </p:sp>
      <p:sp>
        <p:nvSpPr>
          <p:cNvPr id="4" name="TextBox 3"/>
          <p:cNvSpPr txBox="1"/>
          <p:nvPr/>
        </p:nvSpPr>
        <p:spPr>
          <a:xfrm>
            <a:off x="548640" y="6446520"/>
            <a:ext cx="8229600" cy="274320"/>
          </a:xfrm>
          <a:prstGeom prst="rect">
            <a:avLst/>
          </a:prstGeom>
          <a:noFill/>
        </p:spPr>
        <p:txBody>
          <a:bodyPr wrap="square" lIns="45720" rIns="45720" anchor="t">
            <a:spAutoFit/>
          </a:bodyPr>
          <a:lstStyle/>
          <a:p>
            <a:pPr algn="l"/>
            <a:r>
              <a:rPr sz="900" b="0" i="0">
                <a:solidFill>
                  <a:srgbClr val="5F6B7A"/>
                </a:solidFill>
                <a:latin typeface="Calibri"/>
              </a:rPr>
              <a:t>F2S Workshop 4  |  Collections &amp; Dispute Management  |  D  Collection strategy configuration</a:t>
            </a:r>
          </a:p>
        </p:txBody>
      </p:sp>
      <p:sp>
        <p:nvSpPr>
          <p:cNvPr id="5" name="TextBox 4"/>
          <p:cNvSpPr txBox="1"/>
          <p:nvPr/>
        </p:nvSpPr>
        <p:spPr>
          <a:xfrm>
            <a:off x="10728655" y="6446520"/>
            <a:ext cx="914400" cy="274320"/>
          </a:xfrm>
          <a:prstGeom prst="rect">
            <a:avLst/>
          </a:prstGeom>
          <a:noFill/>
        </p:spPr>
        <p:txBody>
          <a:bodyPr wrap="square" lIns="45720" rIns="45720" anchor="t">
            <a:spAutoFit/>
          </a:bodyPr>
          <a:lstStyle/>
          <a:p>
            <a:pPr algn="r"/>
            <a:r>
              <a:rPr sz="900" b="0" i="0">
                <a:solidFill>
                  <a:srgbClr val="5F6B7A"/>
                </a:solidFill>
                <a:latin typeface="Calibri"/>
              </a:rPr>
              <a:t>20</a:t>
            </a:r>
          </a:p>
        </p:txBody>
      </p:sp>
      <p:sp>
        <p:nvSpPr>
          <p:cNvPr id="6" name="Rounded Rectangle 5"/>
          <p:cNvSpPr/>
          <p:nvPr/>
        </p:nvSpPr>
        <p:spPr>
          <a:xfrm>
            <a:off x="548640" y="1554480"/>
            <a:ext cx="2072579" cy="548640"/>
          </a:xfrm>
          <a:prstGeom prst="roundRect">
            <a:avLst>
              <a:gd name="adj" fmla="val 12000"/>
            </a:avLst>
          </a:prstGeom>
          <a:solidFill>
            <a:srgbClr val="1C4E80"/>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b="1" i="0">
                <a:solidFill>
                  <a:srgbClr val="FFFFFF"/>
                </a:solidFill>
                <a:latin typeface="Calibri"/>
              </a:rPr>
              <a:t>1 Strategy</a:t>
            </a:r>
          </a:p>
        </p:txBody>
      </p:sp>
      <p:sp>
        <p:nvSpPr>
          <p:cNvPr id="7" name="Rounded Rectangle 6"/>
          <p:cNvSpPr/>
          <p:nvPr/>
        </p:nvSpPr>
        <p:spPr>
          <a:xfrm>
            <a:off x="548640" y="2194560"/>
            <a:ext cx="2072579" cy="137160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58368" y="2267712"/>
            <a:ext cx="1853123" cy="1234440"/>
          </a:xfrm>
          <a:prstGeom prst="rect">
            <a:avLst/>
          </a:prstGeom>
          <a:noFill/>
        </p:spPr>
        <p:txBody>
          <a:bodyPr wrap="square" lIns="45720" rIns="45720" anchor="t">
            <a:spAutoFit/>
          </a:bodyPr>
          <a:lstStyle/>
          <a:p>
            <a:pPr algn="l"/>
            <a:r>
              <a:rPr sz="1100" b="0" i="0">
                <a:solidFill>
                  <a:srgbClr val="1F2933"/>
                </a:solidFill>
                <a:latin typeface="Calibri"/>
              </a:rPr>
              <a:t>Manage Collection Strategies (F2946): rules, points, aging, activate</a:t>
            </a:r>
          </a:p>
        </p:txBody>
      </p:sp>
      <p:sp>
        <p:nvSpPr>
          <p:cNvPr id="9" name="Rounded Rectangle 8"/>
          <p:cNvSpPr/>
          <p:nvPr/>
        </p:nvSpPr>
        <p:spPr>
          <a:xfrm>
            <a:off x="2804099" y="1554480"/>
            <a:ext cx="2072579" cy="548640"/>
          </a:xfrm>
          <a:prstGeom prst="roundRect">
            <a:avLst>
              <a:gd name="adj" fmla="val 12000"/>
            </a:avLst>
          </a:prstGeom>
          <a:solidFill>
            <a:srgbClr val="1C4E80"/>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b="1" i="0">
                <a:solidFill>
                  <a:srgbClr val="FFFFFF"/>
                </a:solidFill>
                <a:latin typeface="Calibri"/>
              </a:rPr>
              <a:t>2 Group</a:t>
            </a:r>
          </a:p>
        </p:txBody>
      </p:sp>
      <p:sp>
        <p:nvSpPr>
          <p:cNvPr id="10" name="Rounded Rectangle 9"/>
          <p:cNvSpPr/>
          <p:nvPr/>
        </p:nvSpPr>
        <p:spPr>
          <a:xfrm>
            <a:off x="2804099" y="2194560"/>
            <a:ext cx="2072579" cy="137160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2913827" y="2267712"/>
            <a:ext cx="1853123" cy="1234440"/>
          </a:xfrm>
          <a:prstGeom prst="rect">
            <a:avLst/>
          </a:prstGeom>
          <a:noFill/>
        </p:spPr>
        <p:txBody>
          <a:bodyPr wrap="square" lIns="45720" rIns="45720" anchor="t">
            <a:spAutoFit/>
          </a:bodyPr>
          <a:lstStyle/>
          <a:p>
            <a:pPr algn="l"/>
            <a:r>
              <a:rPr sz="1100" b="0" i="0">
                <a:solidFill>
                  <a:srgbClr val="1F2933"/>
                </a:solidFill>
                <a:latin typeface="Calibri"/>
              </a:rPr>
              <a:t>Manage Collection Groups (UDM_GROUP): group + strategy, specialists as processors</a:t>
            </a:r>
          </a:p>
        </p:txBody>
      </p:sp>
      <p:sp>
        <p:nvSpPr>
          <p:cNvPr id="12" name="Rounded Rectangle 11"/>
          <p:cNvSpPr/>
          <p:nvPr/>
        </p:nvSpPr>
        <p:spPr>
          <a:xfrm>
            <a:off x="5059558" y="1554480"/>
            <a:ext cx="2072579" cy="548640"/>
          </a:xfrm>
          <a:prstGeom prst="roundRect">
            <a:avLst>
              <a:gd name="adj" fmla="val 12000"/>
            </a:avLst>
          </a:prstGeom>
          <a:solidFill>
            <a:srgbClr val="1C4E80"/>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b="1" i="0">
                <a:solidFill>
                  <a:srgbClr val="FFFFFF"/>
                </a:solidFill>
                <a:latin typeface="Calibri"/>
              </a:rPr>
              <a:t>3 Segment</a:t>
            </a:r>
          </a:p>
        </p:txBody>
      </p:sp>
      <p:sp>
        <p:nvSpPr>
          <p:cNvPr id="13" name="Rounded Rectangle 12"/>
          <p:cNvSpPr/>
          <p:nvPr/>
        </p:nvSpPr>
        <p:spPr>
          <a:xfrm>
            <a:off x="5059558" y="2194560"/>
            <a:ext cx="2072579" cy="137160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5169286" y="2267712"/>
            <a:ext cx="1853123" cy="1234440"/>
          </a:xfrm>
          <a:prstGeom prst="rect">
            <a:avLst/>
          </a:prstGeom>
          <a:noFill/>
        </p:spPr>
        <p:txBody>
          <a:bodyPr wrap="square" lIns="45720" rIns="45720" anchor="t">
            <a:spAutoFit/>
          </a:bodyPr>
          <a:lstStyle/>
          <a:p>
            <a:pPr algn="l"/>
            <a:r>
              <a:rPr sz="1100" b="0" i="0">
                <a:solidFill>
                  <a:srgbClr val="1F2933"/>
                </a:solidFill>
                <a:latin typeface="Calibri"/>
              </a:rPr>
              <a:t>Assign Collection Groups to Segments (UDM_GROUP2SGMT): group per segment, default group</a:t>
            </a:r>
          </a:p>
        </p:txBody>
      </p:sp>
      <p:sp>
        <p:nvSpPr>
          <p:cNvPr id="15" name="Rounded Rectangle 14"/>
          <p:cNvSpPr/>
          <p:nvPr/>
        </p:nvSpPr>
        <p:spPr>
          <a:xfrm>
            <a:off x="7315017" y="1554480"/>
            <a:ext cx="2072579" cy="548640"/>
          </a:xfrm>
          <a:prstGeom prst="roundRect">
            <a:avLst>
              <a:gd name="adj" fmla="val 12000"/>
            </a:avLst>
          </a:prstGeom>
          <a:solidFill>
            <a:srgbClr val="1C4E80"/>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b="1" i="0">
                <a:solidFill>
                  <a:srgbClr val="FFFFFF"/>
                </a:solidFill>
                <a:latin typeface="Calibri"/>
              </a:rPr>
              <a:t>4 Customer</a:t>
            </a:r>
          </a:p>
        </p:txBody>
      </p:sp>
      <p:sp>
        <p:nvSpPr>
          <p:cNvPr id="16" name="Rounded Rectangle 15"/>
          <p:cNvSpPr/>
          <p:nvPr/>
        </p:nvSpPr>
        <p:spPr>
          <a:xfrm>
            <a:off x="7315017" y="2194560"/>
            <a:ext cx="2072579" cy="137160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424745" y="2267712"/>
            <a:ext cx="1853123" cy="1234440"/>
          </a:xfrm>
          <a:prstGeom prst="rect">
            <a:avLst/>
          </a:prstGeom>
          <a:noFill/>
        </p:spPr>
        <p:txBody>
          <a:bodyPr wrap="square" lIns="45720" rIns="45720" anchor="t">
            <a:spAutoFit/>
          </a:bodyPr>
          <a:lstStyle/>
          <a:p>
            <a:pPr algn="l"/>
            <a:r>
              <a:rPr sz="1100" b="0" i="0">
                <a:solidFill>
                  <a:srgbClr val="1F2933"/>
                </a:solidFill>
                <a:latin typeface="Calibri"/>
              </a:rPr>
              <a:t>Manage Collections Master Data (F5400): profile, group, specialist</a:t>
            </a:r>
          </a:p>
        </p:txBody>
      </p:sp>
      <p:sp>
        <p:nvSpPr>
          <p:cNvPr id="18" name="Rounded Rectangle 17"/>
          <p:cNvSpPr/>
          <p:nvPr/>
        </p:nvSpPr>
        <p:spPr>
          <a:xfrm>
            <a:off x="9570476" y="1554480"/>
            <a:ext cx="2072579" cy="548640"/>
          </a:xfrm>
          <a:prstGeom prst="roundRect">
            <a:avLst>
              <a:gd name="adj" fmla="val 12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b="1" i="0">
                <a:solidFill>
                  <a:srgbClr val="FFFFFF"/>
                </a:solidFill>
                <a:latin typeface="Calibri"/>
              </a:rPr>
              <a:t>5 Nightly run</a:t>
            </a:r>
          </a:p>
        </p:txBody>
      </p:sp>
      <p:sp>
        <p:nvSpPr>
          <p:cNvPr id="19" name="Rounded Rectangle 18"/>
          <p:cNvSpPr/>
          <p:nvPr/>
        </p:nvSpPr>
        <p:spPr>
          <a:xfrm>
            <a:off x="9570476" y="2194560"/>
            <a:ext cx="2072579" cy="137160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9680204" y="2267712"/>
            <a:ext cx="1853123" cy="1234440"/>
          </a:xfrm>
          <a:prstGeom prst="rect">
            <a:avLst/>
          </a:prstGeom>
          <a:noFill/>
        </p:spPr>
        <p:txBody>
          <a:bodyPr wrap="square" lIns="45720" rIns="45720" anchor="t">
            <a:spAutoFit/>
          </a:bodyPr>
          <a:lstStyle/>
          <a:p>
            <a:pPr algn="l"/>
            <a:r>
              <a:rPr sz="1100" b="0" i="0">
                <a:solidFill>
                  <a:srgbClr val="1F2933"/>
                </a:solidFill>
                <a:latin typeface="Calibri"/>
              </a:rPr>
              <a:t>SAP jobs: FI-AR transfer and worklist; check the next morning</a:t>
            </a:r>
          </a:p>
        </p:txBody>
      </p:sp>
      <p:sp>
        <p:nvSpPr>
          <p:cNvPr id="21" name="Rounded Rectangle 20"/>
          <p:cNvSpPr/>
          <p:nvPr/>
        </p:nvSpPr>
        <p:spPr>
          <a:xfrm>
            <a:off x="548640" y="3794760"/>
            <a:ext cx="5410047" cy="205740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85800" y="3931920"/>
            <a:ext cx="5135727" cy="365760"/>
          </a:xfrm>
          <a:prstGeom prst="rect">
            <a:avLst/>
          </a:prstGeom>
          <a:noFill/>
        </p:spPr>
        <p:txBody>
          <a:bodyPr wrap="square" lIns="45720" rIns="45720" anchor="ctr">
            <a:spAutoFit/>
          </a:bodyPr>
          <a:lstStyle/>
          <a:p>
            <a:pPr algn="l"/>
            <a:r>
              <a:rPr sz="1400" b="1" i="0">
                <a:solidFill>
                  <a:srgbClr val="1C4E80"/>
                </a:solidFill>
                <a:latin typeface="Calibri"/>
              </a:rPr>
              <a:t>Mass changes by job (F3918)</a:t>
            </a:r>
          </a:p>
        </p:txBody>
      </p:sp>
      <p:sp>
        <p:nvSpPr>
          <p:cNvPr id="23" name="TextBox 22"/>
          <p:cNvSpPr txBox="1"/>
          <p:nvPr/>
        </p:nvSpPr>
        <p:spPr>
          <a:xfrm>
            <a:off x="685800" y="4315968"/>
            <a:ext cx="5135727" cy="1399032"/>
          </a:xfrm>
          <a:prstGeom prst="rect">
            <a:avLst/>
          </a:prstGeom>
          <a:noFill/>
        </p:spPr>
        <p:txBody>
          <a:bodyPr wrap="square" lIns="45720" rIns="45720">
            <a:spAutoFit/>
          </a:bodyPr>
          <a:lstStyle/>
          <a:p>
            <a:pPr marL="201168" indent="-201168">
              <a:spcAft>
                <a:spcPts val="300"/>
              </a:spcAft>
              <a:buChar char="•"/>
            </a:pPr>
            <a:r>
              <a:rPr sz="1100" b="1" i="0">
                <a:solidFill>
                  <a:srgbClr val="1F2933"/>
                </a:solidFill>
                <a:latin typeface="Calibri"/>
              </a:rPr>
              <a:t>Assignment of Collection Profiles: </a:t>
            </a:r>
            <a:r>
              <a:rPr sz="1100" b="0" i="0">
                <a:solidFill>
                  <a:srgbClr val="1F2933"/>
                </a:solidFill>
                <a:latin typeface="Calibri"/>
              </a:rPr>
              <a:t>bring new customers into collections; selection by creation date, grouping, risk class</a:t>
            </a:r>
          </a:p>
          <a:p>
            <a:pPr marL="201168" indent="-201168">
              <a:spcAft>
                <a:spcPts val="300"/>
              </a:spcAft>
              <a:buChar char="•"/>
            </a:pPr>
            <a:r>
              <a:rPr sz="1100" b="1" i="0">
                <a:solidFill>
                  <a:srgbClr val="1F2933"/>
                </a:solidFill>
                <a:latin typeface="Calibri"/>
              </a:rPr>
              <a:t>Change Collection Segment Data: </a:t>
            </a:r>
            <a:r>
              <a:rPr sz="1100" b="0" i="0">
                <a:solidFill>
                  <a:srgbClr val="1F2933"/>
                </a:solidFill>
                <a:latin typeface="Calibri"/>
              </a:rPr>
              <a:t>change group per segment, force specialist</a:t>
            </a:r>
          </a:p>
          <a:p>
            <a:pPr marL="201168" indent="-201168">
              <a:spcAft>
                <a:spcPts val="300"/>
              </a:spcAft>
              <a:buChar char="•"/>
            </a:pPr>
            <a:r>
              <a:rPr sz="1100" b="1" i="0">
                <a:solidFill>
                  <a:srgbClr val="1F2933"/>
                </a:solidFill>
                <a:latin typeface="Calibri"/>
              </a:rPr>
              <a:t>Replace Collection Specialists: </a:t>
            </a:r>
            <a:r>
              <a:rPr sz="1100" b="0" i="0">
                <a:solidFill>
                  <a:srgbClr val="1F2933"/>
                </a:solidFill>
                <a:latin typeface="Calibri"/>
              </a:rPr>
              <a:t>staff change, test run with log</a:t>
            </a:r>
          </a:p>
          <a:p>
            <a:pPr marL="201168" indent="-201168">
              <a:spcAft>
                <a:spcPts val="300"/>
              </a:spcAft>
              <a:buChar char="•"/>
            </a:pPr>
            <a:r>
              <a:rPr sz="1100" b="1" i="0">
                <a:solidFill>
                  <a:srgbClr val="1F2933"/>
                </a:solidFill>
                <a:latin typeface="Calibri"/>
              </a:rPr>
              <a:t>Delete Transactional Data: </a:t>
            </a:r>
            <a:r>
              <a:rPr sz="1100" b="0" i="0">
                <a:solidFill>
                  <a:srgbClr val="1F2933"/>
                </a:solidFill>
                <a:latin typeface="Calibri"/>
              </a:rPr>
              <a:t>clean-up in test</a:t>
            </a:r>
          </a:p>
        </p:txBody>
      </p:sp>
      <p:sp>
        <p:nvSpPr>
          <p:cNvPr id="24" name="Rounded Rectangle 23"/>
          <p:cNvSpPr/>
          <p:nvPr/>
        </p:nvSpPr>
        <p:spPr>
          <a:xfrm>
            <a:off x="6233007" y="3794760"/>
            <a:ext cx="5410047" cy="2057400"/>
          </a:xfrm>
          <a:prstGeom prst="roundRect">
            <a:avLst>
              <a:gd name="adj" fmla="val 12000"/>
            </a:avLst>
          </a:prstGeom>
          <a:solidFill>
            <a:srgbClr val="E6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6370167" y="3931920"/>
            <a:ext cx="5135727" cy="365760"/>
          </a:xfrm>
          <a:prstGeom prst="rect">
            <a:avLst/>
          </a:prstGeom>
          <a:noFill/>
        </p:spPr>
        <p:txBody>
          <a:bodyPr wrap="square" lIns="45720" rIns="45720" anchor="ctr">
            <a:spAutoFit/>
          </a:bodyPr>
          <a:lstStyle/>
          <a:p>
            <a:pPr algn="l"/>
            <a:r>
              <a:rPr sz="1400" b="1" i="0">
                <a:solidFill>
                  <a:srgbClr val="1C4E80"/>
                </a:solidFill>
                <a:latin typeface="Calibri"/>
              </a:rPr>
              <a:t>Fit-to-standard questions on the strategy</a:t>
            </a:r>
          </a:p>
        </p:txBody>
      </p:sp>
      <p:sp>
        <p:nvSpPr>
          <p:cNvPr id="26" name="TextBox 25"/>
          <p:cNvSpPr txBox="1"/>
          <p:nvPr/>
        </p:nvSpPr>
        <p:spPr>
          <a:xfrm>
            <a:off x="6370167" y="4315968"/>
            <a:ext cx="5135727" cy="1399032"/>
          </a:xfrm>
          <a:prstGeom prst="rect">
            <a:avLst/>
          </a:prstGeom>
          <a:noFill/>
        </p:spPr>
        <p:txBody>
          <a:bodyPr wrap="square" lIns="45720" rIns="45720">
            <a:spAutoFit/>
          </a:bodyPr>
          <a:lstStyle/>
          <a:p>
            <a:pPr marL="201168" indent="-201168">
              <a:spcAft>
                <a:spcPts val="300"/>
              </a:spcAft>
              <a:buChar char="•"/>
            </a:pPr>
            <a:r>
              <a:rPr sz="1100" b="0" i="0">
                <a:solidFill>
                  <a:srgbClr val="1F2933"/>
                </a:solidFill>
                <a:latin typeface="Calibri"/>
              </a:rPr>
              <a:t>Which criteria determine the order today? Amount, age, customer, gut feeling?</a:t>
            </a:r>
          </a:p>
          <a:p>
            <a:pPr marL="201168" indent="-201168">
              <a:spcAft>
                <a:spcPts val="300"/>
              </a:spcAft>
              <a:buChar char="•"/>
            </a:pPr>
            <a:r>
              <a:rPr sz="1100" b="0" i="0">
                <a:solidFill>
                  <a:srgbClr val="1F2933"/>
                </a:solidFill>
                <a:latin typeface="Calibri"/>
              </a:rPr>
              <a:t>How many groups with their own approach are there?</a:t>
            </a:r>
          </a:p>
          <a:p>
            <a:pPr marL="201168" indent="-201168">
              <a:spcAft>
                <a:spcPts val="300"/>
              </a:spcAft>
              <a:buChar char="•"/>
            </a:pPr>
            <a:r>
              <a:rPr sz="1100" b="0" i="0">
                <a:solidFill>
                  <a:srgbClr val="1F2933"/>
                </a:solidFill>
                <a:latin typeface="Calibri"/>
              </a:rPr>
              <a:t>Should customers be contacted before the due date (payment terms)?</a:t>
            </a:r>
          </a:p>
          <a:p>
            <a:pPr marL="201168" indent="-201168">
              <a:spcAft>
                <a:spcPts val="300"/>
              </a:spcAft>
              <a:buChar char="•"/>
            </a:pPr>
            <a:r>
              <a:rPr sz="1100" b="0" i="0">
                <a:solidFill>
                  <a:srgbClr val="1F2933"/>
                </a:solidFill>
                <a:latin typeface="Calibri"/>
              </a:rPr>
              <a:t>Risk class from Credit Management as a criterion?</a:t>
            </a:r>
          </a:p>
          <a:p>
            <a:pPr marL="201168" indent="-201168">
              <a:spcAft>
                <a:spcPts val="300"/>
              </a:spcAft>
              <a:buChar char="•"/>
            </a:pPr>
            <a:r>
              <a:rPr sz="1100" b="0" i="0">
                <a:solidFill>
                  <a:srgbClr val="1F2933"/>
                </a:solidFill>
                <a:latin typeface="Calibri"/>
              </a:rPr>
              <a:t>Strategy currency with several company code currencies?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94415" cy="274320"/>
          </a:xfrm>
          <a:prstGeom prst="rect">
            <a:avLst/>
          </a:prstGeom>
          <a:noFill/>
        </p:spPr>
        <p:txBody>
          <a:bodyPr wrap="square" lIns="45720" rIns="45720" anchor="t">
            <a:spAutoFit/>
          </a:bodyPr>
          <a:lstStyle/>
          <a:p>
            <a:pPr algn="l"/>
            <a:r>
              <a:rPr sz="1100" b="1" i="0">
                <a:solidFill>
                  <a:srgbClr val="0F8B8D"/>
                </a:solidFill>
                <a:latin typeface="Calibri"/>
              </a:rPr>
              <a:t>D4  ALTERNATIVE</a:t>
            </a:r>
          </a:p>
        </p:txBody>
      </p:sp>
      <p:sp>
        <p:nvSpPr>
          <p:cNvPr id="3" name="TextBox 2"/>
          <p:cNvSpPr txBox="1"/>
          <p:nvPr/>
        </p:nvSpPr>
        <p:spPr>
          <a:xfrm>
            <a:off x="548640" y="548640"/>
            <a:ext cx="11094415" cy="868680"/>
          </a:xfrm>
          <a:prstGeom prst="rect">
            <a:avLst/>
          </a:prstGeom>
          <a:noFill/>
        </p:spPr>
        <p:txBody>
          <a:bodyPr wrap="square" lIns="45720" rIns="45720" anchor="ctr">
            <a:spAutoFit/>
          </a:bodyPr>
          <a:lstStyle/>
          <a:p>
            <a:pPr algn="l"/>
            <a:r>
              <a:rPr sz="2800" b="1" i="0">
                <a:solidFill>
                  <a:srgbClr val="1C4E80"/>
                </a:solidFill>
                <a:latin typeface="Calibri"/>
              </a:rPr>
              <a:t>Outlook 7MA: rule framework and BRF+ instead of manual work</a:t>
            </a:r>
          </a:p>
        </p:txBody>
      </p:sp>
      <p:sp>
        <p:nvSpPr>
          <p:cNvPr id="4" name="TextBox 3"/>
          <p:cNvSpPr txBox="1"/>
          <p:nvPr/>
        </p:nvSpPr>
        <p:spPr>
          <a:xfrm>
            <a:off x="548640" y="6446520"/>
            <a:ext cx="8229600" cy="274320"/>
          </a:xfrm>
          <a:prstGeom prst="rect">
            <a:avLst/>
          </a:prstGeom>
          <a:noFill/>
        </p:spPr>
        <p:txBody>
          <a:bodyPr wrap="square" lIns="45720" rIns="45720" anchor="t">
            <a:spAutoFit/>
          </a:bodyPr>
          <a:lstStyle/>
          <a:p>
            <a:pPr algn="l"/>
            <a:r>
              <a:rPr sz="900" b="0" i="0">
                <a:solidFill>
                  <a:srgbClr val="5F6B7A"/>
                </a:solidFill>
                <a:latin typeface="Calibri"/>
              </a:rPr>
              <a:t>F2S Workshop 4  |  Collections &amp; Dispute Management  |  D  Collection strategy configuration</a:t>
            </a:r>
          </a:p>
        </p:txBody>
      </p:sp>
      <p:sp>
        <p:nvSpPr>
          <p:cNvPr id="5" name="TextBox 4"/>
          <p:cNvSpPr txBox="1"/>
          <p:nvPr/>
        </p:nvSpPr>
        <p:spPr>
          <a:xfrm>
            <a:off x="10728655" y="6446520"/>
            <a:ext cx="914400" cy="274320"/>
          </a:xfrm>
          <a:prstGeom prst="rect">
            <a:avLst/>
          </a:prstGeom>
          <a:noFill/>
        </p:spPr>
        <p:txBody>
          <a:bodyPr wrap="square" lIns="45720" rIns="45720" anchor="t">
            <a:spAutoFit/>
          </a:bodyPr>
          <a:lstStyle/>
          <a:p>
            <a:pPr algn="r"/>
            <a:r>
              <a:rPr sz="900" b="0" i="0">
                <a:solidFill>
                  <a:srgbClr val="5F6B7A"/>
                </a:solidFill>
                <a:latin typeface="Calibri"/>
              </a:rPr>
              <a:t>21</a:t>
            </a:r>
          </a:p>
        </p:txBody>
      </p:sp>
      <p:graphicFrame>
        <p:nvGraphicFramePr>
          <p:cNvPr id="6" name="Table 5"/>
          <p:cNvGraphicFramePr>
            <a:graphicFrameLocks noGrp="1"/>
          </p:cNvGraphicFramePr>
          <p:nvPr/>
        </p:nvGraphicFramePr>
        <p:xfrm>
          <a:off x="548640" y="1554480"/>
          <a:ext cx="11064240" cy="3785616"/>
        </p:xfrm>
        <a:graphic>
          <a:graphicData uri="http://schemas.openxmlformats.org/drawingml/2006/table">
            <a:tbl>
              <a:tblPr>
                <a:tableStyleId>{5C22544A-7EE6-4342-B048-85BDC9FD1C3A}</a:tableStyleId>
              </a:tblPr>
              <a:tblGrid>
                <a:gridCol w="1554480">
                  <a:extLst>
                    <a:ext uri="{9D8B030D-6E8A-4147-A177-3AD203B41FA5}">
                      <a16:colId xmlns:a16="http://schemas.microsoft.com/office/drawing/2014/main" val="20000"/>
                    </a:ext>
                  </a:extLst>
                </a:gridCol>
                <a:gridCol w="4389120">
                  <a:extLst>
                    <a:ext uri="{9D8B030D-6E8A-4147-A177-3AD203B41FA5}">
                      <a16:colId xmlns:a16="http://schemas.microsoft.com/office/drawing/2014/main" val="20001"/>
                    </a:ext>
                  </a:extLst>
                </a:gridCol>
                <a:gridCol w="5120640">
                  <a:extLst>
                    <a:ext uri="{9D8B030D-6E8A-4147-A177-3AD203B41FA5}">
                      <a16:colId xmlns:a16="http://schemas.microsoft.com/office/drawing/2014/main" val="20002"/>
                    </a:ext>
                  </a:extLst>
                </a:gridCol>
              </a:tblGrid>
              <a:tr h="420624">
                <a:tc>
                  <a:txBody>
                    <a:bodyPr/>
                    <a:lstStyle/>
                    <a:p>
                      <a:r>
                        <a:rPr sz="1000" b="1" i="0">
                          <a:solidFill>
                            <a:srgbClr val="FFFFFF"/>
                          </a:solidFill>
                          <a:latin typeface="Calibri"/>
                        </a:rPr>
                        <a:t>Topic</a:t>
                      </a:r>
                    </a:p>
                  </a:txBody>
                  <a:tcPr marL="73152" marR="73152" marT="36576" marB="36576" anchor="ctr">
                    <a:solidFill>
                      <a:srgbClr val="1C4E80"/>
                    </a:solidFill>
                  </a:tcPr>
                </a:tc>
                <a:tc>
                  <a:txBody>
                    <a:bodyPr/>
                    <a:lstStyle/>
                    <a:p>
                      <a:r>
                        <a:rPr sz="1000" b="1" i="0">
                          <a:solidFill>
                            <a:srgbClr val="FFFFFF"/>
                          </a:solidFill>
                          <a:latin typeface="Calibri"/>
                        </a:rPr>
                        <a:t>BFC Collections and Dispute Management</a:t>
                      </a:r>
                    </a:p>
                  </a:txBody>
                  <a:tcPr marL="73152" marR="73152" marT="36576" marB="36576" anchor="ctr">
                    <a:solidFill>
                      <a:srgbClr val="1C4E80"/>
                    </a:solidFill>
                  </a:tcPr>
                </a:tc>
                <a:tc>
                  <a:txBody>
                    <a:bodyPr/>
                    <a:lstStyle/>
                    <a:p>
                      <a:r>
                        <a:rPr sz="1000" b="1" i="0">
                          <a:solidFill>
                            <a:srgbClr val="FFFFFF"/>
                          </a:solidFill>
                          <a:latin typeface="Calibri"/>
                        </a:rPr>
                        <a:t>7MA Collections and Dispute Automation</a:t>
                      </a:r>
                    </a:p>
                  </a:txBody>
                  <a:tcPr marL="73152" marR="73152" marT="36576" marB="36576" anchor="ctr">
                    <a:solidFill>
                      <a:srgbClr val="1C4E80"/>
                    </a:solidFill>
                  </a:tcPr>
                </a:tc>
                <a:extLst>
                  <a:ext uri="{0D108BD9-81ED-4DB2-BD59-A6C34878D82A}">
                    <a16:rowId xmlns:a16="http://schemas.microsoft.com/office/drawing/2014/main" val="10000"/>
                  </a:ext>
                </a:extLst>
              </a:tr>
              <a:tr h="420624">
                <a:tc>
                  <a:txBody>
                    <a:bodyPr/>
                    <a:lstStyle/>
                    <a:p>
                      <a:r>
                        <a:rPr sz="1000" b="1" i="0">
                          <a:solidFill>
                            <a:srgbClr val="1F2933"/>
                          </a:solidFill>
                          <a:latin typeface="Calibri"/>
                        </a:rPr>
                        <a:t>Prioritization</a:t>
                      </a:r>
                    </a:p>
                  </a:txBody>
                  <a:tcPr marL="73152" marR="73152" marT="36576" marB="36576" anchor="ctr">
                    <a:solidFill>
                      <a:srgbClr val="FFFFFF"/>
                    </a:solidFill>
                  </a:tcPr>
                </a:tc>
                <a:tc>
                  <a:txBody>
                    <a:bodyPr/>
                    <a:lstStyle/>
                    <a:p>
                      <a:r>
                        <a:rPr sz="1000" b="0" i="0">
                          <a:solidFill>
                            <a:srgbClr val="1F2933"/>
                          </a:solidFill>
                          <a:latin typeface="Calibri"/>
                        </a:rPr>
                        <a:t>Collection Strategy (F2946)</a:t>
                      </a:r>
                    </a:p>
                  </a:txBody>
                  <a:tcPr marL="73152" marR="73152" marT="36576" marB="36576" anchor="ctr">
                    <a:solidFill>
                      <a:srgbClr val="FFFFFF"/>
                    </a:solidFill>
                  </a:tcPr>
                </a:tc>
                <a:tc>
                  <a:txBody>
                    <a:bodyPr/>
                    <a:lstStyle/>
                    <a:p>
                      <a:r>
                        <a:rPr sz="1000" b="0" i="0">
                          <a:solidFill>
                            <a:srgbClr val="1F2933"/>
                          </a:solidFill>
                          <a:latin typeface="Calibri"/>
                        </a:rPr>
                        <a:t>Account Prioritization Rule (F8833) with collections rules and basic rules</a:t>
                      </a:r>
                    </a:p>
                  </a:txBody>
                  <a:tcPr marL="73152" marR="73152" marT="36576" marB="36576" anchor="ctr">
                    <a:solidFill>
                      <a:srgbClr val="FFFFFF"/>
                    </a:solidFill>
                  </a:tcPr>
                </a:tc>
                <a:extLst>
                  <a:ext uri="{0D108BD9-81ED-4DB2-BD59-A6C34878D82A}">
                    <a16:rowId xmlns:a16="http://schemas.microsoft.com/office/drawing/2014/main" val="10001"/>
                  </a:ext>
                </a:extLst>
              </a:tr>
              <a:tr h="420624">
                <a:tc>
                  <a:txBody>
                    <a:bodyPr/>
                    <a:lstStyle/>
                    <a:p>
                      <a:r>
                        <a:rPr sz="1000" b="1" i="0">
                          <a:solidFill>
                            <a:srgbClr val="1F2933"/>
                          </a:solidFill>
                          <a:latin typeface="Calibri"/>
                        </a:rPr>
                        <a:t>Organization</a:t>
                      </a:r>
                    </a:p>
                  </a:txBody>
                  <a:tcPr marL="73152" marR="73152" marT="36576" marB="36576" anchor="ctr">
                    <a:solidFill>
                      <a:srgbClr val="EEF3F8"/>
                    </a:solidFill>
                  </a:tcPr>
                </a:tc>
                <a:tc>
                  <a:txBody>
                    <a:bodyPr/>
                    <a:lstStyle/>
                    <a:p>
                      <a:r>
                        <a:rPr sz="1000" b="0" i="0">
                          <a:solidFill>
                            <a:srgbClr val="1F2933"/>
                          </a:solidFill>
                          <a:latin typeface="Calibri"/>
                        </a:rPr>
                        <a:t>Segment, profile, group, specialist</a:t>
                      </a:r>
                    </a:p>
                  </a:txBody>
                  <a:tcPr marL="73152" marR="73152" marT="36576" marB="36576" anchor="ctr">
                    <a:solidFill>
                      <a:srgbClr val="EEF3F8"/>
                    </a:solidFill>
                  </a:tcPr>
                </a:tc>
                <a:tc>
                  <a:txBody>
                    <a:bodyPr/>
                    <a:lstStyle/>
                    <a:p>
                      <a:r>
                        <a:rPr sz="1000" b="0" i="0">
                          <a:solidFill>
                            <a:srgbClr val="1F2933"/>
                          </a:solidFill>
                          <a:latin typeface="Calibri"/>
                        </a:rPr>
                        <a:t>Segment, segment group, teams (F2412), debt collections company code</a:t>
                      </a:r>
                    </a:p>
                  </a:txBody>
                  <a:tcPr marL="73152" marR="73152" marT="36576" marB="36576" anchor="ctr">
                    <a:solidFill>
                      <a:srgbClr val="EEF3F8"/>
                    </a:solidFill>
                  </a:tcPr>
                </a:tc>
                <a:extLst>
                  <a:ext uri="{0D108BD9-81ED-4DB2-BD59-A6C34878D82A}">
                    <a16:rowId xmlns:a16="http://schemas.microsoft.com/office/drawing/2014/main" val="10002"/>
                  </a:ext>
                </a:extLst>
              </a:tr>
              <a:tr h="420624">
                <a:tc>
                  <a:txBody>
                    <a:bodyPr/>
                    <a:lstStyle/>
                    <a:p>
                      <a:r>
                        <a:rPr sz="1000" b="1" i="0">
                          <a:solidFill>
                            <a:srgbClr val="1F2933"/>
                          </a:solidFill>
                          <a:latin typeface="Calibri"/>
                        </a:rPr>
                        <a:t>Customer master</a:t>
                      </a:r>
                    </a:p>
                  </a:txBody>
                  <a:tcPr marL="73152" marR="73152" marT="36576" marB="36576" anchor="ctr">
                    <a:solidFill>
                      <a:srgbClr val="FFFFFF"/>
                    </a:solidFill>
                  </a:tcPr>
                </a:tc>
                <a:tc>
                  <a:txBody>
                    <a:bodyPr/>
                    <a:lstStyle/>
                    <a:p>
                      <a:r>
                        <a:rPr sz="1000" b="0" i="0">
                          <a:solidFill>
                            <a:srgbClr val="1F2933"/>
                          </a:solidFill>
                          <a:latin typeface="Calibri"/>
                        </a:rPr>
                        <a:t>Manage Collections Master Data (F5400)</a:t>
                      </a:r>
                    </a:p>
                  </a:txBody>
                  <a:tcPr marL="73152" marR="73152" marT="36576" marB="36576" anchor="ctr">
                    <a:solidFill>
                      <a:srgbClr val="FFFFFF"/>
                    </a:solidFill>
                  </a:tcPr>
                </a:tc>
                <a:tc>
                  <a:txBody>
                    <a:bodyPr/>
                    <a:lstStyle/>
                    <a:p>
                      <a:r>
                        <a:rPr sz="1000" b="0" i="0">
                          <a:solidFill>
                            <a:srgbClr val="1F2933"/>
                          </a:solidFill>
                          <a:latin typeface="Calibri"/>
                        </a:rPr>
                        <a:t>Manage Master Data in C&amp;D Automation (F8606): category, account classification</a:t>
                      </a:r>
                    </a:p>
                  </a:txBody>
                  <a:tcPr marL="73152" marR="73152" marT="36576" marB="36576" anchor="ctr">
                    <a:solidFill>
                      <a:srgbClr val="FFFFFF"/>
                    </a:solidFill>
                  </a:tcPr>
                </a:tc>
                <a:extLst>
                  <a:ext uri="{0D108BD9-81ED-4DB2-BD59-A6C34878D82A}">
                    <a16:rowId xmlns:a16="http://schemas.microsoft.com/office/drawing/2014/main" val="10003"/>
                  </a:ext>
                </a:extLst>
              </a:tr>
              <a:tr h="420624">
                <a:tc>
                  <a:txBody>
                    <a:bodyPr/>
                    <a:lstStyle/>
                    <a:p>
                      <a:r>
                        <a:rPr sz="1000" b="1" i="0">
                          <a:solidFill>
                            <a:srgbClr val="1F2933"/>
                          </a:solidFill>
                          <a:latin typeface="Calibri"/>
                        </a:rPr>
                        <a:t>Automation</a:t>
                      </a:r>
                    </a:p>
                  </a:txBody>
                  <a:tcPr marL="73152" marR="73152" marT="36576" marB="36576" anchor="ctr">
                    <a:solidFill>
                      <a:srgbClr val="EEF3F8"/>
                    </a:solidFill>
                  </a:tcPr>
                </a:tc>
                <a:tc>
                  <a:txBody>
                    <a:bodyPr/>
                    <a:lstStyle/>
                    <a:p>
                      <a:r>
                        <a:rPr sz="1000" b="0" i="0">
                          <a:solidFill>
                            <a:srgbClr val="1F2933"/>
                          </a:solidFill>
                          <a:latin typeface="Calibri"/>
                        </a:rPr>
                        <a:t>Jobs: dispute creation, write-off, mass changes</a:t>
                      </a:r>
                    </a:p>
                  </a:txBody>
                  <a:tcPr marL="73152" marR="73152" marT="36576" marB="36576" anchor="ctr">
                    <a:solidFill>
                      <a:srgbClr val="EEF3F8"/>
                    </a:solidFill>
                  </a:tcPr>
                </a:tc>
                <a:tc>
                  <a:txBody>
                    <a:bodyPr/>
                    <a:lstStyle/>
                    <a:p>
                      <a:r>
                        <a:rPr sz="1000" b="0" i="0">
                          <a:solidFill>
                            <a:srgbClr val="1F2933"/>
                          </a:solidFill>
                          <a:latin typeface="Calibri"/>
                        </a:rPr>
                        <a:t>BRF+ decision tables: dispute creation with reason, team assignment, blocks, escalation</a:t>
                      </a:r>
                    </a:p>
                  </a:txBody>
                  <a:tcPr marL="73152" marR="73152" marT="36576" marB="36576" anchor="ctr">
                    <a:solidFill>
                      <a:srgbClr val="EEF3F8"/>
                    </a:solidFill>
                  </a:tcPr>
                </a:tc>
                <a:extLst>
                  <a:ext uri="{0D108BD9-81ED-4DB2-BD59-A6C34878D82A}">
                    <a16:rowId xmlns:a16="http://schemas.microsoft.com/office/drawing/2014/main" val="10004"/>
                  </a:ext>
                </a:extLst>
              </a:tr>
              <a:tr h="420624">
                <a:tc>
                  <a:txBody>
                    <a:bodyPr/>
                    <a:lstStyle/>
                    <a:p>
                      <a:r>
                        <a:rPr sz="1000" b="1" i="0">
                          <a:solidFill>
                            <a:srgbClr val="1F2933"/>
                          </a:solidFill>
                          <a:latin typeface="Calibri"/>
                        </a:rPr>
                        <a:t>Worklist / contact</a:t>
                      </a:r>
                    </a:p>
                  </a:txBody>
                  <a:tcPr marL="73152" marR="73152" marT="36576" marB="36576" anchor="ctr">
                    <a:solidFill>
                      <a:srgbClr val="FFFFFF"/>
                    </a:solidFill>
                  </a:tcPr>
                </a:tc>
                <a:tc>
                  <a:txBody>
                    <a:bodyPr/>
                    <a:lstStyle/>
                    <a:p>
                      <a:r>
                        <a:rPr sz="1000" b="0" i="0">
                          <a:solidFill>
                            <a:srgbClr val="1F2933"/>
                          </a:solidFill>
                          <a:latin typeface="Calibri"/>
                        </a:rPr>
                        <a:t>F0380 → F0106A; promise, resubmission, contact</a:t>
                      </a:r>
                    </a:p>
                  </a:txBody>
                  <a:tcPr marL="73152" marR="73152" marT="36576" marB="36576" anchor="ctr">
                    <a:solidFill>
                      <a:srgbClr val="FFFFFF"/>
                    </a:solidFill>
                  </a:tcPr>
                </a:tc>
                <a:tc>
                  <a:txBody>
                    <a:bodyPr/>
                    <a:lstStyle/>
                    <a:p>
                      <a:r>
                        <a:rPr sz="1000" b="0" i="0">
                          <a:solidFill>
                            <a:srgbClr val="1F2933"/>
                          </a:solidFill>
                          <a:latin typeface="Calibri"/>
                        </a:rPr>
                        <a:t>F8832 → F8607; promise, task, dispute, activity</a:t>
                      </a:r>
                    </a:p>
                  </a:txBody>
                  <a:tcPr marL="73152" marR="73152" marT="36576" marB="36576" anchor="ctr">
                    <a:solidFill>
                      <a:srgbClr val="FFFFFF"/>
                    </a:solidFill>
                  </a:tcPr>
                </a:tc>
                <a:extLst>
                  <a:ext uri="{0D108BD9-81ED-4DB2-BD59-A6C34878D82A}">
                    <a16:rowId xmlns:a16="http://schemas.microsoft.com/office/drawing/2014/main" val="10005"/>
                  </a:ext>
                </a:extLst>
              </a:tr>
              <a:tr h="420624">
                <a:tc>
                  <a:txBody>
                    <a:bodyPr/>
                    <a:lstStyle/>
                    <a:p>
                      <a:r>
                        <a:rPr sz="1000" b="1" i="0">
                          <a:solidFill>
                            <a:srgbClr val="1F2933"/>
                          </a:solidFill>
                          <a:latin typeface="Calibri"/>
                        </a:rPr>
                        <a:t>Dispute</a:t>
                      </a:r>
                    </a:p>
                  </a:txBody>
                  <a:tcPr marL="73152" marR="73152" marT="36576" marB="36576" anchor="ctr">
                    <a:solidFill>
                      <a:srgbClr val="EEF3F8"/>
                    </a:solidFill>
                  </a:tcPr>
                </a:tc>
                <a:tc>
                  <a:txBody>
                    <a:bodyPr/>
                    <a:lstStyle/>
                    <a:p>
                      <a:r>
                        <a:rPr sz="1000" b="0" i="0">
                          <a:solidFill>
                            <a:srgbClr val="1F2933"/>
                          </a:solidFill>
                          <a:latin typeface="Calibri"/>
                        </a:rPr>
                        <a:t>Case with status, coordinator / processor (F0702A)</a:t>
                      </a:r>
                    </a:p>
                  </a:txBody>
                  <a:tcPr marL="73152" marR="73152" marT="36576" marB="36576" anchor="ctr">
                    <a:solidFill>
                      <a:srgbClr val="EEF3F8"/>
                    </a:solidFill>
                  </a:tcPr>
                </a:tc>
                <a:tc>
                  <a:txBody>
                    <a:bodyPr/>
                    <a:lstStyle/>
                    <a:p>
                      <a:r>
                        <a:rPr sz="1000" b="0" i="0">
                          <a:solidFill>
                            <a:srgbClr val="1F2933"/>
                          </a:solidFill>
                          <a:latin typeface="Calibri"/>
                        </a:rPr>
                        <a:t>Manage Disputes (F7876): Classify → Evaluate → Decide → Finalize per receivable item</a:t>
                      </a:r>
                    </a:p>
                  </a:txBody>
                  <a:tcPr marL="73152" marR="73152" marT="36576" marB="36576" anchor="ctr">
                    <a:solidFill>
                      <a:srgbClr val="EEF3F8"/>
                    </a:solidFill>
                  </a:tcPr>
                </a:tc>
                <a:extLst>
                  <a:ext uri="{0D108BD9-81ED-4DB2-BD59-A6C34878D82A}">
                    <a16:rowId xmlns:a16="http://schemas.microsoft.com/office/drawing/2014/main" val="10006"/>
                  </a:ext>
                </a:extLst>
              </a:tr>
              <a:tr h="420624">
                <a:tc>
                  <a:txBody>
                    <a:bodyPr/>
                    <a:lstStyle/>
                    <a:p>
                      <a:r>
                        <a:rPr sz="1000" b="1" i="0">
                          <a:solidFill>
                            <a:srgbClr val="1F2933"/>
                          </a:solidFill>
                          <a:latin typeface="Calibri"/>
                        </a:rPr>
                        <a:t>Jobs</a:t>
                      </a:r>
                    </a:p>
                  </a:txBody>
                  <a:tcPr marL="73152" marR="73152" marT="36576" marB="36576" anchor="ctr">
                    <a:solidFill>
                      <a:srgbClr val="FFFFFF"/>
                    </a:solidFill>
                  </a:tcPr>
                </a:tc>
                <a:tc>
                  <a:txBody>
                    <a:bodyPr/>
                    <a:lstStyle/>
                    <a:p>
                      <a:r>
                        <a:rPr sz="1000" b="0" i="0">
                          <a:solidFill>
                            <a:srgbClr val="1F2933"/>
                          </a:solidFill>
                          <a:latin typeface="Calibri"/>
                        </a:rPr>
                        <a:t>operated by SAP</a:t>
                      </a:r>
                    </a:p>
                  </a:txBody>
                  <a:tcPr marL="73152" marR="73152" marT="36576" marB="36576" anchor="ctr">
                    <a:solidFill>
                      <a:srgbClr val="FFFFFF"/>
                    </a:solidFill>
                  </a:tcPr>
                </a:tc>
                <a:tc>
                  <a:txBody>
                    <a:bodyPr/>
                    <a:lstStyle/>
                    <a:p>
                      <a:r>
                        <a:rPr sz="1000" b="0" i="0">
                          <a:solidFill>
                            <a:srgbClr val="1F2933"/>
                          </a:solidFill>
                          <a:latin typeface="Calibri"/>
                        </a:rPr>
                        <a:t>scheduled by the customer: Create Worklist (F8376), Escalate Disputes (F8713)</a:t>
                      </a:r>
                    </a:p>
                  </a:txBody>
                  <a:tcPr marL="73152" marR="73152" marT="36576" marB="36576" anchor="ctr">
                    <a:solidFill>
                      <a:srgbClr val="FFFFFF"/>
                    </a:solidFill>
                  </a:tcPr>
                </a:tc>
                <a:extLst>
                  <a:ext uri="{0D108BD9-81ED-4DB2-BD59-A6C34878D82A}">
                    <a16:rowId xmlns:a16="http://schemas.microsoft.com/office/drawing/2014/main" val="10007"/>
                  </a:ext>
                </a:extLst>
              </a:tr>
              <a:tr h="420624">
                <a:tc>
                  <a:txBody>
                    <a:bodyPr/>
                    <a:lstStyle/>
                    <a:p>
                      <a:r>
                        <a:rPr sz="1000" b="1" i="0">
                          <a:solidFill>
                            <a:srgbClr val="1F2933"/>
                          </a:solidFill>
                          <a:latin typeface="Calibri"/>
                        </a:rPr>
                        <a:t>Migration</a:t>
                      </a:r>
                    </a:p>
                  </a:txBody>
                  <a:tcPr marL="73152" marR="73152" marT="36576" marB="36576" anchor="ctr">
                    <a:solidFill>
                      <a:srgbClr val="EEF3F8"/>
                    </a:solidFill>
                  </a:tcPr>
                </a:tc>
                <a:tc>
                  <a:txBody>
                    <a:bodyPr/>
                    <a:lstStyle/>
                    <a:p>
                      <a:r>
                        <a:rPr sz="1000" b="0" i="0">
                          <a:solidFill>
                            <a:srgbClr val="1F2933"/>
                          </a:solidFill>
                          <a:latin typeface="Calibri"/>
                        </a:rPr>
                        <a:t>–</a:t>
                      </a:r>
                    </a:p>
                  </a:txBody>
                  <a:tcPr marL="73152" marR="73152" marT="36576" marB="36576" anchor="ctr">
                    <a:solidFill>
                      <a:srgbClr val="EEF3F8"/>
                    </a:solidFill>
                  </a:tcPr>
                </a:tc>
                <a:tc>
                  <a:txBody>
                    <a:bodyPr/>
                    <a:lstStyle/>
                    <a:p>
                      <a:r>
                        <a:rPr sz="1000" b="0" i="0">
                          <a:solidFill>
                            <a:srgbClr val="1F2933"/>
                          </a:solidFill>
                          <a:latin typeface="Calibri"/>
                        </a:rPr>
                        <a:t>Migration jobs for master data, disputes, promises, tasks, activities</a:t>
                      </a:r>
                    </a:p>
                  </a:txBody>
                  <a:tcPr marL="73152" marR="73152" marT="36576" marB="36576" anchor="ctr">
                    <a:solidFill>
                      <a:srgbClr val="EEF3F8"/>
                    </a:solidFill>
                  </a:tcPr>
                </a:tc>
                <a:extLst>
                  <a:ext uri="{0D108BD9-81ED-4DB2-BD59-A6C34878D82A}">
                    <a16:rowId xmlns:a16="http://schemas.microsoft.com/office/drawing/2014/main" val="10008"/>
                  </a:ext>
                </a:extLst>
              </a:tr>
            </a:tbl>
          </a:graphicData>
        </a:graphic>
      </p:graphicFrame>
      <p:sp>
        <p:nvSpPr>
          <p:cNvPr id="7" name="TextBox 6"/>
          <p:cNvSpPr txBox="1"/>
          <p:nvPr/>
        </p:nvSpPr>
        <p:spPr>
          <a:xfrm>
            <a:off x="548640" y="5486400"/>
            <a:ext cx="11094415" cy="457200"/>
          </a:xfrm>
          <a:prstGeom prst="rect">
            <a:avLst/>
          </a:prstGeom>
          <a:noFill/>
        </p:spPr>
        <p:txBody>
          <a:bodyPr wrap="square" lIns="45720" rIns="45720" anchor="t">
            <a:spAutoFit/>
          </a:bodyPr>
          <a:lstStyle/>
          <a:p>
            <a:pPr algn="l"/>
            <a:r>
              <a:rPr sz="1200" b="1" i="0">
                <a:solidFill>
                  <a:srgbClr val="0F8B8D"/>
                </a:solidFill>
                <a:latin typeface="Calibri"/>
              </a:rPr>
              <a:t>Recommendation: BFC as the standard, 7MA as a documented decision point if volume and rule maintenance skills justify it.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94415" cy="274320"/>
          </a:xfrm>
          <a:prstGeom prst="rect">
            <a:avLst/>
          </a:prstGeom>
          <a:noFill/>
        </p:spPr>
        <p:txBody>
          <a:bodyPr wrap="square" lIns="45720" rIns="45720" anchor="t">
            <a:spAutoFit/>
          </a:bodyPr>
          <a:lstStyle/>
          <a:p>
            <a:pPr algn="l"/>
            <a:r>
              <a:rPr sz="1100" b="1" i="0">
                <a:solidFill>
                  <a:srgbClr val="0F8B8D"/>
                </a:solidFill>
                <a:latin typeface="Calibri"/>
              </a:rPr>
              <a:t>E1  BALANCE SHEET CONSEQUENCE</a:t>
            </a:r>
          </a:p>
        </p:txBody>
      </p:sp>
      <p:sp>
        <p:nvSpPr>
          <p:cNvPr id="3" name="TextBox 2"/>
          <p:cNvSpPr txBox="1"/>
          <p:nvPr/>
        </p:nvSpPr>
        <p:spPr>
          <a:xfrm>
            <a:off x="548640" y="548640"/>
            <a:ext cx="11094415" cy="868680"/>
          </a:xfrm>
          <a:prstGeom prst="rect">
            <a:avLst/>
          </a:prstGeom>
          <a:noFill/>
        </p:spPr>
        <p:txBody>
          <a:bodyPr wrap="square" lIns="45720" rIns="45720" anchor="ctr">
            <a:spAutoFit/>
          </a:bodyPr>
          <a:lstStyle/>
          <a:p>
            <a:pPr algn="l"/>
            <a:r>
              <a:rPr sz="2800" b="1" i="0">
                <a:solidFill>
                  <a:srgbClr val="1C4E80"/>
                </a:solidFill>
                <a:latin typeface="Calibri"/>
              </a:rPr>
              <a:t>Valuation adjustment and write-off (2PD)</a:t>
            </a:r>
          </a:p>
        </p:txBody>
      </p:sp>
      <p:sp>
        <p:nvSpPr>
          <p:cNvPr id="4" name="TextBox 3"/>
          <p:cNvSpPr txBox="1"/>
          <p:nvPr/>
        </p:nvSpPr>
        <p:spPr>
          <a:xfrm>
            <a:off x="548640" y="6446520"/>
            <a:ext cx="8229600" cy="274320"/>
          </a:xfrm>
          <a:prstGeom prst="rect">
            <a:avLst/>
          </a:prstGeom>
          <a:noFill/>
        </p:spPr>
        <p:txBody>
          <a:bodyPr wrap="square" lIns="45720" rIns="45720" anchor="t">
            <a:spAutoFit/>
          </a:bodyPr>
          <a:lstStyle/>
          <a:p>
            <a:pPr algn="l"/>
            <a:r>
              <a:rPr sz="900" b="0" i="0">
                <a:solidFill>
                  <a:srgbClr val="5F6B7A"/>
                </a:solidFill>
                <a:latin typeface="Calibri"/>
              </a:rPr>
              <a:t>F2S Workshop 4  |  Collections &amp; Dispute Management  |  E  Wrap-up</a:t>
            </a:r>
          </a:p>
        </p:txBody>
      </p:sp>
      <p:sp>
        <p:nvSpPr>
          <p:cNvPr id="5" name="TextBox 4"/>
          <p:cNvSpPr txBox="1"/>
          <p:nvPr/>
        </p:nvSpPr>
        <p:spPr>
          <a:xfrm>
            <a:off x="10728655" y="6446520"/>
            <a:ext cx="914400" cy="274320"/>
          </a:xfrm>
          <a:prstGeom prst="rect">
            <a:avLst/>
          </a:prstGeom>
          <a:noFill/>
        </p:spPr>
        <p:txBody>
          <a:bodyPr wrap="square" lIns="45720" rIns="45720" anchor="t">
            <a:spAutoFit/>
          </a:bodyPr>
          <a:lstStyle/>
          <a:p>
            <a:pPr algn="r"/>
            <a:r>
              <a:rPr sz="900" b="0" i="0">
                <a:solidFill>
                  <a:srgbClr val="5F6B7A"/>
                </a:solidFill>
                <a:latin typeface="Calibri"/>
              </a:rPr>
              <a:t>22</a:t>
            </a:r>
          </a:p>
        </p:txBody>
      </p:sp>
      <p:sp>
        <p:nvSpPr>
          <p:cNvPr id="6" name="Rounded Rectangle 5"/>
          <p:cNvSpPr/>
          <p:nvPr/>
        </p:nvSpPr>
        <p:spPr>
          <a:xfrm>
            <a:off x="548640" y="1554480"/>
            <a:ext cx="2650159" cy="868680"/>
          </a:xfrm>
          <a:prstGeom prst="roundRect">
            <a:avLst>
              <a:gd name="adj" fmla="val 12000"/>
            </a:avLst>
          </a:prstGeom>
          <a:solidFill>
            <a:srgbClr val="5F6B7A"/>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FFFFFF"/>
                </a:solidFill>
                <a:latin typeface="Calibri"/>
              </a:rPr>
              <a:t>Value adjustment key</a:t>
            </a:r>
          </a:p>
          <a:p>
            <a:pPr algn="ctr"/>
            <a:r>
              <a:rPr sz="900" b="0" i="0">
                <a:solidFill>
                  <a:srgbClr val="FFFFFF"/>
                </a:solidFill>
                <a:latin typeface="Calibri"/>
              </a:rPr>
              <a:t>in customer master, e.g. R1</a:t>
            </a:r>
          </a:p>
        </p:txBody>
      </p:sp>
      <p:sp>
        <p:nvSpPr>
          <p:cNvPr id="7" name="Right Arrow 6"/>
          <p:cNvSpPr/>
          <p:nvPr/>
        </p:nvSpPr>
        <p:spPr>
          <a:xfrm>
            <a:off x="3217087" y="1897380"/>
            <a:ext cx="128016" cy="182880"/>
          </a:xfrm>
          <a:prstGeom prst="rightArrow">
            <a:avLst/>
          </a:prstGeom>
          <a:solidFill>
            <a:srgbClr val="C9D2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363391" y="1554480"/>
            <a:ext cx="2650159" cy="868680"/>
          </a:xfrm>
          <a:prstGeom prst="roundRect">
            <a:avLst>
              <a:gd name="adj" fmla="val 12000"/>
            </a:avLst>
          </a:prstGeom>
          <a:solidFill>
            <a:srgbClr val="1C4E80"/>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FFFFFF"/>
                </a:solidFill>
                <a:latin typeface="Calibri"/>
              </a:rPr>
              <a:t>Valuation run</a:t>
            </a:r>
          </a:p>
          <a:p>
            <a:pPr algn="ctr"/>
            <a:r>
              <a:rPr sz="900" b="0" i="0">
                <a:solidFill>
                  <a:srgbClr val="FFFFFF"/>
                </a:solidFill>
                <a:latin typeface="Calibri"/>
              </a:rPr>
              <a:t>Perform Further Valuations (F107)</a:t>
            </a:r>
          </a:p>
        </p:txBody>
      </p:sp>
      <p:sp>
        <p:nvSpPr>
          <p:cNvPr id="9" name="Right Arrow 8"/>
          <p:cNvSpPr/>
          <p:nvPr/>
        </p:nvSpPr>
        <p:spPr>
          <a:xfrm>
            <a:off x="6031838" y="1897380"/>
            <a:ext cx="128016" cy="182880"/>
          </a:xfrm>
          <a:prstGeom prst="rightArrow">
            <a:avLst/>
          </a:prstGeom>
          <a:solidFill>
            <a:srgbClr val="C9D2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178142" y="1554480"/>
            <a:ext cx="2650159" cy="868680"/>
          </a:xfrm>
          <a:prstGeom prst="roundRect">
            <a:avLst>
              <a:gd name="adj" fmla="val 12000"/>
            </a:avLst>
          </a:prstGeom>
          <a:solidFill>
            <a:srgbClr val="1C4E80"/>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FFFFFF"/>
                </a:solidFill>
                <a:latin typeface="Calibri"/>
              </a:rPr>
              <a:t>Analysis</a:t>
            </a:r>
          </a:p>
          <a:p>
            <a:pPr algn="ctr"/>
            <a:r>
              <a:rPr sz="900" b="0" i="0">
                <a:solidFill>
                  <a:srgbClr val="FFFFFF"/>
                </a:solidFill>
                <a:latin typeface="Calibri"/>
              </a:rPr>
              <a:t>Doubtful Accounts Valuation (F3246)</a:t>
            </a:r>
          </a:p>
        </p:txBody>
      </p:sp>
      <p:sp>
        <p:nvSpPr>
          <p:cNvPr id="11" name="Right Arrow 10"/>
          <p:cNvSpPr/>
          <p:nvPr/>
        </p:nvSpPr>
        <p:spPr>
          <a:xfrm>
            <a:off x="8846589" y="1897380"/>
            <a:ext cx="128016" cy="182880"/>
          </a:xfrm>
          <a:prstGeom prst="rightArrow">
            <a:avLst/>
          </a:prstGeom>
          <a:solidFill>
            <a:srgbClr val="C9D2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8992893" y="1554480"/>
            <a:ext cx="2650159" cy="868680"/>
          </a:xfrm>
          <a:prstGeom prst="roundRect">
            <a:avLst>
              <a:gd name="adj" fmla="val 12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FFFFFF"/>
                </a:solidFill>
                <a:latin typeface="Calibri"/>
              </a:rPr>
              <a:t>Write-off</a:t>
            </a:r>
          </a:p>
          <a:p>
            <a:pPr algn="ctr"/>
            <a:r>
              <a:rPr sz="900" b="0" i="0">
                <a:solidFill>
                  <a:srgbClr val="FFFFFF"/>
                </a:solidFill>
                <a:latin typeface="Calibri"/>
              </a:rPr>
              <a:t>Clear Incoming Payments – Manual Clearing (F0773)</a:t>
            </a:r>
          </a:p>
        </p:txBody>
      </p:sp>
      <p:sp>
        <p:nvSpPr>
          <p:cNvPr id="13" name="Rounded Rectangle 12"/>
          <p:cNvSpPr/>
          <p:nvPr/>
        </p:nvSpPr>
        <p:spPr>
          <a:xfrm>
            <a:off x="548640" y="2697480"/>
            <a:ext cx="3515258" cy="265176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85800" y="2834640"/>
            <a:ext cx="3240938" cy="365760"/>
          </a:xfrm>
          <a:prstGeom prst="rect">
            <a:avLst/>
          </a:prstGeom>
          <a:noFill/>
        </p:spPr>
        <p:txBody>
          <a:bodyPr wrap="square" lIns="45720" rIns="45720" anchor="ctr">
            <a:spAutoFit/>
          </a:bodyPr>
          <a:lstStyle/>
          <a:p>
            <a:pPr algn="l"/>
            <a:r>
              <a:rPr sz="1400" b="1" i="0">
                <a:solidFill>
                  <a:srgbClr val="1C4E80"/>
                </a:solidFill>
                <a:latin typeface="Calibri"/>
              </a:rPr>
              <a:t>Why</a:t>
            </a:r>
          </a:p>
        </p:txBody>
      </p:sp>
      <p:sp>
        <p:nvSpPr>
          <p:cNvPr id="15" name="TextBox 14"/>
          <p:cNvSpPr txBox="1"/>
          <p:nvPr/>
        </p:nvSpPr>
        <p:spPr>
          <a:xfrm>
            <a:off x="685800" y="3218688"/>
            <a:ext cx="3240938" cy="1993392"/>
          </a:xfrm>
          <a:prstGeom prst="rect">
            <a:avLst/>
          </a:prstGeom>
          <a:noFill/>
        </p:spPr>
        <p:txBody>
          <a:bodyPr wrap="square" lIns="45720" rIns="45720">
            <a:spAutoFit/>
          </a:bodyPr>
          <a:lstStyle/>
          <a:p>
            <a:pPr marL="201168" indent="-201168">
              <a:spcAft>
                <a:spcPts val="300"/>
              </a:spcAft>
              <a:buChar char="•"/>
            </a:pPr>
            <a:r>
              <a:rPr sz="1200" b="0" i="0">
                <a:solidFill>
                  <a:srgbClr val="1F2933"/>
                </a:solidFill>
                <a:latin typeface="Calibri"/>
              </a:rPr>
              <a:t>Not every receivable is paid; the risk must be on the balance sheet before the default</a:t>
            </a:r>
          </a:p>
          <a:p>
            <a:pPr marL="201168" indent="-201168">
              <a:spcAft>
                <a:spcPts val="300"/>
              </a:spcAft>
              <a:buChar char="•"/>
            </a:pPr>
            <a:r>
              <a:rPr sz="1200" b="0" i="0">
                <a:solidFill>
                  <a:srgbClr val="1F2933"/>
                </a:solidFill>
                <a:latin typeface="Calibri"/>
              </a:rPr>
              <a:t>IFRS 9: expected credit loss per overdue bucket (provision matrix)</a:t>
            </a:r>
          </a:p>
          <a:p>
            <a:pPr marL="201168" indent="-201168">
              <a:spcAft>
                <a:spcPts val="300"/>
              </a:spcAft>
              <a:buChar char="•"/>
            </a:pPr>
            <a:r>
              <a:rPr sz="1200" b="0" i="0">
                <a:solidFill>
                  <a:srgbClr val="1F2933"/>
                </a:solidFill>
                <a:latin typeface="Calibri"/>
              </a:rPr>
              <a:t>Local GAAP: general and specific bad debt allowances</a:t>
            </a:r>
          </a:p>
        </p:txBody>
      </p:sp>
      <p:sp>
        <p:nvSpPr>
          <p:cNvPr id="16" name="Rounded Rectangle 15"/>
          <p:cNvSpPr/>
          <p:nvPr/>
        </p:nvSpPr>
        <p:spPr>
          <a:xfrm>
            <a:off x="4338218" y="2697480"/>
            <a:ext cx="3515258" cy="265176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4475378" y="2834640"/>
            <a:ext cx="3240938" cy="365760"/>
          </a:xfrm>
          <a:prstGeom prst="rect">
            <a:avLst/>
          </a:prstGeom>
          <a:noFill/>
        </p:spPr>
        <p:txBody>
          <a:bodyPr wrap="square" lIns="45720" rIns="45720" anchor="ctr">
            <a:spAutoFit/>
          </a:bodyPr>
          <a:lstStyle/>
          <a:p>
            <a:pPr algn="l"/>
            <a:r>
              <a:rPr sz="1400" b="1" i="0">
                <a:solidFill>
                  <a:srgbClr val="1C4E80"/>
                </a:solidFill>
                <a:latin typeface="Calibri"/>
              </a:rPr>
              <a:t>Flow at period end</a:t>
            </a:r>
          </a:p>
        </p:txBody>
      </p:sp>
      <p:sp>
        <p:nvSpPr>
          <p:cNvPr id="18" name="TextBox 17"/>
          <p:cNvSpPr txBox="1"/>
          <p:nvPr/>
        </p:nvSpPr>
        <p:spPr>
          <a:xfrm>
            <a:off x="4475378" y="3218688"/>
            <a:ext cx="3240938" cy="1993392"/>
          </a:xfrm>
          <a:prstGeom prst="rect">
            <a:avLst/>
          </a:prstGeom>
          <a:noFill/>
        </p:spPr>
        <p:txBody>
          <a:bodyPr wrap="square" lIns="45720" rIns="45720">
            <a:spAutoFit/>
          </a:bodyPr>
          <a:lstStyle/>
          <a:p>
            <a:pPr marL="201168" indent="-201168">
              <a:spcAft>
                <a:spcPts val="300"/>
              </a:spcAft>
              <a:buChar char="•"/>
            </a:pPr>
            <a:r>
              <a:rPr sz="1200" b="0" i="0">
                <a:solidFill>
                  <a:srgbClr val="1F2933"/>
                </a:solidFill>
                <a:latin typeface="Calibri"/>
              </a:rPr>
              <a:t>Valuation run applies rates to open items, posts expense at key date, reversal the next day</a:t>
            </a:r>
          </a:p>
          <a:p>
            <a:pPr marL="201168" indent="-201168">
              <a:spcAft>
                <a:spcPts val="300"/>
              </a:spcAft>
              <a:buChar char="•"/>
            </a:pPr>
            <a:r>
              <a:rPr sz="1200" b="0" i="0">
                <a:solidFill>
                  <a:srgbClr val="1F2933"/>
                </a:solidFill>
                <a:latin typeface="Calibri"/>
              </a:rPr>
              <a:t>Analysis by customer, country, risk class, dunning block</a:t>
            </a:r>
          </a:p>
          <a:p>
            <a:pPr marL="201168" indent="-201168">
              <a:spcAft>
                <a:spcPts val="300"/>
              </a:spcAft>
              <a:buChar char="•"/>
            </a:pPr>
            <a:r>
              <a:rPr sz="1200" b="0" i="0">
                <a:solidFill>
                  <a:srgbClr val="1F2933"/>
                </a:solidFill>
                <a:latin typeface="Calibri"/>
              </a:rPr>
              <a:t>Uncollectible: write-off as expense, posting key 17, right to collect remains</a:t>
            </a:r>
          </a:p>
        </p:txBody>
      </p:sp>
      <p:sp>
        <p:nvSpPr>
          <p:cNvPr id="19" name="Rounded Rectangle 18"/>
          <p:cNvSpPr/>
          <p:nvPr/>
        </p:nvSpPr>
        <p:spPr>
          <a:xfrm>
            <a:off x="8127796" y="2697480"/>
            <a:ext cx="3515258" cy="2651760"/>
          </a:xfrm>
          <a:prstGeom prst="roundRect">
            <a:avLst>
              <a:gd name="adj" fmla="val 12000"/>
            </a:avLst>
          </a:prstGeom>
          <a:solidFill>
            <a:srgbClr val="E6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8264956" y="2834640"/>
            <a:ext cx="3240938" cy="365760"/>
          </a:xfrm>
          <a:prstGeom prst="rect">
            <a:avLst/>
          </a:prstGeom>
          <a:noFill/>
        </p:spPr>
        <p:txBody>
          <a:bodyPr wrap="square" lIns="45720" rIns="45720" anchor="ctr">
            <a:spAutoFit/>
          </a:bodyPr>
          <a:lstStyle/>
          <a:p>
            <a:pPr algn="l"/>
            <a:r>
              <a:rPr sz="1400" b="1" i="0">
                <a:solidFill>
                  <a:srgbClr val="1C4E80"/>
                </a:solidFill>
                <a:latin typeface="Calibri"/>
              </a:rPr>
              <a:t>Link to collections</a:t>
            </a:r>
          </a:p>
        </p:txBody>
      </p:sp>
      <p:sp>
        <p:nvSpPr>
          <p:cNvPr id="21" name="TextBox 20"/>
          <p:cNvSpPr txBox="1"/>
          <p:nvPr/>
        </p:nvSpPr>
        <p:spPr>
          <a:xfrm>
            <a:off x="8264956" y="3218688"/>
            <a:ext cx="3240938" cy="1993392"/>
          </a:xfrm>
          <a:prstGeom prst="rect">
            <a:avLst/>
          </a:prstGeom>
          <a:noFill/>
        </p:spPr>
        <p:txBody>
          <a:bodyPr wrap="square" lIns="45720" rIns="45720">
            <a:spAutoFit/>
          </a:bodyPr>
          <a:lstStyle/>
          <a:p>
            <a:pPr marL="201168" indent="-201168">
              <a:spcAft>
                <a:spcPts val="300"/>
              </a:spcAft>
              <a:buChar char="•"/>
            </a:pPr>
            <a:r>
              <a:rPr sz="1200" b="0" i="0">
                <a:solidFill>
                  <a:srgbClr val="1F2933"/>
                </a:solidFill>
                <a:latin typeface="Calibri"/>
              </a:rPr>
              <a:t>The better collections and dispute work, the smaller the old aging buckets</a:t>
            </a:r>
          </a:p>
          <a:p>
            <a:pPr marL="201168" indent="-201168">
              <a:spcAft>
                <a:spcPts val="300"/>
              </a:spcAft>
              <a:buChar char="•"/>
            </a:pPr>
            <a:r>
              <a:rPr sz="1200" b="0" i="0">
                <a:solidFill>
                  <a:srgbClr val="1F2933"/>
                </a:solidFill>
                <a:latin typeface="Calibri"/>
              </a:rPr>
              <a:t>Valuation adjustment as yardstick for receivables management</a:t>
            </a:r>
          </a:p>
          <a:p>
            <a:pPr marL="201168" indent="-201168">
              <a:spcAft>
                <a:spcPts val="300"/>
              </a:spcAft>
              <a:buChar char="•"/>
            </a:pPr>
            <a:r>
              <a:rPr sz="1200" b="0" i="0">
                <a:solidFill>
                  <a:srgbClr val="1F2933"/>
                </a:solidFill>
                <a:latin typeface="Calibri"/>
              </a:rPr>
              <a:t>Restriction: not with Advanced Foreign Currency Valuation; key date as in foreign currency valuation (J58)</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94415" cy="274320"/>
          </a:xfrm>
          <a:prstGeom prst="rect">
            <a:avLst/>
          </a:prstGeom>
          <a:noFill/>
        </p:spPr>
        <p:txBody>
          <a:bodyPr wrap="square" lIns="45720" rIns="45720" anchor="t">
            <a:spAutoFit/>
          </a:bodyPr>
          <a:lstStyle/>
          <a:p>
            <a:pPr algn="l"/>
            <a:r>
              <a:rPr sz="1100" b="1" i="0">
                <a:solidFill>
                  <a:srgbClr val="0F8B8D"/>
                </a:solidFill>
                <a:latin typeface="Calibri"/>
              </a:rPr>
              <a:t>E2  FIT-TO-STANDARD</a:t>
            </a:r>
          </a:p>
        </p:txBody>
      </p:sp>
      <p:sp>
        <p:nvSpPr>
          <p:cNvPr id="3" name="TextBox 2"/>
          <p:cNvSpPr txBox="1"/>
          <p:nvPr/>
        </p:nvSpPr>
        <p:spPr>
          <a:xfrm>
            <a:off x="548640" y="548640"/>
            <a:ext cx="11094415" cy="868680"/>
          </a:xfrm>
          <a:prstGeom prst="rect">
            <a:avLst/>
          </a:prstGeom>
          <a:noFill/>
        </p:spPr>
        <p:txBody>
          <a:bodyPr wrap="square" lIns="45720" rIns="45720" anchor="ctr">
            <a:spAutoFit/>
          </a:bodyPr>
          <a:lstStyle/>
          <a:p>
            <a:pPr algn="l"/>
            <a:r>
              <a:rPr sz="2800" b="1" i="0">
                <a:solidFill>
                  <a:srgbClr val="1C4E80"/>
                </a:solidFill>
                <a:latin typeface="Calibri"/>
              </a:rPr>
              <a:t>Decisions required from the workshop</a:t>
            </a:r>
          </a:p>
        </p:txBody>
      </p:sp>
      <p:sp>
        <p:nvSpPr>
          <p:cNvPr id="4" name="TextBox 3"/>
          <p:cNvSpPr txBox="1"/>
          <p:nvPr/>
        </p:nvSpPr>
        <p:spPr>
          <a:xfrm>
            <a:off x="548640" y="6446520"/>
            <a:ext cx="8229600" cy="274320"/>
          </a:xfrm>
          <a:prstGeom prst="rect">
            <a:avLst/>
          </a:prstGeom>
          <a:noFill/>
        </p:spPr>
        <p:txBody>
          <a:bodyPr wrap="square" lIns="45720" rIns="45720" anchor="t">
            <a:spAutoFit/>
          </a:bodyPr>
          <a:lstStyle/>
          <a:p>
            <a:pPr algn="l"/>
            <a:r>
              <a:rPr sz="900" b="0" i="0">
                <a:solidFill>
                  <a:srgbClr val="5F6B7A"/>
                </a:solidFill>
                <a:latin typeface="Calibri"/>
              </a:rPr>
              <a:t>F2S Workshop 4  |  Collections &amp; Dispute Management  |  E  Wrap-up</a:t>
            </a:r>
          </a:p>
        </p:txBody>
      </p:sp>
      <p:sp>
        <p:nvSpPr>
          <p:cNvPr id="5" name="TextBox 4"/>
          <p:cNvSpPr txBox="1"/>
          <p:nvPr/>
        </p:nvSpPr>
        <p:spPr>
          <a:xfrm>
            <a:off x="10728655" y="6446520"/>
            <a:ext cx="914400" cy="274320"/>
          </a:xfrm>
          <a:prstGeom prst="rect">
            <a:avLst/>
          </a:prstGeom>
          <a:noFill/>
        </p:spPr>
        <p:txBody>
          <a:bodyPr wrap="square" lIns="45720" rIns="45720" anchor="t">
            <a:spAutoFit/>
          </a:bodyPr>
          <a:lstStyle/>
          <a:p>
            <a:pPr algn="r"/>
            <a:r>
              <a:rPr sz="900" b="0" i="0">
                <a:solidFill>
                  <a:srgbClr val="5F6B7A"/>
                </a:solidFill>
                <a:latin typeface="Calibri"/>
              </a:rPr>
              <a:t>23</a:t>
            </a:r>
          </a:p>
        </p:txBody>
      </p:sp>
      <p:sp>
        <p:nvSpPr>
          <p:cNvPr id="6" name="Rounded Rectangle 5"/>
          <p:cNvSpPr/>
          <p:nvPr/>
        </p:nvSpPr>
        <p:spPr>
          <a:xfrm>
            <a:off x="548640" y="1554480"/>
            <a:ext cx="3545738" cy="178308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685800" y="1691640"/>
            <a:ext cx="3271418" cy="365760"/>
          </a:xfrm>
          <a:prstGeom prst="rect">
            <a:avLst/>
          </a:prstGeom>
          <a:noFill/>
        </p:spPr>
        <p:txBody>
          <a:bodyPr wrap="square" lIns="45720" rIns="45720" anchor="ctr">
            <a:spAutoFit/>
          </a:bodyPr>
          <a:lstStyle/>
          <a:p>
            <a:pPr algn="l"/>
            <a:r>
              <a:rPr sz="1400" b="1" i="0">
                <a:solidFill>
                  <a:srgbClr val="1C4E80"/>
                </a:solidFill>
                <a:latin typeface="Calibri"/>
              </a:rPr>
              <a:t>Principles</a:t>
            </a:r>
          </a:p>
        </p:txBody>
      </p:sp>
      <p:sp>
        <p:nvSpPr>
          <p:cNvPr id="8" name="TextBox 7"/>
          <p:cNvSpPr txBox="1"/>
          <p:nvPr/>
        </p:nvSpPr>
        <p:spPr>
          <a:xfrm>
            <a:off x="685800" y="2075688"/>
            <a:ext cx="3271418" cy="1124712"/>
          </a:xfrm>
          <a:prstGeom prst="rect">
            <a:avLst/>
          </a:prstGeom>
          <a:noFill/>
        </p:spPr>
        <p:txBody>
          <a:bodyPr wrap="square" lIns="45720" rIns="45720">
            <a:spAutoFit/>
          </a:bodyPr>
          <a:lstStyle/>
          <a:p>
            <a:pPr marL="201168" indent="-201168">
              <a:spcAft>
                <a:spcPts val="300"/>
              </a:spcAft>
              <a:buChar char="•"/>
            </a:pPr>
            <a:r>
              <a:rPr sz="1200" b="0" i="0">
                <a:solidFill>
                  <a:srgbClr val="1F2933"/>
                </a:solidFill>
                <a:latin typeface="Calibri"/>
              </a:rPr>
              <a:t>BFC or 7MA? License status</a:t>
            </a:r>
          </a:p>
          <a:p>
            <a:pPr marL="201168" indent="-201168">
              <a:spcAft>
                <a:spcPts val="300"/>
              </a:spcAft>
              <a:buChar char="•"/>
            </a:pPr>
            <a:r>
              <a:rPr sz="1200" b="0" i="0">
                <a:solidFill>
                  <a:srgbClr val="1F2933"/>
                </a:solidFill>
                <a:latin typeface="Calibri"/>
              </a:rPr>
              <a:t>All customers or only risk classes in collections?</a:t>
            </a:r>
          </a:p>
        </p:txBody>
      </p:sp>
      <p:sp>
        <p:nvSpPr>
          <p:cNvPr id="9" name="Rounded Rectangle 8"/>
          <p:cNvSpPr/>
          <p:nvPr/>
        </p:nvSpPr>
        <p:spPr>
          <a:xfrm>
            <a:off x="4322978" y="1554480"/>
            <a:ext cx="3545738" cy="178308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4460138" y="1691640"/>
            <a:ext cx="3271418" cy="365760"/>
          </a:xfrm>
          <a:prstGeom prst="rect">
            <a:avLst/>
          </a:prstGeom>
          <a:noFill/>
        </p:spPr>
        <p:txBody>
          <a:bodyPr wrap="square" lIns="45720" rIns="45720" anchor="ctr">
            <a:spAutoFit/>
          </a:bodyPr>
          <a:lstStyle/>
          <a:p>
            <a:pPr algn="l"/>
            <a:r>
              <a:rPr sz="1400" b="1" i="0">
                <a:solidFill>
                  <a:srgbClr val="1C4E80"/>
                </a:solidFill>
                <a:latin typeface="Calibri"/>
              </a:rPr>
              <a:t>Organization</a:t>
            </a:r>
          </a:p>
        </p:txBody>
      </p:sp>
      <p:sp>
        <p:nvSpPr>
          <p:cNvPr id="11" name="TextBox 10"/>
          <p:cNvSpPr txBox="1"/>
          <p:nvPr/>
        </p:nvSpPr>
        <p:spPr>
          <a:xfrm>
            <a:off x="4460138" y="2075688"/>
            <a:ext cx="3271418" cy="1124712"/>
          </a:xfrm>
          <a:prstGeom prst="rect">
            <a:avLst/>
          </a:prstGeom>
          <a:noFill/>
        </p:spPr>
        <p:txBody>
          <a:bodyPr wrap="square" lIns="45720" rIns="45720">
            <a:spAutoFit/>
          </a:bodyPr>
          <a:lstStyle/>
          <a:p>
            <a:pPr marL="201168" indent="-201168">
              <a:spcAft>
                <a:spcPts val="300"/>
              </a:spcAft>
              <a:buChar char="•"/>
            </a:pPr>
            <a:r>
              <a:rPr sz="1200" b="0" i="0">
                <a:solidFill>
                  <a:srgbClr val="1F2933"/>
                </a:solidFill>
                <a:latin typeface="Calibri"/>
              </a:rPr>
              <a:t>Segments: company code, country, business area?</a:t>
            </a:r>
          </a:p>
          <a:p>
            <a:pPr marL="201168" indent="-201168">
              <a:spcAft>
                <a:spcPts val="300"/>
              </a:spcAft>
              <a:buChar char="•"/>
            </a:pPr>
            <a:r>
              <a:rPr sz="1200" b="0" i="0">
                <a:solidFill>
                  <a:srgbClr val="1F2933"/>
                </a:solidFill>
                <a:latin typeface="Calibri"/>
              </a:rPr>
              <a:t>Groups, specialists, substitutes</a:t>
            </a:r>
          </a:p>
          <a:p>
            <a:pPr marL="201168" indent="-201168">
              <a:spcAft>
                <a:spcPts val="300"/>
              </a:spcAft>
              <a:buChar char="•"/>
            </a:pPr>
            <a:r>
              <a:rPr sz="1200" b="0" i="0">
                <a:solidFill>
                  <a:srgbClr val="1F2933"/>
                </a:solidFill>
                <a:latin typeface="Calibri"/>
              </a:rPr>
              <a:t>Roles incl. dispute catalog for Cash Specialist</a:t>
            </a:r>
          </a:p>
        </p:txBody>
      </p:sp>
      <p:sp>
        <p:nvSpPr>
          <p:cNvPr id="12" name="Rounded Rectangle 11"/>
          <p:cNvSpPr/>
          <p:nvPr/>
        </p:nvSpPr>
        <p:spPr>
          <a:xfrm>
            <a:off x="8097316" y="1554480"/>
            <a:ext cx="3545738" cy="178308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234476" y="1691640"/>
            <a:ext cx="3271418" cy="365760"/>
          </a:xfrm>
          <a:prstGeom prst="rect">
            <a:avLst/>
          </a:prstGeom>
          <a:noFill/>
        </p:spPr>
        <p:txBody>
          <a:bodyPr wrap="square" lIns="45720" rIns="45720" anchor="ctr">
            <a:spAutoFit/>
          </a:bodyPr>
          <a:lstStyle/>
          <a:p>
            <a:pPr algn="l"/>
            <a:r>
              <a:rPr sz="1400" b="1" i="0">
                <a:solidFill>
                  <a:srgbClr val="1C4E80"/>
                </a:solidFill>
                <a:latin typeface="Calibri"/>
              </a:rPr>
              <a:t>Strategy</a:t>
            </a:r>
          </a:p>
        </p:txBody>
      </p:sp>
      <p:sp>
        <p:nvSpPr>
          <p:cNvPr id="14" name="TextBox 13"/>
          <p:cNvSpPr txBox="1"/>
          <p:nvPr/>
        </p:nvSpPr>
        <p:spPr>
          <a:xfrm>
            <a:off x="8234476" y="2075688"/>
            <a:ext cx="3271418" cy="1124712"/>
          </a:xfrm>
          <a:prstGeom prst="rect">
            <a:avLst/>
          </a:prstGeom>
          <a:noFill/>
        </p:spPr>
        <p:txBody>
          <a:bodyPr wrap="square" lIns="45720" rIns="45720">
            <a:spAutoFit/>
          </a:bodyPr>
          <a:lstStyle/>
          <a:p>
            <a:pPr marL="201168" indent="-201168">
              <a:spcAft>
                <a:spcPts val="300"/>
              </a:spcAft>
              <a:buChar char="•"/>
            </a:pPr>
            <a:r>
              <a:rPr sz="1200" b="0" i="0">
                <a:solidFill>
                  <a:srgbClr val="1F2933"/>
                </a:solidFill>
                <a:latin typeface="Calibri"/>
              </a:rPr>
              <a:t>Rules, thresholds, weights</a:t>
            </a:r>
          </a:p>
          <a:p>
            <a:pPr marL="201168" indent="-201168">
              <a:spcAft>
                <a:spcPts val="300"/>
              </a:spcAft>
              <a:buChar char="•"/>
            </a:pPr>
            <a:r>
              <a:rPr sz="1200" b="0" i="0">
                <a:solidFill>
                  <a:srgbClr val="1F2933"/>
                </a:solidFill>
                <a:latin typeface="Calibri"/>
              </a:rPr>
              <a:t>Aging periods, proactive contact</a:t>
            </a:r>
          </a:p>
          <a:p>
            <a:pPr marL="201168" indent="-201168">
              <a:spcAft>
                <a:spcPts val="300"/>
              </a:spcAft>
              <a:buChar char="•"/>
            </a:pPr>
            <a:r>
              <a:rPr sz="1200" b="0" i="0">
                <a:solidFill>
                  <a:srgbClr val="1F2933"/>
                </a:solidFill>
                <a:latin typeface="Calibri"/>
              </a:rPr>
              <a:t>Risk class as criterion</a:t>
            </a:r>
          </a:p>
        </p:txBody>
      </p:sp>
      <p:sp>
        <p:nvSpPr>
          <p:cNvPr id="15" name="Rounded Rectangle 14"/>
          <p:cNvSpPr/>
          <p:nvPr/>
        </p:nvSpPr>
        <p:spPr>
          <a:xfrm>
            <a:off x="548640" y="3520440"/>
            <a:ext cx="3545738" cy="1783080"/>
          </a:xfrm>
          <a:prstGeom prst="roundRect">
            <a:avLst>
              <a:gd name="adj" fmla="val 12000"/>
            </a:avLst>
          </a:prstGeom>
          <a:solidFill>
            <a:srgbClr val="E6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85800" y="3657600"/>
            <a:ext cx="3271418" cy="365760"/>
          </a:xfrm>
          <a:prstGeom prst="rect">
            <a:avLst/>
          </a:prstGeom>
          <a:noFill/>
        </p:spPr>
        <p:txBody>
          <a:bodyPr wrap="square" lIns="45720" rIns="45720" anchor="ctr">
            <a:spAutoFit/>
          </a:bodyPr>
          <a:lstStyle/>
          <a:p>
            <a:pPr algn="l"/>
            <a:r>
              <a:rPr sz="1400" b="1" i="0">
                <a:solidFill>
                  <a:srgbClr val="1C4E80"/>
                </a:solidFill>
                <a:latin typeface="Calibri"/>
              </a:rPr>
              <a:t>Dunning</a:t>
            </a:r>
          </a:p>
        </p:txBody>
      </p:sp>
      <p:sp>
        <p:nvSpPr>
          <p:cNvPr id="17" name="TextBox 16"/>
          <p:cNvSpPr txBox="1"/>
          <p:nvPr/>
        </p:nvSpPr>
        <p:spPr>
          <a:xfrm>
            <a:off x="685800" y="4041648"/>
            <a:ext cx="3271418" cy="1124712"/>
          </a:xfrm>
          <a:prstGeom prst="rect">
            <a:avLst/>
          </a:prstGeom>
          <a:noFill/>
        </p:spPr>
        <p:txBody>
          <a:bodyPr wrap="square" lIns="45720" rIns="45720">
            <a:spAutoFit/>
          </a:bodyPr>
          <a:lstStyle/>
          <a:p>
            <a:pPr marL="201168" indent="-201168">
              <a:spcAft>
                <a:spcPts val="300"/>
              </a:spcAft>
              <a:buChar char="•"/>
            </a:pPr>
            <a:r>
              <a:rPr sz="1200" b="0" i="0">
                <a:solidFill>
                  <a:srgbClr val="1F2933"/>
                </a:solidFill>
                <a:latin typeface="Calibri"/>
              </a:rPr>
              <a:t>Levels, intervals, charges</a:t>
            </a:r>
          </a:p>
          <a:p>
            <a:pPr marL="201168" indent="-201168">
              <a:spcAft>
                <a:spcPts val="300"/>
              </a:spcAft>
              <a:buChar char="•"/>
            </a:pPr>
            <a:r>
              <a:rPr sz="1200" b="0" i="0">
                <a:solidFill>
                  <a:srgbClr val="1F2933"/>
                </a:solidFill>
                <a:latin typeface="Calibri"/>
              </a:rPr>
              <a:t>Forms, e-mail vs. print, languages</a:t>
            </a:r>
          </a:p>
          <a:p>
            <a:pPr marL="201168" indent="-201168">
              <a:spcAft>
                <a:spcPts val="300"/>
              </a:spcAft>
              <a:buChar char="•"/>
            </a:pPr>
            <a:r>
              <a:rPr sz="1200" b="0" i="0">
                <a:solidFill>
                  <a:srgbClr val="1F2933"/>
                </a:solidFill>
                <a:latin typeface="Calibri"/>
              </a:rPr>
              <a:t>Dunning block reasons, central vs. per clerk</a:t>
            </a:r>
          </a:p>
        </p:txBody>
      </p:sp>
      <p:sp>
        <p:nvSpPr>
          <p:cNvPr id="18" name="Rounded Rectangle 17"/>
          <p:cNvSpPr/>
          <p:nvPr/>
        </p:nvSpPr>
        <p:spPr>
          <a:xfrm>
            <a:off x="4322978" y="3520440"/>
            <a:ext cx="3545738" cy="1783080"/>
          </a:xfrm>
          <a:prstGeom prst="roundRect">
            <a:avLst>
              <a:gd name="adj" fmla="val 12000"/>
            </a:avLst>
          </a:prstGeom>
          <a:solidFill>
            <a:srgbClr val="E6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4460138" y="3657600"/>
            <a:ext cx="3271418" cy="365760"/>
          </a:xfrm>
          <a:prstGeom prst="rect">
            <a:avLst/>
          </a:prstGeom>
          <a:noFill/>
        </p:spPr>
        <p:txBody>
          <a:bodyPr wrap="square" lIns="45720" rIns="45720" anchor="ctr">
            <a:spAutoFit/>
          </a:bodyPr>
          <a:lstStyle/>
          <a:p>
            <a:pPr algn="l"/>
            <a:r>
              <a:rPr sz="1400" b="1" i="0">
                <a:solidFill>
                  <a:srgbClr val="1C4E80"/>
                </a:solidFill>
                <a:latin typeface="Calibri"/>
              </a:rPr>
              <a:t>Dispute</a:t>
            </a:r>
          </a:p>
        </p:txBody>
      </p:sp>
      <p:sp>
        <p:nvSpPr>
          <p:cNvPr id="20" name="TextBox 19"/>
          <p:cNvSpPr txBox="1"/>
          <p:nvPr/>
        </p:nvSpPr>
        <p:spPr>
          <a:xfrm>
            <a:off x="4460138" y="4041648"/>
            <a:ext cx="3271418" cy="1124712"/>
          </a:xfrm>
          <a:prstGeom prst="rect">
            <a:avLst/>
          </a:prstGeom>
          <a:noFill/>
        </p:spPr>
        <p:txBody>
          <a:bodyPr wrap="square" lIns="45720" rIns="45720">
            <a:spAutoFit/>
          </a:bodyPr>
          <a:lstStyle/>
          <a:p>
            <a:pPr marL="201168" indent="-201168">
              <a:spcAft>
                <a:spcPts val="300"/>
              </a:spcAft>
              <a:buChar char="•"/>
            </a:pPr>
            <a:r>
              <a:rPr sz="1200" b="0" i="0">
                <a:solidFill>
                  <a:srgbClr val="1F2933"/>
                </a:solidFill>
                <a:latin typeface="Calibri"/>
              </a:rPr>
              <a:t>Reasons and root causes</a:t>
            </a:r>
          </a:p>
          <a:p>
            <a:pPr marL="201168" indent="-201168">
              <a:spcAft>
                <a:spcPts val="300"/>
              </a:spcAft>
              <a:buChar char="•"/>
            </a:pPr>
            <a:r>
              <a:rPr sz="1200" b="0" i="0">
                <a:solidFill>
                  <a:srgbClr val="1F2933"/>
                </a:solidFill>
                <a:latin typeface="Calibri"/>
              </a:rPr>
              <a:t>Coordinator / processor model, departments</a:t>
            </a:r>
          </a:p>
          <a:p>
            <a:pPr marL="201168" indent="-201168">
              <a:spcAft>
                <a:spcPts val="300"/>
              </a:spcAft>
              <a:buChar char="•"/>
            </a:pPr>
            <a:r>
              <a:rPr sz="1200" b="0" i="0">
                <a:solidFill>
                  <a:srgbClr val="1F2933"/>
                </a:solidFill>
                <a:latin typeface="Calibri"/>
              </a:rPr>
              <a:t>Auto creation: amount limit; escalation and write-off approval</a:t>
            </a:r>
          </a:p>
        </p:txBody>
      </p:sp>
      <p:sp>
        <p:nvSpPr>
          <p:cNvPr id="21" name="Rounded Rectangle 20"/>
          <p:cNvSpPr/>
          <p:nvPr/>
        </p:nvSpPr>
        <p:spPr>
          <a:xfrm>
            <a:off x="8097316" y="3520440"/>
            <a:ext cx="3545738" cy="1783080"/>
          </a:xfrm>
          <a:prstGeom prst="roundRect">
            <a:avLst>
              <a:gd name="adj" fmla="val 12000"/>
            </a:avLst>
          </a:prstGeom>
          <a:solidFill>
            <a:srgbClr val="E6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8234476" y="3657600"/>
            <a:ext cx="3271418" cy="365760"/>
          </a:xfrm>
          <a:prstGeom prst="rect">
            <a:avLst/>
          </a:prstGeom>
          <a:noFill/>
        </p:spPr>
        <p:txBody>
          <a:bodyPr wrap="square" lIns="45720" rIns="45720" anchor="ctr">
            <a:spAutoFit/>
          </a:bodyPr>
          <a:lstStyle/>
          <a:p>
            <a:pPr algn="l"/>
            <a:r>
              <a:rPr sz="1400" b="1" i="0">
                <a:solidFill>
                  <a:srgbClr val="1C4E80"/>
                </a:solidFill>
                <a:latin typeface="Calibri"/>
              </a:rPr>
              <a:t>Valuation adjustment</a:t>
            </a:r>
          </a:p>
        </p:txBody>
      </p:sp>
      <p:sp>
        <p:nvSpPr>
          <p:cNvPr id="23" name="TextBox 22"/>
          <p:cNvSpPr txBox="1"/>
          <p:nvPr/>
        </p:nvSpPr>
        <p:spPr>
          <a:xfrm>
            <a:off x="8234476" y="4041648"/>
            <a:ext cx="3271418" cy="1124712"/>
          </a:xfrm>
          <a:prstGeom prst="rect">
            <a:avLst/>
          </a:prstGeom>
          <a:noFill/>
        </p:spPr>
        <p:txBody>
          <a:bodyPr wrap="square" lIns="45720" rIns="45720">
            <a:spAutoFit/>
          </a:bodyPr>
          <a:lstStyle/>
          <a:p>
            <a:pPr marL="201168" indent="-201168">
              <a:spcAft>
                <a:spcPts val="300"/>
              </a:spcAft>
              <a:buChar char="•"/>
            </a:pPr>
            <a:r>
              <a:rPr sz="1200" b="0" i="0">
                <a:solidFill>
                  <a:srgbClr val="1F2933"/>
                </a:solidFill>
                <a:latin typeface="Calibri"/>
              </a:rPr>
              <a:t>Rates per aging bucket, keys per customer group</a:t>
            </a:r>
          </a:p>
          <a:p>
            <a:pPr marL="201168" indent="-201168">
              <a:spcAft>
                <a:spcPts val="300"/>
              </a:spcAft>
              <a:buChar char="•"/>
            </a:pPr>
            <a:r>
              <a:rPr sz="1200" b="0" i="0">
                <a:solidFill>
                  <a:srgbClr val="1F2933"/>
                </a:solidFill>
                <a:latin typeface="Calibri"/>
              </a:rPr>
              <a:t>Accounts and approval for write-off</a:t>
            </a:r>
          </a:p>
          <a:p>
            <a:pPr marL="201168" indent="-201168">
              <a:spcAft>
                <a:spcPts val="300"/>
              </a:spcAft>
              <a:buChar char="•"/>
            </a:pPr>
            <a:r>
              <a:rPr sz="1200" b="0" i="0">
                <a:solidFill>
                  <a:srgbClr val="1F2933"/>
                </a:solidFill>
                <a:latin typeface="Calibri"/>
              </a:rPr>
              <a:t>Advanced FX valuation planned?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36da45f1-dd2c-4d1f-af13-5abe46b99921}" enabled="0" method="" siteId="{36da45f1-dd2c-4d1f-af13-5abe46b99921}" removed="1"/>
</clbl:labelList>
</file>

<file path=docProps/app.xml><?xml version="1.0" encoding="utf-8"?>
<Properties xmlns="http://schemas.openxmlformats.org/officeDocument/2006/extended-properties" xmlns:vt="http://schemas.openxmlformats.org/officeDocument/2006/docPropsVTypes">
  <TotalTime>0</TotalTime>
  <Words>5137</Words>
  <Application>Microsoft Office PowerPoint</Application>
  <PresentationFormat>Widescreen</PresentationFormat>
  <Paragraphs>671</Paragraphs>
  <Slides>23</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Moritz Goethel</cp:lastModifiedBy>
  <cp:revision>1</cp:revision>
  <dcterms:created xsi:type="dcterms:W3CDTF">2013-01-27T09:14:16Z</dcterms:created>
  <dcterms:modified xsi:type="dcterms:W3CDTF">2026-10-14T19:53:44Z</dcterms:modified>
  <cp:category/>
</cp:coreProperties>
</file>
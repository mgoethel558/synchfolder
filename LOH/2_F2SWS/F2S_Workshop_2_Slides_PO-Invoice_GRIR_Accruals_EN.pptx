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the goal is to understand the five processes, see them in the system and collect the fit-to-standard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purchase order is the pivot: it provides price, quantity, account assignment, duration and owner for all five processes. 'No PO, no pay' is the key organizational prerequisite.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three-way match is an internal control with segregation of duties. Two-way match only for services without physical receipt (licenses, subscriptions).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Tolerances per company code are SSCUI 'Set Tolerance Limits'. Clarify in the workshop: percent and absolute limits, who releases, whether small differences are posted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example continues as the demo story: 8 delivered, 10 invoiced. This creates the case in the GR/IR monitor in topic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app IDs for Release Blocked Invoices and goods receipt in the demo system via App Finder. PO-based invoice entry itself is described in J45/BNX/22Z, not in J60.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the demo ask: how often do quantity or price variances occur today, who clarifies them, which tolerances apply today?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tools remain: automatic GR/IR clearing (F.13 logic), regrouping at key date (F.19 logic), maintenance of remaining quantities (MR11 logic). The monitor starts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Maintain root causes and statuses consistently: this is the precondition for useful ML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F3303 is the entry slide for the demo, F3302 the workplace, F5796 the retrospective.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Proposals are proposals, the decision stays with the processor. KPI: acceptance rate of the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 if there is no active ML deployment in the demo system: show only F4470 and the job template and explain the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Boundaries: stock material is not accrued (GR posts valuated). Provisions without purchase order remain manual. Invoices before service are deferrals, optional via variant SDFR.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accrual object is created only after PO release. Only review type E appears in My Inbox. Set the thresholds appropriately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 run via F3778. In month-end close: propose the day before, review deadline, post on working day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Propose the day before so the review case is in My Inbox and F3552. Start only Post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22Z or 22K there is no 63L. The better the approval discipline in the department, the smaller the accrual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Decisions: are lean services or Fieldglass used? Deadlines for SES approval in the department? Confirm transfer priority SSAC before POAC.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consolidate the decision list from the four practice slides, record open points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FIT-TO-STANDARD WORKSHOP 2 ·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F2933"/>
                </a:solidFill>
                <a:latin typeface="Calibri"/>
              </a:rPr>
              <a:t>PO-based invoice entry, three-way match,
GR/IR monitoring with ML, purchase order and SES accruals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69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SAP S/4HANA Cloud Public Edition, release 2608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Scope items J60 · 2V7 · 2ZS · 2VB · 63L · Duration 2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Five topics, one chain: order, delivery, invoice, payment, period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2160361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Purchase order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Price, quantity, account assignment, duration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278215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Delivery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Goods receipt or service entry sheet</a:t>
            </a:r>
          </a:p>
        </p:txBody>
      </p:sp>
      <p:sp>
        <p:nvSpPr>
          <p:cNvPr id="8" name="Chevron 7"/>
          <p:cNvSpPr/>
          <p:nvPr/>
        </p:nvSpPr>
        <p:spPr>
          <a:xfrm>
            <a:off x="5015666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Invoice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Checked against order and delivery</a:t>
            </a:r>
          </a:p>
        </p:txBody>
      </p:sp>
      <p:sp>
        <p:nvSpPr>
          <p:cNvPr id="9" name="Chevron 8"/>
          <p:cNvSpPr/>
          <p:nvPr/>
        </p:nvSpPr>
        <p:spPr>
          <a:xfrm>
            <a:off x="7249180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Payment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Payment run, cash discount, blocks</a:t>
            </a:r>
          </a:p>
        </p:txBody>
      </p:sp>
      <p:sp>
        <p:nvSpPr>
          <p:cNvPr id="10" name="Chevron 9"/>
          <p:cNvSpPr/>
          <p:nvPr/>
        </p:nvSpPr>
        <p:spPr>
          <a:xfrm>
            <a:off x="948269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Period end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Accrue, clarify, regroup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1 · PO-based invoice and three-way match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The invoice is checked against purchase order and goods receipt. If everything matches it is payable immediately, otherwise it is blocked.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2 · GR/IR monitoring with ML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Open differences between delivery and invoice are identified, assigned and resolved. ML proposes status and processor.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0342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3 · Purchase order accruals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Running services without goods receipt and invoice are accrued at month end directly from the purchase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503420"/>
            <a:ext cx="5432907" cy="15316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4 · Service entry sheet accruals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Submitted but not yet approved service entry sheets are posted as expense in the correct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1 · PO-BASED INVOICE AND THREE-WAY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Why: Pay only what was ordered and received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Control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The purchase order proves the commitment, the goods receipt proves the delivery, the invoice proves the claim.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The automatic match replaces the manual signature and is documented for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Efficiency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Account assignment, tax code and quantities come from the purchase order.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If all three documents match, the invoice flows into the payment run without intervention and cash discount is captured.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Accountability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Deviations go to the requester, not to accounting.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Tolerances define which deviation is worth clarifying. That is a risk-versus-cost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What happens without the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5303520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Every invoice needs a manual approval, cash discount is lost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Deviations surface only at year end or through the supplier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Duplicate entry and payments for services never ordered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5212080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Share of invoices with PO reference and touchless rate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Number and age of blocked invoices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Price and quantity variances per supplier, cash discount utilization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1 · PO-BASED INVOICE AND THREE-WAY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Process: From purchase order to released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2160361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Purchase order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Purchaser, released via workflow</a:t>
            </a:r>
          </a:p>
        </p:txBody>
      </p:sp>
      <p:sp>
        <p:nvSpPr>
          <p:cNvPr id="7" name="Chevron 6"/>
          <p:cNvSpPr/>
          <p:nvPr/>
        </p:nvSpPr>
        <p:spPr>
          <a:xfrm>
            <a:off x="278215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Goods receipt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Warehouse or department, quantity at PO price</a:t>
            </a:r>
          </a:p>
        </p:txBody>
      </p:sp>
      <p:sp>
        <p:nvSpPr>
          <p:cNvPr id="8" name="Chevron 7"/>
          <p:cNvSpPr/>
          <p:nvPr/>
        </p:nvSpPr>
        <p:spPr>
          <a:xfrm>
            <a:off x="5015666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Enter invoice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AP accountant, reference purchase order</a:t>
            </a:r>
          </a:p>
        </p:txBody>
      </p:sp>
      <p:sp>
        <p:nvSpPr>
          <p:cNvPr id="9" name="Chevron 8"/>
          <p:cNvSpPr/>
          <p:nvPr/>
        </p:nvSpPr>
        <p:spPr>
          <a:xfrm>
            <a:off x="7249180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Match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Price, quantity, date against tolerances</a:t>
            </a:r>
          </a:p>
        </p:txBody>
      </p:sp>
      <p:sp>
        <p:nvSpPr>
          <p:cNvPr id="10" name="Chevron 9"/>
          <p:cNvSpPr/>
          <p:nvPr/>
        </p:nvSpPr>
        <p:spPr>
          <a:xfrm>
            <a:off x="9482693" y="155448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Release or pay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Payment block R on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What the match checks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108960"/>
          <a:ext cx="5486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883"/>
                <a:gridCol w="2831690"/>
                <a:gridCol w="159282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Tolerance key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Invoice price against PO price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PP (absolute and percent)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Invoice quantity against delivered, not yet invoiced quantity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DQ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Invoice before delivery date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Item and total amount, small differences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AN, AP, BD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What happens on a 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21208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Posted but blocked: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The invoice is posted with payment block R, the payment run skips it.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Blocking reasons on the document: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price, quantity, date, quality visible per item.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Release: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manually by the AP accountant or automatically once the reason disappears, for example after the goods receipt.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Two-way match: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without the goods receipt indicator on the PO item the system checks only order against invoice.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349240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 lean services the approved service entry sheet is the goods receipt. Without approval there is no invoice check against the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1 · PO-BASED INVOICE AND THREE-WAY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Posting logic: The GR/IR clearing account links logistics and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3832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5E7F"/>
                </a:solidFill>
                <a:latin typeface="Calibri"/>
              </a:rPr>
              <a:t>Goods receipt (8 pieces at 100 EUR)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1931212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Debit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Expense / cost center  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2732" y="1938528"/>
            <a:ext cx="1314907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Credit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GR/IR clearing  800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27632"/>
            <a:ext cx="33832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5E7F"/>
                </a:solidFill>
                <a:latin typeface="Calibri"/>
              </a:rPr>
              <a:t>Invoice (10 pieces at 110 EUR)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1931212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Debit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GR/IR clearing  800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Price/quantity variance  300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Input tax 19 %  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492" y="1938528"/>
            <a:ext cx="1314907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Credit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Supplier  1,309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5204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27632"/>
            <a:ext cx="3337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5E7F"/>
                </a:solidFill>
                <a:latin typeface="Calibri"/>
              </a:rPr>
              <a:t>GR/IR balance per PO item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1904695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Debit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GR quantity 8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IR quantity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1938528"/>
            <a:ext cx="1295704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Credit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Balance stays open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2933"/>
                </a:solidFill>
                <a:latin typeface="Calibri"/>
              </a:rPr>
              <a:t>Case for GR/IR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Rules to know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5486400" cy="2377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Goods receipt is valuated at PO price.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Stock or expense is debited immediately, the offsetting account is the GR/IR account (YCOA 21310000).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The invoice posts against GR/IR.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Price variances go to stock (moving average price), a price difference account or expense.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The account clears to zero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when GR quantity and IR quantity per PO item are equal.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86200"/>
            <a:ext cx="5212080" cy="2377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Open item management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with PO number and item as assignment, the basis for automatic clearing.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At the key date: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delivered, not invoiced = liability; invoiced, not delivered = receivable (regrouping).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The document number in the app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is the logistics number. Journal entry via Manage Supplier Line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1 · PO-BASED INVOICE AND THREE-WAY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 and roles in SAP S/4HANA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2108855"/>
                <a:gridCol w="595980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Create Supplier Invoice (F0859)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Enter, park and post invoices with reference to purchase order, delivery note or service entry sheet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Supplier Invoices List / Manage Supplier Invoices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Status, blocking reasons, follow-up, credit memo, subsequent debit, invoice reduction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Release Blocked Invoices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Release blocked invoices per blocking reason, manually or automatically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Payment Blocks (F0593A)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Manual payment blocks on supplier or open item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Supplier Line Items (F0712)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Open items, journal entry number, due date, blocks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Process Flow – Accounts Payable (F2691)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Accounts Payable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Chain purchase order, goods movement, invoice, journal entry, clearing, with missing objects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Post Goods Receipt for Purchasing Document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Warehouse Clerk / department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Goods receipt for the purchase order, valuated at PO price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Purchase Orders / Create PO – Advanced (ME21N)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 order with account assignment, goods receipt indicator and GR-based invoice verification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Configuration: tolerance limits per company code (SSCUI Set Tolerance Limits), flexible workflow for supplier invoices (BNX), duplicate invoice check via 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1 · PO-BASED INVOICE AND THREE-WAY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Practice: Demo and fit-to-standard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 story: 10 ordered, 8 delivered, 10 invoiced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760717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/>
                <a:gridCol w="1371599"/>
                <a:gridCol w="4023359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Show PO 10 × TG0011 at 100 EUR, cost center, supplier 10300001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Warehouse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Goods receipt 8 pieces, PO history GR 800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Enter invoice 10 × 110 EUR, gross 1,309 EUR against the 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Warnings for price and quantity, post, payment block 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Blocking reasons in Supplier Invoices List, show Release Blocked Invoices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AP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Process flow F2691: missing clearing visible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Decisions for the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5029200" cy="4389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Which order types run with goods receipt (three-way), which without (two-way)?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GR-based invoice verification as default in the supplier master?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Tolerance limits for price, quantity, date and small differences, absolute and percent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Who releases blocked invoices: purchasing, accounting or the department?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Workflow for supplier invoices: yes/no, from which amount, parking by whom?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Mandatory reference and duplicate check, invoice receipt date for DPO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2 · GR/IR MONITORING WITH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Why: Every open GR/IR balance is an unexplained balance sheet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When a balance arises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Partial delivery without remainder, invoice without delivery, supplier never sends an invoice, purchase order expires, goods receipt forgotten.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Why it matters to finance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At the key date the balance is a liability or a receivable. Unclear old balances distort the balance sheet and are a standard audit topic.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1920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Why it matters to purchasing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Every balance has an operational root cause. The monitor makes it visible and assigns it to an owner.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Roles and timing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486400" cy="2286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Accounting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identifies and distributes cases, decides on write-off within an amount limit.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Purchasing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clarifies with the supplier, requests delivery, invoice or credit memo, closes the purchase order.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Logistics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posts missing goods receipts.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Continuously or weekly,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in any case before month-end close. The regrouping at the key date posts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033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What happens without the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212080" cy="2286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Year-end campaigns with lists of thousands of items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Blanket write-offs and discussions with the auditor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No learning curve in purchasing, the same suppliers keep delivering incompletely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KPIs: open items by age, GR versus IR surplus, lead time to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2 · GR/IR MONITORING WITH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Process: Identify, analyze, assign, resolve,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1788109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Identify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KPI overview by supplier, plant, material group</a:t>
            </a:r>
          </a:p>
        </p:txBody>
      </p:sp>
      <p:sp>
        <p:nvSpPr>
          <p:cNvPr id="7" name="Chevron 6"/>
          <p:cNvSpPr/>
          <p:nvPr/>
        </p:nvSpPr>
        <p:spPr>
          <a:xfrm>
            <a:off x="2409901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Analyze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GR and IR quantities, FI items, PO history</a:t>
            </a:r>
          </a:p>
        </p:txBody>
      </p:sp>
      <p:sp>
        <p:nvSpPr>
          <p:cNvPr id="8" name="Chevron 7"/>
          <p:cNvSpPr/>
          <p:nvPr/>
        </p:nvSpPr>
        <p:spPr>
          <a:xfrm>
            <a:off x="4271162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Assign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Status, priority, root cause, department, processor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3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Resolve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Purchasing or logistics acts, notification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7993684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Clear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automatically, write-off, close purchase order</a:t>
            </a:r>
          </a:p>
        </p:txBody>
      </p:sp>
      <p:sp>
        <p:nvSpPr>
          <p:cNvPr id="11" name="Chevron 10"/>
          <p:cNvSpPr/>
          <p:nvPr/>
        </p:nvSpPr>
        <p:spPr>
          <a:xfrm>
            <a:off x="9854945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Evaluate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Status transitions, lead times, root 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Processing status and root 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48640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Status (next action):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Request Completion of Delivery, Request Invoice, Request Credit Memo, Close Purchase Order, Write Off.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Root cause: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e.g. incomplete goods receipt, invoice before delivery, supplier overbilled.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In addition: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priority, processing team, processor, note to the processor.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Situation handling (optional, scope item 31N)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212080" cy="2011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Processor changed: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template FIN_GRIRPROCESSORCHANGED notifies the newly assigned processor.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Threshold exceeded: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template FIN_GRIRDEVIATIONEXCEEDSTRHSHLD, batch job, recipients via team of type FIGRIR.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Teams: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Manage Teams and Responsibilities, responsibility per company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monitor replaces the Excel list with a comment column. Status, processor and root cause per case are documented and later become the training data for the ML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2 · GR/IR MONITORING WITH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 and roles: Three apps for the General Ledger Accountant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817"/>
                <a:gridCol w="2017166"/>
                <a:gridCol w="5776431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Monitor GR/IR Account Reconciliation – Overview (F3303)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KPIs for open FI items (company code, date, supplier) and PO items (GR surplus, IR surplus, GR = IR); drilldown by profit center, plant, purchasing organization, material group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Reconcile GR/IR Accounts (F3302)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Worklist per purchasing document: overview of quantities and values, FI items, PO history, contacts, notes. Process Item assigns status, priority, department, processor, root cause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GR/IR Process Insights (F5796)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Evaluation of completed cases: status transitions, distribution by status, department, processor, priority, root cause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Teams and Responsibilities (F2412)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Configuration Expert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Team type FIGRIR, responsibility per company code, members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Situation Types (F2947)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Business Process Specialist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Copy situation templates, conditions, threshold, batch time, recipients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Schedule General Ledger Jobs (F1927)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Automatic clearing, regrouping at key date, preparation of ML proposals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Prerequisite is J60 in full. Situation handling additionally needs 31N. The apps are in the launchpad space General Ledger.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2 · GR/IR MONITORING WITH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ML support: The model learns from the processed cases (2ZS)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1788109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Process cases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at least 100 cases with status and root cause in F3302</a:t>
            </a:r>
          </a:p>
        </p:txBody>
      </p:sp>
      <p:sp>
        <p:nvSpPr>
          <p:cNvPr id="7" name="Chevron 6"/>
          <p:cNvSpPr/>
          <p:nvPr/>
        </p:nvSpPr>
        <p:spPr>
          <a:xfrm>
            <a:off x="2409901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Train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Intelligent scenario FI_GRIR_RECONCILE, filter e.g. company code</a:t>
            </a:r>
          </a:p>
        </p:txBody>
      </p:sp>
      <p:sp>
        <p:nvSpPr>
          <p:cNvPr id="8" name="Chevron 7"/>
          <p:cNvSpPr/>
          <p:nvPr/>
        </p:nvSpPr>
        <p:spPr>
          <a:xfrm>
            <a:off x="4271162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Deploy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select a completed training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3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Activate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for all users or only for me</a:t>
            </a:r>
          </a:p>
        </p:txBody>
      </p:sp>
      <p:sp>
        <p:nvSpPr>
          <p:cNvPr id="10" name="Chevron 9"/>
          <p:cNvSpPr/>
          <p:nvPr/>
        </p:nvSpPr>
        <p:spPr>
          <a:xfrm>
            <a:off x="7993684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Schedule job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Prepare GR/IR Status Predictions (DAR ML model)</a:t>
            </a:r>
          </a:p>
        </p:txBody>
      </p:sp>
      <p:sp>
        <p:nvSpPr>
          <p:cNvPr id="11" name="Chevron 10"/>
          <p:cNvSpPr/>
          <p:nvPr/>
        </p:nvSpPr>
        <p:spPr>
          <a:xfrm>
            <a:off x="9854945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 proposal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Status, priority, root cause, department, processor in F3302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486400" cy="2194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Experience becomes transferable: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patterns per supplier, material group and department become usable for new staff or a shared service center.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Consistency: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equal cases are treated equally, regardless of the processor.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Capacity: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routine cases are pre-filled, the human confirms, exceptions get the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Prerequisites and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212080" cy="2194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Scope: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2V7 and 2ZS active, communication scenario SAP_COM_1042 via ticket (XX-S4C-OPR-SRV).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Analytics Specialist: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Intelligent Scenario Management (F4470) for training, deployment, activation.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General Ledger Accountant: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job in Schedule General Ledger Jobs (F1927), then proposals in F3302.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Target fields: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status, priority, root cause, department, processor.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Message to the customer: ML is an expansion stage after a few months of operation, not a go-live topic. The quality of the proposals depends on the discipline for status and root cause in the initial phase.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2 · GR/IR MONITORING WITH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Practice: Demo and fit-to-standard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 story: The case from topic 1 (GR 8, IR 10)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760717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/>
                <a:gridCol w="1371599"/>
                <a:gridCol w="4023359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F3303: KPI PO items with IR surplus, drilldown by supplier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F3302: open the case, tabs overview, FI items, contacts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Show the ML proposal if a deployment is active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Process Item: Request Completion of Delivery, priority high, processor purchaser, root cause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Open the notification (situation handling)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F5796: insights by status and root cause; show the model in F4470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Decisions for the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5029200" cy="4389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Who owns GR/IR differences: accounting or purchasing?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Teams and responsibilities per company code or purchasing organization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Which status values and root causes are used consistently?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Situation handling: threshold, batch time, is 31N in scope?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ML from go-live or after building the history? Plan the ticket for SAP_COM_1042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Periodic jobs: automatic clearing, regrouping, write-off with amount limit and authorization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3 · PURCHASE ORDER ACCRUALS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Why: Expense belongs to the period of the service, not of the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Business context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Consulting, maintenance, campaigns, equipment rental are ordered and delivered over months. The invoice arrives at the end or in installments.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At month end the service is partly delivered but neither goods receipt nor invoice is posted.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Why from the purchase order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Planned costs, duration and account assignment are in the purchase order. The percentage of completion is derived linearly over the duration.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Every accrual traces back to a PO item instead of an Excel estimate.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Why with review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Small amounts run automatically, medium ones are checked by the system, large ones are reviewed by the purchaser (progress) and controlling (result).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The reversal in the following period prevents double expense.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Calculation example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389120"/>
          <a:ext cx="54863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2910"/>
                <a:gridCol w="151348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Consulting purchase order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Planned costs, duration 3 months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12,000 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Percentage of completion end of month 1 (linear)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33 %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Actual costs already posted (GR, invoice)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0 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Accrual month 1 = 12,000 × 33 % − 0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4,000 EUR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069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What happens without the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212080" cy="1828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Controllers collect estimates by e-mail, post bulk accruals, reversals are forgotten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The monthly result fluctuates with invoice receipt, budget variances cannot be assessed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Auditors ask for the derivation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3 · PURCHASE ORDER ACCRUALS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Process: From released purchase order to reversed accrual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1788109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PO released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NB, account-assigned, no longer In Release</a:t>
            </a:r>
          </a:p>
        </p:txBody>
      </p:sp>
      <p:sp>
        <p:nvSpPr>
          <p:cNvPr id="7" name="Chevron 6"/>
          <p:cNvSpPr/>
          <p:nvPr/>
        </p:nvSpPr>
        <p:spPr>
          <a:xfrm>
            <a:off x="2409901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Accrual object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automatically per PO item, component POAC</a:t>
            </a:r>
          </a:p>
        </p:txBody>
      </p:sp>
      <p:sp>
        <p:nvSpPr>
          <p:cNvPr id="8" name="Chevron 7"/>
          <p:cNvSpPr/>
          <p:nvPr/>
        </p:nvSpPr>
        <p:spPr>
          <a:xfrm>
            <a:off x="4271162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Proposal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job Propose Periodic Accruals at period end</a:t>
            </a:r>
          </a:p>
        </p:txBody>
      </p:sp>
      <p:sp>
        <p:nvSpPr>
          <p:cNvPr id="9" name="Chevron 8"/>
          <p:cNvSpPr/>
          <p:nvPr/>
        </p:nvSpPr>
        <p:spPr>
          <a:xfrm>
            <a:off x="6132423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Review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purchaser in My Inbox, controlling in F3552</a:t>
            </a:r>
          </a:p>
        </p:txBody>
      </p:sp>
      <p:sp>
        <p:nvSpPr>
          <p:cNvPr id="10" name="Chevron 9"/>
          <p:cNvSpPr/>
          <p:nvPr/>
        </p:nvSpPr>
        <p:spPr>
          <a:xfrm>
            <a:off x="7993684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Post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job Post Periodic Accruals, expense to accrual account</a:t>
            </a:r>
          </a:p>
        </p:txBody>
      </p:sp>
      <p:sp>
        <p:nvSpPr>
          <p:cNvPr id="11" name="Chevron 10"/>
          <p:cNvSpPr/>
          <p:nvPr/>
        </p:nvSpPr>
        <p:spPr>
          <a:xfrm>
            <a:off x="9854945" y="1554480"/>
            <a:ext cx="1788109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Reversal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first or last day of the following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Review types via thresholds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0632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10896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Who reviews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Amount below lower threshold, no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nobody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Between the thresholds, automatically reviewed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Above upper threshold, explicit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 and controlling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Which purchase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486400" cy="1371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Default: document type NB, item category blank, with account assignment (consumption)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Lean service, enhanced limit item (category E), consumable product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Stock material without account assignment is not accrued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What the purchaser and controlling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5212080" cy="2377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Purchaser: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adjusts revised planned costs or percentage of completion and gives an adjustment reason, e.g. S1 proposal too high.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Controlling: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filters review type E, tab Unreviewed, edits and confirms (Confirm Review). Four-eyes principle.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Posting: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expense on the PO account assignment to the accrual account, ledger group optional.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440680"/>
            <a:ext cx="5212080" cy="73152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Deferrals (invoice before service) can run alongside: transfer variant SDFR instead of the default SDEF.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3 · PURCHASE ORDER ACCRUALS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 and roles around the accrual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817"/>
                <a:gridCol w="2017166"/>
                <a:gridCol w="577643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Workflows for PO Accruals Review (F3625)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Workflow with step Review Purchase Order Accrual, recipient e.g. role determined automatically (purchaser of the PO)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Schedule Accruals Jobs (F3778)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Templates: Transfer Purchase Orders (once for legacy POs), Propose, Post, Simulate Periodic Accruals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My Inbox – All Items (F0862)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 task: revised planned costs or PoC, adjustment reason, confirm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 PO Accruals – For Cost Accountant (F3552)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Cost Accountant – Overhead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 type E, tabs Unreviewed / Review Finished, Edit, Confirm Review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Purchase Order Accruals (F3928)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Lifecycle, review history, account assignment, postings per PO item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Analyze Accrual Postings (F3732)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Postings by ledger, period, cost center; offsetting line items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Accrual Object Items (F4899), Display Periodic Accrual Amounts (F4900)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Master data of accrual objects, period amounts (after simulation job)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Accrual Postings – With Simulation (W0183), Simulated / Posted (W0184)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Show simulation and compare with actuals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Configuration: company code to transfer variant (SDEF / SDFR), threshold variants (lower and upper threshold), review activation per accrual item type (e.g. SCSTPLN).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3 · PURCHASE ORDER ACCRUALS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Practice: Demo and fit-to-standard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 story: Consulting 12,000 EUR, 3 months, no GR, no invoice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76071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/>
                <a:gridCol w="1371599"/>
                <a:gridCol w="402335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Show PO NB, account-assigned, released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F3928: accrual object with duration, plan, account assignment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F3778: log of job Propose Periodic Accruals (day before)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My Inbox: adjust PoC to 30 %, reason S1, confirm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Cost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F3552: review type E, Unreviewed, Confirm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F3778: Post Periodic Accruals live, reversal first day of next period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GL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F3732 and F3928: posting and review history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Decisions for the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5029200" cy="4389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Which purchase orders to accrue: only NB with account assignment, lean services, limit items?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Activate deferrals (SDFR) or accruals only (SDEF)?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Thresholds for review types, review by purchaser, controlling or both?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Reversal date: first or last day of the following period?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Ledger group: all ledgers or only local / IFRS?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Accrual accounts in YCOA, document type, timing in the closing calendar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4 · SERVICE ENTRY SHEET ACCRUALS (63L)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Why: The service is recorded, only the approval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Business context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Cleaning, temporary staff, maintenance, time-and-material consulting run as lean services. The supplier or the department records the service in a service entry sheet (SES).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The expense is posted only on approval, often days after month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Why accrue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Unlike PO accruals nothing has to be estimated: the recorded amount is the best information about the expense of the period.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Especially for external staff these are large, recurring amounts.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5544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Interplay with PO accruals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The same purchase order could trigger both accruals. The transfer priority gives SSAC precedence because actual data beats planned values.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The accrual is a safety net, not a substitute for timely approval.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4572000"/>
            <a:ext cx="2160361" cy="914400"/>
          </a:xfrm>
          <a:prstGeom prst="homePlate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SES submitted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not approved at key date</a:t>
            </a:r>
          </a:p>
        </p:txBody>
      </p:sp>
      <p:sp>
        <p:nvSpPr>
          <p:cNvPr id="10" name="Chevron 9"/>
          <p:cNvSpPr/>
          <p:nvPr/>
        </p:nvSpPr>
        <p:spPr>
          <a:xfrm>
            <a:off x="2782153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Accrual object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component SSAC, variant SSES</a:t>
            </a:r>
          </a:p>
        </p:txBody>
      </p:sp>
      <p:sp>
        <p:nvSpPr>
          <p:cNvPr id="11" name="Chevron 10"/>
          <p:cNvSpPr/>
          <p:nvPr/>
        </p:nvSpPr>
        <p:spPr>
          <a:xfrm>
            <a:off x="5015666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Proposal and review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amount = SES value, F6108 display only</a:t>
            </a:r>
          </a:p>
        </p:txBody>
      </p:sp>
      <p:sp>
        <p:nvSpPr>
          <p:cNvPr id="12" name="Chevron 11"/>
          <p:cNvSpPr/>
          <p:nvPr/>
        </p:nvSpPr>
        <p:spPr>
          <a:xfrm>
            <a:off x="7249180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Post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expense to accrual, reversal next period</a:t>
            </a:r>
          </a:p>
        </p:txBody>
      </p:sp>
      <p:sp>
        <p:nvSpPr>
          <p:cNvPr id="13" name="Chevron 12"/>
          <p:cNvSpPr/>
          <p:nvPr/>
        </p:nvSpPr>
        <p:spPr>
          <a:xfrm>
            <a:off x="9482693" y="4572000"/>
            <a:ext cx="2160361" cy="914400"/>
          </a:xfrm>
          <a:prstGeom prst="chevron">
            <a:avLst>
              <a:gd name="adj" fmla="val 25000"/>
            </a:avLst>
          </a:prstGeom>
          <a:solidFill>
            <a:srgbClr val="D9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SES approved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933"/>
                </a:solidFill>
                <a:latin typeface="Calibri"/>
              </a:rPr>
              <a:t>real goods receipt posts the expense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Prerequisite: scope item 22Z (Procurement of Services) or 22K (Fieldglass). KPIs: amount of unapproved SES at key date, approval time after recording.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TOPIC 4 · SERVICE ENTRY SHEET ACCRUALS (63L)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Apps, roles and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196"/>
                <a:gridCol w="2017166"/>
                <a:gridCol w="5593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Schedule Accruals Jobs (F3778)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Templates Service Entry Sheet Accruals: Transfer Purchase Orders (only without online integration), Propose, Post, Simulate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Review Service Entry Sheet Accruals – For Cost Accountant (F6108)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Cost Accountant – Overhead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Show proposed amounts per purchase order (currently display only, no change)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Display Service Entry Sheet Accruals (F6107)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Accrual objects per purchase order with details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Accrual Postings – With Simulation (W0183), Simulated / Posted (W0184)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General Ledger Accountant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Simulation and comparison with actuals, component SSAC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Manage Service Entry Sheets – Lean Services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Purchaser / department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Record, submit, approve SES; approval creates the goods receipt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Configuration (SSCUI or Central Business Configuration)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5486400" cy="1371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Adjust Transfer Priorities for Accruals: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component SSAC on priority 1.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Define Accrual Item Types and Methods for Purchase Orders of Service: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assign company code 1010 to transfer variant 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5E7F"/>
                </a:solidFill>
                <a:latin typeface="Calibri"/>
              </a:rPr>
              <a:t>Demo in four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83480"/>
            <a:ext cx="5212080" cy="1371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Show SES in status submitted, no expense posted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F6108: proposed amount = SES value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F3778: Post Periodic Accruals, then F6107 details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– Explain: approval next month posts the GR, the accrual is reversed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5E7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2933"/>
                </a:solidFill>
                <a:latin typeface="Calibri"/>
              </a:rPr>
              <a:t>Which gap is closed by which instrument at period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F2S Workshop 2 · PO-based invoice, three-way match, GR/IR monitoring, accruals · SAP S/4HANA Cloud Public Edition 2608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438"/>
                <a:gridCol w="2383923"/>
                <a:gridCol w="5593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Situation at period end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What is missing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73152" marR="73152" marT="36576" marB="36576">
                    <a:solidFill>
                      <a:srgbClr val="0B5E7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Goods receipt posted, invoice 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Liability to the supplier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GR/IR account shows delivered, not invoiced; regrouping at key date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Invoice posted, goods receipt missing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Service or stock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GR/IR account shows invoiced, not delivered; monitor clarifies delivery or credit memo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GR and IR differ permanently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GR/IR monitor (2V7), ML proposal (2ZS), write-off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Neither GR nor IR, service running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Expense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PO accruals (2VB) based on plan and percentage of completion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SES recorded, not approved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Expense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SES accruals (63L) based on recorded service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Invoice deviates from purchase order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Payment release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Three-way match, payment block R, Release Blocked Invoices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9496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0B5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Common prerequisite: purchase order before invoice. Without PO reference there is no match, no GR/IR case and no automatic accrual.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
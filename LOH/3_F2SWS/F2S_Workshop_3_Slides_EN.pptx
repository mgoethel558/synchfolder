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The process chain shows that workshop 3 covers the first three phases, workshop 4 covers incoming payments, dunning and collections. Credit management belongs here as part of the master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Every invoice, payment, dunning notice and credit decision reads the master record. Errors multiply. Four user groups with their own requirements share one customer.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S/4HANA Cloud there is no separate customer master. The customer is a business partner with roles. The BP number is the customer number. The grouping controls the number range (predelivered, not freely definable).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Which app each role uses. F0850A is the Fiori view, BP the classic transaction with all roles, F2640 the validation list. Define Accounting Clerks is configuration done by the AR Manager. F4596 and F5587A come from BD6.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delivery on account is a credit. The check runs in the sales order and the delivery, not in accounting. Exposure = open orders + deliveries + billing documents + FI items. FB70 invoices raise the exposure but block nothing.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1 per preparation file C1. Followed by fit-to-standard block 1 (15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normal case is the billing document from sales. Without a manual path, special cases run outside the system: Word invoice, Excel list, not in receivables, not in dunning, not in VAT.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AR Accountant. Document type DR, credit memo DG via Create Outgoing Credit Memos. Profitability segment is mandatory because the revenue account is a cost element of type revenue.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FB70 has no SD output. Output via correspondence type SAP21. The BRF+ output control must be fully activated, otherwise the preview fails.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2 per preparation file C2. Story: recharge of consulting services, 1,000 EUR net, 19 % tax, 1,190 EUR gross to customer 10100001.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entry does not scale. Same posting logic on all paths: due date, reference, profitability segment. Payment receipt, dunning and analytics do not distinguish by origin.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Accounts receivable posts nothing. Revenue accounts from SD account determination, payment terms from the order, reconciliation account from the customer master. Invoice printing via billing output management, not SAP21.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AR Accountant. Download the template in the app. Without a default account assignment for the revenue account the upload stops in the check.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3 per preparation file C3. Part a with an existing billing document from BD9, part b with a prepared upload file (three invoices, one credit memo, one deliberate error).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Days to months between invoice and payment. The item carries due date, blocks, dunning data, notes. Corrections by reversal with reason, never deletion. Everything is logged.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 Accountant maintains items and balances, the AR Manager steers via the overview page and KPI apps.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Outlook only, covered in depth in workshop 4 (J59, 2PD, BFC, 7MA).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cloud delivers everything preconfigured. Fit-to-standard decides which settings are needed and who uses them. Maintained by the Configuration Expert via Manage Your Solution or SAP Central Business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4 per preparation file C4. Show only, change nothing; changes belong in the CBC project and in the decision list.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summarize the decision list, open points with owners and dates, outlook workshop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914400"/>
            <a:ext cx="10058400" cy="365760"/>
          </a:xfrm>
          <a:prstGeom prst="rect">
            <a:avLst/>
          </a:prstGeom>
          <a:noFill/>
        </p:spPr>
        <p:txBody>
          <a:bodyPr wrap="square" anchor="t" lIns="45720" rIns="45720">
            <a:spAutoFit/>
          </a:bodyPr>
          <a:lstStyle/>
          <a:p>
            <a:pPr algn="l">
              <a:spcAft>
                <a:spcPts val="400"/>
              </a:spcAft>
            </a:pPr>
            <a:r>
              <a:rPr sz="1400" b="1" i="0">
                <a:solidFill>
                  <a:srgbClr val="6B6B6B"/>
                </a:solidFill>
                <a:latin typeface="Arial"/>
              </a:rPr>
              <a:t>Fit-to-Standard Workshop 3 · Finance</a:t>
            </a:r>
          </a:p>
        </p:txBody>
      </p:sp>
      <p:sp>
        <p:nvSpPr>
          <p:cNvPr id="3" name="TextBox 2"/>
          <p:cNvSpPr txBox="1"/>
          <p:nvPr/>
        </p:nvSpPr>
        <p:spPr>
          <a:xfrm>
            <a:off x="822960" y="1371600"/>
            <a:ext cx="10515600" cy="2011680"/>
          </a:xfrm>
          <a:prstGeom prst="rect">
            <a:avLst/>
          </a:prstGeom>
          <a:noFill/>
        </p:spPr>
        <p:txBody>
          <a:bodyPr wrap="square" anchor="ctr" lIns="45720" rIns="45720">
            <a:spAutoFit/>
          </a:bodyPr>
          <a:lstStyle/>
          <a:p>
            <a:pPr algn="l">
              <a:spcAft>
                <a:spcPts val="400"/>
              </a:spcAft>
            </a:pPr>
            <a:r>
              <a:rPr sz="3400" b="1" i="0">
                <a:solidFill>
                  <a:srgbClr val="2B2B2B"/>
                </a:solidFill>
                <a:latin typeface="Arial"/>
              </a:rPr>
              <a:t>Customer master data, manual and automated customer invoicing, posting and basic Accounts Receivable configuration</a:t>
            </a:r>
          </a:p>
        </p:txBody>
      </p:sp>
      <p:sp>
        <p:nvSpPr>
          <p:cNvPr id="4" name="TextBox 3"/>
          <p:cNvSpPr txBox="1"/>
          <p:nvPr/>
        </p:nvSpPr>
        <p:spPr>
          <a:xfrm>
            <a:off x="822960" y="3566160"/>
            <a:ext cx="10058400" cy="822960"/>
          </a:xfrm>
          <a:prstGeom prst="rect">
            <a:avLst/>
          </a:prstGeom>
          <a:noFill/>
        </p:spPr>
        <p:txBody>
          <a:bodyPr wrap="square" anchor="t" lIns="45720" rIns="45720">
            <a:spAutoFit/>
          </a:bodyPr>
          <a:lstStyle/>
          <a:p>
            <a:pPr algn="l">
              <a:spcAft>
                <a:spcPts val="200"/>
              </a:spcAft>
            </a:pPr>
            <a:r>
              <a:rPr sz="1600" b="0" i="0">
                <a:solidFill>
                  <a:srgbClr val="2B2B2B"/>
                </a:solidFill>
                <a:latin typeface="Arial"/>
              </a:rPr>
              <a:t>SAP S/4HANA Cloud Public Edition, release 2608</a:t>
            </a:r>
          </a:p>
          <a:p>
            <a:pPr algn="l">
              <a:spcAft>
                <a:spcPts val="200"/>
              </a:spcAft>
            </a:pPr>
            <a:r>
              <a:rPr sz="1600" b="0" i="0">
                <a:solidFill>
                  <a:srgbClr val="2B2B2B"/>
                </a:solidFill>
                <a:latin typeface="Arial"/>
              </a:rPr>
              <a:t>Scope items J59 Accounts Receivable and BD6 Basic Credit Management</a:t>
            </a:r>
          </a:p>
        </p:txBody>
      </p:sp>
      <p:sp>
        <p:nvSpPr>
          <p:cNvPr id="5" name="Pentagon 4"/>
          <p:cNvSpPr/>
          <p:nvPr/>
        </p:nvSpPr>
        <p:spPr>
          <a:xfrm>
            <a:off x="822960" y="4846320"/>
            <a:ext cx="2587752" cy="68580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1  Customer master</a:t>
            </a:r>
          </a:p>
        </p:txBody>
      </p:sp>
      <p:sp>
        <p:nvSpPr>
          <p:cNvPr id="6" name="Chevron 5"/>
          <p:cNvSpPr/>
          <p:nvPr/>
        </p:nvSpPr>
        <p:spPr>
          <a:xfrm>
            <a:off x="3465576" y="4846320"/>
            <a:ext cx="2587752" cy="68580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2  Manual invoice</a:t>
            </a:r>
          </a:p>
        </p:txBody>
      </p:sp>
      <p:sp>
        <p:nvSpPr>
          <p:cNvPr id="7" name="Chevron 6"/>
          <p:cNvSpPr/>
          <p:nvPr/>
        </p:nvSpPr>
        <p:spPr>
          <a:xfrm>
            <a:off x="6108192" y="4846320"/>
            <a:ext cx="2587752" cy="68580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3  Automated invoice</a:t>
            </a:r>
          </a:p>
        </p:txBody>
      </p:sp>
      <p:sp>
        <p:nvSpPr>
          <p:cNvPr id="8" name="Chevron 7"/>
          <p:cNvSpPr/>
          <p:nvPr/>
        </p:nvSpPr>
        <p:spPr>
          <a:xfrm>
            <a:off x="8750808" y="4846320"/>
            <a:ext cx="2587752" cy="68580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4  Posting and configuration</a:t>
            </a:r>
          </a:p>
        </p:txBody>
      </p:sp>
      <p:sp>
        <p:nvSpPr>
          <p:cNvPr id="9" name="TextBox 8"/>
          <p:cNvSpPr txBox="1"/>
          <p:nvPr/>
        </p:nvSpPr>
        <p:spPr>
          <a:xfrm>
            <a:off x="822960" y="5760720"/>
            <a:ext cx="10058400" cy="365760"/>
          </a:xfrm>
          <a:prstGeom prst="rect">
            <a:avLst/>
          </a:prstGeom>
          <a:noFill/>
        </p:spPr>
        <p:txBody>
          <a:bodyPr wrap="square" anchor="t" lIns="45720" rIns="45720">
            <a:spAutoFit/>
          </a:bodyPr>
          <a:lstStyle/>
          <a:p>
            <a:pPr algn="l">
              <a:spcAft>
                <a:spcPts val="400"/>
              </a:spcAft>
            </a:pPr>
            <a:r>
              <a:rPr sz="1200" b="0" i="0">
                <a:solidFill>
                  <a:srgbClr val="6B6B6B"/>
                </a:solidFill>
                <a:latin typeface="Arial"/>
              </a:rPr>
              <a:t>Duration 3 hours · Demo in the test system · Outcome: decision list (KDD candidates)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Introduction</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Order-to-cash from a finance view: where this workshop starts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a:t>
            </a:r>
          </a:p>
        </p:txBody>
      </p:sp>
      <p:sp>
        <p:nvSpPr>
          <p:cNvPr id="6" name="Pentagon 5"/>
          <p:cNvSpPr/>
          <p:nvPr/>
        </p:nvSpPr>
        <p:spPr>
          <a:xfrm>
            <a:off x="548640" y="1463040"/>
            <a:ext cx="2168956"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Know the customer</a:t>
            </a:r>
          </a:p>
        </p:txBody>
      </p:sp>
      <p:sp>
        <p:nvSpPr>
          <p:cNvPr id="7" name="Chevron 6"/>
          <p:cNvSpPr/>
          <p:nvPr/>
        </p:nvSpPr>
        <p:spPr>
          <a:xfrm>
            <a:off x="2772460" y="146304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Create the receivable</a:t>
            </a:r>
          </a:p>
        </p:txBody>
      </p:sp>
      <p:sp>
        <p:nvSpPr>
          <p:cNvPr id="8" name="Chevron 7"/>
          <p:cNvSpPr/>
          <p:nvPr/>
        </p:nvSpPr>
        <p:spPr>
          <a:xfrm>
            <a:off x="4996281" y="146304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Manage the receivable</a:t>
            </a:r>
          </a:p>
        </p:txBody>
      </p:sp>
      <p:sp>
        <p:nvSpPr>
          <p:cNvPr id="9" name="Chevron 8"/>
          <p:cNvSpPr/>
          <p:nvPr/>
        </p:nvSpPr>
        <p:spPr>
          <a:xfrm>
            <a:off x="7220102" y="1463040"/>
            <a:ext cx="2168956"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2B2B2B"/>
                </a:solidFill>
                <a:latin typeface="Arial"/>
              </a:rPr>
              <a:t>Collect the cash</a:t>
            </a:r>
          </a:p>
        </p:txBody>
      </p:sp>
      <p:sp>
        <p:nvSpPr>
          <p:cNvPr id="10" name="Chevron 9"/>
          <p:cNvSpPr/>
          <p:nvPr/>
        </p:nvSpPr>
        <p:spPr>
          <a:xfrm>
            <a:off x="9443923" y="1463040"/>
            <a:ext cx="2168956"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2B2B2B"/>
                </a:solidFill>
                <a:latin typeface="Arial"/>
              </a:rPr>
              <a:t>Control the risk</a:t>
            </a:r>
          </a:p>
        </p:txBody>
      </p:sp>
      <p:sp>
        <p:nvSpPr>
          <p:cNvPr id="11" name="TextBox 10"/>
          <p:cNvSpPr txBox="1"/>
          <p:nvPr/>
        </p:nvSpPr>
        <p:spPr>
          <a:xfrm>
            <a:off x="548640"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Who do we do business with, on which terms, with which risk?</a:t>
            </a:r>
          </a:p>
        </p:txBody>
      </p:sp>
      <p:sp>
        <p:nvSpPr>
          <p:cNvPr id="12" name="TextBox 11"/>
          <p:cNvSpPr txBox="1"/>
          <p:nvPr/>
        </p:nvSpPr>
        <p:spPr>
          <a:xfrm>
            <a:off x="548640"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Topic 1: customer master, credit profile (BD6)</a:t>
            </a:r>
          </a:p>
        </p:txBody>
      </p:sp>
      <p:sp>
        <p:nvSpPr>
          <p:cNvPr id="13" name="TextBox 12"/>
          <p:cNvSpPr txBox="1"/>
          <p:nvPr/>
        </p:nvSpPr>
        <p:spPr>
          <a:xfrm>
            <a:off x="2772460"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How does the service reach the books as a correct, complete and timely invoice?</a:t>
            </a:r>
          </a:p>
        </p:txBody>
      </p:sp>
      <p:sp>
        <p:nvSpPr>
          <p:cNvPr id="14" name="TextBox 13"/>
          <p:cNvSpPr txBox="1"/>
          <p:nvPr/>
        </p:nvSpPr>
        <p:spPr>
          <a:xfrm>
            <a:off x="2772460"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Topics 2 and 3: manual and automated invoice</a:t>
            </a:r>
          </a:p>
        </p:txBody>
      </p:sp>
      <p:sp>
        <p:nvSpPr>
          <p:cNvPr id="15" name="TextBox 14"/>
          <p:cNvSpPr txBox="1"/>
          <p:nvPr/>
        </p:nvSpPr>
        <p:spPr>
          <a:xfrm>
            <a:off x="4996281"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How does every open item stay traceable, dated for due date and matchable?</a:t>
            </a:r>
          </a:p>
        </p:txBody>
      </p:sp>
      <p:sp>
        <p:nvSpPr>
          <p:cNvPr id="16" name="TextBox 15"/>
          <p:cNvSpPr txBox="1"/>
          <p:nvPr/>
        </p:nvSpPr>
        <p:spPr>
          <a:xfrm>
            <a:off x="4996281"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Topic 4: posting, open items, basic configuration</a:t>
            </a:r>
          </a:p>
        </p:txBody>
      </p:sp>
      <p:sp>
        <p:nvSpPr>
          <p:cNvPr id="17" name="TextBox 16"/>
          <p:cNvSpPr txBox="1"/>
          <p:nvPr/>
        </p:nvSpPr>
        <p:spPr>
          <a:xfrm>
            <a:off x="7220102"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How is cash received, matched, cleared and dunned?</a:t>
            </a:r>
          </a:p>
        </p:txBody>
      </p:sp>
      <p:sp>
        <p:nvSpPr>
          <p:cNvPr id="18" name="TextBox 17"/>
          <p:cNvSpPr txBox="1"/>
          <p:nvPr/>
        </p:nvSpPr>
        <p:spPr>
          <a:xfrm>
            <a:off x="7220102"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Workshop 4: incoming payments, dunning, collections</a:t>
            </a:r>
          </a:p>
        </p:txBody>
      </p:sp>
      <p:sp>
        <p:nvSpPr>
          <p:cNvPr id="19" name="TextBox 18"/>
          <p:cNvSpPr txBox="1"/>
          <p:nvPr/>
        </p:nvSpPr>
        <p:spPr>
          <a:xfrm>
            <a:off x="9443923"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When do we stop delivering, when do we provision, when do we write off?</a:t>
            </a:r>
          </a:p>
        </p:txBody>
      </p:sp>
      <p:sp>
        <p:nvSpPr>
          <p:cNvPr id="20" name="TextBox 19"/>
          <p:cNvSpPr txBox="1"/>
          <p:nvPr/>
        </p:nvSpPr>
        <p:spPr>
          <a:xfrm>
            <a:off x="9443923"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Topic 1 (credit) and workshop 4 (provisioning)</a:t>
            </a:r>
          </a:p>
        </p:txBody>
      </p:sp>
      <p:sp>
        <p:nvSpPr>
          <p:cNvPr id="21" name="TextBox 20"/>
          <p:cNvSpPr txBox="1"/>
          <p:nvPr/>
        </p:nvSpPr>
        <p:spPr>
          <a:xfrm>
            <a:off x="548640" y="4937760"/>
            <a:ext cx="11064240" cy="1188720"/>
          </a:xfrm>
          <a:prstGeom prst="rect">
            <a:avLst/>
          </a:prstGeom>
          <a:noFill/>
        </p:spPr>
        <p:txBody>
          <a:bodyPr wrap="square" anchor="t" lIns="45720" rIns="45720">
            <a:spAutoFit/>
          </a:bodyPr>
          <a:lstStyle/>
          <a:p>
            <a:pPr algn="l">
              <a:spcAft>
                <a:spcPts val="300"/>
              </a:spcAft>
            </a:pPr>
            <a:r>
              <a:rPr sz="1300" b="1" i="0">
                <a:solidFill>
                  <a:srgbClr val="1F4E5F"/>
                </a:solidFill>
                <a:latin typeface="Arial"/>
              </a:rPr>
              <a:t>Agenda</a:t>
            </a:r>
          </a:p>
          <a:p>
            <a:pPr algn="l">
              <a:spcAft>
                <a:spcPts val="300"/>
              </a:spcAft>
            </a:pPr>
            <a:r>
              <a:rPr sz="1200" b="0" i="0">
                <a:solidFill>
                  <a:srgbClr val="2B2B2B"/>
                </a:solidFill>
                <a:latin typeface="Arial"/>
              </a:rPr>
              <a:t>0:00 Introduction · 0:15 Customer master and credit profile · 0:45 Fit-to-standard 1 · 1:00 Manual invoice · 1:25 Break</a:t>
            </a:r>
          </a:p>
          <a:p>
            <a:pPr algn="l">
              <a:spcAft>
                <a:spcPts val="300"/>
              </a:spcAft>
            </a:pPr>
            <a:r>
              <a:rPr sz="1200" b="0" i="0">
                <a:solidFill>
                  <a:srgbClr val="2B2B2B"/>
                </a:solidFill>
                <a:latin typeface="Arial"/>
              </a:rPr>
              <a:t>1:35 Automated invoice · 2:05 Fit-to-standard 2 · 2:20 Posting and basic configuration · 2:45 Decision list and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TextBox 2"/>
          <p:cNvSpPr txBox="1"/>
          <p:nvPr/>
        </p:nvSpPr>
        <p:spPr>
          <a:xfrm>
            <a:off x="822960" y="2103120"/>
            <a:ext cx="10058400" cy="365760"/>
          </a:xfrm>
          <a:prstGeom prst="rect">
            <a:avLst/>
          </a:prstGeom>
          <a:noFill/>
        </p:spPr>
        <p:txBody>
          <a:bodyPr wrap="square" anchor="t" lIns="45720" rIns="45720">
            <a:spAutoFit/>
          </a:bodyPr>
          <a:lstStyle/>
          <a:p>
            <a:pPr algn="l">
              <a:spcAft>
                <a:spcPts val="400"/>
              </a:spcAft>
            </a:pPr>
            <a:r>
              <a:rPr sz="1400" b="1" i="0">
                <a:solidFill>
                  <a:srgbClr val="C6DCE2"/>
                </a:solidFill>
                <a:latin typeface="Arial"/>
              </a:rPr>
              <a:t>Topic 1</a:t>
            </a:r>
          </a:p>
        </p:txBody>
      </p:sp>
      <p:sp>
        <p:nvSpPr>
          <p:cNvPr id="4" name="TextBox 3"/>
          <p:cNvSpPr txBox="1"/>
          <p:nvPr/>
        </p:nvSpPr>
        <p:spPr>
          <a:xfrm>
            <a:off x="822960" y="2514600"/>
            <a:ext cx="10515600" cy="1188720"/>
          </a:xfrm>
          <a:prstGeom prst="rect">
            <a:avLst/>
          </a:prstGeom>
          <a:noFill/>
        </p:spPr>
        <p:txBody>
          <a:bodyPr wrap="square" anchor="ctr" lIns="45720" rIns="45720">
            <a:spAutoFit/>
          </a:bodyPr>
          <a:lstStyle/>
          <a:p>
            <a:pPr algn="l">
              <a:spcAft>
                <a:spcPts val="400"/>
              </a:spcAft>
            </a:pPr>
            <a:r>
              <a:rPr sz="3600" b="1" i="0">
                <a:solidFill>
                  <a:srgbClr val="FFFFFF"/>
                </a:solidFill>
                <a:latin typeface="Arial"/>
              </a:rPr>
              <a:t>Customer master data and credit profile</a:t>
            </a:r>
          </a:p>
        </p:txBody>
      </p:sp>
      <p:sp>
        <p:nvSpPr>
          <p:cNvPr id="5" name="TextBox 4"/>
          <p:cNvSpPr txBox="1"/>
          <p:nvPr/>
        </p:nvSpPr>
        <p:spPr>
          <a:xfrm>
            <a:off x="822960" y="3794760"/>
            <a:ext cx="10058400" cy="1097280"/>
          </a:xfrm>
          <a:prstGeom prst="rect">
            <a:avLst/>
          </a:prstGeom>
          <a:noFill/>
        </p:spPr>
        <p:txBody>
          <a:bodyPr wrap="square" anchor="t" lIns="45720" rIns="45720">
            <a:spAutoFit/>
          </a:bodyPr>
          <a:lstStyle/>
          <a:p>
            <a:pPr algn="l">
              <a:spcAft>
                <a:spcPts val="400"/>
              </a:spcAft>
            </a:pPr>
            <a:r>
              <a:rPr sz="1600" b="0" i="0">
                <a:solidFill>
                  <a:srgbClr val="FFFFFF"/>
                </a:solidFill>
                <a:latin typeface="Arial"/>
              </a:rPr>
              <a:t>Why the customer master is the lever for everything that follows, how the business partner model works and how Basic Credit Management (BD6) checks the risk before delivery.</a:t>
            </a:r>
          </a:p>
        </p:txBody>
      </p:sp>
      <p:sp>
        <p:nvSpPr>
          <p:cNvPr id="6" name="TextBox 5"/>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C6DCE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1 · Customer master data · Theory</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Why the customer master drives all downstream processes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4</a:t>
            </a:r>
          </a:p>
        </p:txBody>
      </p:sp>
      <p:sp>
        <p:nvSpPr>
          <p:cNvPr id="6" name="TextBox 5"/>
          <p:cNvSpPr txBox="1"/>
          <p:nvPr/>
        </p:nvSpPr>
        <p:spPr>
          <a:xfrm>
            <a:off x="548640" y="1417320"/>
            <a:ext cx="51206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What the master record defines</a:t>
            </a:r>
          </a:p>
        </p:txBody>
      </p:sp>
      <p:sp>
        <p:nvSpPr>
          <p:cNvPr id="7" name="TextBox 6"/>
          <p:cNvSpPr txBox="1"/>
          <p:nvPr/>
        </p:nvSpPr>
        <p:spPr>
          <a:xfrm>
            <a:off x="548640" y="1783080"/>
            <a:ext cx="5120640" cy="2103120"/>
          </a:xfrm>
          <a:prstGeom prst="rect">
            <a:avLst/>
          </a:prstGeom>
          <a:noFill/>
        </p:spPr>
        <p:txBody>
          <a:bodyPr wrap="square" anchor="t" lIns="45720" rIns="45720">
            <a:spAutoFit/>
          </a:bodyPr>
          <a:lstStyle/>
          <a:p>
            <a:pPr algn="l" marL="164592" indent="-164592">
              <a:spcAft>
                <a:spcPts val="600"/>
              </a:spcAft>
              <a:buChar char="•"/>
            </a:pPr>
            <a:r>
              <a:rPr sz="1250" b="1" i="0">
                <a:solidFill>
                  <a:srgbClr val="2B2B2B"/>
                </a:solidFill>
                <a:latin typeface="Arial"/>
              </a:rPr>
              <a:t>Who the customer is: </a:t>
            </a:r>
            <a:r>
              <a:rPr sz="1250" b="0" i="0">
                <a:solidFill>
                  <a:srgbClr val="2B2B2B"/>
                </a:solidFill>
                <a:latin typeface="Arial"/>
              </a:rPr>
              <a:t>name, address, tax numbers, VAT registration number, identifiers</a:t>
            </a:r>
          </a:p>
          <a:p>
            <a:pPr algn="l" marL="164592" indent="-164592">
              <a:spcAft>
                <a:spcPts val="600"/>
              </a:spcAft>
              <a:buChar char="•"/>
            </a:pPr>
            <a:r>
              <a:rPr sz="1250" b="1" i="0">
                <a:solidFill>
                  <a:srgbClr val="2B2B2B"/>
                </a:solidFill>
                <a:latin typeface="Arial"/>
              </a:rPr>
              <a:t>How we bill: </a:t>
            </a:r>
            <a:r>
              <a:rPr sz="1250" b="0" i="0">
                <a:solidFill>
                  <a:srgbClr val="2B2B2B"/>
                </a:solidFill>
                <a:latin typeface="Arial"/>
              </a:rPr>
              <a:t>payment terms, payment method, bank details, bill-to party, delivery channel</a:t>
            </a:r>
          </a:p>
          <a:p>
            <a:pPr algn="l" marL="164592" indent="-164592">
              <a:spcAft>
                <a:spcPts val="600"/>
              </a:spcAft>
              <a:buChar char="•"/>
            </a:pPr>
            <a:r>
              <a:rPr sz="1250" b="1" i="0">
                <a:solidFill>
                  <a:srgbClr val="2B2B2B"/>
                </a:solidFill>
                <a:latin typeface="Arial"/>
              </a:rPr>
              <a:t>Who is responsible internally: </a:t>
            </a:r>
            <a:r>
              <a:rPr sz="1250" b="0" i="0">
                <a:solidFill>
                  <a:srgbClr val="2B2B2B"/>
                </a:solidFill>
                <a:latin typeface="Arial"/>
              </a:rPr>
              <a:t>accounting clerk, dunning procedure, credit analyst</a:t>
            </a:r>
          </a:p>
          <a:p>
            <a:pPr algn="l" marL="164592" indent="-164592">
              <a:spcAft>
                <a:spcPts val="600"/>
              </a:spcAft>
              <a:buChar char="•"/>
            </a:pPr>
            <a:r>
              <a:rPr sz="1250" b="1" i="0">
                <a:solidFill>
                  <a:srgbClr val="2B2B2B"/>
                </a:solidFill>
                <a:latin typeface="Arial"/>
              </a:rPr>
              <a:t>How we analyze: </a:t>
            </a:r>
            <a:r>
              <a:rPr sz="1250" b="0" i="0">
                <a:solidFill>
                  <a:srgbClr val="2B2B2B"/>
                </a:solidFill>
                <a:latin typeface="Arial"/>
              </a:rPr>
              <a:t>country, customer group, risk class and accounting clerk are the dimensions for DSO, overdue analysis and dunning levels</a:t>
            </a:r>
          </a:p>
        </p:txBody>
      </p:sp>
      <p:sp>
        <p:nvSpPr>
          <p:cNvPr id="8" name="TextBox 7"/>
          <p:cNvSpPr txBox="1"/>
          <p:nvPr/>
        </p:nvSpPr>
        <p:spPr>
          <a:xfrm>
            <a:off x="548640" y="4023360"/>
            <a:ext cx="51206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Why quality is decided here</a:t>
            </a:r>
          </a:p>
        </p:txBody>
      </p:sp>
      <p:sp>
        <p:nvSpPr>
          <p:cNvPr id="9" name="TextBox 8"/>
          <p:cNvSpPr txBox="1"/>
          <p:nvPr/>
        </p:nvSpPr>
        <p:spPr>
          <a:xfrm>
            <a:off x="548640" y="4389120"/>
            <a:ext cx="5212080" cy="1920240"/>
          </a:xfrm>
          <a:prstGeom prst="rect">
            <a:avLst/>
          </a:prstGeom>
          <a:noFill/>
        </p:spPr>
        <p:txBody>
          <a:bodyPr wrap="square" anchor="t" lIns="45720" rIns="45720">
            <a:spAutoFit/>
          </a:bodyPr>
          <a:lstStyle/>
          <a:p>
            <a:pPr algn="l" marL="164592" indent="-164592">
              <a:spcAft>
                <a:spcPts val="500"/>
              </a:spcAft>
              <a:buChar char="•"/>
            </a:pPr>
            <a:r>
              <a:rPr sz="1250" b="0" i="0">
                <a:solidFill>
                  <a:srgbClr val="2B2B2B"/>
                </a:solidFill>
                <a:latin typeface="Arial"/>
              </a:rPr>
              <a:t>One wrong e-mail address: a hundred invoices never arrive.</a:t>
            </a:r>
          </a:p>
          <a:p>
            <a:pPr algn="l" marL="164592" indent="-164592">
              <a:spcAft>
                <a:spcPts val="500"/>
              </a:spcAft>
              <a:buChar char="•"/>
            </a:pPr>
            <a:r>
              <a:rPr sz="1250" b="0" i="0">
                <a:solidFill>
                  <a:srgbClr val="2B2B2B"/>
                </a:solidFill>
                <a:latin typeface="Arial"/>
              </a:rPr>
              <a:t>One wrong payment term: due date, dunning and liquidity planning shift.</a:t>
            </a:r>
          </a:p>
          <a:p>
            <a:pPr algn="l" marL="164592" indent="-164592">
              <a:spcAft>
                <a:spcPts val="500"/>
              </a:spcAft>
              <a:buChar char="•"/>
            </a:pPr>
            <a:r>
              <a:rPr sz="1250" b="0" i="0">
                <a:solidFill>
                  <a:srgbClr val="2B2B2B"/>
                </a:solidFill>
                <a:latin typeface="Arial"/>
              </a:rPr>
              <a:t>Missing accounting clerk: no dunning proposal, no analysis by responsibility.</a:t>
            </a:r>
          </a:p>
          <a:p>
            <a:pPr algn="l" marL="164592" indent="-164592">
              <a:spcAft>
                <a:spcPts val="500"/>
              </a:spcAft>
              <a:buChar char="•"/>
            </a:pPr>
            <a:r>
              <a:rPr sz="1250" b="0" i="0">
                <a:solidFill>
                  <a:srgbClr val="2B2B2B"/>
                </a:solidFill>
                <a:latin typeface="Arial"/>
              </a:rPr>
              <a:t>Bank details without control: fraud risk on credit memos and refunds.</a:t>
            </a:r>
          </a:p>
        </p:txBody>
      </p:sp>
      <p:sp>
        <p:nvSpPr>
          <p:cNvPr id="10" name="Rounded Rectangle 9"/>
          <p:cNvSpPr/>
          <p:nvPr/>
        </p:nvSpPr>
        <p:spPr>
          <a:xfrm>
            <a:off x="6035040" y="1463040"/>
            <a:ext cx="2697480" cy="2148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6199631" y="1591056"/>
            <a:ext cx="239572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Sales</a:t>
            </a:r>
          </a:p>
        </p:txBody>
      </p:sp>
      <p:sp>
        <p:nvSpPr>
          <p:cNvPr id="12" name="TextBox 11"/>
          <p:cNvSpPr txBox="1"/>
          <p:nvPr/>
        </p:nvSpPr>
        <p:spPr>
          <a:xfrm>
            <a:off x="6199631" y="2011680"/>
            <a:ext cx="2368296" cy="1508760"/>
          </a:xfrm>
          <a:prstGeom prst="rect">
            <a:avLst/>
          </a:prstGeom>
          <a:noFill/>
        </p:spPr>
        <p:txBody>
          <a:bodyPr wrap="square" anchor="t" lIns="45720" rIns="45720">
            <a:spAutoFit/>
          </a:bodyPr>
          <a:lstStyle/>
          <a:p>
            <a:pPr algn="l">
              <a:spcAft>
                <a:spcPts val="300"/>
              </a:spcAft>
            </a:pPr>
            <a:r>
              <a:rPr sz="1150" b="0" i="0">
                <a:solidFill>
                  <a:srgbClr val="2B2B2B"/>
                </a:solidFill>
                <a:latin typeface="Arial"/>
              </a:rPr>
              <a:t>Prices, delivery, billing, partner functions. Usually creates the customer.</a:t>
            </a:r>
          </a:p>
        </p:txBody>
      </p:sp>
      <p:sp>
        <p:nvSpPr>
          <p:cNvPr id="13" name="Rounded Rectangle 12"/>
          <p:cNvSpPr/>
          <p:nvPr/>
        </p:nvSpPr>
        <p:spPr>
          <a:xfrm>
            <a:off x="8869680" y="1463040"/>
            <a:ext cx="2697480" cy="2148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9034272" y="1591056"/>
            <a:ext cx="239572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Accounting</a:t>
            </a:r>
          </a:p>
        </p:txBody>
      </p:sp>
      <p:sp>
        <p:nvSpPr>
          <p:cNvPr id="15" name="TextBox 14"/>
          <p:cNvSpPr txBox="1"/>
          <p:nvPr/>
        </p:nvSpPr>
        <p:spPr>
          <a:xfrm>
            <a:off x="9034272" y="2011680"/>
            <a:ext cx="2368296" cy="1508760"/>
          </a:xfrm>
          <a:prstGeom prst="rect">
            <a:avLst/>
          </a:prstGeom>
          <a:noFill/>
        </p:spPr>
        <p:txBody>
          <a:bodyPr wrap="square" anchor="t" lIns="45720" rIns="45720">
            <a:spAutoFit/>
          </a:bodyPr>
          <a:lstStyle/>
          <a:p>
            <a:pPr algn="l">
              <a:spcAft>
                <a:spcPts val="300"/>
              </a:spcAft>
            </a:pPr>
            <a:r>
              <a:rPr sz="1150" b="0" i="0">
                <a:solidFill>
                  <a:srgbClr val="2B2B2B"/>
                </a:solidFill>
                <a:latin typeface="Arial"/>
              </a:rPr>
              <a:t>Reconciliation account, payment terms, payment method, accounting clerk, dunning procedure, correspondence.</a:t>
            </a:r>
          </a:p>
        </p:txBody>
      </p:sp>
      <p:sp>
        <p:nvSpPr>
          <p:cNvPr id="16" name="Rounded Rectangle 15"/>
          <p:cNvSpPr/>
          <p:nvPr/>
        </p:nvSpPr>
        <p:spPr>
          <a:xfrm>
            <a:off x="6035040" y="3794760"/>
            <a:ext cx="2697480" cy="2148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6199631" y="3922776"/>
            <a:ext cx="239572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Credit management</a:t>
            </a:r>
          </a:p>
        </p:txBody>
      </p:sp>
      <p:sp>
        <p:nvSpPr>
          <p:cNvPr id="18" name="TextBox 17"/>
          <p:cNvSpPr txBox="1"/>
          <p:nvPr/>
        </p:nvSpPr>
        <p:spPr>
          <a:xfrm>
            <a:off x="6199631" y="4343400"/>
            <a:ext cx="2368296" cy="1508760"/>
          </a:xfrm>
          <a:prstGeom prst="rect">
            <a:avLst/>
          </a:prstGeom>
          <a:noFill/>
        </p:spPr>
        <p:txBody>
          <a:bodyPr wrap="square" anchor="t" lIns="45720" rIns="45720">
            <a:spAutoFit/>
          </a:bodyPr>
          <a:lstStyle/>
          <a:p>
            <a:pPr algn="l">
              <a:spcAft>
                <a:spcPts val="300"/>
              </a:spcAft>
            </a:pPr>
            <a:r>
              <a:rPr sz="1150" b="0" i="0">
                <a:solidFill>
                  <a:srgbClr val="2B2B2B"/>
                </a:solidFill>
                <a:latin typeface="Arial"/>
              </a:rPr>
              <a:t>Risk class, credit limit per segment, credit analyst, check rule.</a:t>
            </a:r>
          </a:p>
        </p:txBody>
      </p:sp>
      <p:sp>
        <p:nvSpPr>
          <p:cNvPr id="19" name="Rounded Rectangle 18"/>
          <p:cNvSpPr/>
          <p:nvPr/>
        </p:nvSpPr>
        <p:spPr>
          <a:xfrm>
            <a:off x="8869680" y="3794760"/>
            <a:ext cx="2697480" cy="2148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9034272" y="3922776"/>
            <a:ext cx="239572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Tax and legal</a:t>
            </a:r>
          </a:p>
        </p:txBody>
      </p:sp>
      <p:sp>
        <p:nvSpPr>
          <p:cNvPr id="21" name="TextBox 20"/>
          <p:cNvSpPr txBox="1"/>
          <p:nvPr/>
        </p:nvSpPr>
        <p:spPr>
          <a:xfrm>
            <a:off x="9034272" y="4343400"/>
            <a:ext cx="2368296" cy="1508760"/>
          </a:xfrm>
          <a:prstGeom prst="rect">
            <a:avLst/>
          </a:prstGeom>
          <a:noFill/>
        </p:spPr>
        <p:txBody>
          <a:bodyPr wrap="square" anchor="t" lIns="45720" rIns="45720">
            <a:spAutoFit/>
          </a:bodyPr>
          <a:lstStyle/>
          <a:p>
            <a:pPr algn="l">
              <a:spcAft>
                <a:spcPts val="300"/>
              </a:spcAft>
            </a:pPr>
            <a:r>
              <a:rPr sz="1150" b="0" i="0">
                <a:solidFill>
                  <a:srgbClr val="2B2B2B"/>
                </a:solidFill>
                <a:latin typeface="Arial"/>
              </a:rPr>
              <a:t>VAT registration number, tax country, certificates, identification numbers for reporting.</a:t>
            </a:r>
          </a:p>
        </p:txBody>
      </p:sp>
      <p:sp>
        <p:nvSpPr>
          <p:cNvPr id="22" name="TextBox 21"/>
          <p:cNvSpPr txBox="1"/>
          <p:nvPr/>
        </p:nvSpPr>
        <p:spPr>
          <a:xfrm>
            <a:off x="6035040" y="5989320"/>
            <a:ext cx="5577840" cy="411480"/>
          </a:xfrm>
          <a:prstGeom prst="rect">
            <a:avLst/>
          </a:prstGeom>
          <a:noFill/>
        </p:spPr>
        <p:txBody>
          <a:bodyPr wrap="square" anchor="t" lIns="45720" rIns="45720">
            <a:spAutoFit/>
          </a:bodyPr>
          <a:lstStyle/>
          <a:p>
            <a:pPr algn="l">
              <a:spcAft>
                <a:spcPts val="400"/>
              </a:spcAft>
            </a:pPr>
            <a:r>
              <a:rPr sz="1100" b="0" i="0">
                <a:solidFill>
                  <a:srgbClr val="6B6B6B"/>
                </a:solidFill>
                <a:latin typeface="Arial"/>
              </a:rPr>
              <a:t>Four user groups, one business partner: each maintains its role, no duplicate customer number.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1 · Customer master data · Theory</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The business partner model: one object, several roles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5</a:t>
            </a:r>
          </a:p>
        </p:txBody>
      </p:sp>
      <p:sp>
        <p:nvSpPr>
          <p:cNvPr id="6" name="Oval 5"/>
          <p:cNvSpPr/>
          <p:nvPr/>
        </p:nvSpPr>
        <p:spPr>
          <a:xfrm>
            <a:off x="4937760" y="2651760"/>
            <a:ext cx="2286000" cy="228600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200"/>
              </a:spcAft>
            </a:pPr>
            <a:r>
              <a:rPr sz="1250" b="1" i="0">
                <a:solidFill>
                  <a:srgbClr val="FFFFFF"/>
                </a:solidFill>
                <a:latin typeface="Arial"/>
              </a:rPr>
              <a:t>Business partner</a:t>
            </a:r>
          </a:p>
          <a:p>
            <a:pPr algn="ctr">
              <a:spcAft>
                <a:spcPts val="200"/>
              </a:spcAft>
            </a:pPr>
            <a:r>
              <a:rPr sz="1000" b="0" i="0">
                <a:solidFill>
                  <a:srgbClr val="FFFFFF"/>
                </a:solidFill>
                <a:latin typeface="Arial"/>
              </a:rPr>
              <a:t>one number = customer number</a:t>
            </a:r>
          </a:p>
        </p:txBody>
      </p:sp>
      <p:sp>
        <p:nvSpPr>
          <p:cNvPr id="7" name="Rounded Rectangle 6"/>
          <p:cNvSpPr/>
          <p:nvPr/>
        </p:nvSpPr>
        <p:spPr>
          <a:xfrm>
            <a:off x="548640" y="1417320"/>
            <a:ext cx="3429000" cy="22402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713232" y="1527048"/>
            <a:ext cx="3108960" cy="365760"/>
          </a:xfrm>
          <a:prstGeom prst="rect">
            <a:avLst/>
          </a:prstGeom>
          <a:noFill/>
        </p:spPr>
        <p:txBody>
          <a:bodyPr wrap="square" anchor="ctr" lIns="45720" rIns="45720">
            <a:spAutoFit/>
          </a:bodyPr>
          <a:lstStyle/>
          <a:p>
            <a:pPr algn="l">
              <a:spcAft>
                <a:spcPts val="400"/>
              </a:spcAft>
            </a:pPr>
            <a:r>
              <a:rPr sz="1250" b="1" i="0">
                <a:solidFill>
                  <a:srgbClr val="1F4E5F"/>
                </a:solidFill>
                <a:latin typeface="Arial"/>
              </a:rPr>
              <a:t>General data (all roles)</a:t>
            </a:r>
          </a:p>
        </p:txBody>
      </p:sp>
      <p:sp>
        <p:nvSpPr>
          <p:cNvPr id="9" name="TextBox 8"/>
          <p:cNvSpPr txBox="1"/>
          <p:nvPr/>
        </p:nvSpPr>
        <p:spPr>
          <a:xfrm>
            <a:off x="713232" y="1920240"/>
            <a:ext cx="3108960" cy="13258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Name, addresses, communication (e-mail for invoice and dunning)</a:t>
            </a:r>
          </a:p>
          <a:p>
            <a:pPr algn="l" marL="164592" indent="-164592">
              <a:spcAft>
                <a:spcPts val="300"/>
              </a:spcAft>
              <a:buChar char="•"/>
            </a:pPr>
            <a:r>
              <a:rPr sz="1100" b="0" i="0">
                <a:solidFill>
                  <a:srgbClr val="2B2B2B"/>
                </a:solidFill>
                <a:latin typeface="Arial"/>
              </a:rPr>
              <a:t>Tax numbers, VAT registration number, bank details</a:t>
            </a:r>
          </a:p>
          <a:p>
            <a:pPr algn="l" marL="164592" indent="-164592">
              <a:spcAft>
                <a:spcPts val="300"/>
              </a:spcAft>
              <a:buChar char="•"/>
            </a:pPr>
            <a:r>
              <a:rPr sz="1100" b="0" i="0">
                <a:solidFill>
                  <a:srgbClr val="2B2B2B"/>
                </a:solidFill>
                <a:latin typeface="Arial"/>
              </a:rPr>
              <a:t>Identifiers, certificates (optional)</a:t>
            </a:r>
          </a:p>
        </p:txBody>
      </p:sp>
      <p:sp>
        <p:nvSpPr>
          <p:cNvPr id="10" name="TextBox 9"/>
          <p:cNvSpPr txBox="1"/>
          <p:nvPr/>
        </p:nvSpPr>
        <p:spPr>
          <a:xfrm>
            <a:off x="713232" y="3291839"/>
            <a:ext cx="3108960" cy="274320"/>
          </a:xfrm>
          <a:prstGeom prst="rect">
            <a:avLst/>
          </a:prstGeom>
          <a:noFill/>
        </p:spPr>
        <p:txBody>
          <a:bodyPr wrap="square" anchor="t" lIns="45720" rIns="45720">
            <a:spAutoFit/>
          </a:bodyPr>
          <a:lstStyle/>
          <a:p>
            <a:pPr algn="l">
              <a:spcAft>
                <a:spcPts val="400"/>
              </a:spcAft>
            </a:pPr>
            <a:r>
              <a:rPr sz="1050" b="1" i="0">
                <a:solidFill>
                  <a:srgbClr val="6B6B6B"/>
                </a:solidFill>
                <a:latin typeface="Arial"/>
              </a:rPr>
              <a:t>Maintained by: Master data team</a:t>
            </a:r>
          </a:p>
        </p:txBody>
      </p:sp>
      <p:sp>
        <p:nvSpPr>
          <p:cNvPr id="11" name="Rounded Rectangle 10"/>
          <p:cNvSpPr/>
          <p:nvPr/>
        </p:nvSpPr>
        <p:spPr>
          <a:xfrm>
            <a:off x="8229600" y="1417320"/>
            <a:ext cx="3429000" cy="22402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8394192" y="1527048"/>
            <a:ext cx="3108960" cy="365760"/>
          </a:xfrm>
          <a:prstGeom prst="rect">
            <a:avLst/>
          </a:prstGeom>
          <a:noFill/>
        </p:spPr>
        <p:txBody>
          <a:bodyPr wrap="square" anchor="ctr" lIns="45720" rIns="45720">
            <a:spAutoFit/>
          </a:bodyPr>
          <a:lstStyle/>
          <a:p>
            <a:pPr algn="l">
              <a:spcAft>
                <a:spcPts val="400"/>
              </a:spcAft>
            </a:pPr>
            <a:r>
              <a:rPr sz="1250" b="1" i="0">
                <a:solidFill>
                  <a:srgbClr val="1F4E5F"/>
                </a:solidFill>
                <a:latin typeface="Arial"/>
              </a:rPr>
              <a:t>FLCU01 Customer (Sales)</a:t>
            </a:r>
          </a:p>
        </p:txBody>
      </p:sp>
      <p:sp>
        <p:nvSpPr>
          <p:cNvPr id="13" name="TextBox 12"/>
          <p:cNvSpPr txBox="1"/>
          <p:nvPr/>
        </p:nvSpPr>
        <p:spPr>
          <a:xfrm>
            <a:off x="8394192" y="1920240"/>
            <a:ext cx="3108960" cy="13258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Sales organization, distribution channel, division</a:t>
            </a:r>
          </a:p>
          <a:p>
            <a:pPr algn="l" marL="164592" indent="-164592">
              <a:spcAft>
                <a:spcPts val="300"/>
              </a:spcAft>
              <a:buChar char="•"/>
            </a:pPr>
            <a:r>
              <a:rPr sz="1100" b="0" i="0">
                <a:solidFill>
                  <a:srgbClr val="2B2B2B"/>
                </a:solidFill>
                <a:latin typeface="Arial"/>
              </a:rPr>
              <a:t>Pricing, shipping, billing data</a:t>
            </a:r>
          </a:p>
          <a:p>
            <a:pPr algn="l" marL="164592" indent="-164592">
              <a:spcAft>
                <a:spcPts val="300"/>
              </a:spcAft>
              <a:buChar char="•"/>
            </a:pPr>
            <a:r>
              <a:rPr sz="1100" b="0" i="0">
                <a:solidFill>
                  <a:srgbClr val="2B2B2B"/>
                </a:solidFill>
                <a:latin typeface="Arial"/>
              </a:rPr>
              <a:t>Partner functions (bill-to party, payer)</a:t>
            </a:r>
          </a:p>
        </p:txBody>
      </p:sp>
      <p:sp>
        <p:nvSpPr>
          <p:cNvPr id="14" name="TextBox 13"/>
          <p:cNvSpPr txBox="1"/>
          <p:nvPr/>
        </p:nvSpPr>
        <p:spPr>
          <a:xfrm>
            <a:off x="8394192" y="3291839"/>
            <a:ext cx="3108960" cy="274320"/>
          </a:xfrm>
          <a:prstGeom prst="rect">
            <a:avLst/>
          </a:prstGeom>
          <a:noFill/>
        </p:spPr>
        <p:txBody>
          <a:bodyPr wrap="square" anchor="t" lIns="45720" rIns="45720">
            <a:spAutoFit/>
          </a:bodyPr>
          <a:lstStyle/>
          <a:p>
            <a:pPr algn="l">
              <a:spcAft>
                <a:spcPts val="400"/>
              </a:spcAft>
            </a:pPr>
            <a:r>
              <a:rPr sz="1050" b="1" i="0">
                <a:solidFill>
                  <a:srgbClr val="6B6B6B"/>
                </a:solidFill>
                <a:latin typeface="Arial"/>
              </a:rPr>
              <a:t>Maintained by: Sales</a:t>
            </a:r>
          </a:p>
        </p:txBody>
      </p:sp>
      <p:sp>
        <p:nvSpPr>
          <p:cNvPr id="15" name="Rounded Rectangle 14"/>
          <p:cNvSpPr/>
          <p:nvPr/>
        </p:nvSpPr>
        <p:spPr>
          <a:xfrm>
            <a:off x="548640" y="3931920"/>
            <a:ext cx="3429000" cy="22402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713232" y="4041648"/>
            <a:ext cx="3108960" cy="365760"/>
          </a:xfrm>
          <a:prstGeom prst="rect">
            <a:avLst/>
          </a:prstGeom>
          <a:noFill/>
        </p:spPr>
        <p:txBody>
          <a:bodyPr wrap="square" anchor="ctr" lIns="45720" rIns="45720">
            <a:spAutoFit/>
          </a:bodyPr>
          <a:lstStyle/>
          <a:p>
            <a:pPr algn="l">
              <a:spcAft>
                <a:spcPts val="400"/>
              </a:spcAft>
            </a:pPr>
            <a:r>
              <a:rPr sz="1250" b="1" i="0">
                <a:solidFill>
                  <a:srgbClr val="1F4E5F"/>
                </a:solidFill>
                <a:latin typeface="Arial"/>
              </a:rPr>
              <a:t>FLCU00 Customer (Fin. Accounting)</a:t>
            </a:r>
          </a:p>
        </p:txBody>
      </p:sp>
      <p:sp>
        <p:nvSpPr>
          <p:cNvPr id="17" name="TextBox 16"/>
          <p:cNvSpPr txBox="1"/>
          <p:nvPr/>
        </p:nvSpPr>
        <p:spPr>
          <a:xfrm>
            <a:off x="713232" y="4434840"/>
            <a:ext cx="3108960" cy="13258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Reconciliation account, payment terms, payment methods, house bank</a:t>
            </a:r>
          </a:p>
          <a:p>
            <a:pPr algn="l" marL="164592" indent="-164592">
              <a:spcAft>
                <a:spcPts val="300"/>
              </a:spcAft>
              <a:buChar char="•"/>
            </a:pPr>
            <a:r>
              <a:rPr sz="1100" b="0" i="0">
                <a:solidFill>
                  <a:srgbClr val="2B2B2B"/>
                </a:solidFill>
                <a:latin typeface="Arial"/>
              </a:rPr>
              <a:t>Accounting clerk, correspondence, interest indicator</a:t>
            </a:r>
          </a:p>
          <a:p>
            <a:pPr algn="l" marL="164592" indent="-164592">
              <a:spcAft>
                <a:spcPts val="300"/>
              </a:spcAft>
              <a:buChar char="•"/>
            </a:pPr>
            <a:r>
              <a:rPr sz="1100" b="0" i="0">
                <a:solidFill>
                  <a:srgbClr val="2B2B2B"/>
                </a:solidFill>
                <a:latin typeface="Arial"/>
              </a:rPr>
              <a:t>Dunning procedure, dunning block, dunning clerk</a:t>
            </a:r>
          </a:p>
        </p:txBody>
      </p:sp>
      <p:sp>
        <p:nvSpPr>
          <p:cNvPr id="18" name="TextBox 17"/>
          <p:cNvSpPr txBox="1"/>
          <p:nvPr/>
        </p:nvSpPr>
        <p:spPr>
          <a:xfrm>
            <a:off x="713232" y="5806440"/>
            <a:ext cx="3108960" cy="274320"/>
          </a:xfrm>
          <a:prstGeom prst="rect">
            <a:avLst/>
          </a:prstGeom>
          <a:noFill/>
        </p:spPr>
        <p:txBody>
          <a:bodyPr wrap="square" anchor="t" lIns="45720" rIns="45720">
            <a:spAutoFit/>
          </a:bodyPr>
          <a:lstStyle/>
          <a:p>
            <a:pPr algn="l">
              <a:spcAft>
                <a:spcPts val="400"/>
              </a:spcAft>
            </a:pPr>
            <a:r>
              <a:rPr sz="1050" b="1" i="0">
                <a:solidFill>
                  <a:srgbClr val="6B6B6B"/>
                </a:solidFill>
                <a:latin typeface="Arial"/>
              </a:rPr>
              <a:t>Maintained by: Accounts receivable</a:t>
            </a:r>
          </a:p>
        </p:txBody>
      </p:sp>
      <p:sp>
        <p:nvSpPr>
          <p:cNvPr id="19" name="Rounded Rectangle 18"/>
          <p:cNvSpPr/>
          <p:nvPr/>
        </p:nvSpPr>
        <p:spPr>
          <a:xfrm>
            <a:off x="8229600" y="3931920"/>
            <a:ext cx="3429000" cy="22402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8394192" y="4041648"/>
            <a:ext cx="3108960" cy="365760"/>
          </a:xfrm>
          <a:prstGeom prst="rect">
            <a:avLst/>
          </a:prstGeom>
          <a:noFill/>
        </p:spPr>
        <p:txBody>
          <a:bodyPr wrap="square" anchor="ctr" lIns="45720" rIns="45720">
            <a:spAutoFit/>
          </a:bodyPr>
          <a:lstStyle/>
          <a:p>
            <a:pPr algn="l">
              <a:spcAft>
                <a:spcPts val="400"/>
              </a:spcAft>
            </a:pPr>
            <a:r>
              <a:rPr sz="1250" b="1" i="0">
                <a:solidFill>
                  <a:srgbClr val="1F4E5F"/>
                </a:solidFill>
                <a:latin typeface="Arial"/>
              </a:rPr>
              <a:t>UKM000 Credit Management (BD6)</a:t>
            </a:r>
          </a:p>
        </p:txBody>
      </p:sp>
      <p:sp>
        <p:nvSpPr>
          <p:cNvPr id="21" name="TextBox 20"/>
          <p:cNvSpPr txBox="1"/>
          <p:nvPr/>
        </p:nvSpPr>
        <p:spPr>
          <a:xfrm>
            <a:off x="8394192" y="4434840"/>
            <a:ext cx="3108960" cy="13258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Scoring, risk class, check rule</a:t>
            </a:r>
          </a:p>
          <a:p>
            <a:pPr algn="l" marL="164592" indent="-164592">
              <a:spcAft>
                <a:spcPts val="300"/>
              </a:spcAft>
              <a:buChar char="•"/>
            </a:pPr>
            <a:r>
              <a:rPr sz="1100" b="0" i="0">
                <a:solidFill>
                  <a:srgbClr val="2B2B2B"/>
                </a:solidFill>
                <a:latin typeface="Arial"/>
              </a:rPr>
              <a:t>Credit segment 1000: limit, valid to</a:t>
            </a:r>
          </a:p>
          <a:p>
            <a:pPr algn="l" marL="164592" indent="-164592">
              <a:spcAft>
                <a:spcPts val="300"/>
              </a:spcAft>
              <a:buChar char="•"/>
            </a:pPr>
            <a:r>
              <a:rPr sz="1100" b="0" i="0">
                <a:solidFill>
                  <a:srgbClr val="2B2B2B"/>
                </a:solidFill>
                <a:latin typeface="Arial"/>
              </a:rPr>
              <a:t>Credit analyst, credit block reasons</a:t>
            </a:r>
          </a:p>
        </p:txBody>
      </p:sp>
      <p:sp>
        <p:nvSpPr>
          <p:cNvPr id="22" name="TextBox 21"/>
          <p:cNvSpPr txBox="1"/>
          <p:nvPr/>
        </p:nvSpPr>
        <p:spPr>
          <a:xfrm>
            <a:off x="8394192" y="5806440"/>
            <a:ext cx="3108960" cy="274320"/>
          </a:xfrm>
          <a:prstGeom prst="rect">
            <a:avLst/>
          </a:prstGeom>
          <a:noFill/>
        </p:spPr>
        <p:txBody>
          <a:bodyPr wrap="square" anchor="t" lIns="45720" rIns="45720">
            <a:spAutoFit/>
          </a:bodyPr>
          <a:lstStyle/>
          <a:p>
            <a:pPr algn="l">
              <a:spcAft>
                <a:spcPts val="400"/>
              </a:spcAft>
            </a:pPr>
            <a:r>
              <a:rPr sz="1050" b="1" i="0">
                <a:solidFill>
                  <a:srgbClr val="6B6B6B"/>
                </a:solidFill>
                <a:latin typeface="Arial"/>
              </a:rPr>
              <a:t>Maintained by: Credit controller</a:t>
            </a:r>
          </a:p>
        </p:txBody>
      </p:sp>
      <p:cxnSp>
        <p:nvCxnSpPr>
          <p:cNvPr id="23" name="Connector 22"/>
          <p:cNvCxnSpPr/>
          <p:nvPr/>
        </p:nvCxnSpPr>
        <p:spPr>
          <a:xfrm>
            <a:off x="3977639" y="2560320"/>
            <a:ext cx="1280161" cy="731520"/>
          </a:xfrm>
          <a:prstGeom prst="line">
            <a:avLst/>
          </a:prstGeom>
          <a:ln w="19050">
            <a:solidFill>
              <a:srgbClr val="D0D7D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903720" y="2560320"/>
            <a:ext cx="1325880" cy="731520"/>
          </a:xfrm>
          <a:prstGeom prst="line">
            <a:avLst/>
          </a:prstGeom>
          <a:ln w="19050">
            <a:solidFill>
              <a:srgbClr val="D0D7D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977639" y="4297680"/>
            <a:ext cx="1280161" cy="731520"/>
          </a:xfrm>
          <a:prstGeom prst="line">
            <a:avLst/>
          </a:prstGeom>
          <a:ln w="19050">
            <a:solidFill>
              <a:srgbClr val="D0D7D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903720" y="4297680"/>
            <a:ext cx="1325880" cy="731520"/>
          </a:xfrm>
          <a:prstGeom prst="line">
            <a:avLst/>
          </a:prstGeom>
          <a:ln w="19050">
            <a:solidFill>
              <a:srgbClr val="D0D7D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40480" y="5897880"/>
            <a:ext cx="4480560" cy="457200"/>
          </a:xfrm>
          <a:prstGeom prst="rect">
            <a:avLst/>
          </a:prstGeom>
          <a:noFill/>
        </p:spPr>
        <p:txBody>
          <a:bodyPr wrap="square" anchor="t" lIns="45720" rIns="45720">
            <a:spAutoFit/>
          </a:bodyPr>
          <a:lstStyle/>
          <a:p>
            <a:pPr algn="ctr">
              <a:spcAft>
                <a:spcPts val="400"/>
              </a:spcAft>
            </a:pPr>
            <a:r>
              <a:rPr sz="1050" b="0" i="0">
                <a:solidFill>
                  <a:srgbClr val="6B6B6B"/>
                </a:solidFill>
                <a:latin typeface="Arial"/>
              </a:rPr>
              <a:t>Numbering via BP grouping (internal or external), groupings are predelivered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1 · Customer master data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Apps and roles for maintenance, validation and credit profile</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6</a:t>
            </a:r>
          </a:p>
        </p:txBody>
      </p:sp>
      <p:graphicFrame>
        <p:nvGraphicFramePr>
          <p:cNvPr id="6" name="Table 5"/>
          <p:cNvGraphicFramePr>
            <a:graphicFrameLocks noGrp="1"/>
          </p:cNvGraphicFramePr>
          <p:nvPr/>
        </p:nvGraphicFramePr>
        <p:xfrm>
          <a:off x="548640" y="1417320"/>
          <a:ext cx="11064240" cy="4023360"/>
        </p:xfrm>
        <a:graphic>
          <a:graphicData uri="http://schemas.openxmlformats.org/drawingml/2006/table">
            <a:tbl>
              <a:tblPr firstRow="1" bandRow="0">
                <a:tableStyleId>{5940675A-B579-460E-94D1-54222C63F5DA}</a:tableStyleId>
              </a:tblPr>
              <a:tblGrid>
                <a:gridCol w="3017520"/>
                <a:gridCol w="2651760"/>
                <a:gridCol w="5394960"/>
              </a:tblGrid>
              <a:tr h="502920">
                <a:tc>
                  <a:txBody>
                    <a:bodyPr wrap="square"/>
                    <a:lstStyle/>
                    <a:p>
                      <a:pPr>
                        <a:spcAft>
                          <a:spcPts val="100"/>
                        </a:spcAft>
                      </a:pPr>
                      <a:r>
                        <a:rPr sz="1150" b="1" i="0">
                          <a:solidFill>
                            <a:srgbClr val="FFFFFF"/>
                          </a:solidFill>
                          <a:latin typeface="Arial"/>
                        </a:rPr>
                        <a:t>App</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Role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Purpose in the process</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Manage Customer Master Data (F0850A)</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Master Data Specialist – Business Partner Data</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Fiori view of the customer: Company Codes (Finance, Correspondence, Dunning Data), Sales Areas; maintain accounting clerk, dunning procedure, interest indicator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Maintain Business Partner (BP)</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Master Data Specialist, AR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Classic maintenance of all roles, Certificates tab (only after activation)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Display Customer List (F2640)</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Master data check per company code: missing e-mail, accounting clerk, dunning procedure; navigation to items and clearing</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Define Accounting Clerks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AR Manager</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Accounting clerks per company code (ID, name, user); drives dunning proposals and analytics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Manage Credit Accounts (F4596)</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Credit Controller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Credit profile: scoring, risk class, check rule, credit limit per segment, credit analyst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Manage Documented Credit Decision (F5587A)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Credit Controller</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Review blocked orders, set to in process, release or reject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Migrate Your Data / Mass Maintenance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Administrator, Master Data Specialist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Cut-over and mass changes; not via manual creation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
        <p:nvSpPr>
          <p:cNvPr id="7" name="TextBox 6"/>
          <p:cNvSpPr txBox="1"/>
          <p:nvPr/>
        </p:nvSpPr>
        <p:spPr>
          <a:xfrm>
            <a:off x="548640" y="5806440"/>
            <a:ext cx="11064240" cy="548640"/>
          </a:xfrm>
          <a:prstGeom prst="rect">
            <a:avLst/>
          </a:prstGeom>
          <a:noFill/>
        </p:spPr>
        <p:txBody>
          <a:bodyPr wrap="square" anchor="t" lIns="45720" rIns="45720">
            <a:spAutoFit/>
          </a:bodyPr>
          <a:lstStyle/>
          <a:p>
            <a:pPr algn="l">
              <a:spcAft>
                <a:spcPts val="400"/>
              </a:spcAft>
            </a:pPr>
            <a:r>
              <a:rPr sz="1100" b="0" i="0">
                <a:solidFill>
                  <a:srgbClr val="6B6B6B"/>
                </a:solidFill>
                <a:latin typeface="Arial"/>
              </a:rPr>
              <a:t>Role templates: SAP_BR_BUPA_MASTER_SPECIALIST, SAP_BR_AR_ACCOUNTANT, SAP_BR_AR_MANAGER, SAP_BR_CREDIT_CONTROLLER. Launchpad spaces “Accounts Receivable” and “Credit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1 · Credit profile (BD6) · Theory and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Basic Credit Management: check the risk before delivering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7</a:t>
            </a:r>
          </a:p>
        </p:txBody>
      </p:sp>
      <p:sp>
        <p:nvSpPr>
          <p:cNvPr id="6" name="Pentagon 5"/>
          <p:cNvSpPr/>
          <p:nvPr/>
        </p:nvSpPr>
        <p:spPr>
          <a:xfrm>
            <a:off x="548640" y="1417320"/>
            <a:ext cx="1798320"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Maintain credit profile</a:t>
            </a:r>
          </a:p>
        </p:txBody>
      </p:sp>
      <p:sp>
        <p:nvSpPr>
          <p:cNvPr id="7" name="Chevron 6"/>
          <p:cNvSpPr/>
          <p:nvPr/>
        </p:nvSpPr>
        <p:spPr>
          <a:xfrm>
            <a:off x="2401824"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Sales order</a:t>
            </a:r>
          </a:p>
        </p:txBody>
      </p:sp>
      <p:sp>
        <p:nvSpPr>
          <p:cNvPr id="8" name="Chevron 7"/>
          <p:cNvSpPr/>
          <p:nvPr/>
        </p:nvSpPr>
        <p:spPr>
          <a:xfrm>
            <a:off x="4255007"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Credit check</a:t>
            </a:r>
          </a:p>
        </p:txBody>
      </p:sp>
      <p:sp>
        <p:nvSpPr>
          <p:cNvPr id="9" name="Chevron 8"/>
          <p:cNvSpPr/>
          <p:nvPr/>
        </p:nvSpPr>
        <p:spPr>
          <a:xfrm>
            <a:off x="6108191"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Block + DCD</a:t>
            </a:r>
          </a:p>
        </p:txBody>
      </p:sp>
      <p:sp>
        <p:nvSpPr>
          <p:cNvPr id="10" name="Chevron 9"/>
          <p:cNvSpPr/>
          <p:nvPr/>
        </p:nvSpPr>
        <p:spPr>
          <a:xfrm>
            <a:off x="7961375"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Release / reject</a:t>
            </a:r>
          </a:p>
        </p:txBody>
      </p:sp>
      <p:sp>
        <p:nvSpPr>
          <p:cNvPr id="11" name="Chevron 10"/>
          <p:cNvSpPr/>
          <p:nvPr/>
        </p:nvSpPr>
        <p:spPr>
          <a:xfrm>
            <a:off x="9814560"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Daily recheck</a:t>
            </a:r>
          </a:p>
        </p:txBody>
      </p:sp>
      <p:sp>
        <p:nvSpPr>
          <p:cNvPr id="12" name="TextBox 11"/>
          <p:cNvSpPr txBox="1"/>
          <p:nvPr/>
        </p:nvSpPr>
        <p:spPr>
          <a:xfrm>
            <a:off x="548640"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Risk class, check rule 01 (all checks), limit per credit segment, credit analyst. App F4596.</a:t>
            </a:r>
          </a:p>
        </p:txBody>
      </p:sp>
      <p:sp>
        <p:nvSpPr>
          <p:cNvPr id="13" name="TextBox 12"/>
          <p:cNvSpPr txBox="1"/>
          <p:nvPr/>
        </p:nvSpPr>
        <p:spPr>
          <a:xfrm>
            <a:off x="2401824"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Sales creates the order (BD9). Item category must be credit-active.</a:t>
            </a:r>
          </a:p>
        </p:txBody>
      </p:sp>
      <p:sp>
        <p:nvSpPr>
          <p:cNvPr id="14" name="TextBox 13"/>
          <p:cNvSpPr txBox="1"/>
          <p:nvPr/>
        </p:nvSpPr>
        <p:spPr>
          <a:xfrm>
            <a:off x="4255007"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Exposure against limit; optionally oldest open item, highest dunning level, last payment.</a:t>
            </a:r>
          </a:p>
        </p:txBody>
      </p:sp>
      <p:sp>
        <p:nvSpPr>
          <p:cNvPr id="15" name="TextBox 14"/>
          <p:cNvSpPr txBox="1"/>
          <p:nvPr/>
        </p:nvSpPr>
        <p:spPr>
          <a:xfrm>
            <a:off x="6108191"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Order blocked, DCD case with block reason created automatically. App F5587A.</a:t>
            </a:r>
          </a:p>
        </p:txBody>
      </p:sp>
      <p:sp>
        <p:nvSpPr>
          <p:cNvPr id="16" name="TextBox 15"/>
          <p:cNvSpPr txBox="1"/>
          <p:nvPr/>
        </p:nvSpPr>
        <p:spPr>
          <a:xfrm>
            <a:off x="7961375"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Credit controller sets In Process, Release with note or Reject with reason. Logged.</a:t>
            </a:r>
          </a:p>
        </p:txBody>
      </p:sp>
      <p:sp>
        <p:nvSpPr>
          <p:cNvPr id="17" name="TextBox 16"/>
          <p:cNvSpPr txBox="1"/>
          <p:nvPr/>
        </p:nvSpPr>
        <p:spPr>
          <a:xfrm>
            <a:off x="9814560"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Job “Check Credit on SD Documents” (F3748): release after payment, new block when items are overdue.</a:t>
            </a:r>
          </a:p>
        </p:txBody>
      </p:sp>
      <p:sp>
        <p:nvSpPr>
          <p:cNvPr id="18" name="Rounded Rectangle 17"/>
          <p:cNvSpPr/>
          <p:nvPr/>
        </p:nvSpPr>
        <p:spPr>
          <a:xfrm>
            <a:off x="548640" y="3749039"/>
            <a:ext cx="3566160" cy="242316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713232" y="3877055"/>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When it makes sense</a:t>
            </a:r>
          </a:p>
        </p:txBody>
      </p:sp>
      <p:sp>
        <p:nvSpPr>
          <p:cNvPr id="20" name="TextBox 19"/>
          <p:cNvSpPr txBox="1"/>
          <p:nvPr/>
        </p:nvSpPr>
        <p:spPr>
          <a:xfrm>
            <a:off x="713232" y="4297679"/>
            <a:ext cx="3236976" cy="17830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Many business customers, delivery on account, recurring orders</a:t>
            </a:r>
          </a:p>
          <a:p>
            <a:pPr algn="l" marL="164592" indent="-164592">
              <a:spcAft>
                <a:spcPts val="300"/>
              </a:spcAft>
              <a:buChar char="•"/>
            </a:pPr>
            <a:r>
              <a:rPr sz="1100" b="0" i="0">
                <a:solidFill>
                  <a:srgbClr val="2B2B2B"/>
                </a:solidFill>
                <a:latin typeface="Arial"/>
              </a:rPr>
              <a:t>Less relevant with prepayment, direct debit, few contract customers</a:t>
            </a:r>
          </a:p>
          <a:p>
            <a:pPr algn="l" marL="164592" indent="-164592">
              <a:spcAft>
                <a:spcPts val="300"/>
              </a:spcAft>
              <a:buChar char="•"/>
            </a:pPr>
            <a:r>
              <a:rPr sz="1100" b="0" i="0">
                <a:solidFill>
                  <a:srgbClr val="2B2B2B"/>
                </a:solidFill>
                <a:latin typeface="Arial"/>
              </a:rPr>
              <a:t>Without a sales process only a reporting tool</a:t>
            </a:r>
          </a:p>
        </p:txBody>
      </p:sp>
      <p:sp>
        <p:nvSpPr>
          <p:cNvPr id="21" name="Rounded Rectangle 20"/>
          <p:cNvSpPr/>
          <p:nvPr/>
        </p:nvSpPr>
        <p:spPr>
          <a:xfrm>
            <a:off x="4297680" y="3749039"/>
            <a:ext cx="3566160" cy="242316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TextBox 21"/>
          <p:cNvSpPr txBox="1"/>
          <p:nvPr/>
        </p:nvSpPr>
        <p:spPr>
          <a:xfrm>
            <a:off x="4462272" y="3877055"/>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Reporting for the credit controller</a:t>
            </a:r>
          </a:p>
        </p:txBody>
      </p:sp>
      <p:sp>
        <p:nvSpPr>
          <p:cNvPr id="23" name="TextBox 22"/>
          <p:cNvSpPr txBox="1"/>
          <p:nvPr/>
        </p:nvSpPr>
        <p:spPr>
          <a:xfrm>
            <a:off x="4462272" y="4297679"/>
            <a:ext cx="3236976" cy="17830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Display Credit Account Data (F4825): exposure, limit, utilization, block reason</a:t>
            </a:r>
          </a:p>
          <a:p>
            <a:pPr algn="l" marL="164592" indent="-164592">
              <a:spcAft>
                <a:spcPts val="300"/>
              </a:spcAft>
              <a:buChar char="•"/>
            </a:pPr>
            <a:r>
              <a:rPr sz="1100" b="0" i="0">
                <a:solidFill>
                  <a:srgbClr val="2B2B2B"/>
                </a:solidFill>
                <a:latin typeface="Arial"/>
              </a:rPr>
              <a:t>Display / Analyze Credit Exposure (F4826, F2541)</a:t>
            </a:r>
          </a:p>
          <a:p>
            <a:pPr algn="l" marL="164592" indent="-164592">
              <a:spcAft>
                <a:spcPts val="300"/>
              </a:spcAft>
              <a:buChar char="•"/>
            </a:pPr>
            <a:r>
              <a:rPr sz="1100" b="0" i="0">
                <a:solidFill>
                  <a:srgbClr val="2B2B2B"/>
                </a:solidFill>
                <a:latin typeface="Arial"/>
              </a:rPr>
              <a:t>Credit Limit Utilization gt 80 % (F1751), Credit Log (F2162)</a:t>
            </a:r>
          </a:p>
        </p:txBody>
      </p:sp>
      <p:sp>
        <p:nvSpPr>
          <p:cNvPr id="24" name="Rounded Rectangle 23"/>
          <p:cNvSpPr/>
          <p:nvPr/>
        </p:nvSpPr>
        <p:spPr>
          <a:xfrm>
            <a:off x="8046720" y="3749039"/>
            <a:ext cx="3566160" cy="242316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TextBox 24"/>
          <p:cNvSpPr txBox="1"/>
          <p:nvPr/>
        </p:nvSpPr>
        <p:spPr>
          <a:xfrm>
            <a:off x="8211312" y="3877055"/>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To decide</a:t>
            </a:r>
          </a:p>
        </p:txBody>
      </p:sp>
      <p:sp>
        <p:nvSpPr>
          <p:cNvPr id="26" name="TextBox 25"/>
          <p:cNvSpPr txBox="1"/>
          <p:nvPr/>
        </p:nvSpPr>
        <p:spPr>
          <a:xfrm>
            <a:off x="8211312" y="4297679"/>
            <a:ext cx="3236976" cy="17830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Use BD6 actively or master data only</a:t>
            </a:r>
          </a:p>
          <a:p>
            <a:pPr algn="l" marL="164592" indent="-164592">
              <a:spcAft>
                <a:spcPts val="300"/>
              </a:spcAft>
              <a:buChar char="•"/>
            </a:pPr>
            <a:r>
              <a:rPr sz="1100" b="0" i="0">
                <a:solidFill>
                  <a:srgbClr val="2B2B2B"/>
                </a:solidFill>
                <a:latin typeface="Arial"/>
              </a:rPr>
              <a:t>Credit segments, risk classes, limit level per customer group</a:t>
            </a:r>
          </a:p>
          <a:p>
            <a:pPr algn="l" marL="164592" indent="-164592">
              <a:spcAft>
                <a:spcPts val="300"/>
              </a:spcAft>
              <a:buChar char="•"/>
            </a:pPr>
            <a:r>
              <a:rPr sz="1100" b="0" i="0">
                <a:solidFill>
                  <a:srgbClr val="2B2B2B"/>
                </a:solidFill>
                <a:latin typeface="Arial"/>
              </a:rPr>
              <a:t>Who releases, who is credit analyst (employee record required)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1 · Customer master data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Demo flow and questions for the business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8</a:t>
            </a:r>
          </a:p>
        </p:txBody>
      </p:sp>
      <p:sp>
        <p:nvSpPr>
          <p:cNvPr id="6" name="TextBox 5"/>
          <p:cNvSpPr txBox="1"/>
          <p:nvPr/>
        </p:nvSpPr>
        <p:spPr>
          <a:xfrm>
            <a:off x="548640" y="1417320"/>
            <a:ext cx="566928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Demo in the system (approx. 20 minutes)</a:t>
            </a:r>
          </a:p>
        </p:txBody>
      </p:sp>
      <p:sp>
        <p:nvSpPr>
          <p:cNvPr id="7" name="Oval 6"/>
          <p:cNvSpPr/>
          <p:nvPr/>
        </p:nvSpPr>
        <p:spPr>
          <a:xfrm>
            <a:off x="548640" y="1874519"/>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051560" y="1828800"/>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Customer 10100001 in F0850A</a:t>
            </a:r>
          </a:p>
        </p:txBody>
      </p:sp>
      <p:sp>
        <p:nvSpPr>
          <p:cNvPr id="9" name="TextBox 8"/>
          <p:cNvSpPr txBox="1"/>
          <p:nvPr/>
        </p:nvSpPr>
        <p:spPr>
          <a:xfrm>
            <a:off x="1051560" y="2103120"/>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General data, Company Codes: Finance, Correspondence, Dunning Data; set and remove dunning block</a:t>
            </a:r>
          </a:p>
        </p:txBody>
      </p:sp>
      <p:sp>
        <p:nvSpPr>
          <p:cNvPr id="10" name="Oval 9"/>
          <p:cNvSpPr/>
          <p:nvPr/>
        </p:nvSpPr>
        <p:spPr>
          <a:xfrm>
            <a:off x="548640" y="2715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1" name="TextBox 10"/>
          <p:cNvSpPr txBox="1"/>
          <p:nvPr/>
        </p:nvSpPr>
        <p:spPr>
          <a:xfrm>
            <a:off x="1051560" y="2670048"/>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Roles in BP</a:t>
            </a:r>
          </a:p>
        </p:txBody>
      </p:sp>
      <p:sp>
        <p:nvSpPr>
          <p:cNvPr id="12" name="TextBox 11"/>
          <p:cNvSpPr txBox="1"/>
          <p:nvPr/>
        </p:nvSpPr>
        <p:spPr>
          <a:xfrm>
            <a:off x="1051560" y="2944368"/>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FLCU00 / FLCU01 / UKM000, grouping and number, Certificates tab</a:t>
            </a:r>
          </a:p>
        </p:txBody>
      </p:sp>
      <p:sp>
        <p:nvSpPr>
          <p:cNvPr id="13" name="Oval 12"/>
          <p:cNvSpPr/>
          <p:nvPr/>
        </p:nvSpPr>
        <p:spPr>
          <a:xfrm>
            <a:off x="548640" y="3557015"/>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4" name="TextBox 13"/>
          <p:cNvSpPr txBox="1"/>
          <p:nvPr/>
        </p:nvSpPr>
        <p:spPr>
          <a:xfrm>
            <a:off x="1051560" y="3511296"/>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Validation list F2640</a:t>
            </a:r>
          </a:p>
        </p:txBody>
      </p:sp>
      <p:sp>
        <p:nvSpPr>
          <p:cNvPr id="15" name="TextBox 14"/>
          <p:cNvSpPr txBox="1"/>
          <p:nvPr/>
        </p:nvSpPr>
        <p:spPr>
          <a:xfrm>
            <a:off x="1051560" y="3785615"/>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Find gaps: e-mail, accounting clerk, dunning procedure; navigate to items</a:t>
            </a:r>
          </a:p>
        </p:txBody>
      </p:sp>
      <p:sp>
        <p:nvSpPr>
          <p:cNvPr id="16" name="Oval 15"/>
          <p:cNvSpPr/>
          <p:nvPr/>
        </p:nvSpPr>
        <p:spPr>
          <a:xfrm>
            <a:off x="548640" y="4398264"/>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17" name="TextBox 16"/>
          <p:cNvSpPr txBox="1"/>
          <p:nvPr/>
        </p:nvSpPr>
        <p:spPr>
          <a:xfrm>
            <a:off x="1051560" y="4352544"/>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Credit profile F4596</a:t>
            </a:r>
          </a:p>
        </p:txBody>
      </p:sp>
      <p:sp>
        <p:nvSpPr>
          <p:cNvPr id="18" name="TextBox 17"/>
          <p:cNvSpPr txBox="1"/>
          <p:nvPr/>
        </p:nvSpPr>
        <p:spPr>
          <a:xfrm>
            <a:off x="1051560" y="4626864"/>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Customer 10100005: scoring, segment 1000, limit, valid to, credit analyst</a:t>
            </a:r>
          </a:p>
        </p:txBody>
      </p:sp>
      <p:sp>
        <p:nvSpPr>
          <p:cNvPr id="19" name="Oval 18"/>
          <p:cNvSpPr/>
          <p:nvPr/>
        </p:nvSpPr>
        <p:spPr>
          <a:xfrm>
            <a:off x="548640" y="5239512"/>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5</a:t>
            </a:r>
          </a:p>
        </p:txBody>
      </p:sp>
      <p:sp>
        <p:nvSpPr>
          <p:cNvPr id="20" name="TextBox 19"/>
          <p:cNvSpPr txBox="1"/>
          <p:nvPr/>
        </p:nvSpPr>
        <p:spPr>
          <a:xfrm>
            <a:off x="1051560" y="5193792"/>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Blocked order F5587A</a:t>
            </a:r>
          </a:p>
        </p:txBody>
      </p:sp>
      <p:sp>
        <p:nvSpPr>
          <p:cNvPr id="21" name="TextBox 20"/>
          <p:cNvSpPr txBox="1"/>
          <p:nvPr/>
        </p:nvSpPr>
        <p:spPr>
          <a:xfrm>
            <a:off x="1051560" y="5468112"/>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Open DCD, In Process, Release with note; show job F3748</a:t>
            </a:r>
          </a:p>
        </p:txBody>
      </p:sp>
      <p:sp>
        <p:nvSpPr>
          <p:cNvPr id="22" name="Rounded Rectangle 21"/>
          <p:cNvSpPr/>
          <p:nvPr/>
        </p:nvSpPr>
        <p:spPr>
          <a:xfrm>
            <a:off x="6583680" y="1417320"/>
            <a:ext cx="5029200" cy="4754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766560" y="1554480"/>
            <a:ext cx="46634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Fit-to-standard questions</a:t>
            </a:r>
          </a:p>
        </p:txBody>
      </p:sp>
      <p:sp>
        <p:nvSpPr>
          <p:cNvPr id="24" name="TextBox 23"/>
          <p:cNvSpPr txBox="1"/>
          <p:nvPr/>
        </p:nvSpPr>
        <p:spPr>
          <a:xfrm>
            <a:off x="6766560" y="1965960"/>
            <a:ext cx="4663440" cy="4114800"/>
          </a:xfrm>
          <a:prstGeom prst="rect">
            <a:avLst/>
          </a:prstGeom>
          <a:noFill/>
        </p:spPr>
        <p:txBody>
          <a:bodyPr wrap="square" anchor="t" lIns="45720" rIns="45720">
            <a:spAutoFit/>
          </a:bodyPr>
          <a:lstStyle/>
          <a:p>
            <a:pPr algn="l" marL="164592" indent="-164592">
              <a:spcAft>
                <a:spcPts val="500"/>
              </a:spcAft>
              <a:buChar char="•"/>
            </a:pPr>
            <a:r>
              <a:rPr sz="1150" b="0" i="0">
                <a:solidFill>
                  <a:srgbClr val="2B2B2B"/>
                </a:solidFill>
                <a:latin typeface="Arial"/>
              </a:rPr>
              <a:t>Who creates customers, in which sequence (sales, master data team, accounting)? Approval workflow?</a:t>
            </a:r>
          </a:p>
          <a:p>
            <a:pPr algn="l" marL="164592" indent="-164592">
              <a:spcAft>
                <a:spcPts val="500"/>
              </a:spcAft>
              <a:buChar char="•"/>
            </a:pPr>
            <a:r>
              <a:rPr sz="1150" b="0" i="0">
                <a:solidFill>
                  <a:srgbClr val="2B2B2B"/>
                </a:solidFill>
                <a:latin typeface="Arial"/>
              </a:rPr>
              <a:t>Internal numbers or legacy numbers (external) for migrated customers?</a:t>
            </a:r>
          </a:p>
          <a:p>
            <a:pPr algn="l" marL="164592" indent="-164592">
              <a:spcAft>
                <a:spcPts val="500"/>
              </a:spcAft>
              <a:buChar char="•"/>
            </a:pPr>
            <a:r>
              <a:rPr sz="1150" b="0" i="0">
                <a:solidFill>
                  <a:srgbClr val="2B2B2B"/>
                </a:solidFill>
                <a:latin typeface="Arial"/>
              </a:rPr>
              <a:t>Mandatory fields per role: e-mail, VAT number, bank, accounting clerk, dunning procedure. Duplicate check?</a:t>
            </a:r>
          </a:p>
          <a:p>
            <a:pPr algn="l" marL="164592" indent="-164592">
              <a:spcAft>
                <a:spcPts val="500"/>
              </a:spcAft>
              <a:buChar char="•"/>
            </a:pPr>
            <a:r>
              <a:rPr sz="1150" b="0" i="0">
                <a:solidFill>
                  <a:srgbClr val="2B2B2B"/>
                </a:solidFill>
                <a:latin typeface="Arial"/>
              </a:rPr>
              <a:t>Reconciliation accounts: domestic, foreign, affiliated companies, one-time customers</a:t>
            </a:r>
          </a:p>
          <a:p>
            <a:pPr algn="l" marL="164592" indent="-164592">
              <a:spcAft>
                <a:spcPts val="500"/>
              </a:spcAft>
              <a:buChar char="•"/>
            </a:pPr>
            <a:r>
              <a:rPr sz="1150" b="0" i="0">
                <a:solidFill>
                  <a:srgbClr val="2B2B2B"/>
                </a:solidFill>
                <a:latin typeface="Arial"/>
              </a:rPr>
              <a:t>Payment terms and payment methods (SEPA direct debit, mandates)</a:t>
            </a:r>
          </a:p>
          <a:p>
            <a:pPr algn="l" marL="164592" indent="-164592">
              <a:spcAft>
                <a:spcPts val="500"/>
              </a:spcAft>
              <a:buChar char="•"/>
            </a:pPr>
            <a:r>
              <a:rPr sz="1150" b="0" i="0">
                <a:solidFill>
                  <a:srgbClr val="2B2B2B"/>
                </a:solidFill>
                <a:latin typeface="Arial"/>
              </a:rPr>
              <a:t>Accounting clerk structure: customer groups, regions, alphabet</a:t>
            </a:r>
          </a:p>
          <a:p>
            <a:pPr algn="l" marL="164592" indent="-164592">
              <a:spcAft>
                <a:spcPts val="500"/>
              </a:spcAft>
              <a:buChar char="•"/>
            </a:pPr>
            <a:r>
              <a:rPr sz="1150" b="0" i="0">
                <a:solidFill>
                  <a:srgbClr val="2B2B2B"/>
                </a:solidFill>
                <a:latin typeface="Arial"/>
              </a:rPr>
              <a:t>Credit management: segments, risk classes, limits, release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TextBox 2"/>
          <p:cNvSpPr txBox="1"/>
          <p:nvPr/>
        </p:nvSpPr>
        <p:spPr>
          <a:xfrm>
            <a:off x="822960" y="2103120"/>
            <a:ext cx="10058400" cy="365760"/>
          </a:xfrm>
          <a:prstGeom prst="rect">
            <a:avLst/>
          </a:prstGeom>
          <a:noFill/>
        </p:spPr>
        <p:txBody>
          <a:bodyPr wrap="square" anchor="t" lIns="45720" rIns="45720">
            <a:spAutoFit/>
          </a:bodyPr>
          <a:lstStyle/>
          <a:p>
            <a:pPr algn="l">
              <a:spcAft>
                <a:spcPts val="400"/>
              </a:spcAft>
            </a:pPr>
            <a:r>
              <a:rPr sz="1400" b="1" i="0">
                <a:solidFill>
                  <a:srgbClr val="C6DCE2"/>
                </a:solidFill>
                <a:latin typeface="Arial"/>
              </a:rPr>
              <a:t>Topic 2</a:t>
            </a:r>
          </a:p>
        </p:txBody>
      </p:sp>
      <p:sp>
        <p:nvSpPr>
          <p:cNvPr id="4" name="TextBox 3"/>
          <p:cNvSpPr txBox="1"/>
          <p:nvPr/>
        </p:nvSpPr>
        <p:spPr>
          <a:xfrm>
            <a:off x="822960" y="2514600"/>
            <a:ext cx="10515600" cy="1188720"/>
          </a:xfrm>
          <a:prstGeom prst="rect">
            <a:avLst/>
          </a:prstGeom>
          <a:noFill/>
        </p:spPr>
        <p:txBody>
          <a:bodyPr wrap="square" anchor="ctr" lIns="45720" rIns="45720">
            <a:spAutoFit/>
          </a:bodyPr>
          <a:lstStyle/>
          <a:p>
            <a:pPr algn="l">
              <a:spcAft>
                <a:spcPts val="400"/>
              </a:spcAft>
            </a:pPr>
            <a:r>
              <a:rPr sz="3600" b="1" i="0">
                <a:solidFill>
                  <a:srgbClr val="FFFFFF"/>
                </a:solidFill>
                <a:latin typeface="Arial"/>
              </a:rPr>
              <a:t>Manual customer invoice without sales order</a:t>
            </a:r>
          </a:p>
        </p:txBody>
      </p:sp>
      <p:sp>
        <p:nvSpPr>
          <p:cNvPr id="5" name="TextBox 4"/>
          <p:cNvSpPr txBox="1"/>
          <p:nvPr/>
        </p:nvSpPr>
        <p:spPr>
          <a:xfrm>
            <a:off x="822960" y="3794760"/>
            <a:ext cx="10058400" cy="1097280"/>
          </a:xfrm>
          <a:prstGeom prst="rect">
            <a:avLst/>
          </a:prstGeom>
          <a:noFill/>
        </p:spPr>
        <p:txBody>
          <a:bodyPr wrap="square" anchor="t" lIns="45720" rIns="45720">
            <a:spAutoFit/>
          </a:bodyPr>
          <a:lstStyle/>
          <a:p>
            <a:pPr algn="l">
              <a:spcAft>
                <a:spcPts val="400"/>
              </a:spcAft>
            </a:pPr>
            <a:r>
              <a:rPr sz="1600" b="0" i="0">
                <a:solidFill>
                  <a:srgbClr val="FFFFFF"/>
                </a:solidFill>
                <a:latin typeface="Arial"/>
              </a:rPr>
              <a:t>For receivables with no sales document behind them: recharges, rents, corrections, down payment requests. Entered directly in financial accounting with tax, due date, revenue assignment and invoice output.</a:t>
            </a:r>
          </a:p>
        </p:txBody>
      </p:sp>
      <p:sp>
        <p:nvSpPr>
          <p:cNvPr id="6" name="TextBox 5"/>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C6DCE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2 · Manual invoice · Theory</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Why the invoice without sales order reference exists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10</a:t>
            </a:r>
          </a:p>
        </p:txBody>
      </p:sp>
      <p:sp>
        <p:nvSpPr>
          <p:cNvPr id="6" name="TextBox 5"/>
          <p:cNvSpPr txBox="1"/>
          <p:nvPr/>
        </p:nvSpPr>
        <p:spPr>
          <a:xfrm>
            <a:off x="548640" y="1417320"/>
            <a:ext cx="548640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Typical cases</a:t>
            </a:r>
          </a:p>
        </p:txBody>
      </p:sp>
      <p:sp>
        <p:nvSpPr>
          <p:cNvPr id="7" name="Rounded Rectangle 6"/>
          <p:cNvSpPr/>
          <p:nvPr/>
        </p:nvSpPr>
        <p:spPr>
          <a:xfrm>
            <a:off x="548640" y="182880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713232" y="1956816"/>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Recharges</a:t>
            </a:r>
          </a:p>
        </p:txBody>
      </p:sp>
      <p:sp>
        <p:nvSpPr>
          <p:cNvPr id="9" name="TextBox 8"/>
          <p:cNvSpPr txBox="1"/>
          <p:nvPr/>
        </p:nvSpPr>
        <p:spPr>
          <a:xfrm>
            <a:off x="713232" y="2377440"/>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Travel costs, material, damages, ancillary costs to customers or partners</a:t>
            </a:r>
          </a:p>
        </p:txBody>
      </p:sp>
      <p:sp>
        <p:nvSpPr>
          <p:cNvPr id="10" name="Rounded Rectangle 9"/>
          <p:cNvSpPr/>
          <p:nvPr/>
        </p:nvSpPr>
        <p:spPr>
          <a:xfrm>
            <a:off x="3337560" y="182880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3502152" y="1956816"/>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Rents and flat fees</a:t>
            </a:r>
          </a:p>
        </p:txBody>
      </p:sp>
      <p:sp>
        <p:nvSpPr>
          <p:cNvPr id="12" name="TextBox 11"/>
          <p:cNvSpPr txBox="1"/>
          <p:nvPr/>
        </p:nvSpPr>
        <p:spPr>
          <a:xfrm>
            <a:off x="3502152" y="2377440"/>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Lease, maintenance, fees without sales order</a:t>
            </a:r>
          </a:p>
        </p:txBody>
      </p:sp>
      <p:sp>
        <p:nvSpPr>
          <p:cNvPr id="13" name="Rounded Rectangle 12"/>
          <p:cNvSpPr/>
          <p:nvPr/>
        </p:nvSpPr>
        <p:spPr>
          <a:xfrm>
            <a:off x="548640" y="324612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713232" y="3374136"/>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Other sales</a:t>
            </a:r>
          </a:p>
        </p:txBody>
      </p:sp>
      <p:sp>
        <p:nvSpPr>
          <p:cNvPr id="15" name="TextBox 14"/>
          <p:cNvSpPr txBox="1"/>
          <p:nvPr/>
        </p:nvSpPr>
        <p:spPr>
          <a:xfrm>
            <a:off x="713232" y="3794759"/>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Fixed assets, items outside the product range, one-off business</a:t>
            </a:r>
          </a:p>
        </p:txBody>
      </p:sp>
      <p:sp>
        <p:nvSpPr>
          <p:cNvPr id="16" name="Rounded Rectangle 15"/>
          <p:cNvSpPr/>
          <p:nvPr/>
        </p:nvSpPr>
        <p:spPr>
          <a:xfrm>
            <a:off x="3337560" y="324612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3502152" y="3374136"/>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Systems without interface</a:t>
            </a:r>
          </a:p>
        </p:txBody>
      </p:sp>
      <p:sp>
        <p:nvSpPr>
          <p:cNvPr id="18" name="TextBox 17"/>
          <p:cNvSpPr txBox="1"/>
          <p:nvPr/>
        </p:nvSpPr>
        <p:spPr>
          <a:xfrm>
            <a:off x="3502152" y="3794759"/>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Invoices from source systems that do not (yet) arrive automatically</a:t>
            </a:r>
          </a:p>
        </p:txBody>
      </p:sp>
      <p:sp>
        <p:nvSpPr>
          <p:cNvPr id="19" name="Rounded Rectangle 18"/>
          <p:cNvSpPr/>
          <p:nvPr/>
        </p:nvSpPr>
        <p:spPr>
          <a:xfrm>
            <a:off x="548640" y="466344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713232" y="4791455"/>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Corrections</a:t>
            </a:r>
          </a:p>
        </p:txBody>
      </p:sp>
      <p:sp>
        <p:nvSpPr>
          <p:cNvPr id="21" name="TextBox 20"/>
          <p:cNvSpPr txBox="1"/>
          <p:nvPr/>
        </p:nvSpPr>
        <p:spPr>
          <a:xfrm>
            <a:off x="713232" y="5212079"/>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Subsequent charges, manual credit memo, transfer between customers</a:t>
            </a:r>
          </a:p>
        </p:txBody>
      </p:sp>
      <p:sp>
        <p:nvSpPr>
          <p:cNvPr id="22" name="Rounded Rectangle 21"/>
          <p:cNvSpPr/>
          <p:nvPr/>
        </p:nvSpPr>
        <p:spPr>
          <a:xfrm>
            <a:off x="3337560" y="466344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3502152" y="4791455"/>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Down payment request</a:t>
            </a:r>
          </a:p>
        </p:txBody>
      </p:sp>
      <p:sp>
        <p:nvSpPr>
          <p:cNvPr id="24" name="TextBox 23"/>
          <p:cNvSpPr txBox="1"/>
          <p:nvPr/>
        </p:nvSpPr>
        <p:spPr>
          <a:xfrm>
            <a:off x="3502152" y="5212079"/>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Payment before service, special G/L indicator A</a:t>
            </a:r>
          </a:p>
        </p:txBody>
      </p:sp>
      <p:sp>
        <p:nvSpPr>
          <p:cNvPr id="25" name="TextBox 24"/>
          <p:cNvSpPr txBox="1"/>
          <p:nvPr/>
        </p:nvSpPr>
        <p:spPr>
          <a:xfrm>
            <a:off x="6309360" y="1417320"/>
            <a:ext cx="530352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What the process ensures</a:t>
            </a:r>
          </a:p>
        </p:txBody>
      </p:sp>
      <p:sp>
        <p:nvSpPr>
          <p:cNvPr id="26" name="TextBox 25"/>
          <p:cNvSpPr txBox="1"/>
          <p:nvPr/>
        </p:nvSpPr>
        <p:spPr>
          <a:xfrm>
            <a:off x="6309360" y="1828800"/>
            <a:ext cx="5303520" cy="3017520"/>
          </a:xfrm>
          <a:prstGeom prst="rect">
            <a:avLst/>
          </a:prstGeom>
          <a:noFill/>
        </p:spPr>
        <p:txBody>
          <a:bodyPr wrap="square" anchor="t" lIns="45720" rIns="45720">
            <a:spAutoFit/>
          </a:bodyPr>
          <a:lstStyle/>
          <a:p>
            <a:pPr algn="l" marL="164592" indent="-164592">
              <a:spcAft>
                <a:spcPts val="600"/>
              </a:spcAft>
              <a:buChar char="•"/>
            </a:pPr>
            <a:r>
              <a:rPr sz="1200" b="1" i="0">
                <a:solidFill>
                  <a:srgbClr val="2B2B2B"/>
                </a:solidFill>
                <a:latin typeface="Arial"/>
              </a:rPr>
              <a:t>Completeness: </a:t>
            </a:r>
            <a:r>
              <a:rPr sz="1200" b="0" i="0">
                <a:solidFill>
                  <a:srgbClr val="2B2B2B"/>
                </a:solidFill>
                <a:latin typeface="Arial"/>
              </a:rPr>
              <a:t>every receivable on customer account, revenue account and tax, in the right period</a:t>
            </a:r>
          </a:p>
          <a:p>
            <a:pPr algn="l" marL="164592" indent="-164592">
              <a:spcAft>
                <a:spcPts val="600"/>
              </a:spcAft>
              <a:buChar char="•"/>
            </a:pPr>
            <a:r>
              <a:rPr sz="1200" b="1" i="0">
                <a:solidFill>
                  <a:srgbClr val="2B2B2B"/>
                </a:solidFill>
                <a:latin typeface="Arial"/>
              </a:rPr>
              <a:t>Due date: </a:t>
            </a:r>
            <a:r>
              <a:rPr sz="1200" b="0" i="0">
                <a:solidFill>
                  <a:srgbClr val="2B2B2B"/>
                </a:solidFill>
                <a:latin typeface="Arial"/>
              </a:rPr>
              <a:t>baseline date plus payment terms gives the net due date, the basis for dunning, interest, liquidity, DSO</a:t>
            </a:r>
          </a:p>
          <a:p>
            <a:pPr algn="l" marL="164592" indent="-164592">
              <a:spcAft>
                <a:spcPts val="600"/>
              </a:spcAft>
              <a:buChar char="•"/>
            </a:pPr>
            <a:r>
              <a:rPr sz="1200" b="1" i="0">
                <a:solidFill>
                  <a:srgbClr val="2B2B2B"/>
                </a:solidFill>
                <a:latin typeface="Arial"/>
              </a:rPr>
              <a:t>Profitability: </a:t>
            </a:r>
            <a:r>
              <a:rPr sz="1200" b="0" i="0">
                <a:solidFill>
                  <a:srgbClr val="2B2B2B"/>
                </a:solidFill>
                <a:latin typeface="Arial"/>
              </a:rPr>
              <a:t>revenue is assigned to a profitability segment (customer, profit center, product); that is why the system enforces the assignment</a:t>
            </a:r>
          </a:p>
          <a:p>
            <a:pPr algn="l" marL="164592" indent="-164592">
              <a:spcAft>
                <a:spcPts val="600"/>
              </a:spcAft>
              <a:buChar char="•"/>
            </a:pPr>
            <a:r>
              <a:rPr sz="1200" b="1" i="0">
                <a:solidFill>
                  <a:srgbClr val="2B2B2B"/>
                </a:solidFill>
                <a:latin typeface="Arial"/>
              </a:rPr>
              <a:t>Document principle: </a:t>
            </a:r>
            <a:r>
              <a:rPr sz="1200" b="0" i="0">
                <a:solidFill>
                  <a:srgbClr val="2B2B2B"/>
                </a:solidFill>
                <a:latin typeface="Arial"/>
              </a:rPr>
              <a:t>reference, document date and posting date make the item unique and matchable at payment receipt</a:t>
            </a:r>
          </a:p>
          <a:p>
            <a:pPr algn="l" marL="164592" indent="-164592">
              <a:spcAft>
                <a:spcPts val="600"/>
              </a:spcAft>
              <a:buChar char="•"/>
            </a:pPr>
            <a:r>
              <a:rPr sz="1200" b="1" i="0">
                <a:solidFill>
                  <a:srgbClr val="2B2B2B"/>
                </a:solidFill>
                <a:latin typeface="Arial"/>
              </a:rPr>
              <a:t>Invoice output: </a:t>
            </a:r>
            <a:r>
              <a:rPr sz="1200" b="0" i="0">
                <a:solidFill>
                  <a:srgbClr val="2B2B2B"/>
                </a:solidFill>
                <a:latin typeface="Arial"/>
              </a:rPr>
              <a:t>the manual invoice also reaches the customer as PDF by e-mail or print</a:t>
            </a:r>
          </a:p>
        </p:txBody>
      </p:sp>
      <p:sp>
        <p:nvSpPr>
          <p:cNvPr id="27" name="Rounded Rectangle 26"/>
          <p:cNvSpPr/>
          <p:nvPr/>
        </p:nvSpPr>
        <p:spPr>
          <a:xfrm>
            <a:off x="6309360" y="4983480"/>
            <a:ext cx="5303520" cy="11887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spcAft>
                <a:spcPts val="200"/>
              </a:spcAft>
            </a:pPr>
            <a:r>
              <a:rPr sz="1200" b="1" i="0">
                <a:solidFill>
                  <a:srgbClr val="1F4E5F"/>
                </a:solidFill>
                <a:latin typeface="Arial"/>
              </a:rPr>
              <a:t>Control question for the workshop</a:t>
            </a:r>
          </a:p>
          <a:p>
            <a:pPr algn="l">
              <a:spcAft>
                <a:spcPts val="200"/>
              </a:spcAft>
            </a:pPr>
            <a:r>
              <a:rPr sz="1150" b="0" i="0">
                <a:solidFill>
                  <a:srgbClr val="2B2B2B"/>
                </a:solidFill>
                <a:latin typeface="Arial"/>
              </a:rPr>
              <a:t>What share of invoices is manual today? A high share points to missing sales processes or missing interfaces.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2 · Manual invoice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Flow in Create Outgoing Invoices (FB70) and posting logic</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11</a:t>
            </a:r>
          </a:p>
        </p:txBody>
      </p:sp>
      <p:sp>
        <p:nvSpPr>
          <p:cNvPr id="6" name="Pentagon 5"/>
          <p:cNvSpPr/>
          <p:nvPr/>
        </p:nvSpPr>
        <p:spPr>
          <a:xfrm>
            <a:off x="548640" y="1417320"/>
            <a:ext cx="1798320"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Company code</a:t>
            </a:r>
          </a:p>
        </p:txBody>
      </p:sp>
      <p:sp>
        <p:nvSpPr>
          <p:cNvPr id="7" name="Chevron 6"/>
          <p:cNvSpPr/>
          <p:nvPr/>
        </p:nvSpPr>
        <p:spPr>
          <a:xfrm>
            <a:off x="2401824"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Basic data</a:t>
            </a:r>
          </a:p>
        </p:txBody>
      </p:sp>
      <p:sp>
        <p:nvSpPr>
          <p:cNvPr id="8" name="Chevron 7"/>
          <p:cNvSpPr/>
          <p:nvPr/>
        </p:nvSpPr>
        <p:spPr>
          <a:xfrm>
            <a:off x="4255007"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Payment</a:t>
            </a:r>
          </a:p>
        </p:txBody>
      </p:sp>
      <p:sp>
        <p:nvSpPr>
          <p:cNvPr id="9" name="Chevron 8"/>
          <p:cNvSpPr/>
          <p:nvPr/>
        </p:nvSpPr>
        <p:spPr>
          <a:xfrm>
            <a:off x="6108191"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Line item</a:t>
            </a:r>
          </a:p>
        </p:txBody>
      </p:sp>
      <p:sp>
        <p:nvSpPr>
          <p:cNvPr id="10" name="Chevron 9"/>
          <p:cNvSpPr/>
          <p:nvPr/>
        </p:nvSpPr>
        <p:spPr>
          <a:xfrm>
            <a:off x="7961375"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Profitability segment</a:t>
            </a:r>
          </a:p>
        </p:txBody>
      </p:sp>
      <p:sp>
        <p:nvSpPr>
          <p:cNvPr id="11" name="Chevron 10"/>
          <p:cNvSpPr/>
          <p:nvPr/>
        </p:nvSpPr>
        <p:spPr>
          <a:xfrm>
            <a:off x="9814560"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Simulate, post</a:t>
            </a:r>
          </a:p>
        </p:txBody>
      </p:sp>
      <p:sp>
        <p:nvSpPr>
          <p:cNvPr id="12" name="TextBox 11"/>
          <p:cNvSpPr txBox="1"/>
          <p:nvPr/>
        </p:nvSpPr>
        <p:spPr>
          <a:xfrm>
            <a:off x="548640"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Select 1010</a:t>
            </a:r>
          </a:p>
        </p:txBody>
      </p:sp>
      <p:sp>
        <p:nvSpPr>
          <p:cNvPr id="13" name="TextBox 12"/>
          <p:cNvSpPr txBox="1"/>
          <p:nvPr/>
        </p:nvSpPr>
        <p:spPr>
          <a:xfrm>
            <a:off x="2401824"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Customer, invoice and posting date, reference, gross amount, currency, calculate tax</a:t>
            </a:r>
          </a:p>
        </p:txBody>
      </p:sp>
      <p:sp>
        <p:nvSpPr>
          <p:cNvPr id="14" name="TextBox 13"/>
          <p:cNvSpPr txBox="1"/>
          <p:nvPr/>
        </p:nvSpPr>
        <p:spPr>
          <a:xfrm>
            <a:off x="4255007"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Baseline date, payment terms (0001 due immediately), payment method optional</a:t>
            </a:r>
          </a:p>
        </p:txBody>
      </p:sp>
      <p:sp>
        <p:nvSpPr>
          <p:cNvPr id="15" name="TextBox 14"/>
          <p:cNvSpPr txBox="1"/>
          <p:nvPr/>
        </p:nvSpPr>
        <p:spPr>
          <a:xfrm>
            <a:off x="6108191"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G/L account 41000400 revenue, credit, amount, output tax code</a:t>
            </a:r>
          </a:p>
        </p:txBody>
      </p:sp>
      <p:sp>
        <p:nvSpPr>
          <p:cNvPr id="16" name="TextBox 15"/>
          <p:cNvSpPr txBox="1"/>
          <p:nvPr/>
        </p:nvSpPr>
        <p:spPr>
          <a:xfrm>
            <a:off x="7961375"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Customer and profit center, derivation, apply</a:t>
            </a:r>
          </a:p>
        </p:txBody>
      </p:sp>
      <p:sp>
        <p:nvSpPr>
          <p:cNvPr id="17" name="TextBox 16"/>
          <p:cNvSpPr txBox="1"/>
          <p:nvPr/>
        </p:nvSpPr>
        <p:spPr>
          <a:xfrm>
            <a:off x="9814560"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Journal entry with document type DR, document number in the success message</a:t>
            </a:r>
          </a:p>
        </p:txBody>
      </p:sp>
      <p:sp>
        <p:nvSpPr>
          <p:cNvPr id="18" name="TextBox 17"/>
          <p:cNvSpPr txBox="1"/>
          <p:nvPr/>
        </p:nvSpPr>
        <p:spPr>
          <a:xfrm>
            <a:off x="548640" y="3611880"/>
            <a:ext cx="548640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Posting logic</a:t>
            </a:r>
          </a:p>
        </p:txBody>
      </p:sp>
      <p:graphicFrame>
        <p:nvGraphicFramePr>
          <p:cNvPr id="19" name="Table 18"/>
          <p:cNvGraphicFramePr>
            <a:graphicFrameLocks noGrp="1"/>
          </p:cNvGraphicFramePr>
          <p:nvPr/>
        </p:nvGraphicFramePr>
        <p:xfrm>
          <a:off x="548640" y="4023360"/>
          <a:ext cx="5486400" cy="1536192"/>
        </p:xfrm>
        <a:graphic>
          <a:graphicData uri="http://schemas.openxmlformats.org/drawingml/2006/table">
            <a:tbl>
              <a:tblPr firstRow="1" bandRow="0">
                <a:tableStyleId>{5940675A-B579-460E-94D1-54222C63F5DA}</a:tableStyleId>
              </a:tblPr>
              <a:tblGrid>
                <a:gridCol w="2103120"/>
                <a:gridCol w="777240"/>
                <a:gridCol w="777240"/>
                <a:gridCol w="1828800"/>
              </a:tblGrid>
              <a:tr h="384048">
                <a:tc>
                  <a:txBody>
                    <a:bodyPr wrap="square"/>
                    <a:lstStyle/>
                    <a:p>
                      <a:pPr>
                        <a:spcAft>
                          <a:spcPts val="100"/>
                        </a:spcAft>
                      </a:pPr>
                      <a:r>
                        <a:rPr sz="1150" b="1" i="0">
                          <a:solidFill>
                            <a:srgbClr val="FFFFFF"/>
                          </a:solidFill>
                          <a:latin typeface="Arial"/>
                        </a:rPr>
                        <a:t>Line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Debit</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Credit</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Source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384048">
                <a:tc>
                  <a:txBody>
                    <a:bodyPr wrap="square"/>
                    <a:lstStyle/>
                    <a:p>
                      <a:pPr>
                        <a:spcAft>
                          <a:spcPts val="100"/>
                        </a:spcAft>
                      </a:pPr>
                      <a:r>
                        <a:rPr sz="1100" b="0" i="0">
                          <a:solidFill>
                            <a:srgbClr val="2B2B2B"/>
                          </a:solidFill>
                          <a:latin typeface="Arial"/>
                        </a:rPr>
                        <a:t>Customer (receivables reconciliation account)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Gross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Customer master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384048">
                <a:tc>
                  <a:txBody>
                    <a:bodyPr wrap="square"/>
                    <a:lstStyle/>
                    <a:p>
                      <a:pPr>
                        <a:spcAft>
                          <a:spcPts val="100"/>
                        </a:spcAft>
                      </a:pPr>
                      <a:r>
                        <a:rPr sz="1100" b="0" i="0">
                          <a:solidFill>
                            <a:srgbClr val="2B2B2B"/>
                          </a:solidFill>
                          <a:latin typeface="Arial"/>
                        </a:rPr>
                        <a:t>Revenue 41000400</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Net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Entry, profitability segment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384048">
                <a:tc>
                  <a:txBody>
                    <a:bodyPr wrap="square"/>
                    <a:lstStyle/>
                    <a:p>
                      <a:pPr>
                        <a:spcAft>
                          <a:spcPts val="100"/>
                        </a:spcAft>
                      </a:pPr>
                      <a:r>
                        <a:rPr sz="1100" b="0" i="0">
                          <a:solidFill>
                            <a:srgbClr val="2B2B2B"/>
                          </a:solidFill>
                          <a:latin typeface="Arial"/>
                        </a:rPr>
                        <a:t>Output tax</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Tax</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Tax code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
        <p:nvSpPr>
          <p:cNvPr id="20" name="Rounded Rectangle 19"/>
          <p:cNvSpPr/>
          <p:nvPr/>
        </p:nvSpPr>
        <p:spPr>
          <a:xfrm>
            <a:off x="6309360" y="3611880"/>
            <a:ext cx="5303520" cy="25603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TextBox 20"/>
          <p:cNvSpPr txBox="1"/>
          <p:nvPr/>
        </p:nvSpPr>
        <p:spPr>
          <a:xfrm>
            <a:off x="6473952" y="3739896"/>
            <a:ext cx="500176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Variants customers ask about</a:t>
            </a:r>
          </a:p>
        </p:txBody>
      </p:sp>
      <p:sp>
        <p:nvSpPr>
          <p:cNvPr id="22" name="TextBox 21"/>
          <p:cNvSpPr txBox="1"/>
          <p:nvPr/>
        </p:nvSpPr>
        <p:spPr>
          <a:xfrm>
            <a:off x="6473952" y="4160520"/>
            <a:ext cx="4974336" cy="1920239"/>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Park and post later; no approval workflow for customer invoices, four-eyes principle is organizational</a:t>
            </a:r>
          </a:p>
          <a:p>
            <a:pPr algn="l" marL="164592" indent="-164592">
              <a:spcAft>
                <a:spcPts val="300"/>
              </a:spcAft>
              <a:buChar char="•"/>
            </a:pPr>
            <a:r>
              <a:rPr sz="1100" b="0" i="0">
                <a:solidFill>
                  <a:srgbClr val="2B2B2B"/>
                </a:solidFill>
                <a:latin typeface="Arial"/>
              </a:rPr>
              <a:t>Foreign currency, alternative payer or bill-to party</a:t>
            </a:r>
          </a:p>
          <a:p>
            <a:pPr algn="l" marL="164592" indent="-164592">
              <a:spcAft>
                <a:spcPts val="300"/>
              </a:spcAft>
              <a:buChar char="•"/>
            </a:pPr>
            <a:r>
              <a:rPr sz="1100" b="0" i="0">
                <a:solidFill>
                  <a:srgbClr val="2B2B2B"/>
                </a:solidFill>
                <a:latin typeface="Arial"/>
              </a:rPr>
              <a:t>Down payment request (F1689) instead of invoice, clearing against the final invoice</a:t>
            </a:r>
          </a:p>
          <a:p>
            <a:pPr algn="l" marL="164592" indent="-164592">
              <a:spcAft>
                <a:spcPts val="300"/>
              </a:spcAft>
              <a:buChar char="•"/>
            </a:pPr>
            <a:r>
              <a:rPr sz="1100" b="0" i="0">
                <a:solidFill>
                  <a:srgbClr val="2B2B2B"/>
                </a:solidFill>
                <a:latin typeface="Arial"/>
              </a:rPr>
              <a:t>Cash discount via payment terms, partial payment and residual items only at payment receipt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2 · Manual invoice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Invoice output from FI and the apps after posting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12</a:t>
            </a:r>
          </a:p>
        </p:txBody>
      </p:sp>
      <p:sp>
        <p:nvSpPr>
          <p:cNvPr id="6" name="TextBox 5"/>
          <p:cNvSpPr txBox="1"/>
          <p:nvPr/>
        </p:nvSpPr>
        <p:spPr>
          <a:xfrm>
            <a:off x="548640" y="1417320"/>
            <a:ext cx="110642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Correspondence SAP21 (FI Customer Invoice): output control via BRF+ for the object “Accounting Document”</a:t>
            </a:r>
          </a:p>
        </p:txBody>
      </p:sp>
      <p:sp>
        <p:nvSpPr>
          <p:cNvPr id="7" name="Pentagon 6"/>
          <p:cNvSpPr/>
          <p:nvPr/>
        </p:nvSpPr>
        <p:spPr>
          <a:xfrm>
            <a:off x="548640" y="1874519"/>
            <a:ext cx="1798320" cy="73152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Output type INVOICE</a:t>
            </a:r>
          </a:p>
        </p:txBody>
      </p:sp>
      <p:sp>
        <p:nvSpPr>
          <p:cNvPr id="8" name="Chevron 7"/>
          <p:cNvSpPr/>
          <p:nvPr/>
        </p:nvSpPr>
        <p:spPr>
          <a:xfrm>
            <a:off x="2401824"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Receiver role BP</a:t>
            </a:r>
          </a:p>
        </p:txBody>
      </p:sp>
      <p:sp>
        <p:nvSpPr>
          <p:cNvPr id="9" name="Chevron 8"/>
          <p:cNvSpPr/>
          <p:nvPr/>
        </p:nvSpPr>
        <p:spPr>
          <a:xfrm>
            <a:off x="4255007"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Channel PRINT / EMAIL</a:t>
            </a:r>
          </a:p>
        </p:txBody>
      </p:sp>
      <p:sp>
        <p:nvSpPr>
          <p:cNvPr id="10" name="Chevron 9"/>
          <p:cNvSpPr/>
          <p:nvPr/>
        </p:nvSpPr>
        <p:spPr>
          <a:xfrm>
            <a:off x="6108191"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Form FIN_FO_CORR_ FICUS_INV</a:t>
            </a:r>
          </a:p>
        </p:txBody>
      </p:sp>
      <p:sp>
        <p:nvSpPr>
          <p:cNvPr id="11" name="Chevron 10"/>
          <p:cNvSpPr/>
          <p:nvPr/>
        </p:nvSpPr>
        <p:spPr>
          <a:xfrm>
            <a:off x="7961375"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E-mail FIN_CUSINV_ EMAIL_TEMPL</a:t>
            </a:r>
          </a:p>
        </p:txBody>
      </p:sp>
      <p:sp>
        <p:nvSpPr>
          <p:cNvPr id="12" name="Chevron 11"/>
          <p:cNvSpPr/>
          <p:nvPr/>
        </p:nvSpPr>
        <p:spPr>
          <a:xfrm>
            <a:off x="9814560"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Output relevance, printer</a:t>
            </a:r>
          </a:p>
        </p:txBody>
      </p:sp>
      <p:sp>
        <p:nvSpPr>
          <p:cNvPr id="13" name="TextBox 12"/>
          <p:cNvSpPr txBox="1"/>
          <p:nvPr/>
        </p:nvSpPr>
        <p:spPr>
          <a:xfrm>
            <a:off x="548640" y="2697480"/>
            <a:ext cx="11064240" cy="64008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Triggered via Create Correspondence (F0744A) or directly from Manage Journal Entries (F0717A): preview, print, e-mail. Evidence in Display Correspondence History (F2934). Other correspondence types: SAP06 account statement, SAP08 open item list, SAP09 internal document, SAP13 customer statement.</a:t>
            </a:r>
          </a:p>
        </p:txBody>
      </p:sp>
      <p:graphicFrame>
        <p:nvGraphicFramePr>
          <p:cNvPr id="14" name="Table 13"/>
          <p:cNvGraphicFramePr>
            <a:graphicFrameLocks noGrp="1"/>
          </p:cNvGraphicFramePr>
          <p:nvPr/>
        </p:nvGraphicFramePr>
        <p:xfrm>
          <a:off x="548640" y="3520440"/>
          <a:ext cx="11064240" cy="2560320"/>
        </p:xfrm>
        <a:graphic>
          <a:graphicData uri="http://schemas.openxmlformats.org/drawingml/2006/table">
            <a:tbl>
              <a:tblPr firstRow="1" bandRow="0">
                <a:tableStyleId>{5940675A-B579-460E-94D1-54222C63F5DA}</a:tableStyleId>
              </a:tblPr>
              <a:tblGrid>
                <a:gridCol w="3657600"/>
                <a:gridCol w="2194560"/>
                <a:gridCol w="5212080"/>
              </a:tblGrid>
              <a:tr h="365760">
                <a:tc>
                  <a:txBody>
                    <a:bodyPr wrap="square"/>
                    <a:lstStyle/>
                    <a:p>
                      <a:pPr>
                        <a:spcAft>
                          <a:spcPts val="100"/>
                        </a:spcAft>
                      </a:pPr>
                      <a:r>
                        <a:rPr sz="1150" b="1" i="0">
                          <a:solidFill>
                            <a:srgbClr val="FFFFFF"/>
                          </a:solidFill>
                          <a:latin typeface="Arial"/>
                        </a:rPr>
                        <a:t>App</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Role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Purpose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Manage Customer Line Items (F0711)</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Open, cleared, all items; due date, dunning data, payment block; Edit Line Items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Display Customer Balances (F0703A)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Balances per period, special G/L, comparison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Display Process Flow – AR (F2692)</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Chain order, delivery, billing document, journal entry, clearing</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Manage Journal Entries (F0717A)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GL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Display document, correspondence, reversal with reason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Reset Cleared Items (F2223)</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Undo a wrong clearing, Reset and Reverse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Display Item Change Log – Customer (F7796)</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Manager</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Who changed which item when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2 · Manual invoice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Demo flow and questions for the business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13</a:t>
            </a:r>
          </a:p>
        </p:txBody>
      </p:sp>
      <p:sp>
        <p:nvSpPr>
          <p:cNvPr id="6" name="TextBox 5"/>
          <p:cNvSpPr txBox="1"/>
          <p:nvPr/>
        </p:nvSpPr>
        <p:spPr>
          <a:xfrm>
            <a:off x="548640" y="1417320"/>
            <a:ext cx="566928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Demo in the system (approx. 20 minutes)</a:t>
            </a:r>
          </a:p>
        </p:txBody>
      </p:sp>
      <p:sp>
        <p:nvSpPr>
          <p:cNvPr id="7" name="Oval 6"/>
          <p:cNvSpPr/>
          <p:nvPr/>
        </p:nvSpPr>
        <p:spPr>
          <a:xfrm>
            <a:off x="548640" y="1874519"/>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051560" y="1828800"/>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Enter invoice in FB70</a:t>
            </a:r>
          </a:p>
        </p:txBody>
      </p:sp>
      <p:sp>
        <p:nvSpPr>
          <p:cNvPr id="9" name="TextBox 8"/>
          <p:cNvSpPr txBox="1"/>
          <p:nvPr/>
        </p:nvSpPr>
        <p:spPr>
          <a:xfrm>
            <a:off x="1051560" y="2103120"/>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Customer 10100001, 1,190 EUR gross, payment terms 0001, revenue 41000400, tax 19 %, profitability segment</a:t>
            </a:r>
          </a:p>
        </p:txBody>
      </p:sp>
      <p:sp>
        <p:nvSpPr>
          <p:cNvPr id="10" name="Oval 9"/>
          <p:cNvSpPr/>
          <p:nvPr/>
        </p:nvSpPr>
        <p:spPr>
          <a:xfrm>
            <a:off x="548640" y="2715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1" name="TextBox 10"/>
          <p:cNvSpPr txBox="1"/>
          <p:nvPr/>
        </p:nvSpPr>
        <p:spPr>
          <a:xfrm>
            <a:off x="1051560" y="2670048"/>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Check document in F0717A</a:t>
            </a:r>
          </a:p>
        </p:txBody>
      </p:sp>
      <p:sp>
        <p:nvSpPr>
          <p:cNvPr id="12" name="TextBox 11"/>
          <p:cNvSpPr txBox="1"/>
          <p:nvPr/>
        </p:nvSpPr>
        <p:spPr>
          <a:xfrm>
            <a:off x="1051560" y="2944368"/>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Lines customer, revenue, tax; reconciliation account, document type DR</a:t>
            </a:r>
          </a:p>
        </p:txBody>
      </p:sp>
      <p:sp>
        <p:nvSpPr>
          <p:cNvPr id="13" name="Oval 12"/>
          <p:cNvSpPr/>
          <p:nvPr/>
        </p:nvSpPr>
        <p:spPr>
          <a:xfrm>
            <a:off x="548640" y="3557015"/>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4" name="TextBox 13"/>
          <p:cNvSpPr txBox="1"/>
          <p:nvPr/>
        </p:nvSpPr>
        <p:spPr>
          <a:xfrm>
            <a:off x="1051560" y="3511296"/>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Open item in F0711</a:t>
            </a:r>
          </a:p>
        </p:txBody>
      </p:sp>
      <p:sp>
        <p:nvSpPr>
          <p:cNvPr id="15" name="TextBox 14"/>
          <p:cNvSpPr txBox="1"/>
          <p:nvPr/>
        </p:nvSpPr>
        <p:spPr>
          <a:xfrm>
            <a:off x="1051560" y="3785615"/>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Due date, reference, dunning data; Edit Line Items</a:t>
            </a:r>
          </a:p>
        </p:txBody>
      </p:sp>
      <p:sp>
        <p:nvSpPr>
          <p:cNvPr id="16" name="Oval 15"/>
          <p:cNvSpPr/>
          <p:nvPr/>
        </p:nvSpPr>
        <p:spPr>
          <a:xfrm>
            <a:off x="548640" y="4398264"/>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17" name="TextBox 16"/>
          <p:cNvSpPr txBox="1"/>
          <p:nvPr/>
        </p:nvSpPr>
        <p:spPr>
          <a:xfrm>
            <a:off x="1051560" y="4352544"/>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Output the invoice</a:t>
            </a:r>
          </a:p>
        </p:txBody>
      </p:sp>
      <p:sp>
        <p:nvSpPr>
          <p:cNvPr id="18" name="TextBox 17"/>
          <p:cNvSpPr txBox="1"/>
          <p:nvPr/>
        </p:nvSpPr>
        <p:spPr>
          <a:xfrm>
            <a:off x="1051560" y="4626864"/>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SAP21 from F0717A or F0744A, PDF preview, e-mail; evidence F2934</a:t>
            </a:r>
          </a:p>
        </p:txBody>
      </p:sp>
      <p:sp>
        <p:nvSpPr>
          <p:cNvPr id="19" name="Oval 18"/>
          <p:cNvSpPr/>
          <p:nvPr/>
        </p:nvSpPr>
        <p:spPr>
          <a:xfrm>
            <a:off x="548640" y="5239512"/>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5</a:t>
            </a:r>
          </a:p>
        </p:txBody>
      </p:sp>
      <p:sp>
        <p:nvSpPr>
          <p:cNvPr id="20" name="TextBox 19"/>
          <p:cNvSpPr txBox="1"/>
          <p:nvPr/>
        </p:nvSpPr>
        <p:spPr>
          <a:xfrm>
            <a:off x="1051560" y="5193792"/>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Process flow and reversal</a:t>
            </a:r>
          </a:p>
        </p:txBody>
      </p:sp>
      <p:sp>
        <p:nvSpPr>
          <p:cNvPr id="21" name="TextBox 20"/>
          <p:cNvSpPr txBox="1"/>
          <p:nvPr/>
        </p:nvSpPr>
        <p:spPr>
          <a:xfrm>
            <a:off x="1051560" y="5468112"/>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F2692 journal entry only; show reversal dialog, do not execute</a:t>
            </a:r>
          </a:p>
        </p:txBody>
      </p:sp>
      <p:sp>
        <p:nvSpPr>
          <p:cNvPr id="22" name="Rounded Rectangle 21"/>
          <p:cNvSpPr/>
          <p:nvPr/>
        </p:nvSpPr>
        <p:spPr>
          <a:xfrm>
            <a:off x="6583680" y="1417320"/>
            <a:ext cx="5029200" cy="4754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766560" y="1554480"/>
            <a:ext cx="46634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Fit-to-standard questions</a:t>
            </a:r>
          </a:p>
        </p:txBody>
      </p:sp>
      <p:sp>
        <p:nvSpPr>
          <p:cNvPr id="24" name="TextBox 23"/>
          <p:cNvSpPr txBox="1"/>
          <p:nvPr/>
        </p:nvSpPr>
        <p:spPr>
          <a:xfrm>
            <a:off x="6766560" y="1965960"/>
            <a:ext cx="4663440" cy="4114800"/>
          </a:xfrm>
          <a:prstGeom prst="rect">
            <a:avLst/>
          </a:prstGeom>
          <a:noFill/>
        </p:spPr>
        <p:txBody>
          <a:bodyPr wrap="square" anchor="t" lIns="45720" rIns="45720">
            <a:spAutoFit/>
          </a:bodyPr>
          <a:lstStyle/>
          <a:p>
            <a:pPr algn="l" marL="164592" indent="-164592">
              <a:spcAft>
                <a:spcPts val="500"/>
              </a:spcAft>
              <a:buChar char="•"/>
            </a:pPr>
            <a:r>
              <a:rPr sz="1150" b="0" i="0">
                <a:solidFill>
                  <a:srgbClr val="2B2B2B"/>
                </a:solidFill>
                <a:latin typeface="Arial"/>
              </a:rPr>
              <a:t>Which invoice cases run without a sales order, how many per month?</a:t>
            </a:r>
          </a:p>
          <a:p>
            <a:pPr algn="l" marL="164592" indent="-164592">
              <a:spcAft>
                <a:spcPts val="500"/>
              </a:spcAft>
              <a:buChar char="•"/>
            </a:pPr>
            <a:r>
              <a:rPr sz="1150" b="0" i="0">
                <a:solidFill>
                  <a:srgbClr val="2B2B2B"/>
                </a:solidFill>
                <a:latin typeface="Arial"/>
              </a:rPr>
              <a:t>Revenue accounts and account assignment for these cases; profit center derivation, profitability characteristics</a:t>
            </a:r>
          </a:p>
          <a:p>
            <a:pPr algn="l" marL="164592" indent="-164592">
              <a:spcAft>
                <a:spcPts val="500"/>
              </a:spcAft>
              <a:buChar char="•"/>
            </a:pPr>
            <a:r>
              <a:rPr sz="1150" b="0" i="0">
                <a:solidFill>
                  <a:srgbClr val="2B2B2B"/>
                </a:solidFill>
                <a:latin typeface="Arial"/>
              </a:rPr>
              <a:t>Tax codes: domestic, EU, third country, tax-exempt; RITA needed?</a:t>
            </a:r>
          </a:p>
          <a:p>
            <a:pPr algn="l" marL="164592" indent="-164592">
              <a:spcAft>
                <a:spcPts val="500"/>
              </a:spcAft>
              <a:buChar char="•"/>
            </a:pPr>
            <a:r>
              <a:rPr sz="1150" b="0" i="0">
                <a:solidFill>
                  <a:srgbClr val="2B2B2B"/>
                </a:solidFill>
                <a:latin typeface="Arial"/>
              </a:rPr>
              <a:t>Who enters, who posts? Is parking without workflow sufficient?</a:t>
            </a:r>
          </a:p>
          <a:p>
            <a:pPr algn="l" marL="164592" indent="-164592">
              <a:spcAft>
                <a:spcPts val="500"/>
              </a:spcAft>
              <a:buChar char="•"/>
            </a:pPr>
            <a:r>
              <a:rPr sz="1150" b="0" i="0">
                <a:solidFill>
                  <a:srgbClr val="2B2B2B"/>
                </a:solidFill>
                <a:latin typeface="Arial"/>
              </a:rPr>
              <a:t>Invoice output: print or e-mail, sender address, form with logo and languages</a:t>
            </a:r>
          </a:p>
          <a:p>
            <a:pPr algn="l" marL="164592" indent="-164592">
              <a:spcAft>
                <a:spcPts val="500"/>
              </a:spcAft>
              <a:buChar char="•"/>
            </a:pPr>
            <a:r>
              <a:rPr sz="1150" b="0" i="0">
                <a:solidFill>
                  <a:srgbClr val="2B2B2B"/>
                </a:solidFill>
                <a:latin typeface="Arial"/>
              </a:rPr>
              <a:t>Conventions for reference and header text so that payment receipt and dunning can match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TextBox 2"/>
          <p:cNvSpPr txBox="1"/>
          <p:nvPr/>
        </p:nvSpPr>
        <p:spPr>
          <a:xfrm>
            <a:off x="822960" y="2103120"/>
            <a:ext cx="10058400" cy="365760"/>
          </a:xfrm>
          <a:prstGeom prst="rect">
            <a:avLst/>
          </a:prstGeom>
          <a:noFill/>
        </p:spPr>
        <p:txBody>
          <a:bodyPr wrap="square" anchor="t" lIns="45720" rIns="45720">
            <a:spAutoFit/>
          </a:bodyPr>
          <a:lstStyle/>
          <a:p>
            <a:pPr algn="l">
              <a:spcAft>
                <a:spcPts val="400"/>
              </a:spcAft>
            </a:pPr>
            <a:r>
              <a:rPr sz="1400" b="1" i="0">
                <a:solidFill>
                  <a:srgbClr val="C6DCE2"/>
                </a:solidFill>
                <a:latin typeface="Arial"/>
              </a:rPr>
              <a:t>Topic 3</a:t>
            </a:r>
          </a:p>
        </p:txBody>
      </p:sp>
      <p:sp>
        <p:nvSpPr>
          <p:cNvPr id="4" name="TextBox 3"/>
          <p:cNvSpPr txBox="1"/>
          <p:nvPr/>
        </p:nvSpPr>
        <p:spPr>
          <a:xfrm>
            <a:off x="822960" y="2514600"/>
            <a:ext cx="10515600" cy="1188720"/>
          </a:xfrm>
          <a:prstGeom prst="rect">
            <a:avLst/>
          </a:prstGeom>
          <a:noFill/>
        </p:spPr>
        <p:txBody>
          <a:bodyPr wrap="square" anchor="ctr" lIns="45720" rIns="45720">
            <a:spAutoFit/>
          </a:bodyPr>
          <a:lstStyle/>
          <a:p>
            <a:pPr algn="l">
              <a:spcAft>
                <a:spcPts val="400"/>
              </a:spcAft>
            </a:pPr>
            <a:r>
              <a:rPr sz="3600" b="1" i="0">
                <a:solidFill>
                  <a:srgbClr val="FFFFFF"/>
                </a:solidFill>
                <a:latin typeface="Arial"/>
              </a:rPr>
              <a:t>Automated invoice creation</a:t>
            </a:r>
          </a:p>
        </p:txBody>
      </p:sp>
      <p:sp>
        <p:nvSpPr>
          <p:cNvPr id="5" name="TextBox 4"/>
          <p:cNvSpPr txBox="1"/>
          <p:nvPr/>
        </p:nvSpPr>
        <p:spPr>
          <a:xfrm>
            <a:off x="822960" y="3794760"/>
            <a:ext cx="10058400" cy="1097280"/>
          </a:xfrm>
          <a:prstGeom prst="rect">
            <a:avLst/>
          </a:prstGeom>
          <a:noFill/>
        </p:spPr>
        <p:txBody>
          <a:bodyPr wrap="square" anchor="t" lIns="45720" rIns="45720">
            <a:spAutoFit/>
          </a:bodyPr>
          <a:lstStyle/>
          <a:p>
            <a:pPr algn="l">
              <a:spcAft>
                <a:spcPts val="400"/>
              </a:spcAft>
            </a:pPr>
            <a:r>
              <a:rPr sz="1600" b="0" i="0">
                <a:solidFill>
                  <a:srgbClr val="FFFFFF"/>
                </a:solidFill>
                <a:latin typeface="Arial"/>
              </a:rPr>
              <a:t>Accounting controls, it does not retype: billing documents from sales, mass upload from files and interfaces from source systems all create the same open item.</a:t>
            </a:r>
          </a:p>
        </p:txBody>
      </p:sp>
      <p:sp>
        <p:nvSpPr>
          <p:cNvPr id="6" name="TextBox 5"/>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C6DCE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3 · Automated invoice · Theory</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Three paths to the same open item</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15</a:t>
            </a:r>
          </a:p>
        </p:txBody>
      </p:sp>
      <p:sp>
        <p:nvSpPr>
          <p:cNvPr id="6" name="Rounded Rectangle 5"/>
          <p:cNvSpPr/>
          <p:nvPr/>
        </p:nvSpPr>
        <p:spPr>
          <a:xfrm>
            <a:off x="548640" y="1417320"/>
            <a:ext cx="3566160" cy="29260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Oval 6"/>
          <p:cNvSpPr/>
          <p:nvPr/>
        </p:nvSpPr>
        <p:spPr>
          <a:xfrm>
            <a:off x="713232" y="1572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188719" y="1554480"/>
            <a:ext cx="2743200" cy="41148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Billing document from sales</a:t>
            </a:r>
          </a:p>
        </p:txBody>
      </p:sp>
      <p:sp>
        <p:nvSpPr>
          <p:cNvPr id="9" name="TextBox 8"/>
          <p:cNvSpPr txBox="1"/>
          <p:nvPr/>
        </p:nvSpPr>
        <p:spPr>
          <a:xfrm>
            <a:off x="713232" y="2057400"/>
            <a:ext cx="3246120"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Standard for everything with order, delivery or service provision. The billing document is the invoice, the accounting document is created automatically (document type RV).</a:t>
            </a:r>
          </a:p>
        </p:txBody>
      </p:sp>
      <p:sp>
        <p:nvSpPr>
          <p:cNvPr id="10" name="TextBox 9"/>
          <p:cNvSpPr txBox="1"/>
          <p:nvPr/>
        </p:nvSpPr>
        <p:spPr>
          <a:xfrm>
            <a:off x="713232" y="3474720"/>
            <a:ext cx="3246120" cy="822960"/>
          </a:xfrm>
          <a:prstGeom prst="rect">
            <a:avLst/>
          </a:prstGeom>
          <a:noFill/>
        </p:spPr>
        <p:txBody>
          <a:bodyPr wrap="square" anchor="t" lIns="45720" rIns="45720">
            <a:spAutoFit/>
          </a:bodyPr>
          <a:lstStyle/>
          <a:p>
            <a:pPr algn="l">
              <a:spcAft>
                <a:spcPts val="400"/>
              </a:spcAft>
            </a:pPr>
            <a:r>
              <a:rPr sz="1050" b="0" i="0">
                <a:solidFill>
                  <a:srgbClr val="6B6B6B"/>
                </a:solidFill>
                <a:latin typeface="Arial"/>
              </a:rPr>
              <a:t>Depends on sales and material master data; errors are fixed in SD configuration.</a:t>
            </a:r>
          </a:p>
        </p:txBody>
      </p:sp>
      <p:sp>
        <p:nvSpPr>
          <p:cNvPr id="11" name="Rounded Rectangle 10"/>
          <p:cNvSpPr/>
          <p:nvPr/>
        </p:nvSpPr>
        <p:spPr>
          <a:xfrm>
            <a:off x="4297679" y="1417320"/>
            <a:ext cx="3566160" cy="29260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Oval 11"/>
          <p:cNvSpPr/>
          <p:nvPr/>
        </p:nvSpPr>
        <p:spPr>
          <a:xfrm>
            <a:off x="4462271" y="1572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3" name="TextBox 12"/>
          <p:cNvSpPr txBox="1"/>
          <p:nvPr/>
        </p:nvSpPr>
        <p:spPr>
          <a:xfrm>
            <a:off x="4937759" y="1554480"/>
            <a:ext cx="2743200" cy="41148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Mass upload from file</a:t>
            </a:r>
          </a:p>
        </p:txBody>
      </p:sp>
      <p:sp>
        <p:nvSpPr>
          <p:cNvPr id="14" name="TextBox 13"/>
          <p:cNvSpPr txBox="1"/>
          <p:nvPr/>
        </p:nvSpPr>
        <p:spPr>
          <a:xfrm>
            <a:off x="4462271" y="2057400"/>
            <a:ext cx="3246120"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Periodic or project-related volumes without sales reference: ancillary costs, fees, recharges, accruals. Check run before posting.</a:t>
            </a:r>
          </a:p>
        </p:txBody>
      </p:sp>
      <p:sp>
        <p:nvSpPr>
          <p:cNvPr id="15" name="TextBox 14"/>
          <p:cNvSpPr txBox="1"/>
          <p:nvPr/>
        </p:nvSpPr>
        <p:spPr>
          <a:xfrm>
            <a:off x="4462271" y="3474720"/>
            <a:ext cx="3246120" cy="822960"/>
          </a:xfrm>
          <a:prstGeom prst="rect">
            <a:avLst/>
          </a:prstGeom>
          <a:noFill/>
        </p:spPr>
        <p:txBody>
          <a:bodyPr wrap="square" anchor="t" lIns="45720" rIns="45720">
            <a:spAutoFit/>
          </a:bodyPr>
          <a:lstStyle/>
          <a:p>
            <a:pPr algn="l">
              <a:spcAft>
                <a:spcPts val="400"/>
              </a:spcAft>
            </a:pPr>
            <a:r>
              <a:rPr sz="1050" b="0" i="0">
                <a:solidFill>
                  <a:srgbClr val="6B6B6B"/>
                </a:solidFill>
                <a:latin typeface="Arial"/>
              </a:rPr>
              <a:t>Up to 500 items per file, manual preparation, responsibility in accounting.</a:t>
            </a:r>
          </a:p>
        </p:txBody>
      </p:sp>
      <p:sp>
        <p:nvSpPr>
          <p:cNvPr id="16" name="Rounded Rectangle 15"/>
          <p:cNvSpPr/>
          <p:nvPr/>
        </p:nvSpPr>
        <p:spPr>
          <a:xfrm>
            <a:off x="8046719" y="1417320"/>
            <a:ext cx="3566160" cy="29260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Oval 16"/>
          <p:cNvSpPr/>
          <p:nvPr/>
        </p:nvSpPr>
        <p:spPr>
          <a:xfrm>
            <a:off x="8211311" y="1572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8" name="TextBox 17"/>
          <p:cNvSpPr txBox="1"/>
          <p:nvPr/>
        </p:nvSpPr>
        <p:spPr>
          <a:xfrm>
            <a:off x="8686799" y="1554480"/>
            <a:ext cx="2743200" cy="41148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Interface from source system</a:t>
            </a:r>
          </a:p>
        </p:txBody>
      </p:sp>
      <p:sp>
        <p:nvSpPr>
          <p:cNvPr id="19" name="TextBox 18"/>
          <p:cNvSpPr txBox="1"/>
          <p:nvPr/>
        </p:nvSpPr>
        <p:spPr>
          <a:xfrm>
            <a:off x="8211311" y="2057400"/>
            <a:ext cx="3246120"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Ongoing volume from billing system, shop, portal. Invoice is created in the source system, posted via API (Journal Entry – Post, SAP_COM_0002).</a:t>
            </a:r>
          </a:p>
        </p:txBody>
      </p:sp>
      <p:sp>
        <p:nvSpPr>
          <p:cNvPr id="20" name="TextBox 19"/>
          <p:cNvSpPr txBox="1"/>
          <p:nvPr/>
        </p:nvSpPr>
        <p:spPr>
          <a:xfrm>
            <a:off x="8211311" y="3474720"/>
            <a:ext cx="3246120" cy="822960"/>
          </a:xfrm>
          <a:prstGeom prst="rect">
            <a:avLst/>
          </a:prstGeom>
          <a:noFill/>
        </p:spPr>
        <p:txBody>
          <a:bodyPr wrap="square" anchor="t" lIns="45720" rIns="45720">
            <a:spAutoFit/>
          </a:bodyPr>
          <a:lstStyle/>
          <a:p>
            <a:pPr algn="l">
              <a:spcAft>
                <a:spcPts val="400"/>
              </a:spcAft>
            </a:pPr>
            <a:r>
              <a:rPr sz="1050" b="0" i="0">
                <a:solidFill>
                  <a:srgbClr val="6B6B6B"/>
                </a:solidFill>
                <a:latin typeface="Arial"/>
              </a:rPr>
              <a:t>Clean mapping of customer numbers, tax and accounts in the source system required.</a:t>
            </a:r>
          </a:p>
        </p:txBody>
      </p:sp>
      <p:sp>
        <p:nvSpPr>
          <p:cNvPr id="21" name="Down Arrow 20"/>
          <p:cNvSpPr/>
          <p:nvPr/>
        </p:nvSpPr>
        <p:spPr>
          <a:xfrm>
            <a:off x="5760720" y="4434840"/>
            <a:ext cx="640080" cy="411480"/>
          </a:xfrm>
          <a:prstGeom prst="downArrow">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Rounded Rectangle 21"/>
          <p:cNvSpPr/>
          <p:nvPr/>
        </p:nvSpPr>
        <p:spPr>
          <a:xfrm>
            <a:off x="548640" y="4937760"/>
            <a:ext cx="11064240" cy="640080"/>
          </a:xfrm>
          <a:prstGeom prst="roundRect">
            <a:avLst>
              <a:gd name="adj" fmla="val 8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300" b="1" i="0">
                <a:solidFill>
                  <a:srgbClr val="FFFFFF"/>
                </a:solidFill>
                <a:latin typeface="Arial"/>
              </a:rPr>
              <a:t>One open item on the customer: due date, reference, profitability segment, same accounts, same tax logic</a:t>
            </a:r>
          </a:p>
        </p:txBody>
      </p:sp>
      <p:sp>
        <p:nvSpPr>
          <p:cNvPr id="23" name="TextBox 22"/>
          <p:cNvSpPr txBox="1"/>
          <p:nvPr/>
        </p:nvSpPr>
        <p:spPr>
          <a:xfrm>
            <a:off x="548640" y="5669280"/>
            <a:ext cx="11064240" cy="64008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The fourth path for individual cases and corrections remains the manual invoice (topic 2). Configuration for accounts, tax and profitability derivation must be maintained identically for all paths.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3 · Automated invoice · Theory</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Path 1: billing document from sales, what finance sees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16</a:t>
            </a:r>
          </a:p>
        </p:txBody>
      </p:sp>
      <p:sp>
        <p:nvSpPr>
          <p:cNvPr id="6" name="Pentagon 5"/>
          <p:cNvSpPr/>
          <p:nvPr/>
        </p:nvSpPr>
        <p:spPr>
          <a:xfrm>
            <a:off x="548640" y="1417320"/>
            <a:ext cx="2168956"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Sales order</a:t>
            </a:r>
          </a:p>
        </p:txBody>
      </p:sp>
      <p:sp>
        <p:nvSpPr>
          <p:cNvPr id="7" name="Chevron 6"/>
          <p:cNvSpPr/>
          <p:nvPr/>
        </p:nvSpPr>
        <p:spPr>
          <a:xfrm>
            <a:off x="2772460" y="141732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Delivery / service</a:t>
            </a:r>
          </a:p>
        </p:txBody>
      </p:sp>
      <p:sp>
        <p:nvSpPr>
          <p:cNvPr id="8" name="Chevron 7"/>
          <p:cNvSpPr/>
          <p:nvPr/>
        </p:nvSpPr>
        <p:spPr>
          <a:xfrm>
            <a:off x="4996281" y="141732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Billing document</a:t>
            </a:r>
          </a:p>
        </p:txBody>
      </p:sp>
      <p:sp>
        <p:nvSpPr>
          <p:cNvPr id="9" name="Chevron 8"/>
          <p:cNvSpPr/>
          <p:nvPr/>
        </p:nvSpPr>
        <p:spPr>
          <a:xfrm>
            <a:off x="7220102" y="141732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Journal entry (RV)</a:t>
            </a:r>
          </a:p>
        </p:txBody>
      </p:sp>
      <p:sp>
        <p:nvSpPr>
          <p:cNvPr id="10" name="Chevron 9"/>
          <p:cNvSpPr/>
          <p:nvPr/>
        </p:nvSpPr>
        <p:spPr>
          <a:xfrm>
            <a:off x="9443923" y="141732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Open item</a:t>
            </a:r>
          </a:p>
        </p:txBody>
      </p:sp>
      <p:sp>
        <p:nvSpPr>
          <p:cNvPr id="11" name="TextBox 10"/>
          <p:cNvSpPr txBox="1"/>
          <p:nvPr/>
        </p:nvSpPr>
        <p:spPr>
          <a:xfrm>
            <a:off x="548640"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Sales; credit check (BD6) runs here; payment terms from customer master or order</a:t>
            </a:r>
          </a:p>
        </p:txBody>
      </p:sp>
      <p:sp>
        <p:nvSpPr>
          <p:cNvPr id="12" name="TextBox 11"/>
          <p:cNvSpPr txBox="1"/>
          <p:nvPr/>
        </p:nvSpPr>
        <p:spPr>
          <a:xfrm>
            <a:off x="2772460"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Goods issue posts stock and cost; for services billing by resource or fixed price</a:t>
            </a:r>
          </a:p>
        </p:txBody>
      </p:sp>
      <p:sp>
        <p:nvSpPr>
          <p:cNvPr id="13" name="TextBox 12"/>
          <p:cNvSpPr txBox="1"/>
          <p:nvPr/>
        </p:nvSpPr>
        <p:spPr>
          <a:xfrm>
            <a:off x="4996281"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Legally relevant invoice document; output management prints or e-mails; billing blocks in sales</a:t>
            </a:r>
          </a:p>
        </p:txBody>
      </p:sp>
      <p:sp>
        <p:nvSpPr>
          <p:cNvPr id="14" name="TextBox 13"/>
          <p:cNvSpPr txBox="1"/>
          <p:nvPr/>
        </p:nvSpPr>
        <p:spPr>
          <a:xfrm>
            <a:off x="7220102"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Automatic on release of the billing document: customer to revenue and tax; profitability segment from SD data</a:t>
            </a:r>
          </a:p>
        </p:txBody>
      </p:sp>
      <p:sp>
        <p:nvSpPr>
          <p:cNvPr id="15" name="TextBox 14"/>
          <p:cNvSpPr txBox="1"/>
          <p:nvPr/>
        </p:nvSpPr>
        <p:spPr>
          <a:xfrm>
            <a:off x="9443923"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Reference equals billing document number; basis for payment receipt, dunning, credit exposure</a:t>
            </a:r>
          </a:p>
        </p:txBody>
      </p:sp>
      <p:sp>
        <p:nvSpPr>
          <p:cNvPr id="16" name="Rounded Rectangle 15"/>
          <p:cNvSpPr/>
          <p:nvPr/>
        </p:nvSpPr>
        <p:spPr>
          <a:xfrm>
            <a:off x="548640" y="3794760"/>
            <a:ext cx="5394960" cy="23774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713232" y="3922776"/>
            <a:ext cx="50932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Role of accounting</a:t>
            </a:r>
          </a:p>
        </p:txBody>
      </p:sp>
      <p:sp>
        <p:nvSpPr>
          <p:cNvPr id="18" name="TextBox 17"/>
          <p:cNvSpPr txBox="1"/>
          <p:nvPr/>
        </p:nvSpPr>
        <p:spPr>
          <a:xfrm>
            <a:off x="713232" y="4343400"/>
            <a:ext cx="5065776" cy="173736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No entry effort, but dependence on master data quality in sales and material</a:t>
            </a:r>
          </a:p>
          <a:p>
            <a:pPr algn="l" marL="164592" indent="-164592">
              <a:spcAft>
                <a:spcPts val="300"/>
              </a:spcAft>
              <a:buChar char="•"/>
            </a:pPr>
            <a:r>
              <a:rPr sz="1100" b="0" i="0">
                <a:solidFill>
                  <a:srgbClr val="2B2B2B"/>
                </a:solidFill>
                <a:latin typeface="Arial"/>
              </a:rPr>
              <a:t>Error pattern: wrong accounts, wrong tax, unmatchable items</a:t>
            </a:r>
          </a:p>
          <a:p>
            <a:pPr algn="l" marL="164592" indent="-164592">
              <a:spcAft>
                <a:spcPts val="300"/>
              </a:spcAft>
              <a:buChar char="•"/>
            </a:pPr>
            <a:r>
              <a:rPr sz="1100" b="0" i="0">
                <a:solidFill>
                  <a:srgbClr val="2B2B2B"/>
                </a:solidFill>
                <a:latin typeface="Arial"/>
              </a:rPr>
              <a:t>Fixed in SD account determination and master data, not by transfer posting</a:t>
            </a:r>
          </a:p>
          <a:p>
            <a:pPr algn="l" marL="164592" indent="-164592">
              <a:spcAft>
                <a:spcPts val="300"/>
              </a:spcAft>
              <a:buChar char="•"/>
            </a:pPr>
            <a:r>
              <a:rPr sz="1100" b="0" i="0">
                <a:solidFill>
                  <a:srgbClr val="2B2B2B"/>
                </a:solidFill>
                <a:latin typeface="Arial"/>
              </a:rPr>
              <a:t>Responsible: SD consultant; prerequisites are BD9, J14 or BDN</a:t>
            </a:r>
          </a:p>
        </p:txBody>
      </p:sp>
      <p:sp>
        <p:nvSpPr>
          <p:cNvPr id="19" name="Rounded Rectangle 18"/>
          <p:cNvSpPr/>
          <p:nvPr/>
        </p:nvSpPr>
        <p:spPr>
          <a:xfrm>
            <a:off x="6217920" y="3794760"/>
            <a:ext cx="5394960" cy="23774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6382512" y="3922776"/>
            <a:ext cx="50932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Show in the workshop</a:t>
            </a:r>
          </a:p>
        </p:txBody>
      </p:sp>
      <p:sp>
        <p:nvSpPr>
          <p:cNvPr id="21" name="TextBox 20"/>
          <p:cNvSpPr txBox="1"/>
          <p:nvPr/>
        </p:nvSpPr>
        <p:spPr>
          <a:xfrm>
            <a:off x="6382512" y="4343400"/>
            <a:ext cx="5065776" cy="173736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Display Process Flow – AR (F2692) with an existing billing document</a:t>
            </a:r>
          </a:p>
          <a:p>
            <a:pPr algn="l" marL="164592" indent="-164592">
              <a:spcAft>
                <a:spcPts val="300"/>
              </a:spcAft>
              <a:buChar char="•"/>
            </a:pPr>
            <a:r>
              <a:rPr sz="1100" b="0" i="0">
                <a:solidFill>
                  <a:srgbClr val="2B2B2B"/>
                </a:solidFill>
                <a:latin typeface="Arial"/>
              </a:rPr>
              <a:t>Manage Customer Line Items (F0711): item with billing document number as reference</a:t>
            </a:r>
          </a:p>
          <a:p>
            <a:pPr algn="l" marL="164592" indent="-164592">
              <a:spcAft>
                <a:spcPts val="300"/>
              </a:spcAft>
              <a:buChar char="•"/>
            </a:pPr>
            <a:r>
              <a:rPr sz="1100" b="0" i="0">
                <a:solidFill>
                  <a:srgbClr val="2B2B2B"/>
                </a:solidFill>
                <a:latin typeface="Arial"/>
              </a:rPr>
              <a:t>Manage Journal Entries (F0717A): revenue accounts, tax, profitability segment automatic</a:t>
            </a:r>
          </a:p>
          <a:p>
            <a:pPr algn="l" marL="164592" indent="-164592">
              <a:spcAft>
                <a:spcPts val="300"/>
              </a:spcAft>
              <a:buChar char="•"/>
            </a:pPr>
            <a:r>
              <a:rPr sz="1100" b="0" i="0">
                <a:solidFill>
                  <a:srgbClr val="2B2B2B"/>
                </a:solidFill>
                <a:latin typeface="Arial"/>
              </a:rPr>
              <a:t>Recurring entries (J58) for rents and flat fees, mention only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3 · Automated invoice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Path 2: mass upload with Upload Customer Open Items (F4051)</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17</a:t>
            </a:r>
          </a:p>
        </p:txBody>
      </p:sp>
      <p:sp>
        <p:nvSpPr>
          <p:cNvPr id="6" name="Pentagon 5"/>
          <p:cNvSpPr/>
          <p:nvPr/>
        </p:nvSpPr>
        <p:spPr>
          <a:xfrm>
            <a:off x="548640" y="1417320"/>
            <a:ext cx="1798320"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Download template</a:t>
            </a:r>
          </a:p>
        </p:txBody>
      </p:sp>
      <p:sp>
        <p:nvSpPr>
          <p:cNvPr id="7" name="Chevron 6"/>
          <p:cNvSpPr/>
          <p:nvPr/>
        </p:nvSpPr>
        <p:spPr>
          <a:xfrm>
            <a:off x="2401824"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Fill file</a:t>
            </a:r>
          </a:p>
        </p:txBody>
      </p:sp>
      <p:sp>
        <p:nvSpPr>
          <p:cNvPr id="8" name="Chevron 7"/>
          <p:cNvSpPr/>
          <p:nvPr/>
        </p:nvSpPr>
        <p:spPr>
          <a:xfrm>
            <a:off x="4255007"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Upload (draft)</a:t>
            </a:r>
          </a:p>
        </p:txBody>
      </p:sp>
      <p:sp>
        <p:nvSpPr>
          <p:cNvPr id="9" name="Chevron 8"/>
          <p:cNvSpPr/>
          <p:nvPr/>
        </p:nvSpPr>
        <p:spPr>
          <a:xfrm>
            <a:off x="6108191"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Check and log</a:t>
            </a:r>
          </a:p>
        </p:txBody>
      </p:sp>
      <p:sp>
        <p:nvSpPr>
          <p:cNvPr id="10" name="Chevron 9"/>
          <p:cNvSpPr/>
          <p:nvPr/>
        </p:nvSpPr>
        <p:spPr>
          <a:xfrm>
            <a:off x="7961375"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Correct</a:t>
            </a:r>
          </a:p>
        </p:txBody>
      </p:sp>
      <p:sp>
        <p:nvSpPr>
          <p:cNvPr id="11" name="Chevron 10"/>
          <p:cNvSpPr/>
          <p:nvPr/>
        </p:nvSpPr>
        <p:spPr>
          <a:xfrm>
            <a:off x="9814560"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Post</a:t>
            </a:r>
          </a:p>
        </p:txBody>
      </p:sp>
      <p:sp>
        <p:nvSpPr>
          <p:cNvPr id="12" name="TextBox 11"/>
          <p:cNvSpPr txBox="1"/>
          <p:nvPr/>
        </p:nvSpPr>
        <p:spPr>
          <a:xfrm>
            <a:off x="548640"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Download Template in the app, language and format xlsx</a:t>
            </a:r>
          </a:p>
        </p:txBody>
      </p:sp>
      <p:sp>
        <p:nvSpPr>
          <p:cNvPr id="13" name="TextBox 12"/>
          <p:cNvSpPr txBox="1"/>
          <p:nvPr/>
        </p:nvSpPr>
        <p:spPr>
          <a:xfrm>
            <a:off x="2401824"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Header per document and G/L line items, maximum 500 items per file</a:t>
            </a:r>
          </a:p>
        </p:txBody>
      </p:sp>
      <p:sp>
        <p:nvSpPr>
          <p:cNvPr id="14" name="TextBox 13"/>
          <p:cNvSpPr txBox="1"/>
          <p:nvPr/>
        </p:nvSpPr>
        <p:spPr>
          <a:xfrm>
            <a:off x="4255007"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Browse, select file; worklist shows status Draft</a:t>
            </a:r>
          </a:p>
        </p:txBody>
      </p:sp>
      <p:sp>
        <p:nvSpPr>
          <p:cNvPr id="15" name="TextBox 14"/>
          <p:cNvSpPr txBox="1"/>
          <p:nvPr/>
        </p:nvSpPr>
        <p:spPr>
          <a:xfrm>
            <a:off x="6108191"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Select items, Check; red rows with error text in the log</a:t>
            </a:r>
          </a:p>
        </p:txBody>
      </p:sp>
      <p:sp>
        <p:nvSpPr>
          <p:cNvPr id="16" name="TextBox 15"/>
          <p:cNvSpPr txBox="1"/>
          <p:nvPr/>
        </p:nvSpPr>
        <p:spPr>
          <a:xfrm>
            <a:off x="7961375"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Open the faulty row in the customer invoice app, correct, status green</a:t>
            </a:r>
          </a:p>
        </p:txBody>
      </p:sp>
      <p:sp>
        <p:nvSpPr>
          <p:cNvPr id="17" name="TextBox 16"/>
          <p:cNvSpPr txBox="1"/>
          <p:nvPr/>
        </p:nvSpPr>
        <p:spPr>
          <a:xfrm>
            <a:off x="9814560"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Post creates the journal entries (DR or DG)</a:t>
            </a:r>
          </a:p>
        </p:txBody>
      </p:sp>
      <p:graphicFrame>
        <p:nvGraphicFramePr>
          <p:cNvPr id="18" name="Table 17"/>
          <p:cNvGraphicFramePr>
            <a:graphicFrameLocks noGrp="1"/>
          </p:cNvGraphicFramePr>
          <p:nvPr/>
        </p:nvGraphicFramePr>
        <p:xfrm>
          <a:off x="548640" y="3566160"/>
          <a:ext cx="6766560" cy="1508760"/>
        </p:xfrm>
        <a:graphic>
          <a:graphicData uri="http://schemas.openxmlformats.org/drawingml/2006/table">
            <a:tbl>
              <a:tblPr firstRow="1" bandRow="0">
                <a:tableStyleId>{5940675A-B579-460E-94D1-54222C63F5DA}</a:tableStyleId>
              </a:tblPr>
              <a:tblGrid>
                <a:gridCol w="1737360"/>
                <a:gridCol w="5029200"/>
              </a:tblGrid>
              <a:tr h="502920">
                <a:tc>
                  <a:txBody>
                    <a:bodyPr wrap="square"/>
                    <a:lstStyle/>
                    <a:p>
                      <a:pPr>
                        <a:spcAft>
                          <a:spcPts val="100"/>
                        </a:spcAft>
                      </a:pPr>
                      <a:r>
                        <a:rPr sz="1150" b="1" i="0">
                          <a:solidFill>
                            <a:srgbClr val="FFFFFF"/>
                          </a:solidFill>
                          <a:latin typeface="Arial"/>
                        </a:rPr>
                        <a:t>Template section</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Fields</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Header data</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Sequence number (manual, ascending), company code, transaction 1 invoice / 2 credit memo, customer, reference, document date, posting date, document type DR / DG, header text, currency, gross amount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G/L line items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G/L account (41000400), item text, D / C, amount, tax code, profit center (YB700), optional reporting segment and functional area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
        <p:nvSpPr>
          <p:cNvPr id="19" name="Rounded Rectangle 18"/>
          <p:cNvSpPr/>
          <p:nvPr/>
        </p:nvSpPr>
        <p:spPr>
          <a:xfrm>
            <a:off x="7589520" y="3566160"/>
            <a:ext cx="4023360" cy="26060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7754112" y="3694176"/>
            <a:ext cx="37216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Prerequisites and use</a:t>
            </a:r>
          </a:p>
        </p:txBody>
      </p:sp>
      <p:sp>
        <p:nvSpPr>
          <p:cNvPr id="21" name="TextBox 20"/>
          <p:cNvSpPr txBox="1"/>
          <p:nvPr/>
        </p:nvSpPr>
        <p:spPr>
          <a:xfrm>
            <a:off x="7754112" y="4114800"/>
            <a:ext cx="3694176" cy="1965960"/>
          </a:xfrm>
          <a:prstGeom prst="rect">
            <a:avLst/>
          </a:prstGeom>
          <a:noFill/>
        </p:spPr>
        <p:txBody>
          <a:bodyPr wrap="square" anchor="t" lIns="45720" rIns="45720">
            <a:spAutoFit/>
          </a:bodyPr>
          <a:lstStyle/>
          <a:p>
            <a:pPr algn="l" marL="164592" indent="-164592">
              <a:spcAft>
                <a:spcPts val="300"/>
              </a:spcAft>
              <a:buChar char="•"/>
            </a:pPr>
            <a:r>
              <a:rPr sz="1050" b="0" i="0">
                <a:solidFill>
                  <a:srgbClr val="2B2B2B"/>
                </a:solidFill>
                <a:latin typeface="Arial"/>
              </a:rPr>
              <a:t>Manage Default Account Assignments: company code, cost element 41000400, profitability segment active</a:t>
            </a:r>
          </a:p>
          <a:p>
            <a:pPr algn="l" marL="164592" indent="-164592">
              <a:spcAft>
                <a:spcPts val="300"/>
              </a:spcAft>
              <a:buChar char="•"/>
            </a:pPr>
            <a:r>
              <a:rPr sz="1050" b="0" i="0">
                <a:solidFill>
                  <a:srgbClr val="2B2B2B"/>
                </a:solidFill>
                <a:latin typeface="Arial"/>
              </a:rPr>
              <a:t>Business partner exists, posting period open</a:t>
            </a:r>
          </a:p>
          <a:p>
            <a:pPr algn="l" marL="164592" indent="-164592">
              <a:spcAft>
                <a:spcPts val="300"/>
              </a:spcAft>
              <a:buChar char="•"/>
            </a:pPr>
            <a:r>
              <a:rPr sz="1050" b="0" i="0">
                <a:solidFill>
                  <a:srgbClr val="2B2B2B"/>
                </a:solidFill>
                <a:latin typeface="Arial"/>
              </a:rPr>
              <a:t>Use: source systems without interface, periodic recharges, accruals, mass credit memos</a:t>
            </a:r>
          </a:p>
          <a:p>
            <a:pPr algn="l" marL="164592" indent="-164592">
              <a:spcAft>
                <a:spcPts val="300"/>
              </a:spcAft>
              <a:buChar char="•"/>
            </a:pPr>
            <a:r>
              <a:rPr sz="1050" b="0" i="0">
                <a:solidFill>
                  <a:srgbClr val="2B2B2B"/>
                </a:solidFill>
                <a:latin typeface="Arial"/>
              </a:rPr>
              <a:t>Not for the cut-over of open items (migration cockpit)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3 · Automated invoice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Demo flow and questions for the business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18</a:t>
            </a:r>
          </a:p>
        </p:txBody>
      </p:sp>
      <p:sp>
        <p:nvSpPr>
          <p:cNvPr id="6" name="TextBox 5"/>
          <p:cNvSpPr txBox="1"/>
          <p:nvPr/>
        </p:nvSpPr>
        <p:spPr>
          <a:xfrm>
            <a:off x="548640" y="1417320"/>
            <a:ext cx="566928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Demo in the system (approx. 25 minutes)</a:t>
            </a:r>
          </a:p>
        </p:txBody>
      </p:sp>
      <p:sp>
        <p:nvSpPr>
          <p:cNvPr id="7" name="Oval 6"/>
          <p:cNvSpPr/>
          <p:nvPr/>
        </p:nvSpPr>
        <p:spPr>
          <a:xfrm>
            <a:off x="548640" y="1874519"/>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051560" y="1828800"/>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Billing document in process flow F2692</a:t>
            </a:r>
          </a:p>
        </p:txBody>
      </p:sp>
      <p:sp>
        <p:nvSpPr>
          <p:cNvPr id="9" name="TextBox 8"/>
          <p:cNvSpPr txBox="1"/>
          <p:nvPr/>
        </p:nvSpPr>
        <p:spPr>
          <a:xfrm>
            <a:off x="1051560" y="2103120"/>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Order, delivery, billing document, journal entry RV; item in F0711 with billing document number</a:t>
            </a:r>
          </a:p>
        </p:txBody>
      </p:sp>
      <p:sp>
        <p:nvSpPr>
          <p:cNvPr id="10" name="Oval 9"/>
          <p:cNvSpPr/>
          <p:nvPr/>
        </p:nvSpPr>
        <p:spPr>
          <a:xfrm>
            <a:off x="548640" y="2715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1" name="TextBox 10"/>
          <p:cNvSpPr txBox="1"/>
          <p:nvPr/>
        </p:nvSpPr>
        <p:spPr>
          <a:xfrm>
            <a:off x="1051560" y="2670048"/>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Journal entry of the billing document F0717A</a:t>
            </a:r>
          </a:p>
        </p:txBody>
      </p:sp>
      <p:sp>
        <p:nvSpPr>
          <p:cNvPr id="12" name="TextBox 11"/>
          <p:cNvSpPr txBox="1"/>
          <p:nvPr/>
        </p:nvSpPr>
        <p:spPr>
          <a:xfrm>
            <a:off x="1051560" y="2944368"/>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Revenue accounts from SD account determination, tax, profitability segment automatic</a:t>
            </a:r>
          </a:p>
        </p:txBody>
      </p:sp>
      <p:sp>
        <p:nvSpPr>
          <p:cNvPr id="13" name="Oval 12"/>
          <p:cNvSpPr/>
          <p:nvPr/>
        </p:nvSpPr>
        <p:spPr>
          <a:xfrm>
            <a:off x="548640" y="3557015"/>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4" name="TextBox 13"/>
          <p:cNvSpPr txBox="1"/>
          <p:nvPr/>
        </p:nvSpPr>
        <p:spPr>
          <a:xfrm>
            <a:off x="1051560" y="3511296"/>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Template in F4051</a:t>
            </a:r>
          </a:p>
        </p:txBody>
      </p:sp>
      <p:sp>
        <p:nvSpPr>
          <p:cNvPr id="15" name="TextBox 14"/>
          <p:cNvSpPr txBox="1"/>
          <p:nvPr/>
        </p:nvSpPr>
        <p:spPr>
          <a:xfrm>
            <a:off x="1051560" y="3785615"/>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Download Template: header and item structure, DR / DG, 500-item limit</a:t>
            </a:r>
          </a:p>
        </p:txBody>
      </p:sp>
      <p:sp>
        <p:nvSpPr>
          <p:cNvPr id="16" name="Oval 15"/>
          <p:cNvSpPr/>
          <p:nvPr/>
        </p:nvSpPr>
        <p:spPr>
          <a:xfrm>
            <a:off x="548640" y="4398264"/>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17" name="TextBox 16"/>
          <p:cNvSpPr txBox="1"/>
          <p:nvPr/>
        </p:nvSpPr>
        <p:spPr>
          <a:xfrm>
            <a:off x="1051560" y="4352544"/>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Upload, check, log, correction</a:t>
            </a:r>
          </a:p>
        </p:txBody>
      </p:sp>
      <p:sp>
        <p:nvSpPr>
          <p:cNvPr id="18" name="TextBox 17"/>
          <p:cNvSpPr txBox="1"/>
          <p:nvPr/>
        </p:nvSpPr>
        <p:spPr>
          <a:xfrm>
            <a:off x="1051560" y="4626864"/>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Prepared file, correct one red row, status green</a:t>
            </a:r>
          </a:p>
        </p:txBody>
      </p:sp>
      <p:sp>
        <p:nvSpPr>
          <p:cNvPr id="19" name="Oval 18"/>
          <p:cNvSpPr/>
          <p:nvPr/>
        </p:nvSpPr>
        <p:spPr>
          <a:xfrm>
            <a:off x="548640" y="5239512"/>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5</a:t>
            </a:r>
          </a:p>
        </p:txBody>
      </p:sp>
      <p:sp>
        <p:nvSpPr>
          <p:cNvPr id="20" name="TextBox 19"/>
          <p:cNvSpPr txBox="1"/>
          <p:nvPr/>
        </p:nvSpPr>
        <p:spPr>
          <a:xfrm>
            <a:off x="1051560" y="5193792"/>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Post and result</a:t>
            </a:r>
          </a:p>
        </p:txBody>
      </p:sp>
      <p:sp>
        <p:nvSpPr>
          <p:cNvPr id="21" name="TextBox 20"/>
          <p:cNvSpPr txBox="1"/>
          <p:nvPr/>
        </p:nvSpPr>
        <p:spPr>
          <a:xfrm>
            <a:off x="1051560" y="5468112"/>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Post; new items in F0711; show default account assignment in configuration</a:t>
            </a:r>
          </a:p>
        </p:txBody>
      </p:sp>
      <p:sp>
        <p:nvSpPr>
          <p:cNvPr id="22" name="Rounded Rectangle 21"/>
          <p:cNvSpPr/>
          <p:nvPr/>
        </p:nvSpPr>
        <p:spPr>
          <a:xfrm>
            <a:off x="6583680" y="1417320"/>
            <a:ext cx="5029200" cy="4754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766560" y="1554480"/>
            <a:ext cx="46634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Fit-to-standard questions</a:t>
            </a:r>
          </a:p>
        </p:txBody>
      </p:sp>
      <p:sp>
        <p:nvSpPr>
          <p:cNvPr id="24" name="TextBox 23"/>
          <p:cNvSpPr txBox="1"/>
          <p:nvPr/>
        </p:nvSpPr>
        <p:spPr>
          <a:xfrm>
            <a:off x="6766560" y="1965960"/>
            <a:ext cx="4663440" cy="4114800"/>
          </a:xfrm>
          <a:prstGeom prst="rect">
            <a:avLst/>
          </a:prstGeom>
          <a:noFill/>
        </p:spPr>
        <p:txBody>
          <a:bodyPr wrap="square" anchor="t" lIns="45720" rIns="45720">
            <a:spAutoFit/>
          </a:bodyPr>
          <a:lstStyle/>
          <a:p>
            <a:pPr algn="l" marL="164592" indent="-164592">
              <a:spcAft>
                <a:spcPts val="500"/>
              </a:spcAft>
              <a:buChar char="•"/>
            </a:pPr>
            <a:r>
              <a:rPr sz="1150" b="0" i="0">
                <a:solidFill>
                  <a:srgbClr val="2B2B2B"/>
                </a:solidFill>
                <a:latin typeface="Arial"/>
              </a:rPr>
              <a:t>Which invoices come from sales, which from source systems, which are manual? Volume per source</a:t>
            </a:r>
          </a:p>
          <a:p>
            <a:pPr algn="l" marL="164592" indent="-164592">
              <a:spcAft>
                <a:spcPts val="500"/>
              </a:spcAft>
              <a:buChar char="•"/>
            </a:pPr>
            <a:r>
              <a:rPr sz="1150" b="0" i="0">
                <a:solidFill>
                  <a:srgbClr val="2B2B2B"/>
                </a:solidFill>
                <a:latin typeface="Arial"/>
              </a:rPr>
              <a:t>Source systems: interface or upload? Who prepares, checks, posts?</a:t>
            </a:r>
          </a:p>
          <a:p>
            <a:pPr algn="l" marL="164592" indent="-164592">
              <a:spcAft>
                <a:spcPts val="500"/>
              </a:spcAft>
              <a:buChar char="•"/>
            </a:pPr>
            <a:r>
              <a:rPr sz="1150" b="0" i="0">
                <a:solidFill>
                  <a:srgbClr val="2B2B2B"/>
                </a:solidFill>
                <a:latin typeface="Arial"/>
              </a:rPr>
              <a:t>Mass credit memos via upload permitted?</a:t>
            </a:r>
          </a:p>
          <a:p>
            <a:pPr algn="l" marL="164592" indent="-164592">
              <a:spcAft>
                <a:spcPts val="500"/>
              </a:spcAft>
              <a:buChar char="•"/>
            </a:pPr>
            <a:r>
              <a:rPr sz="1150" b="0" i="0">
                <a:solidFill>
                  <a:srgbClr val="2B2B2B"/>
                </a:solidFill>
                <a:latin typeface="Arial"/>
              </a:rPr>
              <a:t>Cut-over of open items: migration cockpit, key date, reconciliation with legacy system</a:t>
            </a:r>
          </a:p>
          <a:p>
            <a:pPr algn="l" marL="164592" indent="-164592">
              <a:spcAft>
                <a:spcPts val="500"/>
              </a:spcAft>
              <a:buChar char="•"/>
            </a:pPr>
            <a:r>
              <a:rPr sz="1150" b="0" i="0">
                <a:solidFill>
                  <a:srgbClr val="2B2B2B"/>
                </a:solidFill>
                <a:latin typeface="Arial"/>
              </a:rPr>
              <a:t>Intercompany invoices: intercompany process or manual?</a:t>
            </a:r>
          </a:p>
          <a:p>
            <a:pPr algn="l" marL="164592" indent="-164592">
              <a:spcAft>
                <a:spcPts val="500"/>
              </a:spcAft>
              <a:buChar char="•"/>
            </a:pPr>
            <a:r>
              <a:rPr sz="1150" b="0" i="0">
                <a:solidFill>
                  <a:srgbClr val="2B2B2B"/>
                </a:solidFill>
                <a:latin typeface="Arial"/>
              </a:rPr>
              <a:t>Same accounts, tax and profitability derivation confirmed for all paths?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TextBox 2"/>
          <p:cNvSpPr txBox="1"/>
          <p:nvPr/>
        </p:nvSpPr>
        <p:spPr>
          <a:xfrm>
            <a:off x="822960" y="2103120"/>
            <a:ext cx="10058400" cy="365760"/>
          </a:xfrm>
          <a:prstGeom prst="rect">
            <a:avLst/>
          </a:prstGeom>
          <a:noFill/>
        </p:spPr>
        <p:txBody>
          <a:bodyPr wrap="square" anchor="t" lIns="45720" rIns="45720">
            <a:spAutoFit/>
          </a:bodyPr>
          <a:lstStyle/>
          <a:p>
            <a:pPr algn="l">
              <a:spcAft>
                <a:spcPts val="400"/>
              </a:spcAft>
            </a:pPr>
            <a:r>
              <a:rPr sz="1400" b="1" i="0">
                <a:solidFill>
                  <a:srgbClr val="C6DCE2"/>
                </a:solidFill>
                <a:latin typeface="Arial"/>
              </a:rPr>
              <a:t>Topic 4</a:t>
            </a:r>
          </a:p>
        </p:txBody>
      </p:sp>
      <p:sp>
        <p:nvSpPr>
          <p:cNvPr id="4" name="TextBox 3"/>
          <p:cNvSpPr txBox="1"/>
          <p:nvPr/>
        </p:nvSpPr>
        <p:spPr>
          <a:xfrm>
            <a:off x="822960" y="2514600"/>
            <a:ext cx="10515600" cy="1188720"/>
          </a:xfrm>
          <a:prstGeom prst="rect">
            <a:avLst/>
          </a:prstGeom>
          <a:noFill/>
        </p:spPr>
        <p:txBody>
          <a:bodyPr wrap="square" anchor="ctr" lIns="45720" rIns="45720">
            <a:spAutoFit/>
          </a:bodyPr>
          <a:lstStyle/>
          <a:p>
            <a:pPr algn="l">
              <a:spcAft>
                <a:spcPts val="400"/>
              </a:spcAft>
            </a:pPr>
            <a:r>
              <a:rPr sz="3600" b="1" i="0">
                <a:solidFill>
                  <a:srgbClr val="FFFFFF"/>
                </a:solidFill>
                <a:latin typeface="Arial"/>
              </a:rPr>
              <a:t>Posting, open item and basic configuration</a:t>
            </a:r>
          </a:p>
        </p:txBody>
      </p:sp>
      <p:sp>
        <p:nvSpPr>
          <p:cNvPr id="5" name="TextBox 4"/>
          <p:cNvSpPr txBox="1"/>
          <p:nvPr/>
        </p:nvSpPr>
        <p:spPr>
          <a:xfrm>
            <a:off x="822960" y="3794760"/>
            <a:ext cx="10058400" cy="1097280"/>
          </a:xfrm>
          <a:prstGeom prst="rect">
            <a:avLst/>
          </a:prstGeom>
          <a:noFill/>
        </p:spPr>
        <p:txBody>
          <a:bodyPr wrap="square" anchor="t" lIns="45720" rIns="45720">
            <a:spAutoFit/>
          </a:bodyPr>
          <a:lstStyle/>
          <a:p>
            <a:pPr algn="l">
              <a:spcAft>
                <a:spcPts val="400"/>
              </a:spcAft>
            </a:pPr>
            <a:r>
              <a:rPr sz="1600" b="0" i="0">
                <a:solidFill>
                  <a:srgbClr val="FFFFFF"/>
                </a:solidFill>
                <a:latin typeface="Arial"/>
              </a:rPr>
              <a:t>Posting starts the life of the open item. Configuration determines what it looks like, who owns it and how the company analyzes and steers receivables.</a:t>
            </a:r>
          </a:p>
        </p:txBody>
      </p:sp>
      <p:sp>
        <p:nvSpPr>
          <p:cNvPr id="6" name="TextBox 5"/>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C6DCE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4 · Posting and open items · Theory</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Why the open item has to be maintained</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20</a:t>
            </a:r>
          </a:p>
        </p:txBody>
      </p:sp>
      <p:sp>
        <p:nvSpPr>
          <p:cNvPr id="6" name="Rounded Rectangle 5"/>
          <p:cNvSpPr/>
          <p:nvPr/>
        </p:nvSpPr>
        <p:spPr>
          <a:xfrm>
            <a:off x="548640" y="1463040"/>
            <a:ext cx="5394960" cy="21031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Oval 6"/>
          <p:cNvSpPr/>
          <p:nvPr/>
        </p:nvSpPr>
        <p:spPr>
          <a:xfrm>
            <a:off x="713232" y="1609344"/>
            <a:ext cx="329184" cy="329184"/>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133856" y="1591056"/>
            <a:ext cx="4672584"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Customer account as basis for negotiation</a:t>
            </a:r>
          </a:p>
        </p:txBody>
      </p:sp>
      <p:sp>
        <p:nvSpPr>
          <p:cNvPr id="9" name="TextBox 8"/>
          <p:cNvSpPr txBox="1"/>
          <p:nvPr/>
        </p:nvSpPr>
        <p:spPr>
          <a:xfrm>
            <a:off x="713232" y="2011680"/>
            <a:ext cx="5065776" cy="1463039"/>
          </a:xfrm>
          <a:prstGeom prst="rect">
            <a:avLst/>
          </a:prstGeom>
          <a:noFill/>
        </p:spPr>
        <p:txBody>
          <a:bodyPr wrap="square" anchor="t" lIns="45720" rIns="45720">
            <a:spAutoFit/>
          </a:bodyPr>
          <a:lstStyle/>
          <a:p>
            <a:pPr algn="l">
              <a:spcAft>
                <a:spcPts val="300"/>
              </a:spcAft>
            </a:pPr>
            <a:r>
              <a:rPr sz="1300" b="0" i="0">
                <a:solidFill>
                  <a:srgbClr val="2B2B2B"/>
                </a:solidFill>
                <a:latin typeface="Arial"/>
              </a:rPr>
              <a:t>Account statement, open item list and balance confirmation must be producible from the system at any time. They are the documents customer and company use to reconcile.</a:t>
            </a:r>
          </a:p>
        </p:txBody>
      </p:sp>
      <p:sp>
        <p:nvSpPr>
          <p:cNvPr id="10" name="Rounded Rectangle 9"/>
          <p:cNvSpPr/>
          <p:nvPr/>
        </p:nvSpPr>
        <p:spPr>
          <a:xfrm>
            <a:off x="6217920" y="1463040"/>
            <a:ext cx="5394960" cy="21031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Oval 10"/>
          <p:cNvSpPr/>
          <p:nvPr/>
        </p:nvSpPr>
        <p:spPr>
          <a:xfrm>
            <a:off x="6382512" y="1609344"/>
            <a:ext cx="329184" cy="329184"/>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2" name="TextBox 11"/>
          <p:cNvSpPr txBox="1"/>
          <p:nvPr/>
        </p:nvSpPr>
        <p:spPr>
          <a:xfrm>
            <a:off x="6803136" y="1591056"/>
            <a:ext cx="4672584"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Corrections are daily business</a:t>
            </a:r>
          </a:p>
        </p:txBody>
      </p:sp>
      <p:sp>
        <p:nvSpPr>
          <p:cNvPr id="13" name="TextBox 12"/>
          <p:cNvSpPr txBox="1"/>
          <p:nvPr/>
        </p:nvSpPr>
        <p:spPr>
          <a:xfrm>
            <a:off x="6382512" y="2011680"/>
            <a:ext cx="5065776" cy="1463039"/>
          </a:xfrm>
          <a:prstGeom prst="rect">
            <a:avLst/>
          </a:prstGeom>
          <a:noFill/>
        </p:spPr>
        <p:txBody>
          <a:bodyPr wrap="square" anchor="t" lIns="45720" rIns="45720">
            <a:spAutoFit/>
          </a:bodyPr>
          <a:lstStyle/>
          <a:p>
            <a:pPr algn="l">
              <a:spcAft>
                <a:spcPts val="300"/>
              </a:spcAft>
            </a:pPr>
            <a:r>
              <a:rPr sz="1300" b="0" i="0">
                <a:solidFill>
                  <a:srgbClr val="2B2B2B"/>
                </a:solidFill>
                <a:latin typeface="Arial"/>
              </a:rPr>
              <a:t>Wrong invoice, wrong customer, wrong amount: reversal with reason, never deletion. Cleared items must be reopened first. Every change in the change log.</a:t>
            </a:r>
          </a:p>
        </p:txBody>
      </p:sp>
      <p:sp>
        <p:nvSpPr>
          <p:cNvPr id="14" name="Rounded Rectangle 13"/>
          <p:cNvSpPr/>
          <p:nvPr/>
        </p:nvSpPr>
        <p:spPr>
          <a:xfrm>
            <a:off x="548640" y="3794760"/>
            <a:ext cx="5394960" cy="21031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Oval 14"/>
          <p:cNvSpPr/>
          <p:nvPr/>
        </p:nvSpPr>
        <p:spPr>
          <a:xfrm>
            <a:off x="713232" y="3941064"/>
            <a:ext cx="329184" cy="329184"/>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6" name="TextBox 15"/>
          <p:cNvSpPr txBox="1"/>
          <p:nvPr/>
        </p:nvSpPr>
        <p:spPr>
          <a:xfrm>
            <a:off x="1133856" y="3922776"/>
            <a:ext cx="4672584"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Steering via key figures</a:t>
            </a:r>
          </a:p>
        </p:txBody>
      </p:sp>
      <p:sp>
        <p:nvSpPr>
          <p:cNvPr id="17" name="TextBox 16"/>
          <p:cNvSpPr txBox="1"/>
          <p:nvPr/>
        </p:nvSpPr>
        <p:spPr>
          <a:xfrm>
            <a:off x="713232" y="4343400"/>
            <a:ext cx="5065776" cy="1463039"/>
          </a:xfrm>
          <a:prstGeom prst="rect">
            <a:avLst/>
          </a:prstGeom>
          <a:noFill/>
        </p:spPr>
        <p:txBody>
          <a:bodyPr wrap="square" anchor="t" lIns="45720" rIns="45720">
            <a:spAutoFit/>
          </a:bodyPr>
          <a:lstStyle/>
          <a:p>
            <a:pPr algn="l">
              <a:spcAft>
                <a:spcPts val="300"/>
              </a:spcAft>
            </a:pPr>
            <a:r>
              <a:rPr sz="1300" b="0" i="0">
                <a:solidFill>
                  <a:srgbClr val="2B2B2B"/>
                </a:solidFill>
                <a:latin typeface="Arial"/>
              </a:rPr>
              <a:t>Overdue by age, DSO, days beyond terms, dunning level distribution, top debtors. They only emerge from well maintained master data and items.</a:t>
            </a:r>
          </a:p>
        </p:txBody>
      </p:sp>
      <p:sp>
        <p:nvSpPr>
          <p:cNvPr id="18" name="Rounded Rectangle 17"/>
          <p:cNvSpPr/>
          <p:nvPr/>
        </p:nvSpPr>
        <p:spPr>
          <a:xfrm>
            <a:off x="6217920" y="3794760"/>
            <a:ext cx="5394960" cy="21031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Oval 18"/>
          <p:cNvSpPr/>
          <p:nvPr/>
        </p:nvSpPr>
        <p:spPr>
          <a:xfrm>
            <a:off x="6382512" y="3941064"/>
            <a:ext cx="329184" cy="329184"/>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20" name="TextBox 19"/>
          <p:cNvSpPr txBox="1"/>
          <p:nvPr/>
        </p:nvSpPr>
        <p:spPr>
          <a:xfrm>
            <a:off x="6803136" y="3922776"/>
            <a:ext cx="4672584"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Preparing the payment receipt</a:t>
            </a:r>
          </a:p>
        </p:txBody>
      </p:sp>
      <p:sp>
        <p:nvSpPr>
          <p:cNvPr id="21" name="TextBox 20"/>
          <p:cNvSpPr txBox="1"/>
          <p:nvPr/>
        </p:nvSpPr>
        <p:spPr>
          <a:xfrm>
            <a:off x="6382512" y="4343400"/>
            <a:ext cx="5065776" cy="1463039"/>
          </a:xfrm>
          <a:prstGeom prst="rect">
            <a:avLst/>
          </a:prstGeom>
          <a:noFill/>
        </p:spPr>
        <p:txBody>
          <a:bodyPr wrap="square" anchor="t" lIns="45720" rIns="45720">
            <a:spAutoFit/>
          </a:bodyPr>
          <a:lstStyle/>
          <a:p>
            <a:pPr algn="l">
              <a:spcAft>
                <a:spcPts val="300"/>
              </a:spcAft>
            </a:pPr>
            <a:r>
              <a:rPr sz="1300" b="0" i="0">
                <a:solidFill>
                  <a:srgbClr val="2B2B2B"/>
                </a:solidFill>
                <a:latin typeface="Arial"/>
              </a:rPr>
              <a:t>Reference, amount and customer on the item are the keys for automatic matching of the bank statement. Poor item quality means manual work (workshop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4 · Posting and open items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Apps for managing open items and steering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21</a:t>
            </a:r>
          </a:p>
        </p:txBody>
      </p:sp>
      <p:graphicFrame>
        <p:nvGraphicFramePr>
          <p:cNvPr id="6" name="Table 5"/>
          <p:cNvGraphicFramePr>
            <a:graphicFrameLocks noGrp="1"/>
          </p:cNvGraphicFramePr>
          <p:nvPr/>
        </p:nvGraphicFramePr>
        <p:xfrm>
          <a:off x="548640" y="1417320"/>
          <a:ext cx="11064240" cy="3657600"/>
        </p:xfrm>
        <a:graphic>
          <a:graphicData uri="http://schemas.openxmlformats.org/drawingml/2006/table">
            <a:tbl>
              <a:tblPr firstRow="1" bandRow="0">
                <a:tableStyleId>{5940675A-B579-460E-94D1-54222C63F5DA}</a:tableStyleId>
              </a:tblPr>
              <a:tblGrid>
                <a:gridCol w="3566160"/>
                <a:gridCol w="1828800"/>
                <a:gridCol w="5669280"/>
              </a:tblGrid>
              <a:tr h="457200">
                <a:tc>
                  <a:txBody>
                    <a:bodyPr wrap="square"/>
                    <a:lstStyle/>
                    <a:p>
                      <a:pPr>
                        <a:spcAft>
                          <a:spcPts val="100"/>
                        </a:spcAft>
                      </a:pPr>
                      <a:r>
                        <a:rPr sz="1150" b="1" i="0">
                          <a:solidFill>
                            <a:srgbClr val="FFFFFF"/>
                          </a:solidFill>
                          <a:latin typeface="Arial"/>
                        </a:rPr>
                        <a:t>App</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Role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Purpose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Manage Customer Line Items (F0711)</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Find items, payment block, dunning block, change payment data and texts (Edit Line Items)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Display Customer Balances (F0703A)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Balance development per period, special G/L (down payments, guarantees)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Create Correspondence (F0744A)</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Account statement SAP06, open item list SAP08, customer statement SAP13, invoice SAP21</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Reset Cleared Items (F2223), Manage Journal Entries (F0717A)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 GL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Undo clearing, reversal with reason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Display Item Change Log – Customer (F7796)</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Manager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Log of all item changes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Accounts Receivable Overview (F3242)</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Manager</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Entry page: AR aging, DSO, top 10 debtors, cash collection tracker, My Inbox</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KPI apps F1747, F2539, F1744, F1748, F1741, F1739, F1742</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Manager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Overdue today and by risk class, future and total receivables, DSO, days beyond terms, dunning levels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
        <p:nvSpPr>
          <p:cNvPr id="7" name="TextBox 6"/>
          <p:cNvSpPr txBox="1"/>
          <p:nvPr/>
        </p:nvSpPr>
        <p:spPr>
          <a:xfrm>
            <a:off x="548640" y="5577840"/>
            <a:ext cx="11064240" cy="640080"/>
          </a:xfrm>
          <a:prstGeom prst="rect">
            <a:avLst/>
          </a:prstGeom>
          <a:noFill/>
        </p:spPr>
        <p:txBody>
          <a:bodyPr wrap="square" anchor="t" lIns="45720" rIns="45720">
            <a:spAutoFit/>
          </a:bodyPr>
          <a:lstStyle/>
          <a:p>
            <a:pPr algn="l">
              <a:spcAft>
                <a:spcPts val="400"/>
              </a:spcAft>
            </a:pPr>
            <a:r>
              <a:rPr sz="1150" b="0" i="0">
                <a:solidFill>
                  <a:srgbClr val="6B6B6B"/>
                </a:solidFill>
                <a:latin typeface="Arial"/>
              </a:rPr>
              <a:t>All analytics run by company code, customer, country, accounting clerk. What is missing in the master record is missing here as well.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4 · Follow-up processes · Outlook workshop 4</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After posting: payment, clearing, dunning, closing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22</a:t>
            </a:r>
          </a:p>
        </p:txBody>
      </p:sp>
      <p:sp>
        <p:nvSpPr>
          <p:cNvPr id="6" name="Pentagon 5"/>
          <p:cNvSpPr/>
          <p:nvPr/>
        </p:nvSpPr>
        <p:spPr>
          <a:xfrm>
            <a:off x="548640" y="1417320"/>
            <a:ext cx="1798320"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Open item</a:t>
            </a:r>
          </a:p>
        </p:txBody>
      </p:sp>
      <p:sp>
        <p:nvSpPr>
          <p:cNvPr id="7" name="Chevron 6"/>
          <p:cNvSpPr/>
          <p:nvPr/>
        </p:nvSpPr>
        <p:spPr>
          <a:xfrm>
            <a:off x="2401824"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Payment</a:t>
            </a:r>
          </a:p>
        </p:txBody>
      </p:sp>
      <p:sp>
        <p:nvSpPr>
          <p:cNvPr id="8" name="Chevron 7"/>
          <p:cNvSpPr/>
          <p:nvPr/>
        </p:nvSpPr>
        <p:spPr>
          <a:xfrm>
            <a:off x="4255007"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Clearing</a:t>
            </a:r>
          </a:p>
        </p:txBody>
      </p:sp>
      <p:sp>
        <p:nvSpPr>
          <p:cNvPr id="9" name="Chevron 8"/>
          <p:cNvSpPr/>
          <p:nvPr/>
        </p:nvSpPr>
        <p:spPr>
          <a:xfrm>
            <a:off x="6108191"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Dunning</a:t>
            </a:r>
          </a:p>
        </p:txBody>
      </p:sp>
      <p:sp>
        <p:nvSpPr>
          <p:cNvPr id="10" name="Chevron 9"/>
          <p:cNvSpPr/>
          <p:nvPr/>
        </p:nvSpPr>
        <p:spPr>
          <a:xfrm>
            <a:off x="7961375"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Interest, balances</a:t>
            </a:r>
          </a:p>
        </p:txBody>
      </p:sp>
      <p:sp>
        <p:nvSpPr>
          <p:cNvPr id="11" name="Chevron 10"/>
          <p:cNvSpPr/>
          <p:nvPr/>
        </p:nvSpPr>
        <p:spPr>
          <a:xfrm>
            <a:off x="9814560"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Write-off</a:t>
            </a:r>
          </a:p>
        </p:txBody>
      </p:sp>
      <p:graphicFrame>
        <p:nvGraphicFramePr>
          <p:cNvPr id="12" name="Table 11"/>
          <p:cNvGraphicFramePr>
            <a:graphicFrameLocks noGrp="1"/>
          </p:cNvGraphicFramePr>
          <p:nvPr/>
        </p:nvGraphicFramePr>
        <p:xfrm>
          <a:off x="548640" y="2468880"/>
          <a:ext cx="11064240" cy="3017520"/>
        </p:xfrm>
        <a:graphic>
          <a:graphicData uri="http://schemas.openxmlformats.org/drawingml/2006/table">
            <a:tbl>
              <a:tblPr firstRow="1" bandRow="0">
                <a:tableStyleId>{5940675A-B579-460E-94D1-54222C63F5DA}</a:tableStyleId>
              </a:tblPr>
              <a:tblGrid>
                <a:gridCol w="2926080"/>
                <a:gridCol w="3931920"/>
                <a:gridCol w="4206240"/>
              </a:tblGrid>
              <a:tr h="502920">
                <a:tc>
                  <a:txBody>
                    <a:bodyPr wrap="square"/>
                    <a:lstStyle/>
                    <a:p>
                      <a:pPr>
                        <a:spcAft>
                          <a:spcPts val="100"/>
                        </a:spcAft>
                      </a:pPr>
                      <a:r>
                        <a:rPr sz="1150" b="1" i="0">
                          <a:solidFill>
                            <a:srgbClr val="FFFFFF"/>
                          </a:solidFill>
                          <a:latin typeface="Arial"/>
                        </a:rPr>
                        <a:t>Step</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Apps</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What happens</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Incoming payment automatic</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Reprocess Bank Statement Items (F1520), rules F3555 / F9062 / F9297, optional 1MV</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Bank statement (BFB) matches payments via reference and rules; rest manual</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Incoming payment manual</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Post Incoming Payments (F1345), Manual Clearing (F0773), payment advices (F2550A)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Bank to customer with clearing, partial payment, residual items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Dunning</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Create Dunning Notices (F150), My Dunning Proposals (F2435), Dunning History (F2328)</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Procedure 1001 (14 days, 4 levels) or 1002 (30 days after invoice)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Interest and balance confirmation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Interest Calculation Jobs (F4176), Balance Confirmations (F2366, F2834)</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Item interest via interest indicator; reconciliation for year-end closing</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Write-off, collections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Write Off Receivables (F6728); BFC, 7MA, 2PD</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Reason code and account for write-off; collections and disputes with additional license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4 · Basic configuration · Theory and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Basic configuration: choose settings, not objects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23</a:t>
            </a:r>
          </a:p>
        </p:txBody>
      </p:sp>
      <p:graphicFrame>
        <p:nvGraphicFramePr>
          <p:cNvPr id="6" name="Table 5"/>
          <p:cNvGraphicFramePr>
            <a:graphicFrameLocks noGrp="1"/>
          </p:cNvGraphicFramePr>
          <p:nvPr/>
        </p:nvGraphicFramePr>
        <p:xfrm>
          <a:off x="548640" y="1417320"/>
          <a:ext cx="11064240" cy="4114800"/>
        </p:xfrm>
        <a:graphic>
          <a:graphicData uri="http://schemas.openxmlformats.org/drawingml/2006/table">
            <a:tbl>
              <a:tblPr firstRow="1" bandRow="0">
                <a:tableStyleId>{5940675A-B579-460E-94D1-54222C63F5DA}</a:tableStyleId>
              </a:tblPr>
              <a:tblGrid>
                <a:gridCol w="2377440"/>
                <a:gridCol w="4480560"/>
                <a:gridCol w="4206240"/>
              </a:tblGrid>
              <a:tr h="457200">
                <a:tc>
                  <a:txBody>
                    <a:bodyPr wrap="square"/>
                    <a:lstStyle/>
                    <a:p>
                      <a:pPr>
                        <a:spcAft>
                          <a:spcPts val="100"/>
                        </a:spcAft>
                      </a:pPr>
                      <a:r>
                        <a:rPr sz="1150" b="1" i="0">
                          <a:solidFill>
                            <a:srgbClr val="FFFFFF"/>
                          </a:solidFill>
                          <a:latin typeface="Arial"/>
                        </a:rPr>
                        <a:t>Decision area</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Business question behind it</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Configuration (SSCUI / CBC)</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Accounting clerks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Who owns which customers, who duns, who appears in key figures?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Define Accounting Clerks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Payment terms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Which payment targets and discounts, which are default?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Terms of Payment; 0001 due immediately predelivered</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Reconciliation accounts, document types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How do we structure receivables in the balance sheet? DR, DG, DZ, DA, RV</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Customer master; document types and number ranges fixed</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Revenue accounts, profitability segment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How do we analyze revenue (product, customer, region)?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Manage Default Account Assignments (41000400, profitability segment)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Invoice and correspondence forms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What does our invoice look like, how is it sent, in which language?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Output Parameter Determination (BRF+), Maintain Form Templates (F1434), Assign Form / Email Templates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Dunning procedures, interest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How consistently do we dun, do we charge interest on arrears?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1001 / 1002 predelivered, interest indicator 01 (workshop 4)</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Tolerances, reason codes, write-off</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Which differences do we accept automatically, when do we write off?</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Tolerance groups; Automatic Account Determination, key ZDI with reason code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Credit management, roles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Do we check limits, who releases, who may do what?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Credit segments, Activate Features FIN_FSCM_REBUILD_DCD; role templates SAP_BR_*</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Topic 4 · Basic configuration · Practice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Configuration walkthrough and questions for the business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24</a:t>
            </a:r>
          </a:p>
        </p:txBody>
      </p:sp>
      <p:sp>
        <p:nvSpPr>
          <p:cNvPr id="6" name="TextBox 5"/>
          <p:cNvSpPr txBox="1"/>
          <p:nvPr/>
        </p:nvSpPr>
        <p:spPr>
          <a:xfrm>
            <a:off x="548640" y="1417320"/>
            <a:ext cx="566928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Demo in the system (approx. 20 minutes)</a:t>
            </a:r>
          </a:p>
        </p:txBody>
      </p:sp>
      <p:sp>
        <p:nvSpPr>
          <p:cNvPr id="7" name="Oval 6"/>
          <p:cNvSpPr/>
          <p:nvPr/>
        </p:nvSpPr>
        <p:spPr>
          <a:xfrm>
            <a:off x="548640" y="1874519"/>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051560" y="1828800"/>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Balances and overview</a:t>
            </a:r>
          </a:p>
        </p:txBody>
      </p:sp>
      <p:sp>
        <p:nvSpPr>
          <p:cNvPr id="9" name="TextBox 8"/>
          <p:cNvSpPr txBox="1"/>
          <p:nvPr/>
        </p:nvSpPr>
        <p:spPr>
          <a:xfrm>
            <a:off x="1051560" y="2103120"/>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Display Customer Balances (F0703A), Accounts Receivable Overview (F3242), Item Change Log (F7796)</a:t>
            </a:r>
          </a:p>
        </p:txBody>
      </p:sp>
      <p:sp>
        <p:nvSpPr>
          <p:cNvPr id="10" name="Oval 9"/>
          <p:cNvSpPr/>
          <p:nvPr/>
        </p:nvSpPr>
        <p:spPr>
          <a:xfrm>
            <a:off x="548640" y="2715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1" name="TextBox 10"/>
          <p:cNvSpPr txBox="1"/>
          <p:nvPr/>
        </p:nvSpPr>
        <p:spPr>
          <a:xfrm>
            <a:off x="1051560" y="2670048"/>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Accounting clerks and account assignment</a:t>
            </a:r>
          </a:p>
        </p:txBody>
      </p:sp>
      <p:sp>
        <p:nvSpPr>
          <p:cNvPr id="12" name="TextBox 11"/>
          <p:cNvSpPr txBox="1"/>
          <p:nvPr/>
        </p:nvSpPr>
        <p:spPr>
          <a:xfrm>
            <a:off x="1051560" y="2944368"/>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Define Accounting Clerks; Manage Default Account Assignments</a:t>
            </a:r>
          </a:p>
        </p:txBody>
      </p:sp>
      <p:sp>
        <p:nvSpPr>
          <p:cNvPr id="13" name="Oval 12"/>
          <p:cNvSpPr/>
          <p:nvPr/>
        </p:nvSpPr>
        <p:spPr>
          <a:xfrm>
            <a:off x="548640" y="3557015"/>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4" name="TextBox 13"/>
          <p:cNvSpPr txBox="1"/>
          <p:nvPr/>
        </p:nvSpPr>
        <p:spPr>
          <a:xfrm>
            <a:off x="1051560" y="3511296"/>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Account determination</a:t>
            </a:r>
          </a:p>
        </p:txBody>
      </p:sp>
      <p:sp>
        <p:nvSpPr>
          <p:cNvPr id="15" name="TextBox 14"/>
          <p:cNvSpPr txBox="1"/>
          <p:nvPr/>
        </p:nvSpPr>
        <p:spPr>
          <a:xfrm>
            <a:off x="1051560" y="3785615"/>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Automatic Account Determination: key ZDI, YCOA, reason code 200</a:t>
            </a:r>
          </a:p>
        </p:txBody>
      </p:sp>
      <p:sp>
        <p:nvSpPr>
          <p:cNvPr id="16" name="Oval 15"/>
          <p:cNvSpPr/>
          <p:nvPr/>
        </p:nvSpPr>
        <p:spPr>
          <a:xfrm>
            <a:off x="548640" y="4398264"/>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17" name="TextBox 16"/>
          <p:cNvSpPr txBox="1"/>
          <p:nvPr/>
        </p:nvSpPr>
        <p:spPr>
          <a:xfrm>
            <a:off x="1051560" y="4352544"/>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Output control</a:t>
            </a:r>
          </a:p>
        </p:txBody>
      </p:sp>
      <p:sp>
        <p:nvSpPr>
          <p:cNvPr id="18" name="TextBox 17"/>
          <p:cNvSpPr txBox="1"/>
          <p:nvPr/>
        </p:nvSpPr>
        <p:spPr>
          <a:xfrm>
            <a:off x="1051560" y="4626864"/>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Output Parameter Determination for Accounting Document; Maintain Form Templates (F1434)</a:t>
            </a:r>
          </a:p>
        </p:txBody>
      </p:sp>
      <p:sp>
        <p:nvSpPr>
          <p:cNvPr id="19" name="Oval 18"/>
          <p:cNvSpPr/>
          <p:nvPr/>
        </p:nvSpPr>
        <p:spPr>
          <a:xfrm>
            <a:off x="548640" y="5239512"/>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5</a:t>
            </a:r>
          </a:p>
        </p:txBody>
      </p:sp>
      <p:sp>
        <p:nvSpPr>
          <p:cNvPr id="20" name="TextBox 19"/>
          <p:cNvSpPr txBox="1"/>
          <p:nvPr/>
        </p:nvSpPr>
        <p:spPr>
          <a:xfrm>
            <a:off x="1051560" y="5193792"/>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Predelivered, show only</a:t>
            </a:r>
          </a:p>
        </p:txBody>
      </p:sp>
      <p:sp>
        <p:nvSpPr>
          <p:cNvPr id="21" name="TextBox 20"/>
          <p:cNvSpPr txBox="1"/>
          <p:nvPr/>
        </p:nvSpPr>
        <p:spPr>
          <a:xfrm>
            <a:off x="1051560" y="5468112"/>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Payment terms, dunning procedures 1001 / 1002, Activate Features (BD6)</a:t>
            </a:r>
          </a:p>
        </p:txBody>
      </p:sp>
      <p:sp>
        <p:nvSpPr>
          <p:cNvPr id="22" name="Rounded Rectangle 21"/>
          <p:cNvSpPr/>
          <p:nvPr/>
        </p:nvSpPr>
        <p:spPr>
          <a:xfrm>
            <a:off x="6583680" y="1417320"/>
            <a:ext cx="5029200" cy="4754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766560" y="1554480"/>
            <a:ext cx="46634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Fit-to-standard questions</a:t>
            </a:r>
          </a:p>
        </p:txBody>
      </p:sp>
      <p:sp>
        <p:nvSpPr>
          <p:cNvPr id="24" name="TextBox 23"/>
          <p:cNvSpPr txBox="1"/>
          <p:nvPr/>
        </p:nvSpPr>
        <p:spPr>
          <a:xfrm>
            <a:off x="6766560" y="1965960"/>
            <a:ext cx="4663440" cy="4114800"/>
          </a:xfrm>
          <a:prstGeom prst="rect">
            <a:avLst/>
          </a:prstGeom>
          <a:noFill/>
        </p:spPr>
        <p:txBody>
          <a:bodyPr wrap="square" anchor="t" lIns="45720" rIns="45720">
            <a:spAutoFit/>
          </a:bodyPr>
          <a:lstStyle/>
          <a:p>
            <a:pPr algn="l" marL="164592" indent="-164592">
              <a:spcAft>
                <a:spcPts val="500"/>
              </a:spcAft>
              <a:buChar char="•"/>
            </a:pPr>
            <a:r>
              <a:rPr sz="1150" b="0" i="0">
                <a:solidFill>
                  <a:srgbClr val="2B2B2B"/>
                </a:solidFill>
                <a:latin typeface="Arial"/>
              </a:rPr>
              <a:t>Document types and mandatory reference; posting period control for customers (J58)</a:t>
            </a:r>
          </a:p>
          <a:p>
            <a:pPr algn="l" marL="164592" indent="-164592">
              <a:spcAft>
                <a:spcPts val="500"/>
              </a:spcAft>
              <a:buChar char="•"/>
            </a:pPr>
            <a:r>
              <a:rPr sz="1150" b="0" i="0">
                <a:solidFill>
                  <a:srgbClr val="2B2B2B"/>
                </a:solidFill>
                <a:latin typeface="Arial"/>
              </a:rPr>
              <a:t>Tolerance groups for payment differences, residual items, reason codes for deductions</a:t>
            </a:r>
          </a:p>
          <a:p>
            <a:pPr algn="l" marL="164592" indent="-164592">
              <a:spcAft>
                <a:spcPts val="500"/>
              </a:spcAft>
              <a:buChar char="•"/>
            </a:pPr>
            <a:r>
              <a:rPr sz="1150" b="0" i="0">
                <a:solidFill>
                  <a:srgbClr val="2B2B2B"/>
                </a:solidFill>
                <a:latin typeface="Arial"/>
              </a:rPr>
              <a:t>Write-off: reason codes, accounts, amount limits, approval</a:t>
            </a:r>
          </a:p>
          <a:p>
            <a:pPr algn="l" marL="164592" indent="-164592">
              <a:spcAft>
                <a:spcPts val="500"/>
              </a:spcAft>
              <a:buChar char="•"/>
            </a:pPr>
            <a:r>
              <a:rPr sz="1150" b="0" i="0">
                <a:solidFill>
                  <a:srgbClr val="2B2B2B"/>
                </a:solidFill>
                <a:latin typeface="Arial"/>
              </a:rPr>
              <a:t>Interest calculation: yes / no, rates, minimum amounts, delivery channel</a:t>
            </a:r>
          </a:p>
          <a:p>
            <a:pPr algn="l" marL="164592" indent="-164592">
              <a:spcAft>
                <a:spcPts val="500"/>
              </a:spcAft>
              <a:buChar char="•"/>
            </a:pPr>
            <a:r>
              <a:rPr sz="1150" b="0" i="0">
                <a:solidFill>
                  <a:srgbClr val="2B2B2B"/>
                </a:solidFill>
                <a:latin typeface="Arial"/>
              </a:rPr>
              <a:t>Balance confirmation at year-end: procedure, form, dispatch</a:t>
            </a:r>
          </a:p>
          <a:p>
            <a:pPr algn="l" marL="164592" indent="-164592">
              <a:spcAft>
                <a:spcPts val="500"/>
              </a:spcAft>
              <a:buChar char="•"/>
            </a:pPr>
            <a:r>
              <a:rPr sz="1150" b="0" i="0">
                <a:solidFill>
                  <a:srgbClr val="2B2B2B"/>
                </a:solidFill>
                <a:latin typeface="Arial"/>
              </a:rPr>
              <a:t>Situation handling (31N), custom fields for items wanted?</a:t>
            </a:r>
          </a:p>
          <a:p>
            <a:pPr algn="l" marL="164592" indent="-164592">
              <a:spcAft>
                <a:spcPts val="500"/>
              </a:spcAft>
              <a:buChar char="•"/>
            </a:pPr>
            <a:r>
              <a:rPr sz="1150" b="0" i="0">
                <a:solidFill>
                  <a:srgbClr val="2B2B2B"/>
                </a:solidFill>
                <a:latin typeface="Arial"/>
              </a:rPr>
              <a:t>Role design: AR Accountant, AR Manager, Credit Controller, Configuration Expert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Closing</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Workshop outcome: decisions and open points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 Workshop 3 · Accounts Receivable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25</a:t>
            </a:r>
          </a:p>
        </p:txBody>
      </p:sp>
      <p:sp>
        <p:nvSpPr>
          <p:cNvPr id="6" name="Rounded Rectangle 5"/>
          <p:cNvSpPr/>
          <p:nvPr/>
        </p:nvSpPr>
        <p:spPr>
          <a:xfrm>
            <a:off x="548640" y="1417320"/>
            <a:ext cx="3566160" cy="3291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713232" y="1545336"/>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Decided in the workshop</a:t>
            </a:r>
          </a:p>
        </p:txBody>
      </p:sp>
      <p:sp>
        <p:nvSpPr>
          <p:cNvPr id="8" name="TextBox 7"/>
          <p:cNvSpPr txBox="1"/>
          <p:nvPr/>
        </p:nvSpPr>
        <p:spPr>
          <a:xfrm>
            <a:off x="713232" y="1965960"/>
            <a:ext cx="3236976" cy="2651760"/>
          </a:xfrm>
          <a:prstGeom prst="rect">
            <a:avLst/>
          </a:prstGeom>
          <a:noFill/>
        </p:spPr>
        <p:txBody>
          <a:bodyPr wrap="square" anchor="t" lIns="45720" rIns="45720">
            <a:spAutoFit/>
          </a:bodyPr>
          <a:lstStyle/>
          <a:p>
            <a:pPr algn="l" marL="164592" indent="-164592">
              <a:spcAft>
                <a:spcPts val="300"/>
              </a:spcAft>
              <a:buChar char="•"/>
            </a:pPr>
            <a:r>
              <a:rPr sz="1200" b="0" i="0">
                <a:solidFill>
                  <a:srgbClr val="2B2B2B"/>
                </a:solidFill>
                <a:latin typeface="Arial"/>
              </a:rPr>
              <a:t>Master data governance and mandatory fields</a:t>
            </a:r>
          </a:p>
          <a:p>
            <a:pPr algn="l" marL="164592" indent="-164592">
              <a:spcAft>
                <a:spcPts val="300"/>
              </a:spcAft>
              <a:buChar char="•"/>
            </a:pPr>
            <a:r>
              <a:rPr sz="1200" b="0" i="0">
                <a:solidFill>
                  <a:srgbClr val="2B2B2B"/>
                </a:solidFill>
                <a:latin typeface="Arial"/>
              </a:rPr>
              <a:t>Invoice path per source</a:t>
            </a:r>
          </a:p>
          <a:p>
            <a:pPr algn="l" marL="164592" indent="-164592">
              <a:spcAft>
                <a:spcPts val="300"/>
              </a:spcAft>
              <a:buChar char="•"/>
            </a:pPr>
            <a:r>
              <a:rPr sz="1200" b="0" i="0">
                <a:solidFill>
                  <a:srgbClr val="2B2B2B"/>
                </a:solidFill>
                <a:latin typeface="Arial"/>
              </a:rPr>
              <a:t>Output channel and form</a:t>
            </a:r>
          </a:p>
          <a:p>
            <a:pPr algn="l" marL="164592" indent="-164592">
              <a:spcAft>
                <a:spcPts val="300"/>
              </a:spcAft>
              <a:buChar char="•"/>
            </a:pPr>
            <a:r>
              <a:rPr sz="1200" b="0" i="0">
                <a:solidFill>
                  <a:srgbClr val="2B2B2B"/>
                </a:solidFill>
                <a:latin typeface="Arial"/>
              </a:rPr>
              <a:t>Credit management yes / no</a:t>
            </a:r>
          </a:p>
        </p:txBody>
      </p:sp>
      <p:sp>
        <p:nvSpPr>
          <p:cNvPr id="9" name="Rounded Rectangle 8"/>
          <p:cNvSpPr/>
          <p:nvPr/>
        </p:nvSpPr>
        <p:spPr>
          <a:xfrm>
            <a:off x="4297679" y="1417320"/>
            <a:ext cx="3566160" cy="3291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4462271" y="1545336"/>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Open, with owner</a:t>
            </a:r>
          </a:p>
        </p:txBody>
      </p:sp>
      <p:sp>
        <p:nvSpPr>
          <p:cNvPr id="11" name="TextBox 10"/>
          <p:cNvSpPr txBox="1"/>
          <p:nvPr/>
        </p:nvSpPr>
        <p:spPr>
          <a:xfrm>
            <a:off x="4462271" y="1965960"/>
            <a:ext cx="3236976" cy="2651760"/>
          </a:xfrm>
          <a:prstGeom prst="rect">
            <a:avLst/>
          </a:prstGeom>
          <a:noFill/>
        </p:spPr>
        <p:txBody>
          <a:bodyPr wrap="square" anchor="t" lIns="45720" rIns="45720">
            <a:spAutoFit/>
          </a:bodyPr>
          <a:lstStyle/>
          <a:p>
            <a:pPr algn="l" marL="164592" indent="-164592">
              <a:spcAft>
                <a:spcPts val="300"/>
              </a:spcAft>
              <a:buChar char="•"/>
            </a:pPr>
            <a:r>
              <a:rPr sz="1200" b="0" i="0">
                <a:solidFill>
                  <a:srgbClr val="2B2B2B"/>
                </a:solidFill>
                <a:latin typeface="Arial"/>
              </a:rPr>
              <a:t>List of payment terms</a:t>
            </a:r>
          </a:p>
          <a:p>
            <a:pPr algn="l" marL="164592" indent="-164592">
              <a:spcAft>
                <a:spcPts val="300"/>
              </a:spcAft>
              <a:buChar char="•"/>
            </a:pPr>
            <a:r>
              <a:rPr sz="1200" b="0" i="0">
                <a:solidFill>
                  <a:srgbClr val="2B2B2B"/>
                </a:solidFill>
                <a:latin typeface="Arial"/>
              </a:rPr>
              <a:t>Revenue accounts and profitability characteristics</a:t>
            </a:r>
          </a:p>
          <a:p>
            <a:pPr algn="l" marL="164592" indent="-164592">
              <a:spcAft>
                <a:spcPts val="300"/>
              </a:spcAft>
              <a:buChar char="•"/>
            </a:pPr>
            <a:r>
              <a:rPr sz="1200" b="0" i="0">
                <a:solidFill>
                  <a:srgbClr val="2B2B2B"/>
                </a:solidFill>
                <a:latin typeface="Arial"/>
              </a:rPr>
              <a:t>Tax codes per case</a:t>
            </a:r>
          </a:p>
          <a:p>
            <a:pPr algn="l" marL="164592" indent="-164592">
              <a:spcAft>
                <a:spcPts val="300"/>
              </a:spcAft>
              <a:buChar char="•"/>
            </a:pPr>
            <a:r>
              <a:rPr sz="1200" b="0" i="0">
                <a:solidFill>
                  <a:srgbClr val="2B2B2B"/>
                </a:solidFill>
                <a:latin typeface="Arial"/>
              </a:rPr>
              <a:t>Source systems and interfaces</a:t>
            </a:r>
          </a:p>
        </p:txBody>
      </p:sp>
      <p:sp>
        <p:nvSpPr>
          <p:cNvPr id="12" name="Rounded Rectangle 11"/>
          <p:cNvSpPr/>
          <p:nvPr/>
        </p:nvSpPr>
        <p:spPr>
          <a:xfrm>
            <a:off x="8046719" y="1417320"/>
            <a:ext cx="3566160" cy="3291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8211311" y="1545336"/>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Next steps</a:t>
            </a:r>
          </a:p>
        </p:txBody>
      </p:sp>
      <p:sp>
        <p:nvSpPr>
          <p:cNvPr id="14" name="TextBox 13"/>
          <p:cNvSpPr txBox="1"/>
          <p:nvPr/>
        </p:nvSpPr>
        <p:spPr>
          <a:xfrm>
            <a:off x="8211311" y="1965960"/>
            <a:ext cx="3236976" cy="2651760"/>
          </a:xfrm>
          <a:prstGeom prst="rect">
            <a:avLst/>
          </a:prstGeom>
          <a:noFill/>
        </p:spPr>
        <p:txBody>
          <a:bodyPr wrap="square" anchor="t" lIns="45720" rIns="45720">
            <a:spAutoFit/>
          </a:bodyPr>
          <a:lstStyle/>
          <a:p>
            <a:pPr algn="l" marL="164592" indent="-164592">
              <a:spcAft>
                <a:spcPts val="300"/>
              </a:spcAft>
              <a:buChar char="•"/>
            </a:pPr>
            <a:r>
              <a:rPr sz="1200" b="0" i="0">
                <a:solidFill>
                  <a:srgbClr val="2B2B2B"/>
                </a:solidFill>
                <a:latin typeface="Arial"/>
              </a:rPr>
              <a:t>Derive KDDs from the decision list</a:t>
            </a:r>
          </a:p>
          <a:p>
            <a:pPr algn="l" marL="164592" indent="-164592">
              <a:spcAft>
                <a:spcPts val="300"/>
              </a:spcAft>
              <a:buChar char="•"/>
            </a:pPr>
            <a:r>
              <a:rPr sz="1200" b="0" i="0">
                <a:solidFill>
                  <a:srgbClr val="2B2B2B"/>
                </a:solidFill>
                <a:latin typeface="Arial"/>
              </a:rPr>
              <a:t>Configuration in the CBC project</a:t>
            </a:r>
          </a:p>
          <a:p>
            <a:pPr algn="l" marL="164592" indent="-164592">
              <a:spcAft>
                <a:spcPts val="300"/>
              </a:spcAft>
              <a:buChar char="•"/>
            </a:pPr>
            <a:r>
              <a:rPr sz="1200" b="0" i="0">
                <a:solidFill>
                  <a:srgbClr val="2B2B2B"/>
                </a:solidFill>
                <a:latin typeface="Arial"/>
              </a:rPr>
              <a:t>Assign test cases from J59 and BD6</a:t>
            </a:r>
          </a:p>
          <a:p>
            <a:pPr algn="l" marL="164592" indent="-164592">
              <a:spcAft>
                <a:spcPts val="300"/>
              </a:spcAft>
              <a:buChar char="•"/>
            </a:pPr>
            <a:r>
              <a:rPr sz="1200" b="0" i="0">
                <a:solidFill>
                  <a:srgbClr val="2B2B2B"/>
                </a:solidFill>
                <a:latin typeface="Arial"/>
              </a:rPr>
              <a:t>Workshop 4: incoming payments, dunning, collections</a:t>
            </a:r>
          </a:p>
        </p:txBody>
      </p:sp>
      <p:sp>
        <p:nvSpPr>
          <p:cNvPr id="15" name="Rounded Rectangle 14"/>
          <p:cNvSpPr/>
          <p:nvPr/>
        </p:nvSpPr>
        <p:spPr>
          <a:xfrm>
            <a:off x="548640" y="4937760"/>
            <a:ext cx="11064240" cy="1188720"/>
          </a:xfrm>
          <a:prstGeom prst="roundRect">
            <a:avLst>
              <a:gd name="adj" fmla="val 8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200" b="1" i="0">
                <a:solidFill>
                  <a:srgbClr val="FFFFFF"/>
                </a:solidFill>
                <a:latin typeface="Arial"/>
              </a:rPr>
              <a:t>In three sentences</a:t>
            </a:r>
          </a:p>
          <a:p>
            <a:pPr algn="l">
              <a:spcAft>
                <a:spcPts val="200"/>
              </a:spcAft>
            </a:pPr>
            <a:r>
              <a:rPr sz="1200" b="0" i="0">
                <a:solidFill>
                  <a:srgbClr val="FFFFFF"/>
                </a:solidFill>
                <a:latin typeface="Arial"/>
              </a:rPr>
              <a:t>The customer master defines with whom and on which terms receivables may arise. Invoices arise on four paths but land in the same open item with the same logic. Configuration determines what this item looks like, who owns it and how the company steers receivables.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
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Einstiegsfolie. Die Prozesskette zeigt, dass Workshop 3 die ersten drei Phasen abdeckt und Workshop 4 Zahlungseingang, Mahnen und Collections. Kreditmanagement gehoert als Teil der Stammdaten hierher.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Theorie. Jede Rechnung, Zahlung, Mahnung und Kreditentscheidung liest den Stamm. Fehler vervielfachen sich. Vier Nutzergruppen mit eigenen Anforderungen teilen sich einen Kunden.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S/4HANA Cloud gibt es keinen separaten Debitorenstamm. Der Kunde ist ein Business Partner mit Rollen. Die BP-Nummer ist die Debitorennummer. Die Gruppierung steuert den Nummernkreis (vorgeliefert, nicht frei definierbar).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Praxis. Welche App welche Rolle nutzt. F0850A ist die Fiori-Sicht, BP die klassische Transaktion mit allen Rollen, F2640 die Pruefliste. Define Accounting Clerks ist Konfiguration durch den AR Manager. F4596 und F5587A kommen aus BD6.</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Jede Lieferung auf Rechnung ist ein Kredit. Pruefung im Kundenauftrag und in der Lieferung, nicht erst in der Buchhaltung. Obligo = offene Auftraege + Lieferungen + Fakturen + FI-Posten. FB70-Rechnungen erhoehen das Obligo, sperren aber nichts.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1 nach Vorbereitungsdatei C1. Danach Fit-to-Standard-Block 1 (15 Minuten).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Normalfall ist die Faktura aus dem Vertrieb. Ohne manuellen Weg laufen Sonderfaelle ausserhalb des Systems: Word-Rechnung, Excel-Liste, nicht im Forderungsbestand, nicht im Mahnlauf, nicht in der Umsatzsteuer.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Rolle AR Accountant. Belegart DR, Gutschrift DG ueber Create Outgoing Credit Memos. Ergebnisobjekt ist Pflicht, weil das Erloeskonto als Kostenart Typ Erloes angelegt ist.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FB70 hat keine SD-Nachricht. Ausgabe ueber Korrespondenzart SAP21. Die BRF+-Ausgabesteuerung muss vollstaendig aktiviert sein, sonst scheitert die Vorschau.</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2 nach Vorbereitungsdatei C2. Story: Weiterberechnung Beratungsleistung 1.000 EUR netto, 19 % Steuer, brutto 1.190 EUR an Kunde 10100001.</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Manuelle Erfassung skaliert nicht. Gleiche Buchungslogik auf allen Wegen: Faelligkeit, Referenz, Ergebnisobjekt. Zahlungseingang, Mahnung, Auswertung unterscheiden nicht nach Herkunft.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Debitorenbuchhaltung bucht nichts. Erloeskonten aus der SD-Kontenfindung, Zahlungsbedingung aus dem Auftrag, Abstimmkonto aus dem Kundenstamm. Rechnungsdruck ueber die Nachrichtensteuerung der Faktura, nicht ueber SAP21.</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Rolle AR Accountant. Vorlage in der App herunterladen. Ohne Default Account Assignment fuer das Erloeskonto bleibt der Upload im Check stehen.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3 nach Vorbereitungsdatei C3. Teil a mit vorhandener Faktura aus BD9, Teil b mit vorbereiteter Upload-Datei (drei Rechnungen, eine Gutschrift, ein absichtlicher Fehler).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Tage bis Monate zwischen Rechnung und Zahlung. Der Posten traegt Faelligkeit, Sperren, Mahndaten, Notizen. Korrekturen per Storno mit Grund, nie loeschen. Alles protokolliert.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 Accountant pflegt Posten und Salden, AR Manager steuert ueber die Overview-Seite und KPI-Apps.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Nur als Ausblick, Vertiefung in Workshop 4 (J59, 2PD, BFC, 7MA).</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Public Cloud liefert alles vorkonfiguriert. Im Fit-to-Standard wird entschieden, welche Auspraegungen gebraucht werden und wer sie nutzt. Pflege durch den Configuration Expert ueber Manage Your Solution oder SAP Central Business Configuration.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4 nach Vorbereitungsdatei C4. Nur zeigen, nichts aendern; Aenderungen gehoeren ins CBC-Projekt und in die Entscheidungsliste.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Abschluss: Entscheidungsliste zusammenfassen, offene Punkte mit Verantwortlichen und Terminen, Ausblick Workshop 4.</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914400"/>
            <a:ext cx="10058400" cy="365760"/>
          </a:xfrm>
          <a:prstGeom prst="rect">
            <a:avLst/>
          </a:prstGeom>
          <a:noFill/>
        </p:spPr>
        <p:txBody>
          <a:bodyPr wrap="square" anchor="t" lIns="45720" rIns="45720">
            <a:spAutoFit/>
          </a:bodyPr>
          <a:lstStyle/>
          <a:p>
            <a:pPr algn="l">
              <a:spcAft>
                <a:spcPts val="400"/>
              </a:spcAft>
            </a:pPr>
            <a:r>
              <a:rPr sz="1400" b="1" i="0">
                <a:solidFill>
                  <a:srgbClr val="6B6B6B"/>
                </a:solidFill>
                <a:latin typeface="Arial"/>
              </a:rPr>
              <a:t>Fit-to-Standard-Workshop 3 · Finance</a:t>
            </a:r>
          </a:p>
        </p:txBody>
      </p:sp>
      <p:sp>
        <p:nvSpPr>
          <p:cNvPr id="3" name="TextBox 2"/>
          <p:cNvSpPr txBox="1"/>
          <p:nvPr/>
        </p:nvSpPr>
        <p:spPr>
          <a:xfrm>
            <a:off x="822960" y="1371600"/>
            <a:ext cx="10515600" cy="2011680"/>
          </a:xfrm>
          <a:prstGeom prst="rect">
            <a:avLst/>
          </a:prstGeom>
          <a:noFill/>
        </p:spPr>
        <p:txBody>
          <a:bodyPr wrap="square" anchor="ctr" lIns="45720" rIns="45720">
            <a:spAutoFit/>
          </a:bodyPr>
          <a:lstStyle/>
          <a:p>
            <a:pPr algn="l">
              <a:spcAft>
                <a:spcPts val="400"/>
              </a:spcAft>
            </a:pPr>
            <a:r>
              <a:rPr sz="3400" b="1" i="0">
                <a:solidFill>
                  <a:srgbClr val="2B2B2B"/>
                </a:solidFill>
                <a:latin typeface="Arial"/>
              </a:rPr>
              <a:t>Debitorenstammdaten, Kundenrechnung manuell und automatisiert, Buchung und Basis-Konfiguration der Debitorenbuchhaltung</a:t>
            </a:r>
          </a:p>
        </p:txBody>
      </p:sp>
      <p:sp>
        <p:nvSpPr>
          <p:cNvPr id="4" name="TextBox 3"/>
          <p:cNvSpPr txBox="1"/>
          <p:nvPr/>
        </p:nvSpPr>
        <p:spPr>
          <a:xfrm>
            <a:off x="822960" y="3566160"/>
            <a:ext cx="10058400" cy="822960"/>
          </a:xfrm>
          <a:prstGeom prst="rect">
            <a:avLst/>
          </a:prstGeom>
          <a:noFill/>
        </p:spPr>
        <p:txBody>
          <a:bodyPr wrap="square" anchor="t" lIns="45720" rIns="45720">
            <a:spAutoFit/>
          </a:bodyPr>
          <a:lstStyle/>
          <a:p>
            <a:pPr algn="l">
              <a:spcAft>
                <a:spcPts val="200"/>
              </a:spcAft>
            </a:pPr>
            <a:r>
              <a:rPr sz="1600" b="0" i="0">
                <a:solidFill>
                  <a:srgbClr val="2B2B2B"/>
                </a:solidFill>
                <a:latin typeface="Arial"/>
              </a:rPr>
              <a:t>SAP S/4HANA Cloud Public Edition, Release 2608</a:t>
            </a:r>
          </a:p>
          <a:p>
            <a:pPr algn="l">
              <a:spcAft>
                <a:spcPts val="200"/>
              </a:spcAft>
            </a:pPr>
            <a:r>
              <a:rPr sz="1600" b="0" i="0">
                <a:solidFill>
                  <a:srgbClr val="2B2B2B"/>
                </a:solidFill>
                <a:latin typeface="Arial"/>
              </a:rPr>
              <a:t>Scope Items J59 Accounts Receivable und BD6 Basic Credit Management</a:t>
            </a:r>
          </a:p>
        </p:txBody>
      </p:sp>
      <p:sp>
        <p:nvSpPr>
          <p:cNvPr id="5" name="Pentagon 4"/>
          <p:cNvSpPr/>
          <p:nvPr/>
        </p:nvSpPr>
        <p:spPr>
          <a:xfrm>
            <a:off x="822960" y="4846320"/>
            <a:ext cx="2587752" cy="685800"/>
          </a:xfrm>
          <a:prstGeom prst="homePlate">
            <a:avLst>
              <a:gd name="adj" fmla="val 25000"/>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200"/>
              </a:spcAft>
            </a:pPr>
            <a:r>
              <a:rPr sz="1200" b="1" i="0">
                <a:solidFill>
                  <a:srgbClr val="FFFFFF"/>
                </a:solidFill>
                <a:latin typeface="Arial"/>
              </a:rPr>
              <a:t>1  Debitorenstamm</a:t>
            </a:r>
          </a:p>
        </p:txBody>
      </p:sp>
      <p:sp>
        <p:nvSpPr>
          <p:cNvPr id="6" name="Chevron 5"/>
          <p:cNvSpPr/>
          <p:nvPr/>
        </p:nvSpPr>
        <p:spPr>
          <a:xfrm>
            <a:off x="3465576" y="4846320"/>
            <a:ext cx="2587752" cy="685800"/>
          </a:xfrm>
          <a:prstGeom prst="chevron">
            <a:avLst>
              <a:gd name="adj" fmla="val 30000"/>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200"/>
              </a:spcAft>
            </a:pPr>
            <a:r>
              <a:rPr sz="1200" b="1" i="0">
                <a:solidFill>
                  <a:srgbClr val="FFFFFF"/>
                </a:solidFill>
                <a:latin typeface="Arial"/>
              </a:rPr>
              <a:t>2  Manuelle Rechnung</a:t>
            </a:r>
          </a:p>
        </p:txBody>
      </p:sp>
      <p:sp>
        <p:nvSpPr>
          <p:cNvPr id="7" name="Chevron 6"/>
          <p:cNvSpPr/>
          <p:nvPr/>
        </p:nvSpPr>
        <p:spPr>
          <a:xfrm>
            <a:off x="6108192" y="4846320"/>
            <a:ext cx="2587752" cy="685800"/>
          </a:xfrm>
          <a:prstGeom prst="chevron">
            <a:avLst>
              <a:gd name="adj" fmla="val 30000"/>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200"/>
              </a:spcAft>
            </a:pPr>
            <a:r>
              <a:rPr sz="1200" b="1" i="0">
                <a:solidFill>
                  <a:srgbClr val="FFFFFF"/>
                </a:solidFill>
                <a:latin typeface="Arial"/>
              </a:rPr>
              <a:t>3  Automatisierte Rechnung</a:t>
            </a:r>
          </a:p>
        </p:txBody>
      </p:sp>
      <p:sp>
        <p:nvSpPr>
          <p:cNvPr id="8" name="Chevron 7"/>
          <p:cNvSpPr/>
          <p:nvPr/>
        </p:nvSpPr>
        <p:spPr>
          <a:xfrm>
            <a:off x="8750808" y="4846320"/>
            <a:ext cx="2587752" cy="685800"/>
          </a:xfrm>
          <a:prstGeom prst="chevron">
            <a:avLst>
              <a:gd name="adj" fmla="val 30000"/>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200"/>
              </a:spcAft>
            </a:pPr>
            <a:r>
              <a:rPr sz="1200" b="1" i="0">
                <a:solidFill>
                  <a:srgbClr val="FFFFFF"/>
                </a:solidFill>
                <a:latin typeface="Arial"/>
              </a:rPr>
              <a:t>4  Buchung und Konfiguration</a:t>
            </a:r>
          </a:p>
        </p:txBody>
      </p:sp>
      <p:sp>
        <p:nvSpPr>
          <p:cNvPr id="9" name="TextBox 8"/>
          <p:cNvSpPr txBox="1"/>
          <p:nvPr/>
        </p:nvSpPr>
        <p:spPr>
          <a:xfrm>
            <a:off x="822960" y="5760720"/>
            <a:ext cx="10058400" cy="365760"/>
          </a:xfrm>
          <a:prstGeom prst="rect">
            <a:avLst/>
          </a:prstGeom>
          <a:noFill/>
        </p:spPr>
        <p:txBody>
          <a:bodyPr wrap="square" anchor="t" lIns="45720" rIns="45720">
            <a:spAutoFit/>
          </a:bodyPr>
          <a:lstStyle/>
          <a:p>
            <a:pPr algn="l">
              <a:spcAft>
                <a:spcPts val="400"/>
              </a:spcAft>
            </a:pPr>
            <a:r>
              <a:rPr sz="1200" b="0" i="0">
                <a:solidFill>
                  <a:srgbClr val="6B6B6B"/>
                </a:solidFill>
                <a:latin typeface="Arial"/>
              </a:rPr>
              <a:t>Dauer 3 Stunden · Demo im Testsystem · Ergebnis: Entscheidungsliste (KDD-Kandidaten)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11064240" cy="274320"/>
          </a:xfrm>
          <a:prstGeom prst="rect">
            <a:avLst/>
          </a:prstGeom>
          <a:noFill/>
        </p:spPr>
        <p:txBody>
          <a:bodyPr wrap="square" anchor="t" lIns="45720" rIns="45720">
            <a:spAutoFit/>
          </a:bodyPr>
          <a:lstStyle/>
          <a:p>
            <a:pPr algn="l">
              <a:spcAft>
                <a:spcPts val="400"/>
              </a:spcAft>
            </a:pPr>
            <a:r>
              <a:rPr sz="1200" b="1" i="0">
                <a:solidFill>
                  <a:srgbClr val="6B6B6B"/>
                </a:solidFill>
                <a:latin typeface="Arial"/>
              </a:rPr>
              <a:t>Einstieg</a:t>
            </a:r>
          </a:p>
        </p:txBody>
      </p:sp>
      <p:sp>
        <p:nvSpPr>
          <p:cNvPr id="3" name="TextBox 2"/>
          <p:cNvSpPr txBox="1"/>
          <p:nvPr/>
        </p:nvSpPr>
        <p:spPr>
          <a:xfrm>
            <a:off x="548640" y="502920"/>
            <a:ext cx="11064240" cy="731520"/>
          </a:xfrm>
          <a:prstGeom prst="rect">
            <a:avLst/>
          </a:prstGeom>
          <a:noFill/>
        </p:spPr>
        <p:txBody>
          <a:bodyPr wrap="square" anchor="ctr" lIns="45720" rIns="45720">
            <a:spAutoFit/>
          </a:bodyPr>
          <a:lstStyle/>
          <a:p>
            <a:pPr algn="l">
              <a:spcAft>
                <a:spcPts val="400"/>
              </a:spcAft>
            </a:pPr>
            <a:r>
              <a:rPr sz="2800" b="1" i="0">
                <a:solidFill>
                  <a:srgbClr val="2B2B2B"/>
                </a:solidFill>
                <a:latin typeface="Arial"/>
              </a:rPr>
              <a:t>Order-to-Cash aus Finance-Sicht: Wo der Workshop ansetzt</a:t>
            </a:r>
          </a:p>
        </p:txBody>
      </p:sp>
      <p:sp>
        <p:nvSpPr>
          <p:cNvPr id="4" name="TextBox 3"/>
          <p:cNvSpPr txBox="1"/>
          <p:nvPr/>
        </p:nvSpPr>
        <p:spPr>
          <a:xfrm>
            <a:off x="548640" y="6446520"/>
            <a:ext cx="8229600" cy="274320"/>
          </a:xfrm>
          <a:prstGeom prst="rect">
            <a:avLst/>
          </a:prstGeom>
          <a:noFill/>
        </p:spPr>
        <p:txBody>
          <a:bodyPr wrap="square" anchor="t" lIns="45720" rIns="45720">
            <a:spAutoFit/>
          </a:bodyPr>
          <a:lstStyle/>
          <a:p>
            <a:pPr algn="l">
              <a:spcAft>
                <a:spcPts val="400"/>
              </a:spcAft>
            </a:pPr>
            <a:r>
              <a:rPr sz="900" b="0" i="0">
                <a:solidFill>
                  <a:srgbClr val="6B6B6B"/>
                </a:solidFill>
                <a:latin typeface="Arial"/>
              </a:rPr>
              <a:t>F2S-Workshop 3 · Debitorenbuchhaltung · SAP S/4HANA Cloud Public Edition 2608</a:t>
            </a:r>
          </a:p>
        </p:txBody>
      </p:sp>
      <p:sp>
        <p:nvSpPr>
          <p:cNvPr id="5" name="TextBox 4"/>
          <p:cNvSpPr txBox="1"/>
          <p:nvPr/>
        </p:nvSpPr>
        <p:spPr>
          <a:xfrm>
            <a:off x="10972800" y="6446520"/>
            <a:ext cx="685800" cy="274320"/>
          </a:xfrm>
          <a:prstGeom prst="rect">
            <a:avLst/>
          </a:prstGeom>
          <a:noFill/>
        </p:spPr>
        <p:txBody>
          <a:bodyPr wrap="square" anchor="t" lIns="45720" rIns="45720">
            <a:spAutoFit/>
          </a:bodyPr>
          <a:lstStyle/>
          <a:p>
            <a:pPr algn="r">
              <a:spcAft>
                <a:spcPts val="400"/>
              </a:spcAft>
            </a:pPr>
            <a:r>
              <a:rPr sz="900" b="0" i="0">
                <a:solidFill>
                  <a:srgbClr val="6B6B6B"/>
                </a:solidFill>
                <a:latin typeface="Arial"/>
              </a:rPr>
              <a:t>2</a:t>
            </a:r>
          </a:p>
        </p:txBody>
      </p:sp>
      <p:sp>
        <p:nvSpPr>
          <p:cNvPr id="6" name="Pentagon 5"/>
          <p:cNvSpPr/>
          <p:nvPr/>
        </p:nvSpPr>
        <p:spPr>
          <a:xfrm>
            <a:off x="548640" y="1463040"/>
            <a:ext cx="2168956" cy="777240"/>
          </a:xfrm>
          <a:prstGeom prst="homePlate">
            <a:avLst>
              <a:gd name="adj" fmla="val 25000"/>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200"/>
              </a:spcAft>
            </a:pPr>
            <a:r>
              <a:rPr sz="1200" b="1" i="0">
                <a:solidFill>
                  <a:srgbClr val="FFFFFF"/>
                </a:solidFill>
                <a:latin typeface="Arial"/>
              </a:rPr>
              <a:t>Kunde kennen</a:t>
            </a:r>
          </a:p>
        </p:txBody>
      </p:sp>
      <p:sp>
        <p:nvSpPr>
          <p:cNvPr id="7" name="Chevron 6"/>
          <p:cNvSpPr/>
          <p:nvPr/>
        </p:nvSpPr>
        <p:spPr>
          <a:xfrm>
            <a:off x="2772460" y="1463040"/>
            <a:ext cx="2168956" cy="777240"/>
          </a:xfrm>
          <a:prstGeom prst="chevron">
            <a:avLst>
              <a:gd name="adj" fmla="val 30000"/>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200"/>
              </a:spcAft>
            </a:pPr>
            <a:r>
              <a:rPr sz="1200" b="1" i="0">
                <a:solidFill>
                  <a:srgbClr val="FFFFFF"/>
                </a:solidFill>
                <a:latin typeface="Arial"/>
              </a:rPr>
              <a:t>Forderung entstehen lassen</a:t>
            </a:r>
          </a:p>
        </p:txBody>
      </p:sp>
      <p:sp>
        <p:nvSpPr>
          <p:cNvPr id="8" name="Chevron 7"/>
          <p:cNvSpPr/>
          <p:nvPr/>
        </p:nvSpPr>
        <p:spPr>
          <a:xfrm>
            <a:off x="4996281" y="1463040"/>
            <a:ext cx="2168956" cy="777240"/>
          </a:xfrm>
          <a:prstGeom prst="chevron">
            <a:avLst>
              <a:gd name="adj" fmla="val 30000"/>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200"/>
              </a:spcAft>
            </a:pPr>
            <a:r>
              <a:rPr sz="1200" b="1" i="0">
                <a:solidFill>
                  <a:srgbClr val="FFFFFF"/>
                </a:solidFill>
                <a:latin typeface="Arial"/>
              </a:rPr>
              <a:t>Forderung führen</a:t>
            </a:r>
          </a:p>
        </p:txBody>
      </p:sp>
      <p:sp>
        <p:nvSpPr>
          <p:cNvPr id="9" name="Chevron 8"/>
          <p:cNvSpPr/>
          <p:nvPr/>
        </p:nvSpPr>
        <p:spPr>
          <a:xfrm>
            <a:off x="7220102" y="1463040"/>
            <a:ext cx="2168956" cy="777240"/>
          </a:xfrm>
          <a:prstGeom prst="chevron">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200"/>
              </a:spcAft>
            </a:pPr>
            <a:r>
              <a:rPr sz="1200" b="1" i="0">
                <a:solidFill>
                  <a:srgbClr val="2B2B2B"/>
                </a:solidFill>
                <a:latin typeface="Arial"/>
              </a:rPr>
              <a:t>Geld einziehen</a:t>
            </a:r>
          </a:p>
        </p:txBody>
      </p:sp>
      <p:sp>
        <p:nvSpPr>
          <p:cNvPr id="10" name="Chevron 9"/>
          <p:cNvSpPr/>
          <p:nvPr/>
        </p:nvSpPr>
        <p:spPr>
          <a:xfrm>
            <a:off x="9443923" y="1463040"/>
            <a:ext cx="2168956" cy="777240"/>
          </a:xfrm>
          <a:prstGeom prst="chevron">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200"/>
              </a:spcAft>
            </a:pPr>
            <a:r>
              <a:rPr sz="1200" b="1" i="0">
                <a:solidFill>
                  <a:srgbClr val="2B2B2B"/>
                </a:solidFill>
                <a:latin typeface="Arial"/>
              </a:rPr>
              <a:t>Risiko steuern</a:t>
            </a:r>
          </a:p>
        </p:txBody>
      </p:sp>
      <p:sp>
        <p:nvSpPr>
          <p:cNvPr id="11" name="TextBox 10"/>
          <p:cNvSpPr txBox="1"/>
          <p:nvPr/>
        </p:nvSpPr>
        <p:spPr>
          <a:xfrm>
            <a:off x="548640" y="2423160"/>
            <a:ext cx="2168956" cy="1371600"/>
          </a:xfrm>
          <a:prstGeom prst="rect">
            <a:avLst/>
          </a:prstGeom>
          <a:noFill/>
        </p:spPr>
        <p:txBody>
          <a:bodyPr wrap="square" anchor="t" lIns="45720" rIns="45720">
            <a:spAutoFit/>
          </a:bodyPr>
          <a:lstStyle/>
          <a:p>
            <a:pPr algn="l">
              <a:spcAft>
                <a:spcPts val="400"/>
              </a:spcAft>
            </a:pPr>
            <a:r>
              <a:rPr sz="1150" b="0" i="0">
                <a:solidFill>
                  <a:srgbClr val="2B2B2B"/>
                </a:solidFill>
                <a:latin typeface="Arial"/>
              </a:rPr>
              <a:t>Mit wem machen wir Geschäfte, zu welchen Konditionen, mit welchem Risiko?</a:t>
            </a:r>
          </a:p>
        </p:txBody>
      </p:sp>
      <p:sp>
        <p:nvSpPr>
          <p:cNvPr id="12" name="TextBox 11"/>
          <p:cNvSpPr txBox="1"/>
          <p:nvPr/>
        </p:nvSpPr>
        <p:spPr>
          <a:xfrm>
            <a:off x="548640" y="3840480"/>
            <a:ext cx="2168956" cy="822960"/>
          </a:xfrm>
          <a:prstGeom prst="rect">
            <a:avLst/>
          </a:prstGeom>
          <a:noFill/>
        </p:spPr>
        <p:txBody>
          <a:bodyPr wrap="square" anchor="t" lIns="45720" rIns="45720">
            <a:spAutoFit/>
          </a:bodyPr>
          <a:lstStyle/>
          <a:p>
            <a:pPr algn="l">
              <a:spcAft>
                <a:spcPts val="400"/>
              </a:spcAft>
            </a:pPr>
            <a:r>
              <a:rPr sz="1100" b="1" i="0">
                <a:solidFill>
                  <a:srgbClr val="1F4E5F"/>
                </a:solidFill>
                <a:latin typeface="Arial"/>
              </a:rPr>
              <a:t>Thema 1: Debitorenstamm, Kreditprofil (BD6)</a:t>
            </a:r>
          </a:p>
        </p:txBody>
      </p:sp>
      <p:sp>
        <p:nvSpPr>
          <p:cNvPr id="13" name="TextBox 12"/>
          <p:cNvSpPr txBox="1"/>
          <p:nvPr/>
        </p:nvSpPr>
        <p:spPr>
          <a:xfrm>
            <a:off x="2772460" y="2423160"/>
            <a:ext cx="2168956" cy="1371600"/>
          </a:xfrm>
          <a:prstGeom prst="rect">
            <a:avLst/>
          </a:prstGeom>
          <a:noFill/>
        </p:spPr>
        <p:txBody>
          <a:bodyPr wrap="square" anchor="t" lIns="45720" rIns="45720">
            <a:spAutoFit/>
          </a:bodyPr>
          <a:lstStyle/>
          <a:p>
            <a:pPr algn="l">
              <a:spcAft>
                <a:spcPts val="400"/>
              </a:spcAft>
            </a:pPr>
            <a:r>
              <a:rPr sz="1150" b="0" i="0">
                <a:solidFill>
                  <a:srgbClr val="2B2B2B"/>
                </a:solidFill>
                <a:latin typeface="Arial"/>
              </a:rPr>
              <a:t>Wie kommt die Leistung korrekt, vollständig und zeitnah als Rechnung in die Bücher?</a:t>
            </a:r>
          </a:p>
        </p:txBody>
      </p:sp>
      <p:sp>
        <p:nvSpPr>
          <p:cNvPr id="14" name="TextBox 13"/>
          <p:cNvSpPr txBox="1"/>
          <p:nvPr/>
        </p:nvSpPr>
        <p:spPr>
          <a:xfrm>
            <a:off x="2772460" y="3840480"/>
            <a:ext cx="2168956" cy="822960"/>
          </a:xfrm>
          <a:prstGeom prst="rect">
            <a:avLst/>
          </a:prstGeom>
          <a:noFill/>
        </p:spPr>
        <p:txBody>
          <a:bodyPr wrap="square" anchor="t" lIns="45720" rIns="45720">
            <a:spAutoFit/>
          </a:bodyPr>
          <a:lstStyle/>
          <a:p>
            <a:pPr algn="l">
              <a:spcAft>
                <a:spcPts val="400"/>
              </a:spcAft>
            </a:pPr>
            <a:r>
              <a:rPr sz="1100" b="1" i="0">
                <a:solidFill>
                  <a:srgbClr val="1F4E5F"/>
                </a:solidFill>
                <a:latin typeface="Arial"/>
              </a:rPr>
              <a:t>Thema 2 und 3: manuelle und automatisierte Rechnung</a:t>
            </a:r>
          </a:p>
        </p:txBody>
      </p:sp>
      <p:sp>
        <p:nvSpPr>
          <p:cNvPr id="15" name="TextBox 14"/>
          <p:cNvSpPr txBox="1"/>
          <p:nvPr/>
        </p:nvSpPr>
        <p:spPr>
          <a:xfrm>
            <a:off x="4996281" y="2423160"/>
            <a:ext cx="2168956" cy="1371600"/>
          </a:xfrm>
          <a:prstGeom prst="rect">
            <a:avLst/>
          </a:prstGeom>
          <a:noFill/>
        </p:spPr>
        <p:txBody>
          <a:bodyPr wrap="square" anchor="t" lIns="45720" rIns="45720">
            <a:spAutoFit/>
          </a:bodyPr>
          <a:lstStyle/>
          <a:p>
            <a:pPr algn="l">
              <a:spcAft>
                <a:spcPts val="400"/>
              </a:spcAft>
            </a:pPr>
            <a:r>
              <a:rPr sz="1150" b="0" i="0">
                <a:solidFill>
                  <a:srgbClr val="2B2B2B"/>
                </a:solidFill>
                <a:latin typeface="Arial"/>
              </a:rPr>
              <a:t>Wie bleibt jeder offene Posten nachvollziehbar, fällig datiert und zuordenbar?</a:t>
            </a:r>
          </a:p>
        </p:txBody>
      </p:sp>
      <p:sp>
        <p:nvSpPr>
          <p:cNvPr id="16" name="TextBox 15"/>
          <p:cNvSpPr txBox="1"/>
          <p:nvPr/>
        </p:nvSpPr>
        <p:spPr>
          <a:xfrm>
            <a:off x="4996281" y="3840480"/>
            <a:ext cx="2168956" cy="822960"/>
          </a:xfrm>
          <a:prstGeom prst="rect">
            <a:avLst/>
          </a:prstGeom>
          <a:noFill/>
        </p:spPr>
        <p:txBody>
          <a:bodyPr wrap="square" anchor="t" lIns="45720" rIns="45720">
            <a:spAutoFit/>
          </a:bodyPr>
          <a:lstStyle/>
          <a:p>
            <a:pPr algn="l">
              <a:spcAft>
                <a:spcPts val="400"/>
              </a:spcAft>
            </a:pPr>
            <a:r>
              <a:rPr sz="1100" b="1" i="0">
                <a:solidFill>
                  <a:srgbClr val="1F4E5F"/>
                </a:solidFill>
                <a:latin typeface="Arial"/>
              </a:rPr>
              <a:t>Thema 4: Buchung, Posten, Basis-Konfiguration</a:t>
            </a:r>
          </a:p>
        </p:txBody>
      </p:sp>
      <p:sp>
        <p:nvSpPr>
          <p:cNvPr id="17" name="TextBox 16"/>
          <p:cNvSpPr txBox="1"/>
          <p:nvPr/>
        </p:nvSpPr>
        <p:spPr>
          <a:xfrm>
            <a:off x="7220102" y="2423160"/>
            <a:ext cx="2168956" cy="1371600"/>
          </a:xfrm>
          <a:prstGeom prst="rect">
            <a:avLst/>
          </a:prstGeom>
          <a:noFill/>
        </p:spPr>
        <p:txBody>
          <a:bodyPr wrap="square" anchor="t" lIns="45720" rIns="45720">
            <a:spAutoFit/>
          </a:bodyPr>
          <a:lstStyle/>
          <a:p>
            <a:pPr algn="l">
              <a:spcAft>
                <a:spcPts val="400"/>
              </a:spcAft>
            </a:pPr>
            <a:r>
              <a:rPr sz="1150" b="0" i="0">
                <a:solidFill>
                  <a:srgbClr val="2B2B2B"/>
                </a:solidFill>
                <a:latin typeface="Arial"/>
              </a:rPr>
              <a:t>Wie wird gezahlt, zugeordnet, ausgeglichen, gemahnt?</a:t>
            </a:r>
          </a:p>
        </p:txBody>
      </p:sp>
      <p:sp>
        <p:nvSpPr>
          <p:cNvPr id="18" name="TextBox 17"/>
          <p:cNvSpPr txBox="1"/>
          <p:nvPr/>
        </p:nvSpPr>
        <p:spPr>
          <a:xfrm>
            <a:off x="7220102" y="3840480"/>
            <a:ext cx="2168956" cy="822960"/>
          </a:xfrm>
          <a:prstGeom prst="rect">
            <a:avLst/>
          </a:prstGeom>
          <a:noFill/>
        </p:spPr>
        <p:txBody>
          <a:bodyPr wrap="square" anchor="t" lIns="45720" rIns="45720">
            <a:spAutoFit/>
          </a:bodyPr>
          <a:lstStyle/>
          <a:p>
            <a:pPr algn="l">
              <a:spcAft>
                <a:spcPts val="400"/>
              </a:spcAft>
            </a:pPr>
            <a:r>
              <a:rPr sz="1100" b="1" i="0">
                <a:solidFill>
                  <a:srgbClr val="1F4E5F"/>
                </a:solidFill>
                <a:latin typeface="Arial"/>
              </a:rPr>
              <a:t>Workshop 4: Zahlungseingang, Mahnen, Collections</a:t>
            </a:r>
          </a:p>
        </p:txBody>
      </p:sp>
      <p:sp>
        <p:nvSpPr>
          <p:cNvPr id="19" name="TextBox 18"/>
          <p:cNvSpPr txBox="1"/>
          <p:nvPr/>
        </p:nvSpPr>
        <p:spPr>
          <a:xfrm>
            <a:off x="9443923" y="2423160"/>
            <a:ext cx="2168956" cy="1371600"/>
          </a:xfrm>
          <a:prstGeom prst="rect">
            <a:avLst/>
          </a:prstGeom>
          <a:noFill/>
        </p:spPr>
        <p:txBody>
          <a:bodyPr wrap="square" anchor="t" lIns="45720" rIns="45720">
            <a:spAutoFit/>
          </a:bodyPr>
          <a:lstStyle/>
          <a:p>
            <a:pPr algn="l">
              <a:spcAft>
                <a:spcPts val="400"/>
              </a:spcAft>
            </a:pPr>
            <a:r>
              <a:rPr sz="1150" b="0" i="0">
                <a:solidFill>
                  <a:srgbClr val="2B2B2B"/>
                </a:solidFill>
                <a:latin typeface="Arial"/>
              </a:rPr>
              <a:t>Wann liefern wir nicht mehr, wann berichtigen wir, wann schreiben wir ab?</a:t>
            </a:r>
          </a:p>
        </p:txBody>
      </p:sp>
      <p:sp>
        <p:nvSpPr>
          <p:cNvPr id="20" name="TextBox 19"/>
          <p:cNvSpPr txBox="1"/>
          <p:nvPr/>
        </p:nvSpPr>
        <p:spPr>
          <a:xfrm>
            <a:off x="9443923" y="3840480"/>
            <a:ext cx="2168956" cy="822960"/>
          </a:xfrm>
          <a:prstGeom prst="rect">
            <a:avLst/>
          </a:prstGeom>
          <a:noFill/>
        </p:spPr>
        <p:txBody>
          <a:bodyPr wrap="square" anchor="t" lIns="45720" rIns="45720">
            <a:spAutoFit/>
          </a:bodyPr>
          <a:lstStyle/>
          <a:p>
            <a:pPr algn="l">
              <a:spcAft>
                <a:spcPts val="400"/>
              </a:spcAft>
            </a:pPr>
            <a:r>
              <a:rPr sz="1100" b="1" i="0">
                <a:solidFill>
                  <a:srgbClr val="1F4E5F"/>
                </a:solidFill>
                <a:latin typeface="Arial"/>
              </a:rPr>
              <a:t>Thema 1 (Kredit) und Workshop 4 (Wertberichtigung)</a:t>
            </a:r>
          </a:p>
        </p:txBody>
      </p:sp>
      <p:sp>
        <p:nvSpPr>
          <p:cNvPr id="21" name="TextBox 20"/>
          <p:cNvSpPr txBox="1"/>
          <p:nvPr/>
        </p:nvSpPr>
        <p:spPr>
          <a:xfrm>
            <a:off x="548640" y="4937760"/>
            <a:ext cx="11064240" cy="1188720"/>
          </a:xfrm>
          <a:prstGeom prst="rect">
            <a:avLst/>
          </a:prstGeom>
          <a:noFill/>
        </p:spPr>
        <p:txBody>
          <a:bodyPr wrap="square" anchor="t" lIns="45720" rIns="45720">
            <a:spAutoFit/>
          </a:bodyPr>
          <a:lstStyle/>
          <a:p>
            <a:pPr algn="l">
              <a:spcAft>
                <a:spcPts val="300"/>
              </a:spcAft>
            </a:pPr>
            <a:r>
              <a:rPr sz="1300" b="1" i="0">
                <a:solidFill>
                  <a:srgbClr val="1F4E5F"/>
                </a:solidFill>
                <a:latin typeface="Arial"/>
              </a:rPr>
              <a:t>Agenda</a:t>
            </a:r>
          </a:p>
          <a:p>
            <a:pPr algn="l">
              <a:spcAft>
                <a:spcPts val="300"/>
              </a:spcAft>
            </a:pPr>
            <a:r>
              <a:rPr sz="1200" b="0" i="0">
                <a:solidFill>
                  <a:srgbClr val="2B2B2B"/>
                </a:solidFill>
                <a:latin typeface="Arial"/>
              </a:rPr>
              <a:t>0:00 Einstieg · 0:15 Debitorenstamm und Kreditprofil · 0:45 Fit-to-Standard 1 · 1:00 Manuelle Rechnung · 1:25 Pause</a:t>
            </a:r>
          </a:p>
          <a:p>
            <a:pPr algn="l">
              <a:spcAft>
                <a:spcPts val="300"/>
              </a:spcAft>
            </a:pPr>
            <a:r>
              <a:rPr sz="1200" b="0" i="0">
                <a:solidFill>
                  <a:srgbClr val="2B2B2B"/>
                </a:solidFill>
                <a:latin typeface="Arial"/>
              </a:rPr>
              <a:t>1:35 Automatisierte Rechnung · 2:05 Fit-to-Standard 2 · 2:20 Buchung und Basis-Konfiguration · 2:45 Entscheidungsliste und nächste Schritte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3" name="TextBox 2"/>
          <p:cNvSpPr txBox="1"/>
          <p:nvPr/>
        </p:nvSpPr>
        <p:spPr>
          <a:xfrm>
            <a:off x="822960" y="2103120"/>
            <a:ext cx="10058400" cy="365760"/>
          </a:xfrm>
          <a:prstGeom prst="rect">
            <a:avLst/>
          </a:prstGeom>
          <a:noFill/>
        </p:spPr>
        <p:txBody>
          <a:bodyPr wrap="square" anchor="t" lIns="45720" rIns="45720">
            <a:spAutoFit/>
          </a:bodyPr>
          <a:lstStyle/>
          <a:p>
            <a:pPr algn="l">
              <a:spcAft>
                <a:spcPts val="400"/>
              </a:spcAft>
            </a:pPr>
            <a:r>
              <a:rPr sz="1400" b="1" i="0">
                <a:solidFill>
                  <a:srgbClr val="C6DCE2"/>
                </a:solidFill>
                <a:latin typeface="Arial"/>
              </a:rPr>
              <a:t>Thema 1</a:t>
            </a:r>
          </a:p>
        </p:txBody>
      </p:sp>
      <p:sp>
        <p:nvSpPr>
          <p:cNvPr id="4" name="TextBox 3"/>
          <p:cNvSpPr txBox="1"/>
          <p:nvPr/>
        </p:nvSpPr>
        <p:spPr>
          <a:xfrm>
            <a:off x="822960" y="2514600"/>
            <a:ext cx="10515600" cy="1188720"/>
          </a:xfrm>
          <a:prstGeom prst="rect">
            <a:avLst/>
          </a:prstGeom>
          <a:noFill/>
        </p:spPr>
        <p:txBody>
          <a:bodyPr wrap="square" anchor="ctr" lIns="45720" rIns="45720">
            <a:spAutoFit/>
          </a:bodyPr>
          <a:lstStyle/>
          <a:p>
            <a:pPr algn="l">
              <a:spcAft>
                <a:spcPts val="400"/>
              </a:spcAft>
            </a:pPr>
            <a:r>
              <a:rPr sz="3600" b="1" i="0">
                <a:solidFill>
                  <a:srgbClr val="FFFFFF"/>
                </a:solidFill>
                <a:latin typeface="Arial"/>
              </a:rPr>
              <a:t>Debitorenstammdaten und Kreditprofil</a:t>
            </a:r>
          </a:p>
        </p:txBody>
      </p:sp>
      <p:sp>
        <p:nvSpPr>
          <p:cNvPr id="5" name="TextBox 4"/>
          <p:cNvSpPr txBox="1"/>
          <p:nvPr/>
        </p:nvSpPr>
        <p:spPr>
          <a:xfrm>
            <a:off x="822960" y="3794760"/>
            <a:ext cx="10058400" cy="1097280"/>
          </a:xfrm>
          <a:prstGeom prst="rect">
            <a:avLst/>
          </a:prstGeom>
          <a:noFill/>
        </p:spPr>
        <p:txBody>
          <a:bodyPr wrap="square" anchor="t" lIns="45720" rIns="45720">
            <a:spAutoFit/>
          </a:bodyPr>
          <a:lstStyle/>
          <a:p>
            <a:pPr algn="l">
              <a:spcAft>
                <a:spcPts val="400"/>
              </a:spcAft>
            </a:pPr>
            <a:r>
              <a:rPr sz="1600" b="0" i="0">
                <a:solidFill>
                  <a:srgbClr val="FFFFFF"/>
                </a:solidFill>
                <a:latin typeface="Arial"/>
              </a:rPr>
              <a:t>Warum der Kundenstamm der Hebel für alles Weitere ist, wie das Geschäftspartner-Modell funktioniert und wie das Basis-Kreditmanagement (BD6) das Risiko vor der Lieferung prüft.</a:t>
            </a:r>
          </a:p>
        </p:txBody>
      </p:sp>
      <p:sp>
        <p:nvSpPr>
          <p:cNvPr id="6" name="TextBox 5"/>
          <p:cNvSpPr txBox="1"/>
          <p:nvPr/>
        </p:nvSpPr>
        <p:spPr>
          <a:xfrm>
            <a:off x="10972800" y="6446520"/>
            <a:ext cx="685800" cy="274320"/>
          </a:xfrm>
          <a:prstGeom prst="rect">
            <a:avLst/>
          </a:prstGeom>
          <a:noFill/>
        </p:spPr>
        <p:txBody>
          <a:bodyPr wrap="square" anchor="t" lIns="45720" rIns="45720">
            <a:spAutoFit/>
          </a:bodyPr>
          <a:lstStyle/>
          <a:p>
            <a:pPr algn="r">
              <a:spcAft>
                <a:spcPts val="400"/>
              </a:spcAft>
            </a:pPr>
            <a:r>
              <a:rPr sz="900" b="0" i="0">
                <a:solidFill>
                  <a:srgbClr val="C6DCE2"/>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11064240" cy="274320"/>
          </a:xfrm>
          <a:prstGeom prst="rect">
            <a:avLst/>
          </a:prstGeom>
          <a:noFill/>
        </p:spPr>
        <p:txBody>
          <a:bodyPr wrap="square" anchor="t" lIns="45720" rIns="45720">
            <a:spAutoFit/>
          </a:bodyPr>
          <a:lstStyle/>
          <a:p>
            <a:pPr algn="l">
              <a:spcAft>
                <a:spcPts val="400"/>
              </a:spcAft>
            </a:pPr>
            <a:r>
              <a:rPr sz="1200" b="1" i="0">
                <a:solidFill>
                  <a:srgbClr val="6B6B6B"/>
                </a:solidFill>
                <a:latin typeface="Arial"/>
              </a:rPr>
              <a:t>Thema 1 · Debitorenstammdaten · Theorie</a:t>
            </a:r>
          </a:p>
        </p:txBody>
      </p:sp>
      <p:sp>
        <p:nvSpPr>
          <p:cNvPr id="3" name="TextBox 2"/>
          <p:cNvSpPr txBox="1"/>
          <p:nvPr/>
        </p:nvSpPr>
        <p:spPr>
          <a:xfrm>
            <a:off x="548640" y="502920"/>
            <a:ext cx="11064240" cy="731520"/>
          </a:xfrm>
          <a:prstGeom prst="rect">
            <a:avLst/>
          </a:prstGeom>
          <a:noFill/>
        </p:spPr>
        <p:txBody>
          <a:bodyPr wrap="square" anchor="ctr" lIns="45720" rIns="45720">
            <a:spAutoFit/>
          </a:bodyPr>
          <a:lstStyle/>
          <a:p>
            <a:pPr algn="l">
              <a:spcAft>
                <a:spcPts val="400"/>
              </a:spcAft>
            </a:pPr>
            <a:r>
              <a:rPr sz="2800" b="1" i="0">
                <a:solidFill>
                  <a:srgbClr val="2B2B2B"/>
                </a:solidFill>
                <a:latin typeface="Arial"/>
              </a:rPr>
              <a:t>Warum der Kundenstamm der Hebel für alle Folgeprozesse ist</a:t>
            </a:r>
          </a:p>
        </p:txBody>
      </p:sp>
      <p:sp>
        <p:nvSpPr>
          <p:cNvPr id="4" name="TextBox 3"/>
          <p:cNvSpPr txBox="1"/>
          <p:nvPr/>
        </p:nvSpPr>
        <p:spPr>
          <a:xfrm>
            <a:off x="548640" y="6446520"/>
            <a:ext cx="8229600" cy="274320"/>
          </a:xfrm>
          <a:prstGeom prst="rect">
            <a:avLst/>
          </a:prstGeom>
          <a:noFill/>
        </p:spPr>
        <p:txBody>
          <a:bodyPr wrap="square" anchor="t" lIns="45720" rIns="45720">
            <a:spAutoFit/>
          </a:bodyPr>
          <a:lstStyle/>
          <a:p>
            <a:pPr algn="l">
              <a:spcAft>
                <a:spcPts val="400"/>
              </a:spcAft>
            </a:pPr>
            <a:r>
              <a:rPr sz="900" b="0" i="0">
                <a:solidFill>
                  <a:srgbClr val="6B6B6B"/>
                </a:solidFill>
                <a:latin typeface="Arial"/>
              </a:rPr>
              <a:t>F2S-Workshop 3 · Debitorenbuchhaltung · SAP S/4HANA Cloud Public Edition 2608</a:t>
            </a:r>
          </a:p>
        </p:txBody>
      </p:sp>
      <p:sp>
        <p:nvSpPr>
          <p:cNvPr id="5" name="TextBox 4"/>
          <p:cNvSpPr txBox="1"/>
          <p:nvPr/>
        </p:nvSpPr>
        <p:spPr>
          <a:xfrm>
            <a:off x="10972800" y="6446520"/>
            <a:ext cx="685800" cy="274320"/>
          </a:xfrm>
          <a:prstGeom prst="rect">
            <a:avLst/>
          </a:prstGeom>
          <a:noFill/>
        </p:spPr>
        <p:txBody>
          <a:bodyPr wrap="square" anchor="t" lIns="45720" rIns="45720">
            <a:spAutoFit/>
          </a:bodyPr>
          <a:lstStyle/>
          <a:p>
            <a:pPr algn="r">
              <a:spcAft>
                <a:spcPts val="400"/>
              </a:spcAft>
            </a:pPr>
            <a:r>
              <a:rPr sz="900" b="0" i="0">
                <a:solidFill>
                  <a:srgbClr val="6B6B6B"/>
                </a:solidFill>
                <a:latin typeface="Arial"/>
              </a:rPr>
              <a:t>4</a:t>
            </a:r>
          </a:p>
        </p:txBody>
      </p:sp>
      <p:sp>
        <p:nvSpPr>
          <p:cNvPr id="6" name="TextBox 5"/>
          <p:cNvSpPr txBox="1"/>
          <p:nvPr/>
        </p:nvSpPr>
        <p:spPr>
          <a:xfrm>
            <a:off x="548640" y="1417320"/>
            <a:ext cx="5120640" cy="365760"/>
          </a:xfrm>
          <a:prstGeom prst="rect">
            <a:avLst/>
          </a:prstGeom>
          <a:noFill/>
        </p:spPr>
        <p:txBody>
          <a:bodyPr wrap="square" anchor="t" lIns="45720" rIns="45720">
            <a:spAutoFit/>
          </a:bodyPr>
          <a:lstStyle/>
          <a:p>
            <a:pPr algn="l">
              <a:spcAft>
                <a:spcPts val="400"/>
              </a:spcAft>
            </a:pPr>
            <a:r>
              <a:rPr sz="1400" b="1" i="0">
                <a:solidFill>
                  <a:srgbClr val="1F4E5F"/>
                </a:solidFill>
                <a:latin typeface="Arial"/>
              </a:rPr>
              <a:t>Was der Stamm festlegt</a:t>
            </a:r>
          </a:p>
        </p:txBody>
      </p:sp>
      <p:sp>
        <p:nvSpPr>
          <p:cNvPr id="7" name="TextBox 6"/>
          <p:cNvSpPr txBox="1"/>
          <p:nvPr/>
        </p:nvSpPr>
        <p:spPr>
          <a:xfrm>
            <a:off x="548640" y="1783080"/>
            <a:ext cx="5120640" cy="2103120"/>
          </a:xfrm>
          <a:prstGeom prst="rect">
            <a:avLst/>
          </a:prstGeom>
          <a:noFill/>
        </p:spPr>
        <p:txBody>
          <a:bodyPr wrap="square" anchor="t" lIns="45720" rIns="45720">
            <a:spAutoFit/>
          </a:bodyPr>
          <a:lstStyle/>
          <a:p>
            <a:pPr algn="l" marL="164592" indent="-164592">
              <a:spcAft>
                <a:spcPts val="600"/>
              </a:spcAft>
              <a:buChar char="•"/>
            </a:pPr>
            <a:r>
              <a:rPr sz="1250" b="1" i="0">
                <a:solidFill>
                  <a:srgbClr val="2B2B2B"/>
                </a:solidFill>
                <a:latin typeface="Arial"/>
              </a:rPr>
              <a:t>Wer der Kunde ist: </a:t>
            </a:r>
            <a:r>
              <a:rPr sz="1250" b="0" i="0">
                <a:solidFill>
                  <a:srgbClr val="2B2B2B"/>
                </a:solidFill>
                <a:latin typeface="Arial"/>
              </a:rPr>
              <a:t>Name, Anschrift, Steuernummern, USt-IdNr., Identifikationen</a:t>
            </a:r>
          </a:p>
          <a:p>
            <a:pPr algn="l" marL="164592" indent="-164592">
              <a:spcAft>
                <a:spcPts val="600"/>
              </a:spcAft>
              <a:buChar char="•"/>
            </a:pPr>
            <a:r>
              <a:rPr sz="1250" b="1" i="0">
                <a:solidFill>
                  <a:srgbClr val="2B2B2B"/>
                </a:solidFill>
                <a:latin typeface="Arial"/>
              </a:rPr>
              <a:t>Wie abgerechnet wird: </a:t>
            </a:r>
            <a:r>
              <a:rPr sz="1250" b="0" i="0">
                <a:solidFill>
                  <a:srgbClr val="2B2B2B"/>
                </a:solidFill>
                <a:latin typeface="Arial"/>
              </a:rPr>
              <a:t>Zahlungsbedingung, Zahlweg, Bankverbindung, Rechnungsempfänger, Versandkanal</a:t>
            </a:r>
          </a:p>
          <a:p>
            <a:pPr algn="l" marL="164592" indent="-164592">
              <a:spcAft>
                <a:spcPts val="600"/>
              </a:spcAft>
              <a:buChar char="•"/>
            </a:pPr>
            <a:r>
              <a:rPr sz="1250" b="1" i="0">
                <a:solidFill>
                  <a:srgbClr val="2B2B2B"/>
                </a:solidFill>
                <a:latin typeface="Arial"/>
              </a:rPr>
              <a:t>Wer intern zuständig ist: </a:t>
            </a:r>
            <a:r>
              <a:rPr sz="1250" b="0" i="0">
                <a:solidFill>
                  <a:srgbClr val="2B2B2B"/>
                </a:solidFill>
                <a:latin typeface="Arial"/>
              </a:rPr>
              <a:t>Sachbearbeiter, Mahnverfahren, Kreditanalyst</a:t>
            </a:r>
          </a:p>
          <a:p>
            <a:pPr algn="l" marL="164592" indent="-164592">
              <a:spcAft>
                <a:spcPts val="600"/>
              </a:spcAft>
              <a:buChar char="•"/>
            </a:pPr>
            <a:r>
              <a:rPr sz="1250" b="1" i="0">
                <a:solidFill>
                  <a:srgbClr val="2B2B2B"/>
                </a:solidFill>
                <a:latin typeface="Arial"/>
              </a:rPr>
              <a:t>Wie ausgewertet wird: </a:t>
            </a:r>
            <a:r>
              <a:rPr sz="1250" b="0" i="0">
                <a:solidFill>
                  <a:srgbClr val="2B2B2B"/>
                </a:solidFill>
                <a:latin typeface="Arial"/>
              </a:rPr>
              <a:t>Land, Kundengruppe, Risikoklasse, Sachbearbeiter sind die Dimensionen für DSO, Überfälligkeit, Mahnstufen</a:t>
            </a:r>
          </a:p>
        </p:txBody>
      </p:sp>
      <p:sp>
        <p:nvSpPr>
          <p:cNvPr id="8" name="TextBox 7"/>
          <p:cNvSpPr txBox="1"/>
          <p:nvPr/>
        </p:nvSpPr>
        <p:spPr>
          <a:xfrm>
            <a:off x="548640" y="4023360"/>
            <a:ext cx="5120640" cy="365760"/>
          </a:xfrm>
          <a:prstGeom prst="rect">
            <a:avLst/>
          </a:prstGeom>
          <a:noFill/>
        </p:spPr>
        <p:txBody>
          <a:bodyPr wrap="square" anchor="t" lIns="45720" rIns="45720">
            <a:spAutoFit/>
          </a:bodyPr>
          <a:lstStyle/>
          <a:p>
            <a:pPr algn="l">
              <a:spcAft>
                <a:spcPts val="400"/>
              </a:spcAft>
            </a:pPr>
            <a:r>
              <a:rPr sz="1400" b="1" i="0">
                <a:solidFill>
                  <a:srgbClr val="1F4E5F"/>
                </a:solidFill>
                <a:latin typeface="Arial"/>
              </a:rPr>
              <a:t>Warum Qualität hier entscheidet</a:t>
            </a:r>
          </a:p>
        </p:txBody>
      </p:sp>
      <p:sp>
        <p:nvSpPr>
          <p:cNvPr id="9" name="TextBox 8"/>
          <p:cNvSpPr txBox="1"/>
          <p:nvPr/>
        </p:nvSpPr>
        <p:spPr>
          <a:xfrm>
            <a:off x="548640" y="4389120"/>
            <a:ext cx="5212080" cy="1920240"/>
          </a:xfrm>
          <a:prstGeom prst="rect">
            <a:avLst/>
          </a:prstGeom>
          <a:noFill/>
        </p:spPr>
        <p:txBody>
          <a:bodyPr wrap="square" anchor="t" lIns="45720" rIns="45720">
            <a:spAutoFit/>
          </a:bodyPr>
          <a:lstStyle/>
          <a:p>
            <a:pPr algn="l" marL="164592" indent="-164592">
              <a:spcAft>
                <a:spcPts val="500"/>
              </a:spcAft>
              <a:buChar char="•"/>
            </a:pPr>
            <a:r>
              <a:rPr sz="1250" b="0" i="0">
                <a:solidFill>
                  <a:srgbClr val="2B2B2B"/>
                </a:solidFill>
                <a:latin typeface="Arial"/>
              </a:rPr>
              <a:t>Eine falsche E-Mail-Adresse: hundert Rechnungen kommen nicht an.</a:t>
            </a:r>
          </a:p>
          <a:p>
            <a:pPr algn="l" marL="164592" indent="-164592">
              <a:spcAft>
                <a:spcPts val="500"/>
              </a:spcAft>
              <a:buChar char="•"/>
            </a:pPr>
            <a:r>
              <a:rPr sz="1250" b="0" i="0">
                <a:solidFill>
                  <a:srgbClr val="2B2B2B"/>
                </a:solidFill>
                <a:latin typeface="Arial"/>
              </a:rPr>
              <a:t>Eine falsche Zahlungsbedingung: Fälligkeit, Mahnung und Liquiditätsplanung verschieben sich.</a:t>
            </a:r>
          </a:p>
          <a:p>
            <a:pPr algn="l" marL="164592" indent="-164592">
              <a:spcAft>
                <a:spcPts val="500"/>
              </a:spcAft>
              <a:buChar char="•"/>
            </a:pPr>
            <a:r>
              <a:rPr sz="1250" b="0" i="0">
                <a:solidFill>
                  <a:srgbClr val="2B2B2B"/>
                </a:solidFill>
                <a:latin typeface="Arial"/>
              </a:rPr>
              <a:t>Fehlender Sachbearbeiter: kein Mahnvorschlag, keine Auswertung nach Verantwortung.</a:t>
            </a:r>
          </a:p>
          <a:p>
            <a:pPr algn="l" marL="164592" indent="-164592">
              <a:spcAft>
                <a:spcPts val="500"/>
              </a:spcAft>
              <a:buChar char="•"/>
            </a:pPr>
            <a:r>
              <a:rPr sz="1250" b="0" i="0">
                <a:solidFill>
                  <a:srgbClr val="2B2B2B"/>
                </a:solidFill>
                <a:latin typeface="Arial"/>
              </a:rPr>
              <a:t>Bankverbindung ohne Kontrolle: Betrugsrisiko bei Gutschriften und Rückzahlungen.</a:t>
            </a:r>
          </a:p>
        </p:txBody>
      </p:sp>
      <p:sp>
        <p:nvSpPr>
          <p:cNvPr id="10" name="Rounded Rectangle 9"/>
          <p:cNvSpPr/>
          <p:nvPr/>
        </p:nvSpPr>
        <p:spPr>
          <a:xfrm>
            <a:off x="6035040" y="1463040"/>
            <a:ext cx="2697480" cy="2148840"/>
          </a:xfrm>
          <a:prstGeom prst="roundRect">
            <a:avLst>
              <a:gd name="adj" fmla="val 8000"/>
            </a:avLst>
          </a:prstGeom>
          <a:solidFill>
            <a:srgbClr val="E9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1" name="TextBox 10"/>
          <p:cNvSpPr txBox="1"/>
          <p:nvPr/>
        </p:nvSpPr>
        <p:spPr>
          <a:xfrm>
            <a:off x="6199631" y="1591056"/>
            <a:ext cx="2395728" cy="365760"/>
          </a:xfrm>
          <a:prstGeom prst="rect">
            <a:avLst/>
          </a:prstGeom>
          <a:noFill/>
        </p:spPr>
        <p:txBody>
          <a:bodyPr wrap="square" anchor="ctr" lIns="45720" rIns="45720">
            <a:spAutoFit/>
          </a:bodyPr>
          <a:lstStyle/>
          <a:p>
            <a:pPr algn="l">
              <a:spcAft>
                <a:spcPts val="400"/>
              </a:spcAft>
            </a:pPr>
            <a:r>
              <a:rPr sz="1300" b="1" i="0">
                <a:solidFill>
                  <a:srgbClr val="1F4E5F"/>
                </a:solidFill>
                <a:latin typeface="Arial"/>
              </a:rPr>
              <a:t>Vertrieb</a:t>
            </a:r>
          </a:p>
        </p:txBody>
      </p:sp>
      <p:sp>
        <p:nvSpPr>
          <p:cNvPr id="12" name="TextBox 11"/>
          <p:cNvSpPr txBox="1"/>
          <p:nvPr/>
        </p:nvSpPr>
        <p:spPr>
          <a:xfrm>
            <a:off x="6199631" y="2011680"/>
            <a:ext cx="2368296" cy="1508760"/>
          </a:xfrm>
          <a:prstGeom prst="rect">
            <a:avLst/>
          </a:prstGeom>
          <a:noFill/>
        </p:spPr>
        <p:txBody>
          <a:bodyPr wrap="square" anchor="t" lIns="45720" rIns="45720">
            <a:spAutoFit/>
          </a:bodyPr>
          <a:lstStyle/>
          <a:p>
            <a:pPr algn="l">
              <a:spcAft>
                <a:spcPts val="300"/>
              </a:spcAft>
            </a:pPr>
            <a:r>
              <a:rPr sz="1150" b="0" i="0">
                <a:solidFill>
                  <a:srgbClr val="2B2B2B"/>
                </a:solidFill>
                <a:latin typeface="Arial"/>
              </a:rPr>
              <a:t>Preise, Lieferung, Faktura, Partnerrollen. Legt den Kunden meist an.</a:t>
            </a:r>
          </a:p>
        </p:txBody>
      </p:sp>
      <p:sp>
        <p:nvSpPr>
          <p:cNvPr id="13" name="Rounded Rectangle 12"/>
          <p:cNvSpPr/>
          <p:nvPr/>
        </p:nvSpPr>
        <p:spPr>
          <a:xfrm>
            <a:off x="8869680" y="1463040"/>
            <a:ext cx="2697480" cy="2148840"/>
          </a:xfrm>
          <a:prstGeom prst="roundRect">
            <a:avLst>
              <a:gd name="adj" fmla="val 8000"/>
            </a:avLst>
          </a:prstGeom>
          <a:solidFill>
            <a:srgbClr val="E9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4" name="TextBox 13"/>
          <p:cNvSpPr txBox="1"/>
          <p:nvPr/>
        </p:nvSpPr>
        <p:spPr>
          <a:xfrm>
            <a:off x="9034272" y="1591056"/>
            <a:ext cx="2395728" cy="365760"/>
          </a:xfrm>
          <a:prstGeom prst="rect">
            <a:avLst/>
          </a:prstGeom>
          <a:noFill/>
        </p:spPr>
        <p:txBody>
          <a:bodyPr wrap="square" anchor="ctr" lIns="45720" rIns="45720">
            <a:spAutoFit/>
          </a:bodyPr>
          <a:lstStyle/>
          <a:p>
            <a:pPr algn="l">
              <a:spcAft>
                <a:spcPts val="400"/>
              </a:spcAft>
            </a:pPr>
            <a:r>
              <a:rPr sz="1300" b="1" i="0">
                <a:solidFill>
                  <a:srgbClr val="1F4E5F"/>
                </a:solidFill>
                <a:latin typeface="Arial"/>
              </a:rPr>
              <a:t>Buchhaltung</a:t>
            </a:r>
          </a:p>
        </p:txBody>
      </p:sp>
      <p:sp>
        <p:nvSpPr>
          <p:cNvPr id="15" name="TextBox 14"/>
          <p:cNvSpPr txBox="1"/>
          <p:nvPr/>
        </p:nvSpPr>
        <p:spPr>
          <a:xfrm>
            <a:off x="9034272" y="2011680"/>
            <a:ext cx="2368296" cy="1508760"/>
          </a:xfrm>
          <a:prstGeom prst="rect">
            <a:avLst/>
          </a:prstGeom>
          <a:noFill/>
        </p:spPr>
        <p:txBody>
          <a:bodyPr wrap="square" anchor="t" lIns="45720" rIns="45720">
            <a:spAutoFit/>
          </a:bodyPr>
          <a:lstStyle/>
          <a:p>
            <a:pPr algn="l">
              <a:spcAft>
                <a:spcPts val="300"/>
              </a:spcAft>
            </a:pPr>
            <a:r>
              <a:rPr sz="1150" b="0" i="0">
                <a:solidFill>
                  <a:srgbClr val="2B2B2B"/>
                </a:solidFill>
                <a:latin typeface="Arial"/>
              </a:rPr>
              <a:t>Abstimmkonto, Zahlungsbedingung, Zahlweg, Sachbearbeiter, Mahnverfahren, Korrespondenz.</a:t>
            </a:r>
          </a:p>
        </p:txBody>
      </p:sp>
      <p:sp>
        <p:nvSpPr>
          <p:cNvPr id="16" name="Rounded Rectangle 15"/>
          <p:cNvSpPr/>
          <p:nvPr/>
        </p:nvSpPr>
        <p:spPr>
          <a:xfrm>
            <a:off x="6035040" y="3794760"/>
            <a:ext cx="2697480" cy="2148840"/>
          </a:xfrm>
          <a:prstGeom prst="roundRect">
            <a:avLst>
              <a:gd name="adj" fmla="val 8000"/>
            </a:avLst>
          </a:prstGeom>
          <a:solidFill>
            <a:srgbClr val="E9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7" name="TextBox 16"/>
          <p:cNvSpPr txBox="1"/>
          <p:nvPr/>
        </p:nvSpPr>
        <p:spPr>
          <a:xfrm>
            <a:off x="6199631" y="3922776"/>
            <a:ext cx="2395728" cy="365760"/>
          </a:xfrm>
          <a:prstGeom prst="rect">
            <a:avLst/>
          </a:prstGeom>
          <a:noFill/>
        </p:spPr>
        <p:txBody>
          <a:bodyPr wrap="square" anchor="ctr" lIns="45720" rIns="45720">
            <a:spAutoFit/>
          </a:bodyPr>
          <a:lstStyle/>
          <a:p>
            <a:pPr algn="l">
              <a:spcAft>
                <a:spcPts val="400"/>
              </a:spcAft>
            </a:pPr>
            <a:r>
              <a:rPr sz="1300" b="1" i="0">
                <a:solidFill>
                  <a:srgbClr val="1F4E5F"/>
                </a:solidFill>
                <a:latin typeface="Arial"/>
              </a:rPr>
              <a:t>Kreditmanagement</a:t>
            </a:r>
          </a:p>
        </p:txBody>
      </p:sp>
      <p:sp>
        <p:nvSpPr>
          <p:cNvPr id="18" name="TextBox 17"/>
          <p:cNvSpPr txBox="1"/>
          <p:nvPr/>
        </p:nvSpPr>
        <p:spPr>
          <a:xfrm>
            <a:off x="6199631" y="4343400"/>
            <a:ext cx="2368296" cy="1508760"/>
          </a:xfrm>
          <a:prstGeom prst="rect">
            <a:avLst/>
          </a:prstGeom>
          <a:noFill/>
        </p:spPr>
        <p:txBody>
          <a:bodyPr wrap="square" anchor="t" lIns="45720" rIns="45720">
            <a:spAutoFit/>
          </a:bodyPr>
          <a:lstStyle/>
          <a:p>
            <a:pPr algn="l">
              <a:spcAft>
                <a:spcPts val="300"/>
              </a:spcAft>
            </a:pPr>
            <a:r>
              <a:rPr sz="1150" b="0" i="0">
                <a:solidFill>
                  <a:srgbClr val="2B2B2B"/>
                </a:solidFill>
                <a:latin typeface="Arial"/>
              </a:rPr>
              <a:t>Risikoklasse, Kreditlimit je Segment, Kreditanalyst, Prüfregel.</a:t>
            </a:r>
          </a:p>
        </p:txBody>
      </p:sp>
      <p:sp>
        <p:nvSpPr>
          <p:cNvPr id="19" name="Rounded Rectangle 18"/>
          <p:cNvSpPr/>
          <p:nvPr/>
        </p:nvSpPr>
        <p:spPr>
          <a:xfrm>
            <a:off x="8869680" y="3794760"/>
            <a:ext cx="2697480" cy="2148840"/>
          </a:xfrm>
          <a:prstGeom prst="roundRect">
            <a:avLst>
              <a:gd name="adj" fmla="val 8000"/>
            </a:avLst>
          </a:prstGeom>
          <a:solidFill>
            <a:srgbClr val="E9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0" name="TextBox 19"/>
          <p:cNvSpPr txBox="1"/>
          <p:nvPr/>
        </p:nvSpPr>
        <p:spPr>
          <a:xfrm>
            <a:off x="9034272" y="3922776"/>
            <a:ext cx="2395728" cy="365760"/>
          </a:xfrm>
          <a:prstGeom prst="rect">
            <a:avLst/>
          </a:prstGeom>
          <a:noFill/>
        </p:spPr>
        <p:txBody>
          <a:bodyPr wrap="square" anchor="ctr" lIns="45720" rIns="45720">
            <a:spAutoFit/>
          </a:bodyPr>
          <a:lstStyle/>
          <a:p>
            <a:pPr algn="l">
              <a:spcAft>
                <a:spcPts val="400"/>
              </a:spcAft>
            </a:pPr>
            <a:r>
              <a:rPr sz="1300" b="1" i="0">
                <a:solidFill>
                  <a:srgbClr val="1F4E5F"/>
                </a:solidFill>
                <a:latin typeface="Arial"/>
              </a:rPr>
              <a:t>Steuern und Recht</a:t>
            </a:r>
          </a:p>
        </p:txBody>
      </p:sp>
      <p:sp>
        <p:nvSpPr>
          <p:cNvPr id="21" name="TextBox 20"/>
          <p:cNvSpPr txBox="1"/>
          <p:nvPr/>
        </p:nvSpPr>
        <p:spPr>
          <a:xfrm>
            <a:off x="9034272" y="4343400"/>
            <a:ext cx="2368296" cy="1508760"/>
          </a:xfrm>
          <a:prstGeom prst="rect">
            <a:avLst/>
          </a:prstGeom>
          <a:noFill/>
        </p:spPr>
        <p:txBody>
          <a:bodyPr wrap="square" anchor="t" lIns="45720" rIns="45720">
            <a:spAutoFit/>
          </a:bodyPr>
          <a:lstStyle/>
          <a:p>
            <a:pPr algn="l">
              <a:spcAft>
                <a:spcPts val="300"/>
              </a:spcAft>
            </a:pPr>
            <a:r>
              <a:rPr sz="1150" b="0" i="0">
                <a:solidFill>
                  <a:srgbClr val="2B2B2B"/>
                </a:solidFill>
                <a:latin typeface="Arial"/>
              </a:rPr>
              <a:t>USt-IdNr., Steuerland, Zertifikate, Identifikationsnummern für Meldungen.</a:t>
            </a:r>
          </a:p>
        </p:txBody>
      </p:sp>
      <p:sp>
        <p:nvSpPr>
          <p:cNvPr id="22" name="TextBox 21"/>
          <p:cNvSpPr txBox="1"/>
          <p:nvPr/>
        </p:nvSpPr>
        <p:spPr>
          <a:xfrm>
            <a:off x="6035040" y="5989320"/>
            <a:ext cx="5577840" cy="411480"/>
          </a:xfrm>
          <a:prstGeom prst="rect">
            <a:avLst/>
          </a:prstGeom>
          <a:noFill/>
        </p:spPr>
        <p:txBody>
          <a:bodyPr wrap="square" anchor="t" lIns="45720" rIns="45720">
            <a:spAutoFit/>
          </a:bodyPr>
          <a:lstStyle/>
          <a:p>
            <a:pPr algn="l">
              <a:spcAft>
                <a:spcPts val="400"/>
              </a:spcAft>
            </a:pPr>
            <a:r>
              <a:rPr sz="1100" b="0" i="0">
                <a:solidFill>
                  <a:srgbClr val="6B6B6B"/>
                </a:solidFill>
                <a:latin typeface="Arial"/>
              </a:rPr>
              <a:t>Vier Nutzergruppen, ein Geschäftspartner: jede pflegt ihre Rolle, keine doppelte Kundennummer.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11064240" cy="274320"/>
          </a:xfrm>
          <a:prstGeom prst="rect">
            <a:avLst/>
          </a:prstGeom>
          <a:noFill/>
        </p:spPr>
        <p:txBody>
          <a:bodyPr wrap="square" anchor="t" lIns="45720" rIns="45720">
            <a:spAutoFit/>
          </a:bodyPr>
          <a:lstStyle/>
          <a:p>
            <a:pPr algn="l">
              <a:spcAft>
                <a:spcPts val="400"/>
              </a:spcAft>
            </a:pPr>
            <a:r>
              <a:rPr sz="1200" b="1" i="0">
                <a:solidFill>
                  <a:srgbClr val="6B6B6B"/>
                </a:solidFill>
                <a:latin typeface="Arial"/>
              </a:rPr>
              <a:t>Thema 1 · Debitorenstammdaten · Theorie</a:t>
            </a:r>
          </a:p>
        </p:txBody>
      </p:sp>
      <p:sp>
        <p:nvSpPr>
          <p:cNvPr id="3" name="TextBox 2"/>
          <p:cNvSpPr txBox="1"/>
          <p:nvPr/>
        </p:nvSpPr>
        <p:spPr>
          <a:xfrm>
            <a:off x="548640" y="502920"/>
            <a:ext cx="11064240" cy="731520"/>
          </a:xfrm>
          <a:prstGeom prst="rect">
            <a:avLst/>
          </a:prstGeom>
          <a:noFill/>
        </p:spPr>
        <p:txBody>
          <a:bodyPr wrap="square" anchor="ctr" lIns="45720" rIns="45720">
            <a:spAutoFit/>
          </a:bodyPr>
          <a:lstStyle/>
          <a:p>
            <a:pPr algn="l">
              <a:spcAft>
                <a:spcPts val="400"/>
              </a:spcAft>
            </a:pPr>
            <a:r>
              <a:rPr sz="2800" b="1" i="0">
                <a:solidFill>
                  <a:srgbClr val="2B2B2B"/>
                </a:solidFill>
                <a:latin typeface="Arial"/>
              </a:rPr>
              <a:t>Das Geschäftspartner-Modell: ein Objekt, mehrere Rollen</a:t>
            </a:r>
          </a:p>
        </p:txBody>
      </p:sp>
      <p:sp>
        <p:nvSpPr>
          <p:cNvPr id="4" name="TextBox 3"/>
          <p:cNvSpPr txBox="1"/>
          <p:nvPr/>
        </p:nvSpPr>
        <p:spPr>
          <a:xfrm>
            <a:off x="548640" y="6446520"/>
            <a:ext cx="8229600" cy="274320"/>
          </a:xfrm>
          <a:prstGeom prst="rect">
            <a:avLst/>
          </a:prstGeom>
          <a:noFill/>
        </p:spPr>
        <p:txBody>
          <a:bodyPr wrap="square" anchor="t" lIns="45720" rIns="45720">
            <a:spAutoFit/>
          </a:bodyPr>
          <a:lstStyle/>
          <a:p>
            <a:pPr algn="l">
              <a:spcAft>
                <a:spcPts val="400"/>
              </a:spcAft>
            </a:pPr>
            <a:r>
              <a:rPr sz="900" b="0" i="0">
                <a:solidFill>
                  <a:srgbClr val="6B6B6B"/>
                </a:solidFill>
                <a:latin typeface="Arial"/>
              </a:rPr>
              <a:t>F2S-Workshop 3 · Debitorenbuchhaltung · SAP S/4HANA Cloud Public Edition 2608</a:t>
            </a:r>
          </a:p>
        </p:txBody>
      </p:sp>
      <p:sp>
        <p:nvSpPr>
          <p:cNvPr id="5" name="TextBox 4"/>
          <p:cNvSpPr txBox="1"/>
          <p:nvPr/>
        </p:nvSpPr>
        <p:spPr>
          <a:xfrm>
            <a:off x="10972800" y="6446520"/>
            <a:ext cx="685800" cy="274320"/>
          </a:xfrm>
          <a:prstGeom prst="rect">
            <a:avLst/>
          </a:prstGeom>
          <a:noFill/>
        </p:spPr>
        <p:txBody>
          <a:bodyPr wrap="square" anchor="t" lIns="45720" rIns="45720">
            <a:spAutoFit/>
          </a:bodyPr>
          <a:lstStyle/>
          <a:p>
            <a:pPr algn="r">
              <a:spcAft>
                <a:spcPts val="400"/>
              </a:spcAft>
            </a:pPr>
            <a:r>
              <a:rPr sz="900" b="0" i="0">
                <a:solidFill>
                  <a:srgbClr val="6B6B6B"/>
                </a:solidFill>
                <a:latin typeface="Arial"/>
              </a:rPr>
              <a:t>5</a:t>
            </a:r>
          </a:p>
        </p:txBody>
      </p:sp>
      <p:sp>
        <p:nvSpPr>
          <p:cNvPr id="6" name="Oval 5"/>
          <p:cNvSpPr/>
          <p:nvPr/>
        </p:nvSpPr>
        <p:spPr>
          <a:xfrm>
            <a:off x="4937760" y="2651760"/>
            <a:ext cx="2286000" cy="2286000"/>
          </a:xfrm>
          <a:prstGeom prst="ellipse">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spcAft>
                <a:spcPts val="200"/>
              </a:spcAft>
            </a:pPr>
            <a:r>
              <a:rPr sz="1250" b="1" i="0">
                <a:solidFill>
                  <a:srgbClr val="FFFFFF"/>
                </a:solidFill>
                <a:latin typeface="Arial"/>
              </a:rPr>
              <a:t>Geschäftspartner</a:t>
            </a:r>
          </a:p>
          <a:p>
            <a:pPr algn="ctr">
              <a:spcAft>
                <a:spcPts val="200"/>
              </a:spcAft>
            </a:pPr>
            <a:r>
              <a:rPr sz="1000" b="0" i="0">
                <a:solidFill>
                  <a:srgbClr val="FFFFFF"/>
                </a:solidFill>
                <a:latin typeface="Arial"/>
              </a:rPr>
              <a:t>eine Nummer = Debitorennummer</a:t>
            </a:r>
          </a:p>
        </p:txBody>
      </p:sp>
      <p:sp>
        <p:nvSpPr>
          <p:cNvPr id="7" name="Rounded Rectangle 6"/>
          <p:cNvSpPr/>
          <p:nvPr/>
        </p:nvSpPr>
        <p:spPr>
          <a:xfrm>
            <a:off x="548640" y="1417320"/>
            <a:ext cx="3429000" cy="2240280"/>
          </a:xfrm>
          <a:prstGeom prst="roundRect">
            <a:avLst>
              <a:gd name="adj" fmla="val 8000"/>
            </a:avLst>
          </a:prstGeom>
          <a:solidFill>
            <a:srgbClr val="E9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8" name="TextBox 7"/>
          <p:cNvSpPr txBox="1"/>
          <p:nvPr/>
        </p:nvSpPr>
        <p:spPr>
          <a:xfrm>
            <a:off x="713232" y="1527048"/>
            <a:ext cx="3108960" cy="365760"/>
          </a:xfrm>
          <a:prstGeom prst="rect">
            <a:avLst/>
          </a:prstGeom>
          <a:noFill/>
        </p:spPr>
        <p:txBody>
          <a:bodyPr wrap="square" anchor="ctr" lIns="45720" rIns="45720">
            <a:spAutoFit/>
          </a:bodyPr>
          <a:lstStyle/>
          <a:p>
            <a:pPr algn="l">
              <a:spcAft>
                <a:spcPts val="400"/>
              </a:spcAft>
            </a:pPr>
            <a:r>
              <a:rPr sz="1250" b="1" i="0">
                <a:solidFill>
                  <a:srgbClr val="1F4E5F"/>
                </a:solidFill>
                <a:latin typeface="Arial"/>
              </a:rPr>
              <a:t>Allgemeine Daten (alle Rollen)</a:t>
            </a:r>
          </a:p>
        </p:txBody>
      </p:sp>
      <p:sp>
        <p:nvSpPr>
          <p:cNvPr id="9" name="TextBox 8"/>
          <p:cNvSpPr txBox="1"/>
          <p:nvPr/>
        </p:nvSpPr>
        <p:spPr>
          <a:xfrm>
            <a:off x="713232" y="1920240"/>
            <a:ext cx="3108960" cy="1325880"/>
          </a:xfrm>
          <a:prstGeom prst="rect">
            <a:avLst/>
          </a:prstGeom>
          <a:noFill/>
        </p:spPr>
        <p:txBody>
          <a:bodyPr wrap="square" anchor="t" lIns="45720" rIns="45720">
            <a:spAutoFit/>
          </a:bodyPr>
          <a:lstStyle/>
          <a:p>
            <a:pPr algn="l" marL="164592" indent="-164592">
              <a:spcAft>
                <a:spcPts val="300"/>
              </a:spcAft>
              <a:buChar char="•"/>
            </a:pPr>
            <a:r>
              <a:rPr sz="1100" b="0" i="0">
                <a:solidFill>
                  <a:srgbClr val="2B2B2B"/>
                </a:solidFill>
                <a:latin typeface="Arial"/>
              </a:rPr>
              <a:t>Name, Adressen, Kommunikation (E-Mail für Rechnung und Mahnung)</a:t>
            </a:r>
          </a:p>
          <a:p>
            <a:pPr algn="l" marL="164592" indent="-164592">
              <a:spcAft>
                <a:spcPts val="300"/>
              </a:spcAft>
              <a:buChar char="•"/>
            </a:pPr>
            <a:r>
              <a:rPr sz="1100" b="0" i="0">
                <a:solidFill>
                  <a:srgbClr val="2B2B2B"/>
                </a:solidFill>
                <a:latin typeface="Arial"/>
              </a:rPr>
              <a:t>Steuernummern, USt-IdNr., Bankverbindungen</a:t>
            </a:r>
          </a:p>
          <a:p>
            <a:pPr algn="l" marL="164592" indent="-164592">
              <a:spcAft>
                <a:spcPts val="300"/>
              </a:spcAft>
              <a:buChar char="•"/>
            </a:pPr>
            <a:r>
              <a:rPr sz="1100" b="0" i="0">
                <a:solidFill>
                  <a:srgbClr val="2B2B2B"/>
                </a:solidFill>
                <a:latin typeface="Arial"/>
              </a:rPr>
              <a:t>Identifikationen, Zertifikate (optional)</a:t>
            </a:r>
          </a:p>
        </p:txBody>
      </p:sp>
      <p:sp>
        <p:nvSpPr>
          <p:cNvPr id="10" name="TextBox 9"/>
          <p:cNvSpPr txBox="1"/>
          <p:nvPr/>
        </p:nvSpPr>
        <p:spPr>
          <a:xfrm>
            <a:off x="713232" y="3291839"/>
            <a:ext cx="3108960" cy="274320"/>
          </a:xfrm>
          <a:prstGeom prst="rect">
            <a:avLst/>
          </a:prstGeom>
          <a:noFill/>
        </p:spPr>
        <p:txBody>
          <a:bodyPr wrap="square" anchor="t" lIns="45720" rIns="45720">
            <a:spAutoFit/>
          </a:bodyPr>
          <a:lstStyle/>
          <a:p>
            <a:pPr algn="l">
              <a:spcAft>
                <a:spcPts val="400"/>
              </a:spcAft>
            </a:pPr>
            <a:r>
              <a:rPr sz="1050" b="1" i="0">
                <a:solidFill>
                  <a:srgbClr val="6B6B6B"/>
                </a:solidFill>
                <a:latin typeface="Arial"/>
              </a:rPr>
              <a:t>Pflegt: Stammdaten-Team</a:t>
            </a:r>
          </a:p>
        </p:txBody>
      </p:sp>
      <p:sp>
        <p:nvSpPr>
          <p:cNvPr id="11" name="Rounded Rectangle 10"/>
          <p:cNvSpPr/>
          <p:nvPr/>
        </p:nvSpPr>
        <p:spPr>
          <a:xfrm>
            <a:off x="8229600" y="1417320"/>
            <a:ext cx="3429000" cy="2240280"/>
          </a:xfrm>
          <a:prstGeom prst="roundRect">
            <a:avLst>
              <a:gd name="adj" fmla="val 8000"/>
            </a:avLst>
          </a:prstGeom>
          <a:solidFill>
            <a:srgbClr val="E9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2" name="TextBox 11"/>
          <p:cNvSpPr txBox="1"/>
          <p:nvPr/>
        </p:nvSpPr>
        <p:spPr>
          <a:xfrm>
            <a:off x="8394192" y="1527048"/>
            <a:ext cx="3108960" cy="365760"/>
          </a:xfrm>
          <a:prstGeom prst="rect">
            <a:avLst/>
          </a:prstGeom>
          <a:noFill/>
        </p:spPr>
        <p:txBody>
          <a:bodyPr wrap="square" anchor="ctr" lIns="45720" rIns="45720">
            <a:spAutoFit/>
          </a:bodyPr>
          <a:lstStyle/>
          <a:p>
            <a:pPr algn="l">
              <a:spcAft>
                <a:spcPts val="400"/>
              </a:spcAft>
            </a:pPr>
            <a:r>
              <a:rPr sz="1250" b="1" i="0">
                <a:solidFill>
                  <a:srgbClr val="1F4E5F"/>
                </a:solidFill>
                <a:latin typeface="Arial"/>
              </a:rPr>
              <a:t>FLCU01 Customer (Sales)</a:t>
            </a:r>
          </a:p>
        </p:txBody>
      </p:sp>
      <p:sp>
        <p:nvSpPr>
          <p:cNvPr id="13" name="TextBox 12"/>
          <p:cNvSpPr txBox="1"/>
          <p:nvPr/>
        </p:nvSpPr>
        <p:spPr>
          <a:xfrm>
            <a:off x="8394192" y="1920240"/>
            <a:ext cx="3108960" cy="1325880"/>
          </a:xfrm>
          <a:prstGeom prst="rect">
            <a:avLst/>
          </a:prstGeom>
          <a:noFill/>
        </p:spPr>
        <p:txBody>
          <a:bodyPr wrap="square" anchor="t" lIns="45720" rIns="45720">
            <a:spAutoFit/>
          </a:bodyPr>
          <a:lstStyle/>
          <a:p>
            <a:pPr algn="l" marL="164592" indent="-164592">
              <a:spcAft>
                <a:spcPts val="300"/>
              </a:spcAft>
              <a:buChar char="•"/>
            </a:pPr>
            <a:r>
              <a:rPr sz="1100" b="0" i="0">
                <a:solidFill>
                  <a:srgbClr val="2B2B2B"/>
                </a:solidFill>
                <a:latin typeface="Arial"/>
              </a:rPr>
              <a:t>Verkaufsorganisation, Vertriebsweg, Sparte</a:t>
            </a:r>
          </a:p>
          <a:p>
            <a:pPr algn="l" marL="164592" indent="-164592">
              <a:spcAft>
                <a:spcPts val="300"/>
              </a:spcAft>
              <a:buChar char="•"/>
            </a:pPr>
            <a:r>
              <a:rPr sz="1100" b="0" i="0">
                <a:solidFill>
                  <a:srgbClr val="2B2B2B"/>
                </a:solidFill>
                <a:latin typeface="Arial"/>
              </a:rPr>
              <a:t>Preisfindung, Versand, Fakturadaten</a:t>
            </a:r>
          </a:p>
          <a:p>
            <a:pPr algn="l" marL="164592" indent="-164592">
              <a:spcAft>
                <a:spcPts val="300"/>
              </a:spcAft>
              <a:buChar char="•"/>
            </a:pPr>
            <a:r>
              <a:rPr sz="1100" b="0" i="0">
                <a:solidFill>
                  <a:srgbClr val="2B2B2B"/>
                </a:solidFill>
                <a:latin typeface="Arial"/>
              </a:rPr>
              <a:t>Partnerrollen (Rechnungsempfänger, Regulierer)</a:t>
            </a:r>
          </a:p>
        </p:txBody>
      </p:sp>
      <p:sp>
        <p:nvSpPr>
          <p:cNvPr id="14" name="TextBox 13"/>
          <p:cNvSpPr txBox="1"/>
          <p:nvPr/>
        </p:nvSpPr>
        <p:spPr>
          <a:xfrm>
            <a:off x="8394192" y="3291839"/>
            <a:ext cx="3108960" cy="274320"/>
          </a:xfrm>
          <a:prstGeom prst="rect">
            <a:avLst/>
          </a:prstGeom>
          <a:noFill/>
        </p:spPr>
        <p:txBody>
          <a:bodyPr wrap="square" anchor="t" lIns="45720" rIns="45720">
            <a:spAutoFit/>
          </a:bodyPr>
          <a:lstStyle/>
          <a:p>
            <a:pPr algn="l">
              <a:spcAft>
                <a:spcPts val="400"/>
              </a:spcAft>
            </a:pPr>
            <a:r>
              <a:rPr sz="1050" b="1" i="0">
                <a:solidFill>
                  <a:srgbClr val="6B6B6B"/>
                </a:solidFill>
                <a:latin typeface="Arial"/>
              </a:rPr>
              <a:t>Pflegt: Vertrieb</a:t>
            </a:r>
          </a:p>
        </p:txBody>
      </p:sp>
      <p:sp>
        <p:nvSpPr>
          <p:cNvPr id="15" name="Rounded Rectangle 14"/>
          <p:cNvSpPr/>
          <p:nvPr/>
        </p:nvSpPr>
        <p:spPr>
          <a:xfrm>
            <a:off x="548640" y="3931920"/>
            <a:ext cx="3429000" cy="2240280"/>
          </a:xfrm>
          <a:prstGeom prst="roundRect">
            <a:avLst>
              <a:gd name="adj" fmla="val 8000"/>
            </a:avLst>
          </a:prstGeom>
          <a:solidFill>
            <a:srgbClr val="E9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6" name="TextBox 15"/>
          <p:cNvSpPr txBox="1"/>
          <p:nvPr/>
        </p:nvSpPr>
        <p:spPr>
          <a:xfrm>
            <a:off x="713232" y="4041648"/>
            <a:ext cx="3108960" cy="365760"/>
          </a:xfrm>
          <a:prstGeom prst="rect">
            <a:avLst/>
          </a:prstGeom>
          <a:noFill/>
        </p:spPr>
        <p:txBody>
          <a:bodyPr wrap="square" anchor="ctr" lIns="45720" rIns="45720">
            <a:spAutoFit/>
          </a:bodyPr>
          <a:lstStyle/>
          <a:p>
            <a:pPr algn="l">
              <a:spcAft>
                <a:spcPts val="400"/>
              </a:spcAft>
            </a:pPr>
            <a:r>
              <a:rPr sz="1250" b="1" i="0">
                <a:solidFill>
                  <a:srgbClr val="1F4E5F"/>
                </a:solidFill>
                <a:latin typeface="Arial"/>
              </a:rPr>
              <a:t>FLCU00 Customer (Fin. Accounting)</a:t>
            </a:r>
          </a:p>
        </p:txBody>
      </p:sp>
      <p:sp>
        <p:nvSpPr>
          <p:cNvPr id="17" name="TextBox 16"/>
          <p:cNvSpPr txBox="1"/>
          <p:nvPr/>
        </p:nvSpPr>
        <p:spPr>
          <a:xfrm>
            <a:off x="713232" y="4434840"/>
            <a:ext cx="3108960" cy="1325880"/>
          </a:xfrm>
          <a:prstGeom prst="rect">
            <a:avLst/>
          </a:prstGeom>
          <a:noFill/>
        </p:spPr>
        <p:txBody>
          <a:bodyPr wrap="square" anchor="t" lIns="45720" rIns="45720">
            <a:spAutoFit/>
          </a:bodyPr>
          <a:lstStyle/>
          <a:p>
            <a:pPr algn="l" marL="164592" indent="-164592">
              <a:spcAft>
                <a:spcPts val="300"/>
              </a:spcAft>
              <a:buChar char="•"/>
            </a:pPr>
            <a:r>
              <a:rPr sz="1100" b="0" i="0">
                <a:solidFill>
                  <a:srgbClr val="2B2B2B"/>
                </a:solidFill>
                <a:latin typeface="Arial"/>
              </a:rPr>
              <a:t>Abstimmkonto, Zahlungsbedingung, Zahlwege, Hausbank</a:t>
            </a:r>
          </a:p>
          <a:p>
            <a:pPr algn="l" marL="164592" indent="-164592">
              <a:spcAft>
                <a:spcPts val="300"/>
              </a:spcAft>
              <a:buChar char="•"/>
            </a:pPr>
            <a:r>
              <a:rPr sz="1100" b="0" i="0">
                <a:solidFill>
                  <a:srgbClr val="2B2B2B"/>
                </a:solidFill>
                <a:latin typeface="Arial"/>
              </a:rPr>
              <a:t>Sachbearbeiter, Korrespondenz, Zinskennzeichen</a:t>
            </a:r>
          </a:p>
          <a:p>
            <a:pPr algn="l" marL="164592" indent="-164592">
              <a:spcAft>
                <a:spcPts val="300"/>
              </a:spcAft>
              <a:buChar char="•"/>
            </a:pPr>
            <a:r>
              <a:rPr sz="1100" b="0" i="0">
                <a:solidFill>
                  <a:srgbClr val="2B2B2B"/>
                </a:solidFill>
                <a:latin typeface="Arial"/>
              </a:rPr>
              <a:t>Mahnverfahren, Mahnsperre, Mahnsachbearbeiter</a:t>
            </a:r>
          </a:p>
        </p:txBody>
      </p:sp>
      <p:sp>
        <p:nvSpPr>
          <p:cNvPr id="18" name="TextBox 17"/>
          <p:cNvSpPr txBox="1"/>
          <p:nvPr/>
        </p:nvSpPr>
        <p:spPr>
          <a:xfrm>
            <a:off x="713232" y="5806440"/>
            <a:ext cx="3108960" cy="274320"/>
          </a:xfrm>
          <a:prstGeom prst="rect">
            <a:avLst/>
          </a:prstGeom>
          <a:noFill/>
        </p:spPr>
        <p:txBody>
          <a:bodyPr wrap="square" anchor="t" lIns="45720" rIns="45720">
            <a:spAutoFit/>
          </a:bodyPr>
          <a:lstStyle/>
          <a:p>
            <a:pPr algn="l">
              <a:spcAft>
                <a:spcPts val="400"/>
              </a:spcAft>
            </a:pPr>
            <a:r>
              <a:rPr sz="1050" b="1" i="0">
                <a:solidFill>
                  <a:srgbClr val="6B6B6B"/>
                </a:solidFill>
                <a:latin typeface="Arial"/>
              </a:rPr>
              <a:t>Pflegt: Debitorenbuchhaltung</a:t>
            </a:r>
          </a:p>
        </p:txBody>
      </p:sp>
      <p:sp>
        <p:nvSpPr>
          <p:cNvPr id="19" name="Rounded Rectangle 18"/>
          <p:cNvSpPr/>
          <p:nvPr/>
        </p:nvSpPr>
        <p:spPr>
          <a:xfrm>
            <a:off x="8229600" y="3931920"/>
            <a:ext cx="3429000" cy="2240280"/>
          </a:xfrm>
          <a:prstGeom prst="roundRect">
            <a:avLst>
              <a:gd name="adj" fmla="val 8000"/>
            </a:avLst>
          </a:prstGeom>
          <a:solidFill>
            <a:srgbClr val="E9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0" name="TextBox 19"/>
          <p:cNvSpPr txBox="1"/>
          <p:nvPr/>
        </p:nvSpPr>
        <p:spPr>
          <a:xfrm>
            <a:off x="8394192" y="4041648"/>
            <a:ext cx="3108960" cy="365760"/>
          </a:xfrm>
          <a:prstGeom prst="rect">
            <a:avLst/>
          </a:prstGeom>
          <a:noFill/>
        </p:spPr>
        <p:txBody>
          <a:bodyPr wrap="square" anchor="ctr" lIns="45720" rIns="45720">
            <a:spAutoFit/>
          </a:bodyPr>
          <a:lstStyle/>
          <a:p>
            <a:pPr algn="l">
              <a:spcAft>
                <a:spcPts val="400"/>
              </a:spcAft>
            </a:pPr>
            <a:r>
              <a:rPr sz="1250" b="1" i="0">
                <a:solidFill>
                  <a:srgbClr val="1F4E5F"/>
                </a:solidFill>
                <a:latin typeface="Arial"/>
              </a:rPr>
              <a:t>UKM000 Credit Management (BD6)</a:t>
            </a:r>
          </a:p>
        </p:txBody>
      </p:sp>
      <p:sp>
        <p:nvSpPr>
          <p:cNvPr id="21" name="TextBox 20"/>
          <p:cNvSpPr txBox="1"/>
          <p:nvPr/>
        </p:nvSpPr>
        <p:spPr>
          <a:xfrm>
            <a:off x="8394192" y="4434840"/>
            <a:ext cx="3108960" cy="1325880"/>
          </a:xfrm>
          <a:prstGeom prst="rect">
            <a:avLst/>
          </a:prstGeom>
          <a:noFill/>
        </p:spPr>
        <p:txBody>
          <a:bodyPr wrap="square" anchor="t" lIns="45720" rIns="45720">
            <a:spAutoFit/>
          </a:bodyPr>
          <a:lstStyle/>
          <a:p>
            <a:pPr algn="l" marL="164592" indent="-164592">
              <a:spcAft>
                <a:spcPts val="300"/>
              </a:spcAft>
              <a:buChar char="•"/>
            </a:pPr>
            <a:r>
              <a:rPr sz="1100" b="0" i="0">
                <a:solidFill>
                  <a:srgbClr val="2B2B2B"/>
                </a:solidFill>
                <a:latin typeface="Arial"/>
              </a:rPr>
              <a:t>Scoring, Risikoklasse, Prüfregel</a:t>
            </a:r>
          </a:p>
          <a:p>
            <a:pPr algn="l" marL="164592" indent="-164592">
              <a:spcAft>
                <a:spcPts val="300"/>
              </a:spcAft>
              <a:buChar char="•"/>
            </a:pPr>
            <a:r>
              <a:rPr sz="1100" b="0" i="0">
                <a:solidFill>
                  <a:srgbClr val="2B2B2B"/>
                </a:solidFill>
                <a:latin typeface="Arial"/>
              </a:rPr>
              <a:t>Kreditsegment 1000: Limit, gültig bis</a:t>
            </a:r>
          </a:p>
          <a:p>
            <a:pPr algn="l" marL="164592" indent="-164592">
              <a:spcAft>
                <a:spcPts val="300"/>
              </a:spcAft>
              <a:buChar char="•"/>
            </a:pPr>
            <a:r>
              <a:rPr sz="1100" b="0" i="0">
                <a:solidFill>
                  <a:srgbClr val="2B2B2B"/>
                </a:solidFill>
                <a:latin typeface="Arial"/>
              </a:rPr>
              <a:t>Kreditanalyst, Kreditsperrgründe</a:t>
            </a:r>
          </a:p>
        </p:txBody>
      </p:sp>
      <p:sp>
        <p:nvSpPr>
          <p:cNvPr id="22" name="TextBox 21"/>
          <p:cNvSpPr txBox="1"/>
          <p:nvPr/>
        </p:nvSpPr>
        <p:spPr>
          <a:xfrm>
            <a:off x="8394192" y="5806440"/>
            <a:ext cx="3108960" cy="274320"/>
          </a:xfrm>
          <a:prstGeom prst="rect">
            <a:avLst/>
          </a:prstGeom>
          <a:noFill/>
        </p:spPr>
        <p:txBody>
          <a:bodyPr wrap="square" anchor="t" lIns="45720" rIns="45720">
            <a:spAutoFit/>
          </a:bodyPr>
          <a:lstStyle/>
          <a:p>
            <a:pPr algn="l">
              <a:spcAft>
                <a:spcPts val="400"/>
              </a:spcAft>
            </a:pPr>
            <a:r>
              <a:rPr sz="1050" b="1" i="0">
                <a:solidFill>
                  <a:srgbClr val="6B6B6B"/>
                </a:solidFill>
                <a:latin typeface="Arial"/>
              </a:rPr>
              <a:t>Pflegt: Credit Controller</a:t>
            </a:r>
          </a:p>
        </p:txBody>
      </p:sp>
      <p:cxnSp>
        <p:nvCxnSpPr>
          <p:cNvPr id="23" name="Connector 22"/>
          <p:cNvCxnSpPr/>
          <p:nvPr/>
        </p:nvCxnSpPr>
        <p:spPr>
          <a:xfrm>
            <a:off x="3977639" y="2560320"/>
            <a:ext cx="1280161" cy="731520"/>
          </a:xfrm>
          <a:prstGeom prst="line">
            <a:avLst/>
          </a:prstGeom>
          <a:ln w="19050">
            <a:solidFill>
              <a:srgbClr val="D0D7DA"/>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6903720" y="2560320"/>
            <a:ext cx="1325880" cy="731520"/>
          </a:xfrm>
          <a:prstGeom prst="line">
            <a:avLst/>
          </a:prstGeom>
          <a:ln w="19050">
            <a:solidFill>
              <a:srgbClr val="D0D7DA"/>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3977639" y="4297680"/>
            <a:ext cx="1280161" cy="731520"/>
          </a:xfrm>
          <a:prstGeom prst="line">
            <a:avLst/>
          </a:prstGeom>
          <a:ln w="19050">
            <a:solidFill>
              <a:srgbClr val="D0D7DA"/>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6903720" y="4297680"/>
            <a:ext cx="1325880" cy="731520"/>
          </a:xfrm>
          <a:prstGeom prst="line">
            <a:avLst/>
          </a:prstGeom>
          <a:ln w="19050">
            <a:solidFill>
              <a:srgbClr val="D0D7DA"/>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3840480" y="5897880"/>
            <a:ext cx="4480560" cy="457200"/>
          </a:xfrm>
          <a:prstGeom prst="rect">
            <a:avLst/>
          </a:prstGeom>
          <a:noFill/>
        </p:spPr>
        <p:txBody>
          <a:bodyPr wrap="square" anchor="t" lIns="45720" rIns="45720">
            <a:spAutoFit/>
          </a:bodyPr>
          <a:lstStyle/>
          <a:p>
            <a:pPr algn="ctr">
              <a:spcAft>
                <a:spcPts val="400"/>
              </a:spcAft>
            </a:pPr>
            <a:r>
              <a:rPr sz="1050" b="0" i="0">
                <a:solidFill>
                  <a:srgbClr val="6B6B6B"/>
                </a:solidFill>
                <a:latin typeface="Arial"/>
              </a:rPr>
              <a:t>Nummernvergabe über BP-Gruppierung (intern oder extern), Gruppierungen sind vorgeliefert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11064240" cy="274320"/>
          </a:xfrm>
          <a:prstGeom prst="rect">
            <a:avLst/>
          </a:prstGeom>
          <a:noFill/>
        </p:spPr>
        <p:txBody>
          <a:bodyPr wrap="square" anchor="t" lIns="45720" rIns="45720">
            <a:spAutoFit/>
          </a:bodyPr>
          <a:lstStyle/>
          <a:p>
            <a:pPr algn="l">
              <a:spcAft>
                <a:spcPts val="400"/>
              </a:spcAft>
            </a:pPr>
            <a:r>
              <a:rPr sz="1200" b="1" i="0">
                <a:solidFill>
                  <a:srgbClr val="6B6B6B"/>
                </a:solidFill>
                <a:latin typeface="Arial"/>
              </a:rPr>
              <a:t>Thema 1 · Debitorenstammdaten · Praxis</a:t>
            </a:r>
          </a:p>
        </p:txBody>
      </p:sp>
      <p:sp>
        <p:nvSpPr>
          <p:cNvPr id="3" name="TextBox 2"/>
          <p:cNvSpPr txBox="1"/>
          <p:nvPr/>
        </p:nvSpPr>
        <p:spPr>
          <a:xfrm>
            <a:off x="548640" y="502920"/>
            <a:ext cx="11064240" cy="731520"/>
          </a:xfrm>
          <a:prstGeom prst="rect">
            <a:avLst/>
          </a:prstGeom>
          <a:noFill/>
        </p:spPr>
        <p:txBody>
          <a:bodyPr wrap="square" anchor="ctr" lIns="45720" rIns="45720">
            <a:spAutoFit/>
          </a:bodyPr>
          <a:lstStyle/>
          <a:p>
            <a:pPr algn="l">
              <a:spcAft>
                <a:spcPts val="400"/>
              </a:spcAft>
            </a:pPr>
            <a:r>
              <a:rPr sz="2800" b="1" i="0">
                <a:solidFill>
                  <a:srgbClr val="2B2B2B"/>
                </a:solidFill>
                <a:latin typeface="Arial"/>
              </a:rPr>
              <a:t>Apps und Rollen für Pflege, Prüfung und Kreditprofil</a:t>
            </a:r>
          </a:p>
        </p:txBody>
      </p:sp>
      <p:sp>
        <p:nvSpPr>
          <p:cNvPr id="4" name="TextBox 3"/>
          <p:cNvSpPr txBox="1"/>
          <p:nvPr/>
        </p:nvSpPr>
        <p:spPr>
          <a:xfrm>
            <a:off x="548640" y="6446520"/>
            <a:ext cx="8229600" cy="274320"/>
          </a:xfrm>
          <a:prstGeom prst="rect">
            <a:avLst/>
          </a:prstGeom>
          <a:noFill/>
        </p:spPr>
        <p:txBody>
          <a:bodyPr wrap="square" anchor="t" lIns="45720" rIns="45720">
            <a:spAutoFit/>
          </a:bodyPr>
          <a:lstStyle/>
          <a:p>
            <a:pPr algn="l">
              <a:spcAft>
                <a:spcPts val="400"/>
              </a:spcAft>
            </a:pPr>
            <a:r>
              <a:rPr sz="900" b="0" i="0">
                <a:solidFill>
                  <a:srgbClr val="6B6B6B"/>
                </a:solidFill>
                <a:latin typeface="Arial"/>
              </a:rPr>
              <a:t>F2S-Workshop 3 · Debitorenbuchhaltung · SAP S/4HANA Cloud Public Edition 2608</a:t>
            </a:r>
          </a:p>
        </p:txBody>
      </p:sp>
      <p:sp>
        <p:nvSpPr>
          <p:cNvPr id="5" name="TextBox 4"/>
          <p:cNvSpPr txBox="1"/>
          <p:nvPr/>
        </p:nvSpPr>
        <p:spPr>
          <a:xfrm>
            <a:off x="10972800" y="6446520"/>
            <a:ext cx="685800" cy="274320"/>
          </a:xfrm>
          <a:prstGeom prst="rect">
            <a:avLst/>
          </a:prstGeom>
          <a:noFill/>
        </p:spPr>
        <p:txBody>
          <a:bodyPr wrap="square" anchor="t" lIns="45720" rIns="45720">
            <a:spAutoFit/>
          </a:bodyPr>
          <a:lstStyle/>
          <a:p>
            <a:pPr algn="r">
              <a:spcAft>
                <a:spcPts val="400"/>
              </a:spcAft>
            </a:pPr>
            <a:r>
              <a:rPr sz="900" b="0" i="0">
                <a:solidFill>
                  <a:srgbClr val="6B6B6B"/>
                </a:solidFill>
                <a:latin typeface="Arial"/>
              </a:rPr>
              <a:t>6</a:t>
            </a:r>
          </a:p>
        </p:txBody>
      </p:sp>
      <p:graphicFrame>
        <p:nvGraphicFramePr>
          <p:cNvPr id="6" name="Table 5"/>
          <p:cNvGraphicFramePr>
            <a:graphicFrameLocks noGrp="1"/>
          </p:cNvGraphicFramePr>
          <p:nvPr/>
        </p:nvGraphicFramePr>
        <p:xfrm>
          <a:off x="548640" y="1417320"/>
          <a:ext cx="11064240" cy="4023360"/>
        </p:xfrm>
        <a:graphic>
          <a:graphicData uri="http://schemas.openxmlformats.org/drawingml/2006/table">
            <a:tbl>
              <a:tblPr firstRow="1" bandRow="0">
                <a:tableStyleId>{5940675A-B579-460E-94D1-54222C63F5DA}</a:tableStyleId>
              </a:tblPr>
              <a:tblGrid>
                <a:gridCol w="3017520"/>
                <a:gridCol w="2651760"/>
                <a:gridCol w="5394960"/>
              </a:tblGrid>
              <a:tr h="502920">
                <a:tc>
                  <a:txBody>
                    <a:bodyPr wrap="square"/>
                    <a:lstStyle/>
                    <a:p>
                      <a:pPr>
                        <a:spcAft>
                          <a:spcPts val="100"/>
                        </a:spcAft>
                      </a:pPr>
                      <a:r>
                        <a:rPr sz="1150" b="1" i="0">
                          <a:solidFill>
                            <a:srgbClr val="FFFFFF"/>
                          </a:solidFill>
                          <a:latin typeface="Arial"/>
                        </a:rPr>
                        <a:t>App</a:t>
                      </a:r>
                    </a:p>
                  </a:txBody>
                  <a:tcPr marL="64008" marR="64008" marT="36576" marB="36576" anchor="ctr">
                    <a:solidFill>
                      <a:srgbClr val="1F4E5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150" b="1" i="0">
                          <a:solidFill>
                            <a:srgbClr val="FFFFFF"/>
                          </a:solidFill>
                          <a:latin typeface="Arial"/>
                        </a:rPr>
                        <a:t>Rolle</a:t>
                      </a:r>
                    </a:p>
                  </a:txBody>
                  <a:tcPr marL="64008" marR="64008" marT="36576" marB="36576" anchor="ctr">
                    <a:solidFill>
                      <a:srgbClr val="1F4E5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150" b="1" i="0">
                          <a:solidFill>
                            <a:srgbClr val="FFFFFF"/>
                          </a:solidFill>
                          <a:latin typeface="Arial"/>
                        </a:rPr>
                        <a:t>Wofür im Prozess</a:t>
                      </a:r>
                    </a:p>
                  </a:txBody>
                  <a:tcPr marL="64008" marR="64008" marT="36576" marB="36576" anchor="ctr">
                    <a:solidFill>
                      <a:srgbClr val="1F4E5F"/>
                    </a:solidFill>
                    <a:lnL w="6350">
                      <a:solidFill>
                        <a:srgbClr val="D0D7DA"/>
                      </a:solidFill>
                    </a:lnL>
                    <a:lnR w="6350">
                      <a:solidFill>
                        <a:srgbClr val="D0D7DA"/>
                      </a:solidFill>
                    </a:lnR>
                    <a:lnT w="6350">
                      <a:solidFill>
                        <a:srgbClr val="D0D7DA"/>
                      </a:solidFill>
                    </a:lnT>
                    <a:lnB w="6350">
                      <a:solidFill>
                        <a:srgbClr val="D0D7DA"/>
                      </a:solidFill>
                    </a:lnB>
                  </a:tcPr>
                </a:tc>
              </a:tr>
              <a:tr h="502920">
                <a:tc>
                  <a:txBody>
                    <a:bodyPr wrap="square"/>
                    <a:lstStyle/>
                    <a:p>
                      <a:pPr>
                        <a:spcAft>
                          <a:spcPts val="100"/>
                        </a:spcAft>
                      </a:pPr>
                      <a:r>
                        <a:rPr sz="1100" b="0" i="0">
                          <a:solidFill>
                            <a:srgbClr val="2B2B2B"/>
                          </a:solidFill>
                          <a:latin typeface="Arial"/>
                        </a:rPr>
                        <a:t>Manage Customer Master Data (F0850A)</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100" b="0" i="0">
                          <a:solidFill>
                            <a:srgbClr val="2B2B2B"/>
                          </a:solidFill>
                          <a:latin typeface="Arial"/>
                        </a:rPr>
                        <a:t>Master Data Specialist – Business Partner Data</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100" b="0" i="0">
                          <a:solidFill>
                            <a:srgbClr val="2B2B2B"/>
                          </a:solidFill>
                          <a:latin typeface="Arial"/>
                        </a:rPr>
                        <a:t>Fiori-Sicht auf den Kunden: Company Codes (Finance, Correspondence, Dunning Data), Sales Areas; Pflege von Sachbearbeiter, Mahnverfahren, Zinskennzeichen</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r>
              <a:tr h="502920">
                <a:tc>
                  <a:txBody>
                    <a:bodyPr wrap="square"/>
                    <a:lstStyle/>
                    <a:p>
                      <a:pPr>
                        <a:spcAft>
                          <a:spcPts val="100"/>
                        </a:spcAft>
                      </a:pPr>
                      <a:r>
                        <a:rPr sz="1100" b="0" i="0">
                          <a:solidFill>
                            <a:srgbClr val="2B2B2B"/>
                          </a:solidFill>
                          <a:latin typeface="Arial"/>
                        </a:rPr>
                        <a:t>Maintain Business Partner (BP)</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100" b="0" i="0">
                          <a:solidFill>
                            <a:srgbClr val="2B2B2B"/>
                          </a:solidFill>
                          <a:latin typeface="Arial"/>
                        </a:rPr>
                        <a:t>Master Data Specialist, AR Accountant</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100" b="0" i="0">
                          <a:solidFill>
                            <a:srgbClr val="2B2B2B"/>
                          </a:solidFill>
                          <a:latin typeface="Arial"/>
                        </a:rPr>
                        <a:t>Klassische Pflege aller Rollen, Register Certificates (nur nach Aktivierung)</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r>
              <a:tr h="502920">
                <a:tc>
                  <a:txBody>
                    <a:bodyPr wrap="square"/>
                    <a:lstStyle/>
                    <a:p>
                      <a:pPr>
                        <a:spcAft>
                          <a:spcPts val="100"/>
                        </a:spcAft>
                      </a:pPr>
                      <a:r>
                        <a:rPr sz="1100" b="0" i="0">
                          <a:solidFill>
                            <a:srgbClr val="2B2B2B"/>
                          </a:solidFill>
                          <a:latin typeface="Arial"/>
                        </a:rPr>
                        <a:t>Display Customer List (F2640)</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100" b="0" i="0">
                          <a:solidFill>
                            <a:srgbClr val="2B2B2B"/>
                          </a:solidFill>
                          <a:latin typeface="Arial"/>
                        </a:rPr>
                        <a:t>AR Accountant</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100" b="0" i="0">
                          <a:solidFill>
                            <a:srgbClr val="2B2B2B"/>
                          </a:solidFill>
                          <a:latin typeface="Arial"/>
                        </a:rPr>
                        <a:t>Stammdatenprüfung je Buchungskreis: fehlende E-Mail, Sachbearbeiter, Mahnverfahren; Absprung in Posten und Ausgleich</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r>
              <a:tr h="502920">
                <a:tc>
                  <a:txBody>
                    <a:bodyPr wrap="square"/>
                    <a:lstStyle/>
                    <a:p>
                      <a:pPr>
                        <a:spcAft>
                          <a:spcPts val="100"/>
                        </a:spcAft>
                      </a:pPr>
                      <a:r>
                        <a:rPr sz="1100" b="0" i="0">
                          <a:solidFill>
                            <a:srgbClr val="2B2B2B"/>
                          </a:solidFill>
                          <a:latin typeface="Arial"/>
                        </a:rPr>
                        <a:t>Define Accounting Clerks</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100" b="0" i="0">
                          <a:solidFill>
                            <a:srgbClr val="2B2B2B"/>
                          </a:solidFill>
                          <a:latin typeface="Arial"/>
                        </a:rPr>
                        <a:t>AR Manager</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100" b="0" i="0">
                          <a:solidFill>
                            <a:srgbClr val="2B2B2B"/>
                          </a:solidFill>
                          <a:latin typeface="Arial"/>
                        </a:rPr>
                        <a:t>Sachbearbeiter je Buchungskreis (Kürzel, Name, Benutzer); steuert Mahnvorschläge und Auswertungen</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r>
              <a:tr h="502920">
                <a:tc>
                  <a:txBody>
                    <a:bodyPr wrap="square"/>
                    <a:lstStyle/>
                    <a:p>
                      <a:pPr>
                        <a:spcAft>
                          <a:spcPts val="100"/>
                        </a:spcAft>
                      </a:pPr>
                      <a:r>
                        <a:rPr sz="1100" b="0" i="0">
                          <a:solidFill>
                            <a:srgbClr val="2B2B2B"/>
                          </a:solidFill>
                          <a:latin typeface="Arial"/>
                        </a:rPr>
                        <a:t>Manage Credit Accounts (F4596)</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100" b="0" i="0">
                          <a:solidFill>
                            <a:srgbClr val="2B2B2B"/>
                          </a:solidFill>
                          <a:latin typeface="Arial"/>
                        </a:rPr>
                        <a:t>Credit Controller</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100" b="0" i="0">
                          <a:solidFill>
                            <a:srgbClr val="2B2B2B"/>
                          </a:solidFill>
                          <a:latin typeface="Arial"/>
                        </a:rPr>
                        <a:t>Kreditprofil: Scoring, Risikoklasse, Prüfregel, Kreditlimit je Segment, Kreditanalyst</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r>
              <a:tr h="502920">
                <a:tc>
                  <a:txBody>
                    <a:bodyPr wrap="square"/>
                    <a:lstStyle/>
                    <a:p>
                      <a:pPr>
                        <a:spcAft>
                          <a:spcPts val="100"/>
                        </a:spcAft>
                      </a:pPr>
                      <a:r>
                        <a:rPr sz="1100" b="0" i="0">
                          <a:solidFill>
                            <a:srgbClr val="2B2B2B"/>
                          </a:solidFill>
                          <a:latin typeface="Arial"/>
                        </a:rPr>
                        <a:t>Manage Documented Credit Decision (F5587A)</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100" b="0" i="0">
                          <a:solidFill>
                            <a:srgbClr val="2B2B2B"/>
                          </a:solidFill>
                          <a:latin typeface="Arial"/>
                        </a:rPr>
                        <a:t>Credit Controller</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100" b="0" i="0">
                          <a:solidFill>
                            <a:srgbClr val="2B2B2B"/>
                          </a:solidFill>
                          <a:latin typeface="Arial"/>
                        </a:rPr>
                        <a:t>Gesperrte Aufträge prüfen, in Bearbeitung setzen, freigeben oder ablehnen</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r>
              <a:tr h="502920">
                <a:tc>
                  <a:txBody>
                    <a:bodyPr wrap="square"/>
                    <a:lstStyle/>
                    <a:p>
                      <a:pPr>
                        <a:spcAft>
                          <a:spcPts val="100"/>
                        </a:spcAft>
                      </a:pPr>
                      <a:r>
                        <a:rPr sz="1100" b="0" i="0">
                          <a:solidFill>
                            <a:srgbClr val="2B2B2B"/>
                          </a:solidFill>
                          <a:latin typeface="Arial"/>
                        </a:rPr>
                        <a:t>Migrate Your Data / Mass Maintenance</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100" b="0" i="0">
                          <a:solidFill>
                            <a:srgbClr val="2B2B2B"/>
                          </a:solidFill>
                          <a:latin typeface="Arial"/>
                        </a:rPr>
                        <a:t>Administrator, Master Data Specialist</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100" b="0" i="0">
                          <a:solidFill>
                            <a:srgbClr val="2B2B2B"/>
                          </a:solidFill>
                          <a:latin typeface="Arial"/>
                        </a:rPr>
                        <a:t>Cut-over und Massenänderungen; nicht über manuelle Anlage</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r>
            </a:tbl>
          </a:graphicData>
        </a:graphic>
      </p:graphicFrame>
      <p:sp>
        <p:nvSpPr>
          <p:cNvPr id="7" name="TextBox 6"/>
          <p:cNvSpPr txBox="1"/>
          <p:nvPr/>
        </p:nvSpPr>
        <p:spPr>
          <a:xfrm>
            <a:off x="548640" y="5806440"/>
            <a:ext cx="11064240" cy="548640"/>
          </a:xfrm>
          <a:prstGeom prst="rect">
            <a:avLst/>
          </a:prstGeom>
          <a:noFill/>
        </p:spPr>
        <p:txBody>
          <a:bodyPr wrap="square" anchor="t" lIns="45720" rIns="45720">
            <a:spAutoFit/>
          </a:bodyPr>
          <a:lstStyle/>
          <a:p>
            <a:pPr algn="l">
              <a:spcAft>
                <a:spcPts val="400"/>
              </a:spcAft>
            </a:pPr>
            <a:r>
              <a:rPr sz="1100" b="0" i="0">
                <a:solidFill>
                  <a:srgbClr val="6B6B6B"/>
                </a:solidFill>
                <a:latin typeface="Arial"/>
              </a:rPr>
              <a:t>Rollenvorlagen: SAP_BR_BUPA_MASTER_SPECIALIST, SAP_BR_AR_ACCOUNTANT, SAP_BR_AR_MANAGER, SAP_BR_CREDIT_CONTROLLER. Launchpad Spaces „Accounts Receivable“ und „Credit Management“.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11064240" cy="274320"/>
          </a:xfrm>
          <a:prstGeom prst="rect">
            <a:avLst/>
          </a:prstGeom>
          <a:noFill/>
        </p:spPr>
        <p:txBody>
          <a:bodyPr wrap="square" anchor="t" lIns="45720" rIns="45720">
            <a:spAutoFit/>
          </a:bodyPr>
          <a:lstStyle/>
          <a:p>
            <a:pPr algn="l">
              <a:spcAft>
                <a:spcPts val="400"/>
              </a:spcAft>
            </a:pPr>
            <a:r>
              <a:rPr sz="1200" b="1" i="0">
                <a:solidFill>
                  <a:srgbClr val="6B6B6B"/>
                </a:solidFill>
                <a:latin typeface="Arial"/>
              </a:rPr>
              <a:t>Thema 1 · Kreditprofil (BD6) · Theorie und Praxis</a:t>
            </a:r>
          </a:p>
        </p:txBody>
      </p:sp>
      <p:sp>
        <p:nvSpPr>
          <p:cNvPr id="3" name="TextBox 2"/>
          <p:cNvSpPr txBox="1"/>
          <p:nvPr/>
        </p:nvSpPr>
        <p:spPr>
          <a:xfrm>
            <a:off x="548640" y="502920"/>
            <a:ext cx="11064240" cy="731520"/>
          </a:xfrm>
          <a:prstGeom prst="rect">
            <a:avLst/>
          </a:prstGeom>
          <a:noFill/>
        </p:spPr>
        <p:txBody>
          <a:bodyPr wrap="square" anchor="ctr" lIns="45720" rIns="45720">
            <a:spAutoFit/>
          </a:bodyPr>
          <a:lstStyle/>
          <a:p>
            <a:pPr algn="l">
              <a:spcAft>
                <a:spcPts val="400"/>
              </a:spcAft>
            </a:pPr>
            <a:r>
              <a:rPr sz="2800" b="1" i="0">
                <a:solidFill>
                  <a:srgbClr val="2B2B2B"/>
                </a:solidFill>
                <a:latin typeface="Arial"/>
              </a:rPr>
              <a:t>Basic Credit Management: Risiko prüfen, bevor geliefert wird</a:t>
            </a:r>
          </a:p>
        </p:txBody>
      </p:sp>
      <p:sp>
        <p:nvSpPr>
          <p:cNvPr id="4" name="TextBox 3"/>
          <p:cNvSpPr txBox="1"/>
          <p:nvPr/>
        </p:nvSpPr>
        <p:spPr>
          <a:xfrm>
            <a:off x="548640" y="6446520"/>
            <a:ext cx="8229600" cy="274320"/>
          </a:xfrm>
          <a:prstGeom prst="rect">
            <a:avLst/>
          </a:prstGeom>
          <a:noFill/>
        </p:spPr>
        <p:txBody>
          <a:bodyPr wrap="square" anchor="t" lIns="45720" rIns="45720">
            <a:spAutoFit/>
          </a:bodyPr>
          <a:lstStyle/>
          <a:p>
            <a:pPr algn="l">
              <a:spcAft>
                <a:spcPts val="400"/>
              </a:spcAft>
            </a:pPr>
            <a:r>
              <a:rPr sz="900" b="0" i="0">
                <a:solidFill>
                  <a:srgbClr val="6B6B6B"/>
                </a:solidFill>
                <a:latin typeface="Arial"/>
              </a:rPr>
              <a:t>F2S-Workshop 3 · Debitorenbuchhaltung · SAP S/4HANA Cloud Public Edition 2608</a:t>
            </a:r>
          </a:p>
        </p:txBody>
      </p:sp>
      <p:sp>
        <p:nvSpPr>
          <p:cNvPr id="5" name="TextBox 4"/>
          <p:cNvSpPr txBox="1"/>
          <p:nvPr/>
        </p:nvSpPr>
        <p:spPr>
          <a:xfrm>
            <a:off x="10972800" y="6446520"/>
            <a:ext cx="685800" cy="274320"/>
          </a:xfrm>
          <a:prstGeom prst="rect">
            <a:avLst/>
          </a:prstGeom>
          <a:noFill/>
        </p:spPr>
        <p:txBody>
          <a:bodyPr wrap="square" anchor="t" lIns="45720" rIns="45720">
            <a:spAutoFit/>
          </a:bodyPr>
          <a:lstStyle/>
          <a:p>
            <a:pPr algn="r">
              <a:spcAft>
                <a:spcPts val="400"/>
              </a:spcAft>
            </a:pPr>
            <a:r>
              <a:rPr sz="900" b="0" i="0">
                <a:solidFill>
                  <a:srgbClr val="6B6B6B"/>
                </a:solidFill>
                <a:latin typeface="Arial"/>
              </a:rPr>
              <a:t>7</a:t>
            </a:r>
          </a:p>
        </p:txBody>
      </p:sp>
      <p:sp>
        <p:nvSpPr>
          <p:cNvPr id="6" name="Pentagon 5"/>
          <p:cNvSpPr/>
          <p:nvPr/>
        </p:nvSpPr>
        <p:spPr>
          <a:xfrm>
            <a:off x="548640" y="1417320"/>
            <a:ext cx="1798320" cy="777240"/>
          </a:xfrm>
          <a:prstGeom prst="homePlate">
            <a:avLst>
              <a:gd name="adj" fmla="val 25000"/>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200"/>
              </a:spcAft>
            </a:pPr>
            <a:r>
              <a:rPr sz="1100" b="1" i="0">
                <a:solidFill>
                  <a:srgbClr val="FFFFFF"/>
                </a:solidFill>
                <a:latin typeface="Arial"/>
              </a:rPr>
              <a:t>Kreditprofil pflegen</a:t>
            </a:r>
          </a:p>
        </p:txBody>
      </p:sp>
      <p:sp>
        <p:nvSpPr>
          <p:cNvPr id="7" name="Chevron 6"/>
          <p:cNvSpPr/>
          <p:nvPr/>
        </p:nvSpPr>
        <p:spPr>
          <a:xfrm>
            <a:off x="2401824" y="1417320"/>
            <a:ext cx="1798320" cy="777240"/>
          </a:xfrm>
          <a:prstGeom prst="chevron">
            <a:avLst>
              <a:gd name="adj" fmla="val 30000"/>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200"/>
              </a:spcAft>
            </a:pPr>
            <a:r>
              <a:rPr sz="1100" b="1" i="0">
                <a:solidFill>
                  <a:srgbClr val="FFFFFF"/>
                </a:solidFill>
                <a:latin typeface="Arial"/>
              </a:rPr>
              <a:t>Kundenauftrag</a:t>
            </a:r>
          </a:p>
        </p:txBody>
      </p:sp>
      <p:sp>
        <p:nvSpPr>
          <p:cNvPr id="8" name="Chevron 7"/>
          <p:cNvSpPr/>
          <p:nvPr/>
        </p:nvSpPr>
        <p:spPr>
          <a:xfrm>
            <a:off x="4255007" y="1417320"/>
            <a:ext cx="1798320" cy="777240"/>
          </a:xfrm>
          <a:prstGeom prst="chevron">
            <a:avLst>
              <a:gd name="adj" fmla="val 30000"/>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200"/>
              </a:spcAft>
            </a:pPr>
            <a:r>
              <a:rPr sz="1100" b="1" i="0">
                <a:solidFill>
                  <a:srgbClr val="FFFFFF"/>
                </a:solidFill>
                <a:latin typeface="Arial"/>
              </a:rPr>
              <a:t>Kreditprüfung</a:t>
            </a:r>
          </a:p>
        </p:txBody>
      </p:sp>
      <p:sp>
        <p:nvSpPr>
          <p:cNvPr id="9" name="Chevron 8"/>
          <p:cNvSpPr/>
          <p:nvPr/>
        </p:nvSpPr>
        <p:spPr>
          <a:xfrm>
            <a:off x="6108191" y="1417320"/>
            <a:ext cx="1798320" cy="777240"/>
          </a:xfrm>
          <a:prstGeom prst="chevron">
            <a:avLst>
              <a:gd name="adj" fmla="val 30000"/>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200"/>
              </a:spcAft>
            </a:pPr>
            <a:r>
              <a:rPr sz="1100" b="1" i="0">
                <a:solidFill>
                  <a:srgbClr val="FFFFFF"/>
                </a:solidFill>
                <a:latin typeface="Arial"/>
              </a:rPr>
              <a:t>Sperre + DCD</a:t>
            </a:r>
          </a:p>
        </p:txBody>
      </p:sp>
      <p:sp>
        <p:nvSpPr>
          <p:cNvPr id="10" name="Chevron 9"/>
          <p:cNvSpPr/>
          <p:nvPr/>
        </p:nvSpPr>
        <p:spPr>
          <a:xfrm>
            <a:off x="7961375" y="1417320"/>
            <a:ext cx="1798320" cy="777240"/>
          </a:xfrm>
          <a:prstGeom prst="chevron">
            <a:avLst>
              <a:gd name="adj" fmla="val 30000"/>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200"/>
              </a:spcAft>
            </a:pPr>
            <a:r>
              <a:rPr sz="1100" b="1" i="0">
                <a:solidFill>
                  <a:srgbClr val="FFFFFF"/>
                </a:solidFill>
                <a:latin typeface="Arial"/>
              </a:rPr>
              <a:t>Freigabe / Ablehnung</a:t>
            </a:r>
          </a:p>
        </p:txBody>
      </p:sp>
      <p:sp>
        <p:nvSpPr>
          <p:cNvPr id="11" name="Chevron 10"/>
          <p:cNvSpPr/>
          <p:nvPr/>
        </p:nvSpPr>
        <p:spPr>
          <a:xfrm>
            <a:off x="9814560" y="1417320"/>
            <a:ext cx="1798320" cy="777240"/>
          </a:xfrm>
          <a:prstGeom prst="chevron">
            <a:avLst>
              <a:gd name="adj" fmla="val 30000"/>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200"/>
              </a:spcAft>
            </a:pPr>
            <a:r>
              <a:rPr sz="1100" b="1" i="0">
                <a:solidFill>
                  <a:srgbClr val="FFFFFF"/>
                </a:solidFill>
                <a:latin typeface="Arial"/>
              </a:rPr>
              <a:t>Tägliche Nachprüfung</a:t>
            </a:r>
          </a:p>
        </p:txBody>
      </p:sp>
      <p:sp>
        <p:nvSpPr>
          <p:cNvPr id="12" name="TextBox 11"/>
          <p:cNvSpPr txBox="1"/>
          <p:nvPr/>
        </p:nvSpPr>
        <p:spPr>
          <a:xfrm>
            <a:off x="548640" y="2286000"/>
            <a:ext cx="1798320" cy="1463040"/>
          </a:xfrm>
          <a:prstGeom prst="rect">
            <a:avLst/>
          </a:prstGeom>
          <a:noFill/>
        </p:spPr>
        <p:txBody>
          <a:bodyPr wrap="square" anchor="t" lIns="45720" rIns="45720">
            <a:spAutoFit/>
          </a:bodyPr>
          <a:lstStyle/>
          <a:p>
            <a:pPr algn="l">
              <a:spcAft>
                <a:spcPts val="400"/>
              </a:spcAft>
            </a:pPr>
            <a:r>
              <a:rPr sz="1050" b="0" i="0">
                <a:solidFill>
                  <a:srgbClr val="2B2B2B"/>
                </a:solidFill>
                <a:latin typeface="Arial"/>
              </a:rPr>
              <a:t>Risikoklasse, Prüfregel 01 (alle Prüfungen), Limit je Kreditsegment, Kreditanalyst. App F4596.</a:t>
            </a:r>
          </a:p>
        </p:txBody>
      </p:sp>
      <p:sp>
        <p:nvSpPr>
          <p:cNvPr id="13" name="TextBox 12"/>
          <p:cNvSpPr txBox="1"/>
          <p:nvPr/>
        </p:nvSpPr>
        <p:spPr>
          <a:xfrm>
            <a:off x="2401824" y="2286000"/>
            <a:ext cx="1798320" cy="1463040"/>
          </a:xfrm>
          <a:prstGeom prst="rect">
            <a:avLst/>
          </a:prstGeom>
          <a:noFill/>
        </p:spPr>
        <p:txBody>
          <a:bodyPr wrap="square" anchor="t" lIns="45720" rIns="45720">
            <a:spAutoFit/>
          </a:bodyPr>
          <a:lstStyle/>
          <a:p>
            <a:pPr algn="l">
              <a:spcAft>
                <a:spcPts val="400"/>
              </a:spcAft>
            </a:pPr>
            <a:r>
              <a:rPr sz="1050" b="0" i="0">
                <a:solidFill>
                  <a:srgbClr val="2B2B2B"/>
                </a:solidFill>
                <a:latin typeface="Arial"/>
              </a:rPr>
              <a:t>Vertrieb legt Auftrag an (BD9). Positionsart muss kreditaktiv sein.</a:t>
            </a:r>
          </a:p>
        </p:txBody>
      </p:sp>
      <p:sp>
        <p:nvSpPr>
          <p:cNvPr id="14" name="TextBox 13"/>
          <p:cNvSpPr txBox="1"/>
          <p:nvPr/>
        </p:nvSpPr>
        <p:spPr>
          <a:xfrm>
            <a:off x="4255007" y="2286000"/>
            <a:ext cx="1798320" cy="1463040"/>
          </a:xfrm>
          <a:prstGeom prst="rect">
            <a:avLst/>
          </a:prstGeom>
          <a:noFill/>
        </p:spPr>
        <p:txBody>
          <a:bodyPr wrap="square" anchor="t" lIns="45720" rIns="45720">
            <a:spAutoFit/>
          </a:bodyPr>
          <a:lstStyle/>
          <a:p>
            <a:pPr algn="l">
              <a:spcAft>
                <a:spcPts val="400"/>
              </a:spcAft>
            </a:pPr>
            <a:r>
              <a:rPr sz="1050" b="0" i="0">
                <a:solidFill>
                  <a:srgbClr val="2B2B2B"/>
                </a:solidFill>
                <a:latin typeface="Arial"/>
              </a:rPr>
              <a:t>Obligo gegen Limit; optional ältester offener Posten, höchste Mahnstufe, letzte Zahlung.</a:t>
            </a:r>
          </a:p>
        </p:txBody>
      </p:sp>
      <p:sp>
        <p:nvSpPr>
          <p:cNvPr id="15" name="TextBox 14"/>
          <p:cNvSpPr txBox="1"/>
          <p:nvPr/>
        </p:nvSpPr>
        <p:spPr>
          <a:xfrm>
            <a:off x="6108191" y="2286000"/>
            <a:ext cx="1798320" cy="1463040"/>
          </a:xfrm>
          <a:prstGeom prst="rect">
            <a:avLst/>
          </a:prstGeom>
          <a:noFill/>
        </p:spPr>
        <p:txBody>
          <a:bodyPr wrap="square" anchor="t" lIns="45720" rIns="45720">
            <a:spAutoFit/>
          </a:bodyPr>
          <a:lstStyle/>
          <a:p>
            <a:pPr algn="l">
              <a:spcAft>
                <a:spcPts val="400"/>
              </a:spcAft>
            </a:pPr>
            <a:r>
              <a:rPr sz="1050" b="0" i="0">
                <a:solidFill>
                  <a:srgbClr val="2B2B2B"/>
                </a:solidFill>
                <a:latin typeface="Arial"/>
              </a:rPr>
              <a:t>Auftrag gesperrt, DCD-Fall mit Sperrgrund entsteht automatisch. App F5587A.</a:t>
            </a:r>
          </a:p>
        </p:txBody>
      </p:sp>
      <p:sp>
        <p:nvSpPr>
          <p:cNvPr id="16" name="TextBox 15"/>
          <p:cNvSpPr txBox="1"/>
          <p:nvPr/>
        </p:nvSpPr>
        <p:spPr>
          <a:xfrm>
            <a:off x="7961375" y="2286000"/>
            <a:ext cx="1798320" cy="1463040"/>
          </a:xfrm>
          <a:prstGeom prst="rect">
            <a:avLst/>
          </a:prstGeom>
          <a:noFill/>
        </p:spPr>
        <p:txBody>
          <a:bodyPr wrap="square" anchor="t" lIns="45720" rIns="45720">
            <a:spAutoFit/>
          </a:bodyPr>
          <a:lstStyle/>
          <a:p>
            <a:pPr algn="l">
              <a:spcAft>
                <a:spcPts val="400"/>
              </a:spcAft>
            </a:pPr>
            <a:r>
              <a:rPr sz="1050" b="0" i="0">
                <a:solidFill>
                  <a:srgbClr val="2B2B2B"/>
                </a:solidFill>
                <a:latin typeface="Arial"/>
              </a:rPr>
              <a:t>Credit Controller setzt In Process, Release mit Notiz oder Reject mit Grund. Protokolliert.</a:t>
            </a:r>
          </a:p>
        </p:txBody>
      </p:sp>
      <p:sp>
        <p:nvSpPr>
          <p:cNvPr id="17" name="TextBox 16"/>
          <p:cNvSpPr txBox="1"/>
          <p:nvPr/>
        </p:nvSpPr>
        <p:spPr>
          <a:xfrm>
            <a:off x="9814560" y="2286000"/>
            <a:ext cx="1798320" cy="1463040"/>
          </a:xfrm>
          <a:prstGeom prst="rect">
            <a:avLst/>
          </a:prstGeom>
          <a:noFill/>
        </p:spPr>
        <p:txBody>
          <a:bodyPr wrap="square" anchor="t" lIns="45720" rIns="45720">
            <a:spAutoFit/>
          </a:bodyPr>
          <a:lstStyle/>
          <a:p>
            <a:pPr algn="l">
              <a:spcAft>
                <a:spcPts val="400"/>
              </a:spcAft>
            </a:pPr>
            <a:r>
              <a:rPr sz="1050" b="0" i="0">
                <a:solidFill>
                  <a:srgbClr val="2B2B2B"/>
                </a:solidFill>
                <a:latin typeface="Arial"/>
              </a:rPr>
              <a:t>Job „Check Credit on SD Documents“ (F3748): Freigabe nach Zahlung, erneute Sperre bei Überfälligkeit.</a:t>
            </a:r>
          </a:p>
        </p:txBody>
      </p:sp>
      <p:sp>
        <p:nvSpPr>
          <p:cNvPr id="18" name="Rounded Rectangle 17"/>
          <p:cNvSpPr/>
          <p:nvPr/>
        </p:nvSpPr>
        <p:spPr>
          <a:xfrm>
            <a:off x="548640" y="3749039"/>
            <a:ext cx="3566160" cy="2423160"/>
          </a:xfrm>
          <a:prstGeom prst="roundRect">
            <a:avLst>
              <a:gd name="adj" fmla="val 8000"/>
            </a:avLst>
          </a:prstGeom>
          <a:solidFill>
            <a:srgbClr val="E9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9" name="TextBox 18"/>
          <p:cNvSpPr txBox="1"/>
          <p:nvPr/>
        </p:nvSpPr>
        <p:spPr>
          <a:xfrm>
            <a:off x="713232" y="3877055"/>
            <a:ext cx="3264408" cy="365760"/>
          </a:xfrm>
          <a:prstGeom prst="rect">
            <a:avLst/>
          </a:prstGeom>
          <a:noFill/>
        </p:spPr>
        <p:txBody>
          <a:bodyPr wrap="square" anchor="ctr" lIns="45720" rIns="45720">
            <a:spAutoFit/>
          </a:bodyPr>
          <a:lstStyle/>
          <a:p>
            <a:pPr algn="l">
              <a:spcAft>
                <a:spcPts val="400"/>
              </a:spcAft>
            </a:pPr>
            <a:r>
              <a:rPr sz="1300" b="1" i="0">
                <a:solidFill>
                  <a:srgbClr val="1F4E5F"/>
                </a:solidFill>
                <a:latin typeface="Arial"/>
              </a:rPr>
              <a:t>Wann sinnvoll</a:t>
            </a:r>
          </a:p>
        </p:txBody>
      </p:sp>
      <p:sp>
        <p:nvSpPr>
          <p:cNvPr id="20" name="TextBox 19"/>
          <p:cNvSpPr txBox="1"/>
          <p:nvPr/>
        </p:nvSpPr>
        <p:spPr>
          <a:xfrm>
            <a:off x="713232" y="4297679"/>
            <a:ext cx="3236976" cy="1783080"/>
          </a:xfrm>
          <a:prstGeom prst="rect">
            <a:avLst/>
          </a:prstGeom>
          <a:noFill/>
        </p:spPr>
        <p:txBody>
          <a:bodyPr wrap="square" anchor="t" lIns="45720" rIns="45720">
            <a:spAutoFit/>
          </a:bodyPr>
          <a:lstStyle/>
          <a:p>
            <a:pPr algn="l" marL="164592" indent="-164592">
              <a:spcAft>
                <a:spcPts val="300"/>
              </a:spcAft>
              <a:buChar char="•"/>
            </a:pPr>
            <a:r>
              <a:rPr sz="1100" b="0" i="0">
                <a:solidFill>
                  <a:srgbClr val="2B2B2B"/>
                </a:solidFill>
                <a:latin typeface="Arial"/>
              </a:rPr>
              <a:t>Viele Geschäftskunden, Lieferung auf Ziel, wiederkehrende Aufträge</a:t>
            </a:r>
          </a:p>
          <a:p>
            <a:pPr algn="l" marL="164592" indent="-164592">
              <a:spcAft>
                <a:spcPts val="300"/>
              </a:spcAft>
              <a:buChar char="•"/>
            </a:pPr>
            <a:r>
              <a:rPr sz="1100" b="0" i="0">
                <a:solidFill>
                  <a:srgbClr val="2B2B2B"/>
                </a:solidFill>
                <a:latin typeface="Arial"/>
              </a:rPr>
              <a:t>Weniger relevant bei Vorkasse, Lastschrift, wenigen Vertragskunden</a:t>
            </a:r>
          </a:p>
          <a:p>
            <a:pPr algn="l" marL="164592" indent="-164592">
              <a:spcAft>
                <a:spcPts val="300"/>
              </a:spcAft>
              <a:buChar char="•"/>
            </a:pPr>
            <a:r>
              <a:rPr sz="1100" b="0" i="0">
                <a:solidFill>
                  <a:srgbClr val="2B2B2B"/>
                </a:solidFill>
                <a:latin typeface="Arial"/>
              </a:rPr>
              <a:t>Ohne Vertriebsprozess nur Reporting-Instrument</a:t>
            </a:r>
          </a:p>
        </p:txBody>
      </p:sp>
      <p:sp>
        <p:nvSpPr>
          <p:cNvPr id="21" name="Rounded Rectangle 20"/>
          <p:cNvSpPr/>
          <p:nvPr/>
        </p:nvSpPr>
        <p:spPr>
          <a:xfrm>
            <a:off x="4297680" y="3749039"/>
            <a:ext cx="3566160" cy="2423160"/>
          </a:xfrm>
          <a:prstGeom prst="roundRect">
            <a:avLst>
              <a:gd name="adj" fmla="val 8000"/>
            </a:avLst>
          </a:prstGeom>
          <a:solidFill>
            <a:srgbClr val="E9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2" name="TextBox 21"/>
          <p:cNvSpPr txBox="1"/>
          <p:nvPr/>
        </p:nvSpPr>
        <p:spPr>
          <a:xfrm>
            <a:off x="4462272" y="3877055"/>
            <a:ext cx="3264408" cy="365760"/>
          </a:xfrm>
          <a:prstGeom prst="rect">
            <a:avLst/>
          </a:prstGeom>
          <a:noFill/>
        </p:spPr>
        <p:txBody>
          <a:bodyPr wrap="square" anchor="ctr" lIns="45720" rIns="45720">
            <a:spAutoFit/>
          </a:bodyPr>
          <a:lstStyle/>
          <a:p>
            <a:pPr algn="l">
              <a:spcAft>
                <a:spcPts val="400"/>
              </a:spcAft>
            </a:pPr>
            <a:r>
              <a:rPr sz="1300" b="1" i="0">
                <a:solidFill>
                  <a:srgbClr val="1F4E5F"/>
                </a:solidFill>
                <a:latin typeface="Arial"/>
              </a:rPr>
              <a:t>Reporting für den Credit Controller</a:t>
            </a:r>
          </a:p>
        </p:txBody>
      </p:sp>
      <p:sp>
        <p:nvSpPr>
          <p:cNvPr id="23" name="TextBox 22"/>
          <p:cNvSpPr txBox="1"/>
          <p:nvPr/>
        </p:nvSpPr>
        <p:spPr>
          <a:xfrm>
            <a:off x="4462272" y="4297679"/>
            <a:ext cx="3236976" cy="1783080"/>
          </a:xfrm>
          <a:prstGeom prst="rect">
            <a:avLst/>
          </a:prstGeom>
          <a:noFill/>
        </p:spPr>
        <p:txBody>
          <a:bodyPr wrap="square" anchor="t" lIns="45720" rIns="45720">
            <a:spAutoFit/>
          </a:bodyPr>
          <a:lstStyle/>
          <a:p>
            <a:pPr algn="l" marL="164592" indent="-164592">
              <a:spcAft>
                <a:spcPts val="300"/>
              </a:spcAft>
              <a:buChar char="•"/>
            </a:pPr>
            <a:r>
              <a:rPr sz="1100" b="0" i="0">
                <a:solidFill>
                  <a:srgbClr val="2B2B2B"/>
                </a:solidFill>
                <a:latin typeface="Arial"/>
              </a:rPr>
              <a:t>Display Credit Account Data (F4825): Obligo, Limit, Auslastung, Sperrgrund</a:t>
            </a:r>
          </a:p>
          <a:p>
            <a:pPr algn="l" marL="164592" indent="-164592">
              <a:spcAft>
                <a:spcPts val="300"/>
              </a:spcAft>
              <a:buChar char="•"/>
            </a:pPr>
            <a:r>
              <a:rPr sz="1100" b="0" i="0">
                <a:solidFill>
                  <a:srgbClr val="2B2B2B"/>
                </a:solidFill>
                <a:latin typeface="Arial"/>
              </a:rPr>
              <a:t>Display / Analyze Credit Exposure (F4826, F2541)</a:t>
            </a:r>
          </a:p>
          <a:p>
            <a:pPr algn="l" marL="164592" indent="-164592">
              <a:spcAft>
                <a:spcPts val="300"/>
              </a:spcAft>
              <a:buChar char="•"/>
            </a:pPr>
            <a:r>
              <a:rPr sz="1100" b="0" i="0">
                <a:solidFill>
                  <a:srgbClr val="2B2B2B"/>
                </a:solidFill>
                <a:latin typeface="Arial"/>
              </a:rPr>
              <a:t>Credit Limit Utilization gt 80 % (F1751), Credit Log (F2162)</a:t>
            </a:r>
          </a:p>
        </p:txBody>
      </p:sp>
      <p:sp>
        <p:nvSpPr>
          <p:cNvPr id="24" name="Rounded Rectangle 23"/>
          <p:cNvSpPr/>
          <p:nvPr/>
        </p:nvSpPr>
        <p:spPr>
          <a:xfrm>
            <a:off x="8046720" y="3749039"/>
            <a:ext cx="3566160" cy="2423160"/>
          </a:xfrm>
          <a:prstGeom prst="roundRect">
            <a:avLst>
              <a:gd name="adj" fmla="val 8000"/>
            </a:avLst>
          </a:prstGeom>
          <a:solidFill>
            <a:srgbClr val="E9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5" name="TextBox 24"/>
          <p:cNvSpPr txBox="1"/>
          <p:nvPr/>
        </p:nvSpPr>
        <p:spPr>
          <a:xfrm>
            <a:off x="8211312" y="3877055"/>
            <a:ext cx="3264408" cy="365760"/>
          </a:xfrm>
          <a:prstGeom prst="rect">
            <a:avLst/>
          </a:prstGeom>
          <a:noFill/>
        </p:spPr>
        <p:txBody>
          <a:bodyPr wrap="square" anchor="ctr" lIns="45720" rIns="45720">
            <a:spAutoFit/>
          </a:bodyPr>
          <a:lstStyle/>
          <a:p>
            <a:pPr algn="l">
              <a:spcAft>
                <a:spcPts val="400"/>
              </a:spcAft>
            </a:pPr>
            <a:r>
              <a:rPr sz="1300" b="1" i="0">
                <a:solidFill>
                  <a:srgbClr val="1F4E5F"/>
                </a:solidFill>
                <a:latin typeface="Arial"/>
              </a:rPr>
              <a:t>Zu entscheiden</a:t>
            </a:r>
          </a:p>
        </p:txBody>
      </p:sp>
      <p:sp>
        <p:nvSpPr>
          <p:cNvPr id="26" name="TextBox 25"/>
          <p:cNvSpPr txBox="1"/>
          <p:nvPr/>
        </p:nvSpPr>
        <p:spPr>
          <a:xfrm>
            <a:off x="8211312" y="4297679"/>
            <a:ext cx="3236976" cy="1783080"/>
          </a:xfrm>
          <a:prstGeom prst="rect">
            <a:avLst/>
          </a:prstGeom>
          <a:noFill/>
        </p:spPr>
        <p:txBody>
          <a:bodyPr wrap="square" anchor="t" lIns="45720" rIns="45720">
            <a:spAutoFit/>
          </a:bodyPr>
          <a:lstStyle/>
          <a:p>
            <a:pPr algn="l" marL="164592" indent="-164592">
              <a:spcAft>
                <a:spcPts val="300"/>
              </a:spcAft>
              <a:buChar char="•"/>
            </a:pPr>
            <a:r>
              <a:rPr sz="1100" b="0" i="0">
                <a:solidFill>
                  <a:srgbClr val="2B2B2B"/>
                </a:solidFill>
                <a:latin typeface="Arial"/>
              </a:rPr>
              <a:t>BD6 aktiv nutzen oder nur Stammdaten</a:t>
            </a:r>
          </a:p>
          <a:p>
            <a:pPr algn="l" marL="164592" indent="-164592">
              <a:spcAft>
                <a:spcPts val="300"/>
              </a:spcAft>
              <a:buChar char="•"/>
            </a:pPr>
            <a:r>
              <a:rPr sz="1100" b="0" i="0">
                <a:solidFill>
                  <a:srgbClr val="2B2B2B"/>
                </a:solidFill>
                <a:latin typeface="Arial"/>
              </a:rPr>
              <a:t>Kreditsegmente, Risikoklassen, Limithöhe je Kundengruppe</a:t>
            </a:r>
          </a:p>
          <a:p>
            <a:pPr algn="l" marL="164592" indent="-164592">
              <a:spcAft>
                <a:spcPts val="300"/>
              </a:spcAft>
              <a:buChar char="•"/>
            </a:pPr>
            <a:r>
              <a:rPr sz="1100" b="0" i="0">
                <a:solidFill>
                  <a:srgbClr val="2B2B2B"/>
                </a:solidFill>
                <a:latin typeface="Arial"/>
              </a:rPr>
              <a:t>Wer gibt frei, wer ist Kreditanalyst (Mitarbeiterstamm nötig)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11064240" cy="274320"/>
          </a:xfrm>
          <a:prstGeom prst="rect">
            <a:avLst/>
          </a:prstGeom>
          <a:noFill/>
        </p:spPr>
        <p:txBody>
          <a:bodyPr wrap="square" anchor="t" lIns="45720" rIns="45720">
            <a:spAutoFit/>
          </a:bodyPr>
          <a:lstStyle/>
          <a:p>
            <a:pPr algn="l">
              <a:spcAft>
                <a:spcPts val="400"/>
              </a:spcAft>
            </a:pPr>
            <a:r>
              <a:rPr sz="1200" b="1" i="0">
                <a:solidFill>
                  <a:srgbClr val="6B6B6B"/>
                </a:solidFill>
                <a:latin typeface="Arial"/>
              </a:rPr>
              <a:t>Thema 1 · Debitorenstammdaten · Praxis</a:t>
            </a:r>
          </a:p>
        </p:txBody>
      </p:sp>
      <p:sp>
        <p:nvSpPr>
          <p:cNvPr id="3" name="TextBox 2"/>
          <p:cNvSpPr txBox="1"/>
          <p:nvPr/>
        </p:nvSpPr>
        <p:spPr>
          <a:xfrm>
            <a:off x="548640" y="502920"/>
            <a:ext cx="11064240" cy="731520"/>
          </a:xfrm>
          <a:prstGeom prst="rect">
            <a:avLst/>
          </a:prstGeom>
          <a:noFill/>
        </p:spPr>
        <p:txBody>
          <a:bodyPr wrap="square" anchor="ctr" lIns="45720" rIns="45720">
            <a:spAutoFit/>
          </a:bodyPr>
          <a:lstStyle/>
          <a:p>
            <a:pPr algn="l">
              <a:spcAft>
                <a:spcPts val="400"/>
              </a:spcAft>
            </a:pPr>
            <a:r>
              <a:rPr sz="2800" b="1" i="0">
                <a:solidFill>
                  <a:srgbClr val="2B2B2B"/>
                </a:solidFill>
                <a:latin typeface="Arial"/>
              </a:rPr>
              <a:t>Demo-Ablauf und Fragen an die Fachbereiche</a:t>
            </a:r>
          </a:p>
        </p:txBody>
      </p:sp>
      <p:sp>
        <p:nvSpPr>
          <p:cNvPr id="4" name="TextBox 3"/>
          <p:cNvSpPr txBox="1"/>
          <p:nvPr/>
        </p:nvSpPr>
        <p:spPr>
          <a:xfrm>
            <a:off x="548640" y="6446520"/>
            <a:ext cx="8229600" cy="274320"/>
          </a:xfrm>
          <a:prstGeom prst="rect">
            <a:avLst/>
          </a:prstGeom>
          <a:noFill/>
        </p:spPr>
        <p:txBody>
          <a:bodyPr wrap="square" anchor="t" lIns="45720" rIns="45720">
            <a:spAutoFit/>
          </a:bodyPr>
          <a:lstStyle/>
          <a:p>
            <a:pPr algn="l">
              <a:spcAft>
                <a:spcPts val="400"/>
              </a:spcAft>
            </a:pPr>
            <a:r>
              <a:rPr sz="900" b="0" i="0">
                <a:solidFill>
                  <a:srgbClr val="6B6B6B"/>
                </a:solidFill>
                <a:latin typeface="Arial"/>
              </a:rPr>
              <a:t>F2S-Workshop 3 · Debitorenbuchhaltung · SAP S/4HANA Cloud Public Edition 2608</a:t>
            </a:r>
          </a:p>
        </p:txBody>
      </p:sp>
      <p:sp>
        <p:nvSpPr>
          <p:cNvPr id="5" name="TextBox 4"/>
          <p:cNvSpPr txBox="1"/>
          <p:nvPr/>
        </p:nvSpPr>
        <p:spPr>
          <a:xfrm>
            <a:off x="10972800" y="6446520"/>
            <a:ext cx="685800" cy="274320"/>
          </a:xfrm>
          <a:prstGeom prst="rect">
            <a:avLst/>
          </a:prstGeom>
          <a:noFill/>
        </p:spPr>
        <p:txBody>
          <a:bodyPr wrap="square" anchor="t" lIns="45720" rIns="45720">
            <a:spAutoFit/>
          </a:bodyPr>
          <a:lstStyle/>
          <a:p>
            <a:pPr algn="r">
              <a:spcAft>
                <a:spcPts val="400"/>
              </a:spcAft>
            </a:pPr>
            <a:r>
              <a:rPr sz="900" b="0" i="0">
                <a:solidFill>
                  <a:srgbClr val="6B6B6B"/>
                </a:solidFill>
                <a:latin typeface="Arial"/>
              </a:rPr>
              <a:t>8</a:t>
            </a:r>
          </a:p>
        </p:txBody>
      </p:sp>
      <p:sp>
        <p:nvSpPr>
          <p:cNvPr id="6" name="TextBox 5"/>
          <p:cNvSpPr txBox="1"/>
          <p:nvPr/>
        </p:nvSpPr>
        <p:spPr>
          <a:xfrm>
            <a:off x="548640" y="1417320"/>
            <a:ext cx="5669280" cy="365760"/>
          </a:xfrm>
          <a:prstGeom prst="rect">
            <a:avLst/>
          </a:prstGeom>
          <a:noFill/>
        </p:spPr>
        <p:txBody>
          <a:bodyPr wrap="square" anchor="t" lIns="45720" rIns="45720">
            <a:spAutoFit/>
          </a:bodyPr>
          <a:lstStyle/>
          <a:p>
            <a:pPr algn="l">
              <a:spcAft>
                <a:spcPts val="400"/>
              </a:spcAft>
            </a:pPr>
            <a:r>
              <a:rPr sz="1400" b="1" i="0">
                <a:solidFill>
                  <a:srgbClr val="1F4E5F"/>
                </a:solidFill>
                <a:latin typeface="Arial"/>
              </a:rPr>
              <a:t>Demo im System (ca. 20 Minuten)</a:t>
            </a:r>
          </a:p>
        </p:txBody>
      </p:sp>
      <p:sp>
        <p:nvSpPr>
          <p:cNvPr id="7" name="Oval 6"/>
          <p:cNvSpPr/>
          <p:nvPr/>
        </p:nvSpPr>
        <p:spPr>
          <a:xfrm>
            <a:off x="548640" y="1874519"/>
            <a:ext cx="365760" cy="365760"/>
          </a:xfrm>
          <a:prstGeom prst="ellipse">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200" b="1" i="0">
                <a:solidFill>
                  <a:srgbClr val="FFFFFF"/>
                </a:solidFill>
                <a:latin typeface="Arial"/>
              </a:rPr>
              <a:t>1</a:t>
            </a:r>
          </a:p>
        </p:txBody>
      </p:sp>
      <p:sp>
        <p:nvSpPr>
          <p:cNvPr id="8" name="TextBox 7"/>
          <p:cNvSpPr txBox="1"/>
          <p:nvPr/>
        </p:nvSpPr>
        <p:spPr>
          <a:xfrm>
            <a:off x="1051560" y="1828800"/>
            <a:ext cx="5120640" cy="274320"/>
          </a:xfrm>
          <a:prstGeom prst="rect">
            <a:avLst/>
          </a:prstGeom>
          <a:noFill/>
        </p:spPr>
        <p:txBody>
          <a:bodyPr wrap="square" anchor="t" lIns="45720" rIns="45720">
            <a:spAutoFit/>
          </a:bodyPr>
          <a:lstStyle/>
          <a:p>
            <a:pPr algn="l">
              <a:spcAft>
                <a:spcPts val="400"/>
              </a:spcAft>
            </a:pPr>
            <a:r>
              <a:rPr sz="1250" b="1" i="0">
                <a:solidFill>
                  <a:srgbClr val="2B2B2B"/>
                </a:solidFill>
                <a:latin typeface="Arial"/>
              </a:rPr>
              <a:t>Kunde 10100001 in F0850A</a:t>
            </a:r>
          </a:p>
        </p:txBody>
      </p:sp>
      <p:sp>
        <p:nvSpPr>
          <p:cNvPr id="9" name="TextBox 8"/>
          <p:cNvSpPr txBox="1"/>
          <p:nvPr/>
        </p:nvSpPr>
        <p:spPr>
          <a:xfrm>
            <a:off x="1051560" y="2103120"/>
            <a:ext cx="5120640" cy="548640"/>
          </a:xfrm>
          <a:prstGeom prst="rect">
            <a:avLst/>
          </a:prstGeom>
          <a:noFill/>
        </p:spPr>
        <p:txBody>
          <a:bodyPr wrap="square" anchor="t" lIns="45720" rIns="45720">
            <a:spAutoFit/>
          </a:bodyPr>
          <a:lstStyle/>
          <a:p>
            <a:pPr algn="l">
              <a:spcAft>
                <a:spcPts val="400"/>
              </a:spcAft>
            </a:pPr>
            <a:r>
              <a:rPr sz="1100" b="0" i="0">
                <a:solidFill>
                  <a:srgbClr val="2B2B2B"/>
                </a:solidFill>
                <a:latin typeface="Arial"/>
              </a:rPr>
              <a:t>Allgemeine Daten, Company Codes: Finance, Correspondence, Dunning Data; Mahnsperre setzen und entfernen</a:t>
            </a:r>
          </a:p>
        </p:txBody>
      </p:sp>
      <p:sp>
        <p:nvSpPr>
          <p:cNvPr id="10" name="Oval 9"/>
          <p:cNvSpPr/>
          <p:nvPr/>
        </p:nvSpPr>
        <p:spPr>
          <a:xfrm>
            <a:off x="548640" y="2715768"/>
            <a:ext cx="365760" cy="365760"/>
          </a:xfrm>
          <a:prstGeom prst="ellipse">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200" b="1" i="0">
                <a:solidFill>
                  <a:srgbClr val="FFFFFF"/>
                </a:solidFill>
                <a:latin typeface="Arial"/>
              </a:rPr>
              <a:t>2</a:t>
            </a:r>
          </a:p>
        </p:txBody>
      </p:sp>
      <p:sp>
        <p:nvSpPr>
          <p:cNvPr id="11" name="TextBox 10"/>
          <p:cNvSpPr txBox="1"/>
          <p:nvPr/>
        </p:nvSpPr>
        <p:spPr>
          <a:xfrm>
            <a:off x="1051560" y="2670048"/>
            <a:ext cx="5120640" cy="274320"/>
          </a:xfrm>
          <a:prstGeom prst="rect">
            <a:avLst/>
          </a:prstGeom>
          <a:noFill/>
        </p:spPr>
        <p:txBody>
          <a:bodyPr wrap="square" anchor="t" lIns="45720" rIns="45720">
            <a:spAutoFit/>
          </a:bodyPr>
          <a:lstStyle/>
          <a:p>
            <a:pPr algn="l">
              <a:spcAft>
                <a:spcPts val="400"/>
              </a:spcAft>
            </a:pPr>
            <a:r>
              <a:rPr sz="1250" b="1" i="0">
                <a:solidFill>
                  <a:srgbClr val="2B2B2B"/>
                </a:solidFill>
                <a:latin typeface="Arial"/>
              </a:rPr>
              <a:t>Rollen in BP</a:t>
            </a:r>
          </a:p>
        </p:txBody>
      </p:sp>
      <p:sp>
        <p:nvSpPr>
          <p:cNvPr id="12" name="TextBox 11"/>
          <p:cNvSpPr txBox="1"/>
          <p:nvPr/>
        </p:nvSpPr>
        <p:spPr>
          <a:xfrm>
            <a:off x="1051560" y="2944368"/>
            <a:ext cx="5120640" cy="548640"/>
          </a:xfrm>
          <a:prstGeom prst="rect">
            <a:avLst/>
          </a:prstGeom>
          <a:noFill/>
        </p:spPr>
        <p:txBody>
          <a:bodyPr wrap="square" anchor="t" lIns="45720" rIns="45720">
            <a:spAutoFit/>
          </a:bodyPr>
          <a:lstStyle/>
          <a:p>
            <a:pPr algn="l">
              <a:spcAft>
                <a:spcPts val="400"/>
              </a:spcAft>
            </a:pPr>
            <a:r>
              <a:rPr sz="1100" b="0" i="0">
                <a:solidFill>
                  <a:srgbClr val="2B2B2B"/>
                </a:solidFill>
                <a:latin typeface="Arial"/>
              </a:rPr>
              <a:t>FLCU00 / FLCU01 / UKM000, Gruppierung und Nummer, Register Certificates</a:t>
            </a:r>
          </a:p>
        </p:txBody>
      </p:sp>
      <p:sp>
        <p:nvSpPr>
          <p:cNvPr id="13" name="Oval 12"/>
          <p:cNvSpPr/>
          <p:nvPr/>
        </p:nvSpPr>
        <p:spPr>
          <a:xfrm>
            <a:off x="548640" y="3557015"/>
            <a:ext cx="365760" cy="365760"/>
          </a:xfrm>
          <a:prstGeom prst="ellipse">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200" b="1" i="0">
                <a:solidFill>
                  <a:srgbClr val="FFFFFF"/>
                </a:solidFill>
                <a:latin typeface="Arial"/>
              </a:rPr>
              <a:t>3</a:t>
            </a:r>
          </a:p>
        </p:txBody>
      </p:sp>
      <p:sp>
        <p:nvSpPr>
          <p:cNvPr id="14" name="TextBox 13"/>
          <p:cNvSpPr txBox="1"/>
          <p:nvPr/>
        </p:nvSpPr>
        <p:spPr>
          <a:xfrm>
            <a:off x="1051560" y="3511296"/>
            <a:ext cx="5120640" cy="274320"/>
          </a:xfrm>
          <a:prstGeom prst="rect">
            <a:avLst/>
          </a:prstGeom>
          <a:noFill/>
        </p:spPr>
        <p:txBody>
          <a:bodyPr wrap="square" anchor="t" lIns="45720" rIns="45720">
            <a:spAutoFit/>
          </a:bodyPr>
          <a:lstStyle/>
          <a:p>
            <a:pPr algn="l">
              <a:spcAft>
                <a:spcPts val="400"/>
              </a:spcAft>
            </a:pPr>
            <a:r>
              <a:rPr sz="1250" b="1" i="0">
                <a:solidFill>
                  <a:srgbClr val="2B2B2B"/>
                </a:solidFill>
                <a:latin typeface="Arial"/>
              </a:rPr>
              <a:t>Prüfliste F2640</a:t>
            </a:r>
          </a:p>
        </p:txBody>
      </p:sp>
      <p:sp>
        <p:nvSpPr>
          <p:cNvPr id="15" name="TextBox 14"/>
          <p:cNvSpPr txBox="1"/>
          <p:nvPr/>
        </p:nvSpPr>
        <p:spPr>
          <a:xfrm>
            <a:off x="1051560" y="3785615"/>
            <a:ext cx="5120640" cy="548640"/>
          </a:xfrm>
          <a:prstGeom prst="rect">
            <a:avLst/>
          </a:prstGeom>
          <a:noFill/>
        </p:spPr>
        <p:txBody>
          <a:bodyPr wrap="square" anchor="t" lIns="45720" rIns="45720">
            <a:spAutoFit/>
          </a:bodyPr>
          <a:lstStyle/>
          <a:p>
            <a:pPr algn="l">
              <a:spcAft>
                <a:spcPts val="400"/>
              </a:spcAft>
            </a:pPr>
            <a:r>
              <a:rPr sz="1100" b="0" i="0">
                <a:solidFill>
                  <a:srgbClr val="2B2B2B"/>
                </a:solidFill>
                <a:latin typeface="Arial"/>
              </a:rPr>
              <a:t>Lücken finden: E-Mail, Sachbearbeiter, Mahnverfahren; Absprung in Posten</a:t>
            </a:r>
          </a:p>
        </p:txBody>
      </p:sp>
      <p:sp>
        <p:nvSpPr>
          <p:cNvPr id="16" name="Oval 15"/>
          <p:cNvSpPr/>
          <p:nvPr/>
        </p:nvSpPr>
        <p:spPr>
          <a:xfrm>
            <a:off x="548640" y="4398264"/>
            <a:ext cx="365760" cy="365760"/>
          </a:xfrm>
          <a:prstGeom prst="ellipse">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200" b="1" i="0">
                <a:solidFill>
                  <a:srgbClr val="FFFFFF"/>
                </a:solidFill>
                <a:latin typeface="Arial"/>
              </a:rPr>
              <a:t>4</a:t>
            </a:r>
          </a:p>
        </p:txBody>
      </p:sp>
      <p:sp>
        <p:nvSpPr>
          <p:cNvPr id="17" name="TextBox 16"/>
          <p:cNvSpPr txBox="1"/>
          <p:nvPr/>
        </p:nvSpPr>
        <p:spPr>
          <a:xfrm>
            <a:off x="1051560" y="4352544"/>
            <a:ext cx="5120640" cy="274320"/>
          </a:xfrm>
          <a:prstGeom prst="rect">
            <a:avLst/>
          </a:prstGeom>
          <a:noFill/>
        </p:spPr>
        <p:txBody>
          <a:bodyPr wrap="square" anchor="t" lIns="45720" rIns="45720">
            <a:spAutoFit/>
          </a:bodyPr>
          <a:lstStyle/>
          <a:p>
            <a:pPr algn="l">
              <a:spcAft>
                <a:spcPts val="400"/>
              </a:spcAft>
            </a:pPr>
            <a:r>
              <a:rPr sz="1250" b="1" i="0">
                <a:solidFill>
                  <a:srgbClr val="2B2B2B"/>
                </a:solidFill>
                <a:latin typeface="Arial"/>
              </a:rPr>
              <a:t>Kreditprofil F4596</a:t>
            </a:r>
          </a:p>
        </p:txBody>
      </p:sp>
      <p:sp>
        <p:nvSpPr>
          <p:cNvPr id="18" name="TextBox 17"/>
          <p:cNvSpPr txBox="1"/>
          <p:nvPr/>
        </p:nvSpPr>
        <p:spPr>
          <a:xfrm>
            <a:off x="1051560" y="4626864"/>
            <a:ext cx="5120640" cy="548640"/>
          </a:xfrm>
          <a:prstGeom prst="rect">
            <a:avLst/>
          </a:prstGeom>
          <a:noFill/>
        </p:spPr>
        <p:txBody>
          <a:bodyPr wrap="square" anchor="t" lIns="45720" rIns="45720">
            <a:spAutoFit/>
          </a:bodyPr>
          <a:lstStyle/>
          <a:p>
            <a:pPr algn="l">
              <a:spcAft>
                <a:spcPts val="400"/>
              </a:spcAft>
            </a:pPr>
            <a:r>
              <a:rPr sz="1100" b="0" i="0">
                <a:solidFill>
                  <a:srgbClr val="2B2B2B"/>
                </a:solidFill>
                <a:latin typeface="Arial"/>
              </a:rPr>
              <a:t>Kunde 10100005: Scoring, Segment 1000, Limit, gültig bis, Kreditanalyst</a:t>
            </a:r>
          </a:p>
        </p:txBody>
      </p:sp>
      <p:sp>
        <p:nvSpPr>
          <p:cNvPr id="19" name="Oval 18"/>
          <p:cNvSpPr/>
          <p:nvPr/>
        </p:nvSpPr>
        <p:spPr>
          <a:xfrm>
            <a:off x="548640" y="5239512"/>
            <a:ext cx="365760" cy="365760"/>
          </a:xfrm>
          <a:prstGeom prst="ellipse">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200" b="1" i="0">
                <a:solidFill>
                  <a:srgbClr val="FFFFFF"/>
                </a:solidFill>
                <a:latin typeface="Arial"/>
              </a:rPr>
              <a:t>5</a:t>
            </a:r>
          </a:p>
        </p:txBody>
      </p:sp>
      <p:sp>
        <p:nvSpPr>
          <p:cNvPr id="20" name="TextBox 19"/>
          <p:cNvSpPr txBox="1"/>
          <p:nvPr/>
        </p:nvSpPr>
        <p:spPr>
          <a:xfrm>
            <a:off x="1051560" y="5193792"/>
            <a:ext cx="5120640" cy="274320"/>
          </a:xfrm>
          <a:prstGeom prst="rect">
            <a:avLst/>
          </a:prstGeom>
          <a:noFill/>
        </p:spPr>
        <p:txBody>
          <a:bodyPr wrap="square" anchor="t" lIns="45720" rIns="45720">
            <a:spAutoFit/>
          </a:bodyPr>
          <a:lstStyle/>
          <a:p>
            <a:pPr algn="l">
              <a:spcAft>
                <a:spcPts val="400"/>
              </a:spcAft>
            </a:pPr>
            <a:r>
              <a:rPr sz="1250" b="1" i="0">
                <a:solidFill>
                  <a:srgbClr val="2B2B2B"/>
                </a:solidFill>
                <a:latin typeface="Arial"/>
              </a:rPr>
              <a:t>Gesperrter Auftrag F5587A</a:t>
            </a:r>
          </a:p>
        </p:txBody>
      </p:sp>
      <p:sp>
        <p:nvSpPr>
          <p:cNvPr id="21" name="TextBox 20"/>
          <p:cNvSpPr txBox="1"/>
          <p:nvPr/>
        </p:nvSpPr>
        <p:spPr>
          <a:xfrm>
            <a:off x="1051560" y="5468112"/>
            <a:ext cx="5120640" cy="548640"/>
          </a:xfrm>
          <a:prstGeom prst="rect">
            <a:avLst/>
          </a:prstGeom>
          <a:noFill/>
        </p:spPr>
        <p:txBody>
          <a:bodyPr wrap="square" anchor="t" lIns="45720" rIns="45720">
            <a:spAutoFit/>
          </a:bodyPr>
          <a:lstStyle/>
          <a:p>
            <a:pPr algn="l">
              <a:spcAft>
                <a:spcPts val="400"/>
              </a:spcAft>
            </a:pPr>
            <a:r>
              <a:rPr sz="1100" b="0" i="0">
                <a:solidFill>
                  <a:srgbClr val="2B2B2B"/>
                </a:solidFill>
                <a:latin typeface="Arial"/>
              </a:rPr>
              <a:t>DCD öffnen, In Process, Release mit Notiz; Job F3748 zeigen</a:t>
            </a:r>
          </a:p>
        </p:txBody>
      </p:sp>
      <p:sp>
        <p:nvSpPr>
          <p:cNvPr id="22" name="Rounded Rectangle 21"/>
          <p:cNvSpPr/>
          <p:nvPr/>
        </p:nvSpPr>
        <p:spPr>
          <a:xfrm>
            <a:off x="6583680" y="1417320"/>
            <a:ext cx="5029200" cy="4754880"/>
          </a:xfrm>
          <a:prstGeom prst="roundRect">
            <a:avLst>
              <a:gd name="adj" fmla="val 8000"/>
            </a:avLst>
          </a:prstGeom>
          <a:solidFill>
            <a:srgbClr val="E9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3" name="TextBox 22"/>
          <p:cNvSpPr txBox="1"/>
          <p:nvPr/>
        </p:nvSpPr>
        <p:spPr>
          <a:xfrm>
            <a:off x="6766560" y="1554480"/>
            <a:ext cx="4663440" cy="365760"/>
          </a:xfrm>
          <a:prstGeom prst="rect">
            <a:avLst/>
          </a:prstGeom>
          <a:noFill/>
        </p:spPr>
        <p:txBody>
          <a:bodyPr wrap="square" anchor="t" lIns="45720" rIns="45720">
            <a:spAutoFit/>
          </a:bodyPr>
          <a:lstStyle/>
          <a:p>
            <a:pPr algn="l">
              <a:spcAft>
                <a:spcPts val="400"/>
              </a:spcAft>
            </a:pPr>
            <a:r>
              <a:rPr sz="1400" b="1" i="0">
                <a:solidFill>
                  <a:srgbClr val="1F4E5F"/>
                </a:solidFill>
                <a:latin typeface="Arial"/>
              </a:rPr>
              <a:t>Fit-to-Standard-Fragen</a:t>
            </a:r>
          </a:p>
        </p:txBody>
      </p:sp>
      <p:sp>
        <p:nvSpPr>
          <p:cNvPr id="24" name="TextBox 23"/>
          <p:cNvSpPr txBox="1"/>
          <p:nvPr/>
        </p:nvSpPr>
        <p:spPr>
          <a:xfrm>
            <a:off x="6766560" y="1965960"/>
            <a:ext cx="4663440" cy="4114800"/>
          </a:xfrm>
          <a:prstGeom prst="rect">
            <a:avLst/>
          </a:prstGeom>
          <a:noFill/>
        </p:spPr>
        <p:txBody>
          <a:bodyPr wrap="square" anchor="t" lIns="45720" rIns="45720">
            <a:spAutoFit/>
          </a:bodyPr>
          <a:lstStyle/>
          <a:p>
            <a:pPr algn="l" marL="164592" indent="-164592">
              <a:spcAft>
                <a:spcPts val="500"/>
              </a:spcAft>
              <a:buChar char="•"/>
            </a:pPr>
            <a:r>
              <a:rPr sz="1150" b="0" i="0">
                <a:solidFill>
                  <a:srgbClr val="2B2B2B"/>
                </a:solidFill>
                <a:latin typeface="Arial"/>
              </a:rPr>
              <a:t>Wer legt Kunden an, in welcher Reihenfolge (Vertrieb, Stammdaten-Team, Buchhaltung)? Genehmigungsworkflow?</a:t>
            </a:r>
          </a:p>
          <a:p>
            <a:pPr algn="l" marL="164592" indent="-164592">
              <a:spcAft>
                <a:spcPts val="500"/>
              </a:spcAft>
              <a:buChar char="•"/>
            </a:pPr>
            <a:r>
              <a:rPr sz="1150" b="0" i="0">
                <a:solidFill>
                  <a:srgbClr val="2B2B2B"/>
                </a:solidFill>
                <a:latin typeface="Arial"/>
              </a:rPr>
              <a:t>Interne Nummern oder Altnummern (extern) für migrierte Kunden?</a:t>
            </a:r>
          </a:p>
          <a:p>
            <a:pPr algn="l" marL="164592" indent="-164592">
              <a:spcAft>
                <a:spcPts val="500"/>
              </a:spcAft>
              <a:buChar char="•"/>
            </a:pPr>
            <a:r>
              <a:rPr sz="1150" b="0" i="0">
                <a:solidFill>
                  <a:srgbClr val="2B2B2B"/>
                </a:solidFill>
                <a:latin typeface="Arial"/>
              </a:rPr>
              <a:t>Pflichtfelder je Rolle: E-Mail, USt-IdNr., Bank, Sachbearbeiter, Mahnverfahren. Dublettenprüfung?</a:t>
            </a:r>
          </a:p>
          <a:p>
            <a:pPr algn="l" marL="164592" indent="-164592">
              <a:spcAft>
                <a:spcPts val="500"/>
              </a:spcAft>
              <a:buChar char="•"/>
            </a:pPr>
            <a:r>
              <a:rPr sz="1150" b="0" i="0">
                <a:solidFill>
                  <a:srgbClr val="2B2B2B"/>
                </a:solidFill>
                <a:latin typeface="Arial"/>
              </a:rPr>
              <a:t>Abstimmkonten: Inland, Ausland, verbundene Unternehmen, Einmalkunden</a:t>
            </a:r>
          </a:p>
          <a:p>
            <a:pPr algn="l" marL="164592" indent="-164592">
              <a:spcAft>
                <a:spcPts val="500"/>
              </a:spcAft>
              <a:buChar char="•"/>
            </a:pPr>
            <a:r>
              <a:rPr sz="1150" b="0" i="0">
                <a:solidFill>
                  <a:srgbClr val="2B2B2B"/>
                </a:solidFill>
                <a:latin typeface="Arial"/>
              </a:rPr>
              <a:t>Zahlungsbedingungen und Zahlwege (SEPA-Lastschrift, Mandate)</a:t>
            </a:r>
          </a:p>
          <a:p>
            <a:pPr algn="l" marL="164592" indent="-164592">
              <a:spcAft>
                <a:spcPts val="500"/>
              </a:spcAft>
              <a:buChar char="•"/>
            </a:pPr>
            <a:r>
              <a:rPr sz="1150" b="0" i="0">
                <a:solidFill>
                  <a:srgbClr val="2B2B2B"/>
                </a:solidFill>
                <a:latin typeface="Arial"/>
              </a:rPr>
              <a:t>Sachbearbeiterstruktur: Kundengruppen, Regionen, Buchstaben</a:t>
            </a:r>
          </a:p>
          <a:p>
            <a:pPr algn="l" marL="164592" indent="-164592">
              <a:spcAft>
                <a:spcPts val="500"/>
              </a:spcAft>
              <a:buChar char="•"/>
            </a:pPr>
            <a:r>
              <a:rPr sz="1150" b="0" i="0">
                <a:solidFill>
                  <a:srgbClr val="2B2B2B"/>
                </a:solidFill>
                <a:latin typeface="Arial"/>
              </a:rPr>
              <a:t>Kreditmanagement: Segmente, Risikoklassen, Limits, Freigabe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3" name="TextBox 2"/>
          <p:cNvSpPr txBox="1"/>
          <p:nvPr/>
        </p:nvSpPr>
        <p:spPr>
          <a:xfrm>
            <a:off x="822960" y="2103120"/>
            <a:ext cx="10058400" cy="365760"/>
          </a:xfrm>
          <a:prstGeom prst="rect">
            <a:avLst/>
          </a:prstGeom>
          <a:noFill/>
        </p:spPr>
        <p:txBody>
          <a:bodyPr wrap="square" anchor="t" lIns="45720" rIns="45720">
            <a:spAutoFit/>
          </a:bodyPr>
          <a:lstStyle/>
          <a:p>
            <a:pPr algn="l">
              <a:spcAft>
                <a:spcPts val="400"/>
              </a:spcAft>
            </a:pPr>
            <a:r>
              <a:rPr sz="1400" b="1" i="0">
                <a:solidFill>
                  <a:srgbClr val="C6DCE2"/>
                </a:solidFill>
                <a:latin typeface="Arial"/>
              </a:rPr>
              <a:t>Thema 2</a:t>
            </a:r>
          </a:p>
        </p:txBody>
      </p:sp>
      <p:sp>
        <p:nvSpPr>
          <p:cNvPr id="4" name="TextBox 3"/>
          <p:cNvSpPr txBox="1"/>
          <p:nvPr/>
        </p:nvSpPr>
        <p:spPr>
          <a:xfrm>
            <a:off x="822960" y="2514600"/>
            <a:ext cx="10515600" cy="1188720"/>
          </a:xfrm>
          <a:prstGeom prst="rect">
            <a:avLst/>
          </a:prstGeom>
          <a:noFill/>
        </p:spPr>
        <p:txBody>
          <a:bodyPr wrap="square" anchor="ctr" lIns="45720" rIns="45720">
            <a:spAutoFit/>
          </a:bodyPr>
          <a:lstStyle/>
          <a:p>
            <a:pPr algn="l">
              <a:spcAft>
                <a:spcPts val="400"/>
              </a:spcAft>
            </a:pPr>
            <a:r>
              <a:rPr sz="3600" b="1" i="0">
                <a:solidFill>
                  <a:srgbClr val="FFFFFF"/>
                </a:solidFill>
                <a:latin typeface="Arial"/>
              </a:rPr>
              <a:t>Manuelle Kundenrechnung ohne Auftragsbezug</a:t>
            </a:r>
          </a:p>
        </p:txBody>
      </p:sp>
      <p:sp>
        <p:nvSpPr>
          <p:cNvPr id="5" name="TextBox 4"/>
          <p:cNvSpPr txBox="1"/>
          <p:nvPr/>
        </p:nvSpPr>
        <p:spPr>
          <a:xfrm>
            <a:off x="822960" y="3794760"/>
            <a:ext cx="10058400" cy="1097280"/>
          </a:xfrm>
          <a:prstGeom prst="rect">
            <a:avLst/>
          </a:prstGeom>
          <a:noFill/>
        </p:spPr>
        <p:txBody>
          <a:bodyPr wrap="square" anchor="t" lIns="45720" rIns="45720">
            <a:spAutoFit/>
          </a:bodyPr>
          <a:lstStyle/>
          <a:p>
            <a:pPr algn="l">
              <a:spcAft>
                <a:spcPts val="400"/>
              </a:spcAft>
            </a:pPr>
            <a:r>
              <a:rPr sz="1600" b="0" i="0">
                <a:solidFill>
                  <a:srgbClr val="FFFFFF"/>
                </a:solidFill>
                <a:latin typeface="Arial"/>
              </a:rPr>
              <a:t>Für Forderungen, hinter denen kein Vertriebsbeleg steht: Weiterberechnungen, Mieten, Korrekturen, Anzahlungsanforderungen. Direkt in der Finanzbuchhaltung erfasst, mit Steuer, Fälligkeit, Erlöskontierung und Rechnungsdruck.</a:t>
            </a:r>
          </a:p>
        </p:txBody>
      </p:sp>
      <p:sp>
        <p:nvSpPr>
          <p:cNvPr id="6" name="TextBox 5"/>
          <p:cNvSpPr txBox="1"/>
          <p:nvPr/>
        </p:nvSpPr>
        <p:spPr>
          <a:xfrm>
            <a:off x="10972800" y="6446520"/>
            <a:ext cx="685800" cy="274320"/>
          </a:xfrm>
          <a:prstGeom prst="rect">
            <a:avLst/>
          </a:prstGeom>
          <a:noFill/>
        </p:spPr>
        <p:txBody>
          <a:bodyPr wrap="square" anchor="t" lIns="45720" rIns="45720">
            <a:spAutoFit/>
          </a:bodyPr>
          <a:lstStyle/>
          <a:p>
            <a:pPr algn="r">
              <a:spcAft>
                <a:spcPts val="400"/>
              </a:spcAft>
            </a:pPr>
            <a:r>
              <a:rPr sz="900" b="0" i="0">
                <a:solidFill>
                  <a:srgbClr val="C6DCE2"/>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11064240" cy="274320"/>
          </a:xfrm>
          <a:prstGeom prst="rect">
            <a:avLst/>
          </a:prstGeom>
          <a:noFill/>
        </p:spPr>
        <p:txBody>
          <a:bodyPr wrap="square" anchor="t" lIns="45720" rIns="45720">
            <a:spAutoFit/>
          </a:bodyPr>
          <a:lstStyle/>
          <a:p>
            <a:pPr algn="l">
              <a:spcAft>
                <a:spcPts val="400"/>
              </a:spcAft>
            </a:pPr>
            <a:r>
              <a:rPr sz="1200" b="1" i="0">
                <a:solidFill>
                  <a:srgbClr val="6B6B6B"/>
                </a:solidFill>
                <a:latin typeface="Arial"/>
              </a:rPr>
              <a:t>Thema 2 · Manuelle Rechnung · Theorie</a:t>
            </a:r>
          </a:p>
        </p:txBody>
      </p:sp>
      <p:sp>
        <p:nvSpPr>
          <p:cNvPr id="3" name="TextBox 2"/>
          <p:cNvSpPr txBox="1"/>
          <p:nvPr/>
        </p:nvSpPr>
        <p:spPr>
          <a:xfrm>
            <a:off x="548640" y="502920"/>
            <a:ext cx="11064240" cy="731520"/>
          </a:xfrm>
          <a:prstGeom prst="rect">
            <a:avLst/>
          </a:prstGeom>
          <a:noFill/>
        </p:spPr>
        <p:txBody>
          <a:bodyPr wrap="square" anchor="ctr" lIns="45720" rIns="45720">
            <a:spAutoFit/>
          </a:bodyPr>
          <a:lstStyle/>
          <a:p>
            <a:pPr algn="l">
              <a:spcAft>
                <a:spcPts val="400"/>
              </a:spcAft>
            </a:pPr>
            <a:r>
              <a:rPr sz="2800" b="1" i="0">
                <a:solidFill>
                  <a:srgbClr val="2B2B2B"/>
                </a:solidFill>
                <a:latin typeface="Arial"/>
              </a:rPr>
              <a:t>Warum es die Rechnung ohne Auftragsbezug gibt</a:t>
            </a:r>
          </a:p>
        </p:txBody>
      </p:sp>
      <p:sp>
        <p:nvSpPr>
          <p:cNvPr id="4" name="TextBox 3"/>
          <p:cNvSpPr txBox="1"/>
          <p:nvPr/>
        </p:nvSpPr>
        <p:spPr>
          <a:xfrm>
            <a:off x="548640" y="6446520"/>
            <a:ext cx="8229600" cy="274320"/>
          </a:xfrm>
          <a:prstGeom prst="rect">
            <a:avLst/>
          </a:prstGeom>
          <a:noFill/>
        </p:spPr>
        <p:txBody>
          <a:bodyPr wrap="square" anchor="t" lIns="45720" rIns="45720">
            <a:spAutoFit/>
          </a:bodyPr>
          <a:lstStyle/>
          <a:p>
            <a:pPr algn="l">
              <a:spcAft>
                <a:spcPts val="400"/>
              </a:spcAft>
            </a:pPr>
            <a:r>
              <a:rPr sz="900" b="0" i="0">
                <a:solidFill>
                  <a:srgbClr val="6B6B6B"/>
                </a:solidFill>
                <a:latin typeface="Arial"/>
              </a:rPr>
              <a:t>F2S-Workshop 3 · Debitorenbuchhaltung · SAP S/4HANA Cloud Public Edition 2608</a:t>
            </a:r>
          </a:p>
        </p:txBody>
      </p:sp>
      <p:sp>
        <p:nvSpPr>
          <p:cNvPr id="5" name="TextBox 4"/>
          <p:cNvSpPr txBox="1"/>
          <p:nvPr/>
        </p:nvSpPr>
        <p:spPr>
          <a:xfrm>
            <a:off x="10972800" y="6446520"/>
            <a:ext cx="685800" cy="274320"/>
          </a:xfrm>
          <a:prstGeom prst="rect">
            <a:avLst/>
          </a:prstGeom>
          <a:noFill/>
        </p:spPr>
        <p:txBody>
          <a:bodyPr wrap="square" anchor="t" lIns="45720" rIns="45720">
            <a:spAutoFit/>
          </a:bodyPr>
          <a:lstStyle/>
          <a:p>
            <a:pPr algn="r">
              <a:spcAft>
                <a:spcPts val="400"/>
              </a:spcAft>
            </a:pPr>
            <a:r>
              <a:rPr sz="900" b="0" i="0">
                <a:solidFill>
                  <a:srgbClr val="6B6B6B"/>
                </a:solidFill>
                <a:latin typeface="Arial"/>
              </a:rPr>
              <a:t>10</a:t>
            </a:r>
          </a:p>
        </p:txBody>
      </p:sp>
      <p:sp>
        <p:nvSpPr>
          <p:cNvPr id="6" name="TextBox 5"/>
          <p:cNvSpPr txBox="1"/>
          <p:nvPr/>
        </p:nvSpPr>
        <p:spPr>
          <a:xfrm>
            <a:off x="548640" y="1417320"/>
            <a:ext cx="5486400" cy="365760"/>
          </a:xfrm>
          <a:prstGeom prst="rect">
            <a:avLst/>
          </a:prstGeom>
          <a:noFill/>
        </p:spPr>
        <p:txBody>
          <a:bodyPr wrap="square" anchor="t" lIns="45720" rIns="45720">
            <a:spAutoFit/>
          </a:bodyPr>
          <a:lstStyle/>
          <a:p>
            <a:pPr algn="l">
              <a:spcAft>
                <a:spcPts val="400"/>
              </a:spcAft>
            </a:pPr>
            <a:r>
              <a:rPr sz="1400" b="1" i="0">
                <a:solidFill>
                  <a:srgbClr val="1F4E5F"/>
                </a:solidFill>
                <a:latin typeface="Arial"/>
              </a:rPr>
              <a:t>Typische Fälle</a:t>
            </a:r>
          </a:p>
        </p:txBody>
      </p:sp>
      <p:sp>
        <p:nvSpPr>
          <p:cNvPr id="7" name="Rounded Rectangle 6"/>
          <p:cNvSpPr/>
          <p:nvPr/>
        </p:nvSpPr>
        <p:spPr>
          <a:xfrm>
            <a:off x="548640" y="1828800"/>
            <a:ext cx="2697480" cy="1325880"/>
          </a:xfrm>
          <a:prstGeom prst="roundRect">
            <a:avLst>
              <a:gd name="adj" fmla="val 8000"/>
            </a:avLst>
          </a:prstGeom>
          <a:solidFill>
            <a:srgbClr val="E9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8" name="TextBox 7"/>
          <p:cNvSpPr txBox="1"/>
          <p:nvPr/>
        </p:nvSpPr>
        <p:spPr>
          <a:xfrm>
            <a:off x="713232" y="1956816"/>
            <a:ext cx="2395728" cy="365760"/>
          </a:xfrm>
          <a:prstGeom prst="rect">
            <a:avLst/>
          </a:prstGeom>
          <a:noFill/>
        </p:spPr>
        <p:txBody>
          <a:bodyPr wrap="square" anchor="ctr" lIns="45720" rIns="45720">
            <a:spAutoFit/>
          </a:bodyPr>
          <a:lstStyle/>
          <a:p>
            <a:pPr algn="l">
              <a:spcAft>
                <a:spcPts val="400"/>
              </a:spcAft>
            </a:pPr>
            <a:r>
              <a:rPr sz="1200" b="1" i="0">
                <a:solidFill>
                  <a:srgbClr val="1F4E5F"/>
                </a:solidFill>
                <a:latin typeface="Arial"/>
              </a:rPr>
              <a:t>Weiterberechnung</a:t>
            </a:r>
          </a:p>
        </p:txBody>
      </p:sp>
      <p:sp>
        <p:nvSpPr>
          <p:cNvPr id="9" name="TextBox 8"/>
          <p:cNvSpPr txBox="1"/>
          <p:nvPr/>
        </p:nvSpPr>
        <p:spPr>
          <a:xfrm>
            <a:off x="713232" y="2377440"/>
            <a:ext cx="2368296" cy="685800"/>
          </a:xfrm>
          <a:prstGeom prst="rect">
            <a:avLst/>
          </a:prstGeom>
          <a:noFill/>
        </p:spPr>
        <p:txBody>
          <a:bodyPr wrap="square" anchor="t" lIns="45720" rIns="45720">
            <a:spAutoFit/>
          </a:bodyPr>
          <a:lstStyle/>
          <a:p>
            <a:pPr algn="l">
              <a:spcAft>
                <a:spcPts val="300"/>
              </a:spcAft>
            </a:pPr>
            <a:r>
              <a:rPr sz="1050" b="0" i="0">
                <a:solidFill>
                  <a:srgbClr val="2B2B2B"/>
                </a:solidFill>
                <a:latin typeface="Arial"/>
              </a:rPr>
              <a:t>Reisekosten, Material, Schäden, Nebenkosten an Kunden oder Partner</a:t>
            </a:r>
          </a:p>
        </p:txBody>
      </p:sp>
      <p:sp>
        <p:nvSpPr>
          <p:cNvPr id="10" name="Rounded Rectangle 9"/>
          <p:cNvSpPr/>
          <p:nvPr/>
        </p:nvSpPr>
        <p:spPr>
          <a:xfrm>
            <a:off x="3337560" y="1828800"/>
            <a:ext cx="2697480" cy="1325880"/>
          </a:xfrm>
          <a:prstGeom prst="roundRect">
            <a:avLst>
              <a:gd name="adj" fmla="val 8000"/>
            </a:avLst>
          </a:prstGeom>
          <a:solidFill>
            <a:srgbClr val="E9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1" name="TextBox 10"/>
          <p:cNvSpPr txBox="1"/>
          <p:nvPr/>
        </p:nvSpPr>
        <p:spPr>
          <a:xfrm>
            <a:off x="3502152" y="1956816"/>
            <a:ext cx="2395728" cy="365760"/>
          </a:xfrm>
          <a:prstGeom prst="rect">
            <a:avLst/>
          </a:prstGeom>
          <a:noFill/>
        </p:spPr>
        <p:txBody>
          <a:bodyPr wrap="square" anchor="ctr" lIns="45720" rIns="45720">
            <a:spAutoFit/>
          </a:bodyPr>
          <a:lstStyle/>
          <a:p>
            <a:pPr algn="l">
              <a:spcAft>
                <a:spcPts val="400"/>
              </a:spcAft>
            </a:pPr>
            <a:r>
              <a:rPr sz="1200" b="1" i="0">
                <a:solidFill>
                  <a:srgbClr val="1F4E5F"/>
                </a:solidFill>
                <a:latin typeface="Arial"/>
              </a:rPr>
              <a:t>Mieten und Pauschalen</a:t>
            </a:r>
          </a:p>
        </p:txBody>
      </p:sp>
      <p:sp>
        <p:nvSpPr>
          <p:cNvPr id="12" name="TextBox 11"/>
          <p:cNvSpPr txBox="1"/>
          <p:nvPr/>
        </p:nvSpPr>
        <p:spPr>
          <a:xfrm>
            <a:off x="3502152" y="2377440"/>
            <a:ext cx="2368296" cy="685800"/>
          </a:xfrm>
          <a:prstGeom prst="rect">
            <a:avLst/>
          </a:prstGeom>
          <a:noFill/>
        </p:spPr>
        <p:txBody>
          <a:bodyPr wrap="square" anchor="t" lIns="45720" rIns="45720">
            <a:spAutoFit/>
          </a:bodyPr>
          <a:lstStyle/>
          <a:p>
            <a:pPr algn="l">
              <a:spcAft>
                <a:spcPts val="300"/>
              </a:spcAft>
            </a:pPr>
            <a:r>
              <a:rPr sz="1050" b="0" i="0">
                <a:solidFill>
                  <a:srgbClr val="2B2B2B"/>
                </a:solidFill>
                <a:latin typeface="Arial"/>
              </a:rPr>
              <a:t>Pacht, Wartung, Gebühren ohne Vertriebsauftrag</a:t>
            </a:r>
          </a:p>
        </p:txBody>
      </p:sp>
      <p:sp>
        <p:nvSpPr>
          <p:cNvPr id="13" name="Rounded Rectangle 12"/>
          <p:cNvSpPr/>
          <p:nvPr/>
        </p:nvSpPr>
        <p:spPr>
          <a:xfrm>
            <a:off x="548640" y="3246120"/>
            <a:ext cx="2697480" cy="1325880"/>
          </a:xfrm>
          <a:prstGeom prst="roundRect">
            <a:avLst>
              <a:gd name="adj" fmla="val 8000"/>
            </a:avLst>
          </a:prstGeom>
          <a:solidFill>
            <a:srgbClr val="E9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4" name="TextBox 13"/>
          <p:cNvSpPr txBox="1"/>
          <p:nvPr/>
        </p:nvSpPr>
        <p:spPr>
          <a:xfrm>
            <a:off x="713232" y="3374136"/>
            <a:ext cx="2395728" cy="365760"/>
          </a:xfrm>
          <a:prstGeom prst="rect">
            <a:avLst/>
          </a:prstGeom>
          <a:noFill/>
        </p:spPr>
        <p:txBody>
          <a:bodyPr wrap="square" anchor="ctr" lIns="45720" rIns="45720">
            <a:spAutoFit/>
          </a:bodyPr>
          <a:lstStyle/>
          <a:p>
            <a:pPr algn="l">
              <a:spcAft>
                <a:spcPts val="400"/>
              </a:spcAft>
            </a:pPr>
            <a:r>
              <a:rPr sz="1200" b="1" i="0">
                <a:solidFill>
                  <a:srgbClr val="1F4E5F"/>
                </a:solidFill>
                <a:latin typeface="Arial"/>
              </a:rPr>
              <a:t>Sonstige Verkäufe</a:t>
            </a:r>
          </a:p>
        </p:txBody>
      </p:sp>
      <p:sp>
        <p:nvSpPr>
          <p:cNvPr id="15" name="TextBox 14"/>
          <p:cNvSpPr txBox="1"/>
          <p:nvPr/>
        </p:nvSpPr>
        <p:spPr>
          <a:xfrm>
            <a:off x="713232" y="3794759"/>
            <a:ext cx="2368296" cy="685800"/>
          </a:xfrm>
          <a:prstGeom prst="rect">
            <a:avLst/>
          </a:prstGeom>
          <a:noFill/>
        </p:spPr>
        <p:txBody>
          <a:bodyPr wrap="square" anchor="t" lIns="45720" rIns="45720">
            <a:spAutoFit/>
          </a:bodyPr>
          <a:lstStyle/>
          <a:p>
            <a:pPr algn="l">
              <a:spcAft>
                <a:spcPts val="300"/>
              </a:spcAft>
            </a:pPr>
            <a:r>
              <a:rPr sz="1050" b="0" i="0">
                <a:solidFill>
                  <a:srgbClr val="2B2B2B"/>
                </a:solidFill>
                <a:latin typeface="Arial"/>
              </a:rPr>
              <a:t>Anlagen, Sonstiges außerhalb des Sortiments, Einmalgeschäft</a:t>
            </a:r>
          </a:p>
        </p:txBody>
      </p:sp>
      <p:sp>
        <p:nvSpPr>
          <p:cNvPr id="16" name="Rounded Rectangle 15"/>
          <p:cNvSpPr/>
          <p:nvPr/>
        </p:nvSpPr>
        <p:spPr>
          <a:xfrm>
            <a:off x="3337560" y="3246120"/>
            <a:ext cx="2697480" cy="1325880"/>
          </a:xfrm>
          <a:prstGeom prst="roundRect">
            <a:avLst>
              <a:gd name="adj" fmla="val 8000"/>
            </a:avLst>
          </a:prstGeom>
          <a:solidFill>
            <a:srgbClr val="E9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7" name="TextBox 16"/>
          <p:cNvSpPr txBox="1"/>
          <p:nvPr/>
        </p:nvSpPr>
        <p:spPr>
          <a:xfrm>
            <a:off x="3502152" y="3374136"/>
            <a:ext cx="2395728" cy="365760"/>
          </a:xfrm>
          <a:prstGeom prst="rect">
            <a:avLst/>
          </a:prstGeom>
          <a:noFill/>
        </p:spPr>
        <p:txBody>
          <a:bodyPr wrap="square" anchor="ctr" lIns="45720" rIns="45720">
            <a:spAutoFit/>
          </a:bodyPr>
          <a:lstStyle/>
          <a:p>
            <a:pPr algn="l">
              <a:spcAft>
                <a:spcPts val="400"/>
              </a:spcAft>
            </a:pPr>
            <a:r>
              <a:rPr sz="1200" b="1" i="0">
                <a:solidFill>
                  <a:srgbClr val="1F4E5F"/>
                </a:solidFill>
                <a:latin typeface="Arial"/>
              </a:rPr>
              <a:t>Vorsysteme ohne Schnittstelle</a:t>
            </a:r>
          </a:p>
        </p:txBody>
      </p:sp>
      <p:sp>
        <p:nvSpPr>
          <p:cNvPr id="18" name="TextBox 17"/>
          <p:cNvSpPr txBox="1"/>
          <p:nvPr/>
        </p:nvSpPr>
        <p:spPr>
          <a:xfrm>
            <a:off x="3502152" y="3794759"/>
            <a:ext cx="2368296" cy="685800"/>
          </a:xfrm>
          <a:prstGeom prst="rect">
            <a:avLst/>
          </a:prstGeom>
          <a:noFill/>
        </p:spPr>
        <p:txBody>
          <a:bodyPr wrap="square" anchor="t" lIns="45720" rIns="45720">
            <a:spAutoFit/>
          </a:bodyPr>
          <a:lstStyle/>
          <a:p>
            <a:pPr algn="l">
              <a:spcAft>
                <a:spcPts val="300"/>
              </a:spcAft>
            </a:pPr>
            <a:r>
              <a:rPr sz="1050" b="0" i="0">
                <a:solidFill>
                  <a:srgbClr val="2B2B2B"/>
                </a:solidFill>
                <a:latin typeface="Arial"/>
              </a:rPr>
              <a:t>Rechnungen, die (noch) nicht automatisch ankommen</a:t>
            </a:r>
          </a:p>
        </p:txBody>
      </p:sp>
      <p:sp>
        <p:nvSpPr>
          <p:cNvPr id="19" name="Rounded Rectangle 18"/>
          <p:cNvSpPr/>
          <p:nvPr/>
        </p:nvSpPr>
        <p:spPr>
          <a:xfrm>
            <a:off x="548640" y="4663440"/>
            <a:ext cx="2697480" cy="1325880"/>
          </a:xfrm>
          <a:prstGeom prst="roundRect">
            <a:avLst>
              <a:gd name="adj" fmla="val 8000"/>
            </a:avLst>
          </a:prstGeom>
          <a:solidFill>
            <a:srgbClr val="E9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0" name="TextBox 19"/>
          <p:cNvSpPr txBox="1"/>
          <p:nvPr/>
        </p:nvSpPr>
        <p:spPr>
          <a:xfrm>
            <a:off x="713232" y="4791455"/>
            <a:ext cx="2395728" cy="365760"/>
          </a:xfrm>
          <a:prstGeom prst="rect">
            <a:avLst/>
          </a:prstGeom>
          <a:noFill/>
        </p:spPr>
        <p:txBody>
          <a:bodyPr wrap="square" anchor="ctr" lIns="45720" rIns="45720">
            <a:spAutoFit/>
          </a:bodyPr>
          <a:lstStyle/>
          <a:p>
            <a:pPr algn="l">
              <a:spcAft>
                <a:spcPts val="400"/>
              </a:spcAft>
            </a:pPr>
            <a:r>
              <a:rPr sz="1200" b="1" i="0">
                <a:solidFill>
                  <a:srgbClr val="1F4E5F"/>
                </a:solidFill>
                <a:latin typeface="Arial"/>
              </a:rPr>
              <a:t>Korrekturen</a:t>
            </a:r>
          </a:p>
        </p:txBody>
      </p:sp>
      <p:sp>
        <p:nvSpPr>
          <p:cNvPr id="21" name="TextBox 20"/>
          <p:cNvSpPr txBox="1"/>
          <p:nvPr/>
        </p:nvSpPr>
        <p:spPr>
          <a:xfrm>
            <a:off x="713232" y="5212079"/>
            <a:ext cx="2368296" cy="685800"/>
          </a:xfrm>
          <a:prstGeom prst="rect">
            <a:avLst/>
          </a:prstGeom>
          <a:noFill/>
        </p:spPr>
        <p:txBody>
          <a:bodyPr wrap="square" anchor="t" lIns="45720" rIns="45720">
            <a:spAutoFit/>
          </a:bodyPr>
          <a:lstStyle/>
          <a:p>
            <a:pPr algn="l">
              <a:spcAft>
                <a:spcPts val="300"/>
              </a:spcAft>
            </a:pPr>
            <a:r>
              <a:rPr sz="1050" b="0" i="0">
                <a:solidFill>
                  <a:srgbClr val="2B2B2B"/>
                </a:solidFill>
                <a:latin typeface="Arial"/>
              </a:rPr>
              <a:t>Nachberechnung, manuelle Gutschrift, Umbuchung</a:t>
            </a:r>
          </a:p>
        </p:txBody>
      </p:sp>
      <p:sp>
        <p:nvSpPr>
          <p:cNvPr id="22" name="Rounded Rectangle 21"/>
          <p:cNvSpPr/>
          <p:nvPr/>
        </p:nvSpPr>
        <p:spPr>
          <a:xfrm>
            <a:off x="3337560" y="4663440"/>
            <a:ext cx="2697480" cy="1325880"/>
          </a:xfrm>
          <a:prstGeom prst="roundRect">
            <a:avLst>
              <a:gd name="adj" fmla="val 8000"/>
            </a:avLst>
          </a:prstGeom>
          <a:solidFill>
            <a:srgbClr val="E9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3" name="TextBox 22"/>
          <p:cNvSpPr txBox="1"/>
          <p:nvPr/>
        </p:nvSpPr>
        <p:spPr>
          <a:xfrm>
            <a:off x="3502152" y="4791455"/>
            <a:ext cx="2395728" cy="365760"/>
          </a:xfrm>
          <a:prstGeom prst="rect">
            <a:avLst/>
          </a:prstGeom>
          <a:noFill/>
        </p:spPr>
        <p:txBody>
          <a:bodyPr wrap="square" anchor="ctr" lIns="45720" rIns="45720">
            <a:spAutoFit/>
          </a:bodyPr>
          <a:lstStyle/>
          <a:p>
            <a:pPr algn="l">
              <a:spcAft>
                <a:spcPts val="400"/>
              </a:spcAft>
            </a:pPr>
            <a:r>
              <a:rPr sz="1200" b="1" i="0">
                <a:solidFill>
                  <a:srgbClr val="1F4E5F"/>
                </a:solidFill>
                <a:latin typeface="Arial"/>
              </a:rPr>
              <a:t>Anzahlungsanforderung</a:t>
            </a:r>
          </a:p>
        </p:txBody>
      </p:sp>
      <p:sp>
        <p:nvSpPr>
          <p:cNvPr id="24" name="TextBox 23"/>
          <p:cNvSpPr txBox="1"/>
          <p:nvPr/>
        </p:nvSpPr>
        <p:spPr>
          <a:xfrm>
            <a:off x="3502152" y="5212079"/>
            <a:ext cx="2368296" cy="685800"/>
          </a:xfrm>
          <a:prstGeom prst="rect">
            <a:avLst/>
          </a:prstGeom>
          <a:noFill/>
        </p:spPr>
        <p:txBody>
          <a:bodyPr wrap="square" anchor="t" lIns="45720" rIns="45720">
            <a:spAutoFit/>
          </a:bodyPr>
          <a:lstStyle/>
          <a:p>
            <a:pPr algn="l">
              <a:spcAft>
                <a:spcPts val="300"/>
              </a:spcAft>
            </a:pPr>
            <a:r>
              <a:rPr sz="1050" b="0" i="0">
                <a:solidFill>
                  <a:srgbClr val="2B2B2B"/>
                </a:solidFill>
                <a:latin typeface="Arial"/>
              </a:rPr>
              <a:t>Zahlung vor Leistung, Sonderhauptbuch A</a:t>
            </a:r>
          </a:p>
        </p:txBody>
      </p:sp>
      <p:sp>
        <p:nvSpPr>
          <p:cNvPr id="25" name="TextBox 24"/>
          <p:cNvSpPr txBox="1"/>
          <p:nvPr/>
        </p:nvSpPr>
        <p:spPr>
          <a:xfrm>
            <a:off x="6309360" y="1417320"/>
            <a:ext cx="5303520" cy="365760"/>
          </a:xfrm>
          <a:prstGeom prst="rect">
            <a:avLst/>
          </a:prstGeom>
          <a:noFill/>
        </p:spPr>
        <p:txBody>
          <a:bodyPr wrap="square" anchor="t" lIns="45720" rIns="45720">
            <a:spAutoFit/>
          </a:bodyPr>
          <a:lstStyle/>
          <a:p>
            <a:pPr algn="l">
              <a:spcAft>
                <a:spcPts val="400"/>
              </a:spcAft>
            </a:pPr>
            <a:r>
              <a:rPr sz="1400" b="1" i="0">
                <a:solidFill>
                  <a:srgbClr val="1F4E5F"/>
                </a:solidFill>
                <a:latin typeface="Arial"/>
              </a:rPr>
              <a:t>Was der Prozess sicherstellt</a:t>
            </a:r>
          </a:p>
        </p:txBody>
      </p:sp>
      <p:sp>
        <p:nvSpPr>
          <p:cNvPr id="26" name="TextBox 25"/>
          <p:cNvSpPr txBox="1"/>
          <p:nvPr/>
        </p:nvSpPr>
        <p:spPr>
          <a:xfrm>
            <a:off x="6309360" y="1828800"/>
            <a:ext cx="5303520" cy="3017520"/>
          </a:xfrm>
          <a:prstGeom prst="rect">
            <a:avLst/>
          </a:prstGeom>
          <a:noFill/>
        </p:spPr>
        <p:txBody>
          <a:bodyPr wrap="square" anchor="t" lIns="45720" rIns="45720">
            <a:spAutoFit/>
          </a:bodyPr>
          <a:lstStyle/>
          <a:p>
            <a:pPr algn="l" marL="164592" indent="-164592">
              <a:spcAft>
                <a:spcPts val="600"/>
              </a:spcAft>
              <a:buChar char="•"/>
            </a:pPr>
            <a:r>
              <a:rPr sz="1200" b="1" i="0">
                <a:solidFill>
                  <a:srgbClr val="2B2B2B"/>
                </a:solidFill>
                <a:latin typeface="Arial"/>
              </a:rPr>
              <a:t>Vollständigkeit: </a:t>
            </a:r>
            <a:r>
              <a:rPr sz="1200" b="0" i="0">
                <a:solidFill>
                  <a:srgbClr val="2B2B2B"/>
                </a:solidFill>
                <a:latin typeface="Arial"/>
              </a:rPr>
              <a:t>jede Forderung auf Kundenkonto, Erlöskonto und Steuer, in der richtigen Periode</a:t>
            </a:r>
          </a:p>
          <a:p>
            <a:pPr algn="l" marL="164592" indent="-164592">
              <a:spcAft>
                <a:spcPts val="600"/>
              </a:spcAft>
              <a:buChar char="•"/>
            </a:pPr>
            <a:r>
              <a:rPr sz="1200" b="1" i="0">
                <a:solidFill>
                  <a:srgbClr val="2B2B2B"/>
                </a:solidFill>
                <a:latin typeface="Arial"/>
              </a:rPr>
              <a:t>Fälligkeit: </a:t>
            </a:r>
            <a:r>
              <a:rPr sz="1200" b="0" i="0">
                <a:solidFill>
                  <a:srgbClr val="2B2B2B"/>
                </a:solidFill>
                <a:latin typeface="Arial"/>
              </a:rPr>
              <a:t>Basisdatum plus Zahlungsbedingung ergibt das Nettofälligkeitsdatum, Grundlage für Mahnung, Zinsen, Liquidität, DSO</a:t>
            </a:r>
          </a:p>
          <a:p>
            <a:pPr algn="l" marL="164592" indent="-164592">
              <a:spcAft>
                <a:spcPts val="600"/>
              </a:spcAft>
              <a:buChar char="•"/>
            </a:pPr>
            <a:r>
              <a:rPr sz="1200" b="1" i="0">
                <a:solidFill>
                  <a:srgbClr val="2B2B2B"/>
                </a:solidFill>
                <a:latin typeface="Arial"/>
              </a:rPr>
              <a:t>Ergebnisrechnung: </a:t>
            </a:r>
            <a:r>
              <a:rPr sz="1200" b="0" i="0">
                <a:solidFill>
                  <a:srgbClr val="2B2B2B"/>
                </a:solidFill>
                <a:latin typeface="Arial"/>
              </a:rPr>
              <a:t>Erlös wird einem Ergebnisobjekt zugeordnet (Kunde, Profit Center, Produkt); deshalb erzwingt das System die Kontierung</a:t>
            </a:r>
          </a:p>
          <a:p>
            <a:pPr algn="l" marL="164592" indent="-164592">
              <a:spcAft>
                <a:spcPts val="600"/>
              </a:spcAft>
              <a:buChar char="•"/>
            </a:pPr>
            <a:r>
              <a:rPr sz="1200" b="1" i="0">
                <a:solidFill>
                  <a:srgbClr val="2B2B2B"/>
                </a:solidFill>
                <a:latin typeface="Arial"/>
              </a:rPr>
              <a:t>Belegprinzip: </a:t>
            </a:r>
            <a:r>
              <a:rPr sz="1200" b="0" i="0">
                <a:solidFill>
                  <a:srgbClr val="2B2B2B"/>
                </a:solidFill>
                <a:latin typeface="Arial"/>
              </a:rPr>
              <a:t>Referenz, Belegdatum, Buchungsdatum machen den Posten eindeutig und beim Zahlungseingang zuordenbar</a:t>
            </a:r>
          </a:p>
          <a:p>
            <a:pPr algn="l" marL="164592" indent="-164592">
              <a:spcAft>
                <a:spcPts val="600"/>
              </a:spcAft>
              <a:buChar char="•"/>
            </a:pPr>
            <a:r>
              <a:rPr sz="1200" b="1" i="0">
                <a:solidFill>
                  <a:srgbClr val="2B2B2B"/>
                </a:solidFill>
                <a:latin typeface="Arial"/>
              </a:rPr>
              <a:t>Rechnungsausgabe: </a:t>
            </a:r>
            <a:r>
              <a:rPr sz="1200" b="0" i="0">
                <a:solidFill>
                  <a:srgbClr val="2B2B2B"/>
                </a:solidFill>
                <a:latin typeface="Arial"/>
              </a:rPr>
              <a:t>auch die manuelle Rechnung geht als PDF per E-Mail oder Druck an den Kunden</a:t>
            </a:r>
          </a:p>
        </p:txBody>
      </p:sp>
      <p:sp>
        <p:nvSpPr>
          <p:cNvPr id="27" name="Rounded Rectangle 26"/>
          <p:cNvSpPr/>
          <p:nvPr/>
        </p:nvSpPr>
        <p:spPr>
          <a:xfrm>
            <a:off x="6309360" y="4983480"/>
            <a:ext cx="5303520" cy="1188720"/>
          </a:xfrm>
          <a:prstGeom prst="roundRect">
            <a:avLst>
              <a:gd name="adj" fmla="val 8000"/>
            </a:avLst>
          </a:prstGeom>
          <a:solidFill>
            <a:srgbClr val="E9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l">
              <a:spcAft>
                <a:spcPts val="200"/>
              </a:spcAft>
            </a:pPr>
            <a:r>
              <a:rPr sz="1200" b="1" i="0">
                <a:solidFill>
                  <a:srgbClr val="1F4E5F"/>
                </a:solidFill>
                <a:latin typeface="Arial"/>
              </a:rPr>
              <a:t>Kontrollfrage für den Workshop</a:t>
            </a:r>
          </a:p>
          <a:p>
            <a:pPr algn="l">
              <a:spcAft>
                <a:spcPts val="200"/>
              </a:spcAft>
            </a:pPr>
            <a:r>
              <a:rPr sz="1150" b="0" i="0">
                <a:solidFill>
                  <a:srgbClr val="2B2B2B"/>
                </a:solidFill>
                <a:latin typeface="Arial"/>
              </a:rPr>
              <a:t>Wie hoch ist der Anteil manueller Rechnungen heute? Ein hoher Anteil zeigt fehlende Vertriebsprozesse oder fehlende Schnittstellen.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11064240" cy="274320"/>
          </a:xfrm>
          <a:prstGeom prst="rect">
            <a:avLst/>
          </a:prstGeom>
          <a:noFill/>
        </p:spPr>
        <p:txBody>
          <a:bodyPr wrap="square" anchor="t" lIns="45720" rIns="45720">
            <a:spAutoFit/>
          </a:bodyPr>
          <a:lstStyle/>
          <a:p>
            <a:pPr algn="l">
              <a:spcAft>
                <a:spcPts val="400"/>
              </a:spcAft>
            </a:pPr>
            <a:r>
              <a:rPr sz="1200" b="1" i="0">
                <a:solidFill>
                  <a:srgbClr val="6B6B6B"/>
                </a:solidFill>
                <a:latin typeface="Arial"/>
              </a:rPr>
              <a:t>Thema 2 · Manuelle Rechnung · Praxis</a:t>
            </a:r>
          </a:p>
        </p:txBody>
      </p:sp>
      <p:sp>
        <p:nvSpPr>
          <p:cNvPr id="3" name="TextBox 2"/>
          <p:cNvSpPr txBox="1"/>
          <p:nvPr/>
        </p:nvSpPr>
        <p:spPr>
          <a:xfrm>
            <a:off x="548640" y="502920"/>
            <a:ext cx="11064240" cy="731520"/>
          </a:xfrm>
          <a:prstGeom prst="rect">
            <a:avLst/>
          </a:prstGeom>
          <a:noFill/>
        </p:spPr>
        <p:txBody>
          <a:bodyPr wrap="square" anchor="ctr" lIns="45720" rIns="45720">
            <a:spAutoFit/>
          </a:bodyPr>
          <a:lstStyle/>
          <a:p>
            <a:pPr algn="l">
              <a:spcAft>
                <a:spcPts val="400"/>
              </a:spcAft>
            </a:pPr>
            <a:r>
              <a:rPr sz="2800" b="1" i="0">
                <a:solidFill>
                  <a:srgbClr val="2B2B2B"/>
                </a:solidFill>
                <a:latin typeface="Arial"/>
              </a:rPr>
              <a:t>Ablauf in Create Outgoing Invoices (FB70) und Buchungslogik</a:t>
            </a:r>
          </a:p>
        </p:txBody>
      </p:sp>
      <p:sp>
        <p:nvSpPr>
          <p:cNvPr id="4" name="TextBox 3"/>
          <p:cNvSpPr txBox="1"/>
          <p:nvPr/>
        </p:nvSpPr>
        <p:spPr>
          <a:xfrm>
            <a:off x="548640" y="6446520"/>
            <a:ext cx="8229600" cy="274320"/>
          </a:xfrm>
          <a:prstGeom prst="rect">
            <a:avLst/>
          </a:prstGeom>
          <a:noFill/>
        </p:spPr>
        <p:txBody>
          <a:bodyPr wrap="square" anchor="t" lIns="45720" rIns="45720">
            <a:spAutoFit/>
          </a:bodyPr>
          <a:lstStyle/>
          <a:p>
            <a:pPr algn="l">
              <a:spcAft>
                <a:spcPts val="400"/>
              </a:spcAft>
            </a:pPr>
            <a:r>
              <a:rPr sz="900" b="0" i="0">
                <a:solidFill>
                  <a:srgbClr val="6B6B6B"/>
                </a:solidFill>
                <a:latin typeface="Arial"/>
              </a:rPr>
              <a:t>F2S-Workshop 3 · Debitorenbuchhaltung · SAP S/4HANA Cloud Public Edition 2608</a:t>
            </a:r>
          </a:p>
        </p:txBody>
      </p:sp>
      <p:sp>
        <p:nvSpPr>
          <p:cNvPr id="5" name="TextBox 4"/>
          <p:cNvSpPr txBox="1"/>
          <p:nvPr/>
        </p:nvSpPr>
        <p:spPr>
          <a:xfrm>
            <a:off x="10972800" y="6446520"/>
            <a:ext cx="685800" cy="274320"/>
          </a:xfrm>
          <a:prstGeom prst="rect">
            <a:avLst/>
          </a:prstGeom>
          <a:noFill/>
        </p:spPr>
        <p:txBody>
          <a:bodyPr wrap="square" anchor="t" lIns="45720" rIns="45720">
            <a:spAutoFit/>
          </a:bodyPr>
          <a:lstStyle/>
          <a:p>
            <a:pPr algn="r">
              <a:spcAft>
                <a:spcPts val="400"/>
              </a:spcAft>
            </a:pPr>
            <a:r>
              <a:rPr sz="900" b="0" i="0">
                <a:solidFill>
                  <a:srgbClr val="6B6B6B"/>
                </a:solidFill>
                <a:latin typeface="Arial"/>
              </a:rPr>
              <a:t>11</a:t>
            </a:r>
          </a:p>
        </p:txBody>
      </p:sp>
      <p:sp>
        <p:nvSpPr>
          <p:cNvPr id="6" name="Pentagon 5"/>
          <p:cNvSpPr/>
          <p:nvPr/>
        </p:nvSpPr>
        <p:spPr>
          <a:xfrm>
            <a:off x="548640" y="1417320"/>
            <a:ext cx="1798320" cy="777240"/>
          </a:xfrm>
          <a:prstGeom prst="homePlate">
            <a:avLst>
              <a:gd name="adj" fmla="val 25000"/>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200"/>
              </a:spcAft>
            </a:pPr>
            <a:r>
              <a:rPr sz="1050" b="1" i="0">
                <a:solidFill>
                  <a:srgbClr val="FFFFFF"/>
                </a:solidFill>
                <a:latin typeface="Arial"/>
              </a:rPr>
              <a:t>Buchungskreis</a:t>
            </a:r>
          </a:p>
        </p:txBody>
      </p:sp>
      <p:sp>
        <p:nvSpPr>
          <p:cNvPr id="7" name="Chevron 6"/>
          <p:cNvSpPr/>
          <p:nvPr/>
        </p:nvSpPr>
        <p:spPr>
          <a:xfrm>
            <a:off x="2401824" y="1417320"/>
            <a:ext cx="1798320" cy="777240"/>
          </a:xfrm>
          <a:prstGeom prst="chevron">
            <a:avLst>
              <a:gd name="adj" fmla="val 30000"/>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200"/>
              </a:spcAft>
            </a:pPr>
            <a:r>
              <a:rPr sz="1050" b="1" i="0">
                <a:solidFill>
                  <a:srgbClr val="FFFFFF"/>
                </a:solidFill>
                <a:latin typeface="Arial"/>
              </a:rPr>
              <a:t>Basisdaten</a:t>
            </a:r>
          </a:p>
        </p:txBody>
      </p:sp>
      <p:sp>
        <p:nvSpPr>
          <p:cNvPr id="8" name="Chevron 7"/>
          <p:cNvSpPr/>
          <p:nvPr/>
        </p:nvSpPr>
        <p:spPr>
          <a:xfrm>
            <a:off x="4255007" y="1417320"/>
            <a:ext cx="1798320" cy="777240"/>
          </a:xfrm>
          <a:prstGeom prst="chevron">
            <a:avLst>
              <a:gd name="adj" fmla="val 30000"/>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200"/>
              </a:spcAft>
            </a:pPr>
            <a:r>
              <a:rPr sz="1050" b="1" i="0">
                <a:solidFill>
                  <a:srgbClr val="FFFFFF"/>
                </a:solidFill>
                <a:latin typeface="Arial"/>
              </a:rPr>
              <a:t>Zahlung</a:t>
            </a:r>
          </a:p>
        </p:txBody>
      </p:sp>
      <p:sp>
        <p:nvSpPr>
          <p:cNvPr id="9" name="Chevron 8"/>
          <p:cNvSpPr/>
          <p:nvPr/>
        </p:nvSpPr>
        <p:spPr>
          <a:xfrm>
            <a:off x="6108191" y="1417320"/>
            <a:ext cx="1798320" cy="777240"/>
          </a:xfrm>
          <a:prstGeom prst="chevron">
            <a:avLst>
              <a:gd name="adj" fmla="val 30000"/>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200"/>
              </a:spcAft>
            </a:pPr>
            <a:r>
              <a:rPr sz="1050" b="1" i="0">
                <a:solidFill>
                  <a:srgbClr val="FFFFFF"/>
                </a:solidFill>
                <a:latin typeface="Arial"/>
              </a:rPr>
              <a:t>Position</a:t>
            </a:r>
          </a:p>
        </p:txBody>
      </p:sp>
      <p:sp>
        <p:nvSpPr>
          <p:cNvPr id="10" name="Chevron 9"/>
          <p:cNvSpPr/>
          <p:nvPr/>
        </p:nvSpPr>
        <p:spPr>
          <a:xfrm>
            <a:off x="7961375" y="1417320"/>
            <a:ext cx="1798320" cy="777240"/>
          </a:xfrm>
          <a:prstGeom prst="chevron">
            <a:avLst>
              <a:gd name="adj" fmla="val 30000"/>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200"/>
              </a:spcAft>
            </a:pPr>
            <a:r>
              <a:rPr sz="1050" b="1" i="0">
                <a:solidFill>
                  <a:srgbClr val="FFFFFF"/>
                </a:solidFill>
                <a:latin typeface="Arial"/>
              </a:rPr>
              <a:t>Ergebnisobjekt</a:t>
            </a:r>
          </a:p>
        </p:txBody>
      </p:sp>
      <p:sp>
        <p:nvSpPr>
          <p:cNvPr id="11" name="Chevron 10"/>
          <p:cNvSpPr/>
          <p:nvPr/>
        </p:nvSpPr>
        <p:spPr>
          <a:xfrm>
            <a:off x="9814560" y="1417320"/>
            <a:ext cx="1798320" cy="777240"/>
          </a:xfrm>
          <a:prstGeom prst="chevron">
            <a:avLst>
              <a:gd name="adj" fmla="val 30000"/>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200"/>
              </a:spcAft>
            </a:pPr>
            <a:r>
              <a:rPr sz="1050" b="1" i="0">
                <a:solidFill>
                  <a:srgbClr val="FFFFFF"/>
                </a:solidFill>
                <a:latin typeface="Arial"/>
              </a:rPr>
              <a:t>Simulieren, Buchen</a:t>
            </a:r>
          </a:p>
        </p:txBody>
      </p:sp>
      <p:sp>
        <p:nvSpPr>
          <p:cNvPr id="12" name="TextBox 11"/>
          <p:cNvSpPr txBox="1"/>
          <p:nvPr/>
        </p:nvSpPr>
        <p:spPr>
          <a:xfrm>
            <a:off x="548640" y="2286000"/>
            <a:ext cx="1798320" cy="1188720"/>
          </a:xfrm>
          <a:prstGeom prst="rect">
            <a:avLst/>
          </a:prstGeom>
          <a:noFill/>
        </p:spPr>
        <p:txBody>
          <a:bodyPr wrap="square" anchor="t" lIns="45720" rIns="45720">
            <a:spAutoFit/>
          </a:bodyPr>
          <a:lstStyle/>
          <a:p>
            <a:pPr algn="l">
              <a:spcAft>
                <a:spcPts val="400"/>
              </a:spcAft>
            </a:pPr>
            <a:r>
              <a:rPr sz="1050" b="0" i="0">
                <a:solidFill>
                  <a:srgbClr val="2B2B2B"/>
                </a:solidFill>
                <a:latin typeface="Arial"/>
              </a:rPr>
              <a:t>1010 wählen</a:t>
            </a:r>
          </a:p>
        </p:txBody>
      </p:sp>
      <p:sp>
        <p:nvSpPr>
          <p:cNvPr id="13" name="TextBox 12"/>
          <p:cNvSpPr txBox="1"/>
          <p:nvPr/>
        </p:nvSpPr>
        <p:spPr>
          <a:xfrm>
            <a:off x="2401824" y="2286000"/>
            <a:ext cx="1798320" cy="1188720"/>
          </a:xfrm>
          <a:prstGeom prst="rect">
            <a:avLst/>
          </a:prstGeom>
          <a:noFill/>
        </p:spPr>
        <p:txBody>
          <a:bodyPr wrap="square" anchor="t" lIns="45720" rIns="45720">
            <a:spAutoFit/>
          </a:bodyPr>
          <a:lstStyle/>
          <a:p>
            <a:pPr algn="l">
              <a:spcAft>
                <a:spcPts val="400"/>
              </a:spcAft>
            </a:pPr>
            <a:r>
              <a:rPr sz="1050" b="0" i="0">
                <a:solidFill>
                  <a:srgbClr val="2B2B2B"/>
                </a:solidFill>
                <a:latin typeface="Arial"/>
              </a:rPr>
              <a:t>Kunde, Rechnungs- und Buchungsdatum, Referenz, Bruttobetrag, Währung, Steuer rechnen</a:t>
            </a:r>
          </a:p>
        </p:txBody>
      </p:sp>
      <p:sp>
        <p:nvSpPr>
          <p:cNvPr id="14" name="TextBox 13"/>
          <p:cNvSpPr txBox="1"/>
          <p:nvPr/>
        </p:nvSpPr>
        <p:spPr>
          <a:xfrm>
            <a:off x="4255007" y="2286000"/>
            <a:ext cx="1798320" cy="1188720"/>
          </a:xfrm>
          <a:prstGeom prst="rect">
            <a:avLst/>
          </a:prstGeom>
          <a:noFill/>
        </p:spPr>
        <p:txBody>
          <a:bodyPr wrap="square" anchor="t" lIns="45720" rIns="45720">
            <a:spAutoFit/>
          </a:bodyPr>
          <a:lstStyle/>
          <a:p>
            <a:pPr algn="l">
              <a:spcAft>
                <a:spcPts val="400"/>
              </a:spcAft>
            </a:pPr>
            <a:r>
              <a:rPr sz="1050" b="0" i="0">
                <a:solidFill>
                  <a:srgbClr val="2B2B2B"/>
                </a:solidFill>
                <a:latin typeface="Arial"/>
              </a:rPr>
              <a:t>Basisdatum, Zahlungsbedingung (0001 sofort fällig), Zahlweg optional</a:t>
            </a:r>
          </a:p>
        </p:txBody>
      </p:sp>
      <p:sp>
        <p:nvSpPr>
          <p:cNvPr id="15" name="TextBox 14"/>
          <p:cNvSpPr txBox="1"/>
          <p:nvPr/>
        </p:nvSpPr>
        <p:spPr>
          <a:xfrm>
            <a:off x="6108191" y="2286000"/>
            <a:ext cx="1798320" cy="1188720"/>
          </a:xfrm>
          <a:prstGeom prst="rect">
            <a:avLst/>
          </a:prstGeom>
          <a:noFill/>
        </p:spPr>
        <p:txBody>
          <a:bodyPr wrap="square" anchor="t" lIns="45720" rIns="45720">
            <a:spAutoFit/>
          </a:bodyPr>
          <a:lstStyle/>
          <a:p>
            <a:pPr algn="l">
              <a:spcAft>
                <a:spcPts val="400"/>
              </a:spcAft>
            </a:pPr>
            <a:r>
              <a:rPr sz="1050" b="0" i="0">
                <a:solidFill>
                  <a:srgbClr val="2B2B2B"/>
                </a:solidFill>
                <a:latin typeface="Arial"/>
              </a:rPr>
              <a:t>Sachkonto 41000400 Erlöse, Haben, Betrag, Ausgangssteuer-Kennzeichen</a:t>
            </a:r>
          </a:p>
        </p:txBody>
      </p:sp>
      <p:sp>
        <p:nvSpPr>
          <p:cNvPr id="16" name="TextBox 15"/>
          <p:cNvSpPr txBox="1"/>
          <p:nvPr/>
        </p:nvSpPr>
        <p:spPr>
          <a:xfrm>
            <a:off x="7961375" y="2286000"/>
            <a:ext cx="1798320" cy="1188720"/>
          </a:xfrm>
          <a:prstGeom prst="rect">
            <a:avLst/>
          </a:prstGeom>
          <a:noFill/>
        </p:spPr>
        <p:txBody>
          <a:bodyPr wrap="square" anchor="t" lIns="45720" rIns="45720">
            <a:spAutoFit/>
          </a:bodyPr>
          <a:lstStyle/>
          <a:p>
            <a:pPr algn="l">
              <a:spcAft>
                <a:spcPts val="400"/>
              </a:spcAft>
            </a:pPr>
            <a:r>
              <a:rPr sz="1050" b="0" i="0">
                <a:solidFill>
                  <a:srgbClr val="2B2B2B"/>
                </a:solidFill>
                <a:latin typeface="Arial"/>
              </a:rPr>
              <a:t>Kunde und Profit Center, Derivation, übernehmen</a:t>
            </a:r>
          </a:p>
        </p:txBody>
      </p:sp>
      <p:sp>
        <p:nvSpPr>
          <p:cNvPr id="17" name="TextBox 16"/>
          <p:cNvSpPr txBox="1"/>
          <p:nvPr/>
        </p:nvSpPr>
        <p:spPr>
          <a:xfrm>
            <a:off x="9814560" y="2286000"/>
            <a:ext cx="1798320" cy="1188720"/>
          </a:xfrm>
          <a:prstGeom prst="rect">
            <a:avLst/>
          </a:prstGeom>
          <a:noFill/>
        </p:spPr>
        <p:txBody>
          <a:bodyPr wrap="square" anchor="t" lIns="45720" rIns="45720">
            <a:spAutoFit/>
          </a:bodyPr>
          <a:lstStyle/>
          <a:p>
            <a:pPr algn="l">
              <a:spcAft>
                <a:spcPts val="400"/>
              </a:spcAft>
            </a:pPr>
            <a:r>
              <a:rPr sz="1050" b="0" i="0">
                <a:solidFill>
                  <a:srgbClr val="2B2B2B"/>
                </a:solidFill>
                <a:latin typeface="Arial"/>
              </a:rPr>
              <a:t>Journal Entry mit Belegart DR, Belegnummer in der Erfolgsmeldung</a:t>
            </a:r>
          </a:p>
        </p:txBody>
      </p:sp>
      <p:sp>
        <p:nvSpPr>
          <p:cNvPr id="18" name="TextBox 17"/>
          <p:cNvSpPr txBox="1"/>
          <p:nvPr/>
        </p:nvSpPr>
        <p:spPr>
          <a:xfrm>
            <a:off x="548640" y="3611880"/>
            <a:ext cx="5486400" cy="365760"/>
          </a:xfrm>
          <a:prstGeom prst="rect">
            <a:avLst/>
          </a:prstGeom>
          <a:noFill/>
        </p:spPr>
        <p:txBody>
          <a:bodyPr wrap="square" anchor="t" lIns="45720" rIns="45720">
            <a:spAutoFit/>
          </a:bodyPr>
          <a:lstStyle/>
          <a:p>
            <a:pPr algn="l">
              <a:spcAft>
                <a:spcPts val="400"/>
              </a:spcAft>
            </a:pPr>
            <a:r>
              <a:rPr sz="1400" b="1" i="0">
                <a:solidFill>
                  <a:srgbClr val="1F4E5F"/>
                </a:solidFill>
                <a:latin typeface="Arial"/>
              </a:rPr>
              <a:t>Buchungslogik</a:t>
            </a:r>
          </a:p>
        </p:txBody>
      </p:sp>
      <p:graphicFrame>
        <p:nvGraphicFramePr>
          <p:cNvPr id="19" name="Table 18"/>
          <p:cNvGraphicFramePr>
            <a:graphicFrameLocks noGrp="1"/>
          </p:cNvGraphicFramePr>
          <p:nvPr/>
        </p:nvGraphicFramePr>
        <p:xfrm>
          <a:off x="548640" y="4023360"/>
          <a:ext cx="5486400" cy="1536192"/>
        </p:xfrm>
        <a:graphic>
          <a:graphicData uri="http://schemas.openxmlformats.org/drawingml/2006/table">
            <a:tbl>
              <a:tblPr firstRow="1" bandRow="0">
                <a:tableStyleId>{5940675A-B579-460E-94D1-54222C63F5DA}</a:tableStyleId>
              </a:tblPr>
              <a:tblGrid>
                <a:gridCol w="2103120"/>
                <a:gridCol w="777240"/>
                <a:gridCol w="777240"/>
                <a:gridCol w="1828800"/>
              </a:tblGrid>
              <a:tr h="384048">
                <a:tc>
                  <a:txBody>
                    <a:bodyPr wrap="square"/>
                    <a:lstStyle/>
                    <a:p>
                      <a:pPr>
                        <a:spcAft>
                          <a:spcPts val="100"/>
                        </a:spcAft>
                      </a:pPr>
                      <a:r>
                        <a:rPr sz="1150" b="1" i="0">
                          <a:solidFill>
                            <a:srgbClr val="FFFFFF"/>
                          </a:solidFill>
                          <a:latin typeface="Arial"/>
                        </a:rPr>
                        <a:t>Zeile</a:t>
                      </a:r>
                    </a:p>
                  </a:txBody>
                  <a:tcPr marL="64008" marR="64008" marT="36576" marB="36576" anchor="ctr">
                    <a:solidFill>
                      <a:srgbClr val="1F4E5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150" b="1" i="0">
                          <a:solidFill>
                            <a:srgbClr val="FFFFFF"/>
                          </a:solidFill>
                          <a:latin typeface="Arial"/>
                        </a:rPr>
                        <a:t>Soll</a:t>
                      </a:r>
                    </a:p>
                  </a:txBody>
                  <a:tcPr marL="64008" marR="64008" marT="36576" marB="36576" anchor="ctr">
                    <a:solidFill>
                      <a:srgbClr val="1F4E5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150" b="1" i="0">
                          <a:solidFill>
                            <a:srgbClr val="FFFFFF"/>
                          </a:solidFill>
                          <a:latin typeface="Arial"/>
                        </a:rPr>
                        <a:t>Haben</a:t>
                      </a:r>
                    </a:p>
                  </a:txBody>
                  <a:tcPr marL="64008" marR="64008" marT="36576" marB="36576" anchor="ctr">
                    <a:solidFill>
                      <a:srgbClr val="1F4E5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150" b="1" i="0">
                          <a:solidFill>
                            <a:srgbClr val="FFFFFF"/>
                          </a:solidFill>
                          <a:latin typeface="Arial"/>
                        </a:rPr>
                        <a:t>Herkunft</a:t>
                      </a:r>
                    </a:p>
                  </a:txBody>
                  <a:tcPr marL="64008" marR="64008" marT="36576" marB="36576" anchor="ctr">
                    <a:solidFill>
                      <a:srgbClr val="1F4E5F"/>
                    </a:solidFill>
                    <a:lnL w="6350">
                      <a:solidFill>
                        <a:srgbClr val="D0D7DA"/>
                      </a:solidFill>
                    </a:lnL>
                    <a:lnR w="6350">
                      <a:solidFill>
                        <a:srgbClr val="D0D7DA"/>
                      </a:solidFill>
                    </a:lnR>
                    <a:lnT w="6350">
                      <a:solidFill>
                        <a:srgbClr val="D0D7DA"/>
                      </a:solidFill>
                    </a:lnT>
                    <a:lnB w="6350">
                      <a:solidFill>
                        <a:srgbClr val="D0D7DA"/>
                      </a:solidFill>
                    </a:lnB>
                  </a:tcPr>
                </a:tc>
              </a:tr>
              <a:tr h="384048">
                <a:tc>
                  <a:txBody>
                    <a:bodyPr wrap="square"/>
                    <a:lstStyle/>
                    <a:p>
                      <a:pPr>
                        <a:spcAft>
                          <a:spcPts val="100"/>
                        </a:spcAft>
                      </a:pPr>
                      <a:r>
                        <a:rPr sz="1100" b="0" i="0">
                          <a:solidFill>
                            <a:srgbClr val="2B2B2B"/>
                          </a:solidFill>
                          <a:latin typeface="Arial"/>
                        </a:rPr>
                        <a:t>Kunde (Abstimmkonto Forderungen)</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100" b="0" i="0">
                          <a:solidFill>
                            <a:srgbClr val="2B2B2B"/>
                          </a:solidFill>
                          <a:latin typeface="Arial"/>
                        </a:rPr>
                        <a:t>Brutto</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100" b="0" i="0">
                          <a:solidFill>
                            <a:srgbClr val="2B2B2B"/>
                          </a:solidFill>
                          <a:latin typeface="Arial"/>
                        </a:rPr>
                        <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100" b="0" i="0">
                          <a:solidFill>
                            <a:srgbClr val="2B2B2B"/>
                          </a:solidFill>
                          <a:latin typeface="Arial"/>
                        </a:rPr>
                        <a:t>Kundenstamm</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r>
              <a:tr h="384048">
                <a:tc>
                  <a:txBody>
                    <a:bodyPr wrap="square"/>
                    <a:lstStyle/>
                    <a:p>
                      <a:pPr>
                        <a:spcAft>
                          <a:spcPts val="100"/>
                        </a:spcAft>
                      </a:pPr>
                      <a:r>
                        <a:rPr sz="1100" b="0" i="0">
                          <a:solidFill>
                            <a:srgbClr val="2B2B2B"/>
                          </a:solidFill>
                          <a:latin typeface="Arial"/>
                        </a:rPr>
                        <a:t>Erlöse 41000400</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100" b="0" i="0">
                          <a:solidFill>
                            <a:srgbClr val="2B2B2B"/>
                          </a:solidFill>
                          <a:latin typeface="Arial"/>
                        </a:rPr>
                        <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100" b="0" i="0">
                          <a:solidFill>
                            <a:srgbClr val="2B2B2B"/>
                          </a:solidFill>
                          <a:latin typeface="Arial"/>
                        </a:rPr>
                        <a:t>Netto</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100" b="0" i="0">
                          <a:solidFill>
                            <a:srgbClr val="2B2B2B"/>
                          </a:solidFill>
                          <a:latin typeface="Arial"/>
                        </a:rPr>
                        <a:t>Eingabe, Ergebnisobjekt</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r>
              <a:tr h="384048">
                <a:tc>
                  <a:txBody>
                    <a:bodyPr wrap="square"/>
                    <a:lstStyle/>
                    <a:p>
                      <a:pPr>
                        <a:spcAft>
                          <a:spcPts val="100"/>
                        </a:spcAft>
                      </a:pPr>
                      <a:r>
                        <a:rPr sz="1100" b="0" i="0">
                          <a:solidFill>
                            <a:srgbClr val="2B2B2B"/>
                          </a:solidFill>
                          <a:latin typeface="Arial"/>
                        </a:rPr>
                        <a:t>Ausgangssteuer</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100" b="0" i="0">
                          <a:solidFill>
                            <a:srgbClr val="2B2B2B"/>
                          </a:solidFill>
                          <a:latin typeface="Arial"/>
                        </a:rPr>
                        <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100" b="0" i="0">
                          <a:solidFill>
                            <a:srgbClr val="2B2B2B"/>
                          </a:solidFill>
                          <a:latin typeface="Arial"/>
                        </a:rPr>
                        <a:t>Steuer</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100" b="0" i="0">
                          <a:solidFill>
                            <a:srgbClr val="2B2B2B"/>
                          </a:solidFill>
                          <a:latin typeface="Arial"/>
                        </a:rPr>
                        <a:t>Steuerkennzeichen</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r>
            </a:tbl>
          </a:graphicData>
        </a:graphic>
      </p:graphicFrame>
      <p:sp>
        <p:nvSpPr>
          <p:cNvPr id="20" name="Rounded Rectangle 19"/>
          <p:cNvSpPr/>
          <p:nvPr/>
        </p:nvSpPr>
        <p:spPr>
          <a:xfrm>
            <a:off x="6309360" y="3611880"/>
            <a:ext cx="5303520" cy="2560320"/>
          </a:xfrm>
          <a:prstGeom prst="roundRect">
            <a:avLst>
              <a:gd name="adj" fmla="val 8000"/>
            </a:avLst>
          </a:prstGeom>
          <a:solidFill>
            <a:srgbClr val="E9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1" name="TextBox 20"/>
          <p:cNvSpPr txBox="1"/>
          <p:nvPr/>
        </p:nvSpPr>
        <p:spPr>
          <a:xfrm>
            <a:off x="6473952" y="3739896"/>
            <a:ext cx="5001768" cy="365760"/>
          </a:xfrm>
          <a:prstGeom prst="rect">
            <a:avLst/>
          </a:prstGeom>
          <a:noFill/>
        </p:spPr>
        <p:txBody>
          <a:bodyPr wrap="square" anchor="ctr" lIns="45720" rIns="45720">
            <a:spAutoFit/>
          </a:bodyPr>
          <a:lstStyle/>
          <a:p>
            <a:pPr algn="l">
              <a:spcAft>
                <a:spcPts val="400"/>
              </a:spcAft>
            </a:pPr>
            <a:r>
              <a:rPr sz="1300" b="1" i="0">
                <a:solidFill>
                  <a:srgbClr val="1F4E5F"/>
                </a:solidFill>
                <a:latin typeface="Arial"/>
              </a:rPr>
              <a:t>Varianten, nach denen gefragt wird</a:t>
            </a:r>
          </a:p>
        </p:txBody>
      </p:sp>
      <p:sp>
        <p:nvSpPr>
          <p:cNvPr id="22" name="TextBox 21"/>
          <p:cNvSpPr txBox="1"/>
          <p:nvPr/>
        </p:nvSpPr>
        <p:spPr>
          <a:xfrm>
            <a:off x="6473952" y="4160520"/>
            <a:ext cx="4974336" cy="1920239"/>
          </a:xfrm>
          <a:prstGeom prst="rect">
            <a:avLst/>
          </a:prstGeom>
          <a:noFill/>
        </p:spPr>
        <p:txBody>
          <a:bodyPr wrap="square" anchor="t" lIns="45720" rIns="45720">
            <a:spAutoFit/>
          </a:bodyPr>
          <a:lstStyle/>
          <a:p>
            <a:pPr algn="l" marL="164592" indent="-164592">
              <a:spcAft>
                <a:spcPts val="300"/>
              </a:spcAft>
              <a:buChar char="•"/>
            </a:pPr>
            <a:r>
              <a:rPr sz="1100" b="0" i="0">
                <a:solidFill>
                  <a:srgbClr val="2B2B2B"/>
                </a:solidFill>
                <a:latin typeface="Arial"/>
              </a:rPr>
              <a:t>Vorerfassen (Park) und später buchen; kein Genehmigungsworkflow für Kundenrechnungen, Vier-Augen-Prinzip organisatorisch</a:t>
            </a:r>
          </a:p>
          <a:p>
            <a:pPr algn="l" marL="164592" indent="-164592">
              <a:spcAft>
                <a:spcPts val="300"/>
              </a:spcAft>
              <a:buChar char="•"/>
            </a:pPr>
            <a:r>
              <a:rPr sz="1100" b="0" i="0">
                <a:solidFill>
                  <a:srgbClr val="2B2B2B"/>
                </a:solidFill>
                <a:latin typeface="Arial"/>
              </a:rPr>
              <a:t>Fremdwährung, abweichender Regulierer oder Rechnungsempfänger</a:t>
            </a:r>
          </a:p>
          <a:p>
            <a:pPr algn="l" marL="164592" indent="-164592">
              <a:spcAft>
                <a:spcPts val="300"/>
              </a:spcAft>
              <a:buChar char="•"/>
            </a:pPr>
            <a:r>
              <a:rPr sz="1100" b="0" i="0">
                <a:solidFill>
                  <a:srgbClr val="2B2B2B"/>
                </a:solidFill>
                <a:latin typeface="Arial"/>
              </a:rPr>
              <a:t>Anzahlungsanforderung (F1689) statt Rechnung, Verrechnung mit Schlussrechnung</a:t>
            </a:r>
          </a:p>
          <a:p>
            <a:pPr algn="l" marL="164592" indent="-164592">
              <a:spcAft>
                <a:spcPts val="300"/>
              </a:spcAft>
              <a:buChar char="•"/>
            </a:pPr>
            <a:r>
              <a:rPr sz="1100" b="0" i="0">
                <a:solidFill>
                  <a:srgbClr val="2B2B2B"/>
                </a:solidFill>
                <a:latin typeface="Arial"/>
              </a:rPr>
              <a:t>Skonto über Zahlungsbedingung, Teilzahlung und Restposten erst beim Zahlungseingang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11064240" cy="274320"/>
          </a:xfrm>
          <a:prstGeom prst="rect">
            <a:avLst/>
          </a:prstGeom>
          <a:noFill/>
        </p:spPr>
        <p:txBody>
          <a:bodyPr wrap="square" anchor="t" lIns="45720" rIns="45720">
            <a:spAutoFit/>
          </a:bodyPr>
          <a:lstStyle/>
          <a:p>
            <a:pPr algn="l">
              <a:spcAft>
                <a:spcPts val="400"/>
              </a:spcAft>
            </a:pPr>
            <a:r>
              <a:rPr sz="1200" b="1" i="0">
                <a:solidFill>
                  <a:srgbClr val="6B6B6B"/>
                </a:solidFill>
                <a:latin typeface="Arial"/>
              </a:rPr>
              <a:t>Thema 2 · Manuelle Rechnung · Praxis</a:t>
            </a:r>
          </a:p>
        </p:txBody>
      </p:sp>
      <p:sp>
        <p:nvSpPr>
          <p:cNvPr id="3" name="TextBox 2"/>
          <p:cNvSpPr txBox="1"/>
          <p:nvPr/>
        </p:nvSpPr>
        <p:spPr>
          <a:xfrm>
            <a:off x="548640" y="502920"/>
            <a:ext cx="11064240" cy="731520"/>
          </a:xfrm>
          <a:prstGeom prst="rect">
            <a:avLst/>
          </a:prstGeom>
          <a:noFill/>
        </p:spPr>
        <p:txBody>
          <a:bodyPr wrap="square" anchor="ctr" lIns="45720" rIns="45720">
            <a:spAutoFit/>
          </a:bodyPr>
          <a:lstStyle/>
          <a:p>
            <a:pPr algn="l">
              <a:spcAft>
                <a:spcPts val="400"/>
              </a:spcAft>
            </a:pPr>
            <a:r>
              <a:rPr sz="2800" b="1" i="0">
                <a:solidFill>
                  <a:srgbClr val="2B2B2B"/>
                </a:solidFill>
                <a:latin typeface="Arial"/>
              </a:rPr>
              <a:t>Rechnungsausgabe aus FI und die Apps nach der Buchung</a:t>
            </a:r>
          </a:p>
        </p:txBody>
      </p:sp>
      <p:sp>
        <p:nvSpPr>
          <p:cNvPr id="4" name="TextBox 3"/>
          <p:cNvSpPr txBox="1"/>
          <p:nvPr/>
        </p:nvSpPr>
        <p:spPr>
          <a:xfrm>
            <a:off x="548640" y="6446520"/>
            <a:ext cx="8229600" cy="274320"/>
          </a:xfrm>
          <a:prstGeom prst="rect">
            <a:avLst/>
          </a:prstGeom>
          <a:noFill/>
        </p:spPr>
        <p:txBody>
          <a:bodyPr wrap="square" anchor="t" lIns="45720" rIns="45720">
            <a:spAutoFit/>
          </a:bodyPr>
          <a:lstStyle/>
          <a:p>
            <a:pPr algn="l">
              <a:spcAft>
                <a:spcPts val="400"/>
              </a:spcAft>
            </a:pPr>
            <a:r>
              <a:rPr sz="900" b="0" i="0">
                <a:solidFill>
                  <a:srgbClr val="6B6B6B"/>
                </a:solidFill>
                <a:latin typeface="Arial"/>
              </a:rPr>
              <a:t>F2S-Workshop 3 · Debitorenbuchhaltung · SAP S/4HANA Cloud Public Edition 2608</a:t>
            </a:r>
          </a:p>
        </p:txBody>
      </p:sp>
      <p:sp>
        <p:nvSpPr>
          <p:cNvPr id="5" name="TextBox 4"/>
          <p:cNvSpPr txBox="1"/>
          <p:nvPr/>
        </p:nvSpPr>
        <p:spPr>
          <a:xfrm>
            <a:off x="10972800" y="6446520"/>
            <a:ext cx="685800" cy="274320"/>
          </a:xfrm>
          <a:prstGeom prst="rect">
            <a:avLst/>
          </a:prstGeom>
          <a:noFill/>
        </p:spPr>
        <p:txBody>
          <a:bodyPr wrap="square" anchor="t" lIns="45720" rIns="45720">
            <a:spAutoFit/>
          </a:bodyPr>
          <a:lstStyle/>
          <a:p>
            <a:pPr algn="r">
              <a:spcAft>
                <a:spcPts val="400"/>
              </a:spcAft>
            </a:pPr>
            <a:r>
              <a:rPr sz="900" b="0" i="0">
                <a:solidFill>
                  <a:srgbClr val="6B6B6B"/>
                </a:solidFill>
                <a:latin typeface="Arial"/>
              </a:rPr>
              <a:t>12</a:t>
            </a:r>
          </a:p>
        </p:txBody>
      </p:sp>
      <p:sp>
        <p:nvSpPr>
          <p:cNvPr id="6" name="TextBox 5"/>
          <p:cNvSpPr txBox="1"/>
          <p:nvPr/>
        </p:nvSpPr>
        <p:spPr>
          <a:xfrm>
            <a:off x="548640" y="1417320"/>
            <a:ext cx="11064240" cy="365760"/>
          </a:xfrm>
          <a:prstGeom prst="rect">
            <a:avLst/>
          </a:prstGeom>
          <a:noFill/>
        </p:spPr>
        <p:txBody>
          <a:bodyPr wrap="square" anchor="t" lIns="45720" rIns="45720">
            <a:spAutoFit/>
          </a:bodyPr>
          <a:lstStyle/>
          <a:p>
            <a:pPr algn="l">
              <a:spcAft>
                <a:spcPts val="400"/>
              </a:spcAft>
            </a:pPr>
            <a:r>
              <a:rPr sz="1400" b="1" i="0">
                <a:solidFill>
                  <a:srgbClr val="1F4E5F"/>
                </a:solidFill>
                <a:latin typeface="Arial"/>
              </a:rPr>
              <a:t>Korrespondenz SAP21 (FI Customer Invoice): Ausgabesteuerung über BRF+ für das Objekt „Accounting Document“</a:t>
            </a:r>
          </a:p>
        </p:txBody>
      </p:sp>
      <p:sp>
        <p:nvSpPr>
          <p:cNvPr id="7" name="Pentagon 6"/>
          <p:cNvSpPr/>
          <p:nvPr/>
        </p:nvSpPr>
        <p:spPr>
          <a:xfrm>
            <a:off x="548640" y="1874519"/>
            <a:ext cx="1798320" cy="731520"/>
          </a:xfrm>
          <a:prstGeom prst="homePlate">
            <a:avLst>
              <a:gd name="adj" fmla="val 25000"/>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200"/>
              </a:spcAft>
            </a:pPr>
            <a:r>
              <a:rPr sz="1000" b="1" i="0">
                <a:solidFill>
                  <a:srgbClr val="FFFFFF"/>
                </a:solidFill>
                <a:latin typeface="Arial"/>
              </a:rPr>
              <a:t>Output Type INVOICE</a:t>
            </a:r>
          </a:p>
        </p:txBody>
      </p:sp>
      <p:sp>
        <p:nvSpPr>
          <p:cNvPr id="8" name="Chevron 7"/>
          <p:cNvSpPr/>
          <p:nvPr/>
        </p:nvSpPr>
        <p:spPr>
          <a:xfrm>
            <a:off x="2401824" y="1874519"/>
            <a:ext cx="1798320" cy="731520"/>
          </a:xfrm>
          <a:prstGeom prst="chevron">
            <a:avLst>
              <a:gd name="adj" fmla="val 30000"/>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200"/>
              </a:spcAft>
            </a:pPr>
            <a:r>
              <a:rPr sz="1000" b="1" i="0">
                <a:solidFill>
                  <a:srgbClr val="FFFFFF"/>
                </a:solidFill>
                <a:latin typeface="Arial"/>
              </a:rPr>
              <a:t>Receiver Rolle BP</a:t>
            </a:r>
          </a:p>
        </p:txBody>
      </p:sp>
      <p:sp>
        <p:nvSpPr>
          <p:cNvPr id="9" name="Chevron 8"/>
          <p:cNvSpPr/>
          <p:nvPr/>
        </p:nvSpPr>
        <p:spPr>
          <a:xfrm>
            <a:off x="4255007" y="1874519"/>
            <a:ext cx="1798320" cy="731520"/>
          </a:xfrm>
          <a:prstGeom prst="chevron">
            <a:avLst>
              <a:gd name="adj" fmla="val 30000"/>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200"/>
              </a:spcAft>
            </a:pPr>
            <a:r>
              <a:rPr sz="1000" b="1" i="0">
                <a:solidFill>
                  <a:srgbClr val="FFFFFF"/>
                </a:solidFill>
                <a:latin typeface="Arial"/>
              </a:rPr>
              <a:t>Channel PRINT / EMAIL</a:t>
            </a:r>
          </a:p>
        </p:txBody>
      </p:sp>
      <p:sp>
        <p:nvSpPr>
          <p:cNvPr id="10" name="Chevron 9"/>
          <p:cNvSpPr/>
          <p:nvPr/>
        </p:nvSpPr>
        <p:spPr>
          <a:xfrm>
            <a:off x="6108191" y="1874519"/>
            <a:ext cx="1798320" cy="731520"/>
          </a:xfrm>
          <a:prstGeom prst="chevron">
            <a:avLst>
              <a:gd name="adj" fmla="val 30000"/>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200"/>
              </a:spcAft>
            </a:pPr>
            <a:r>
              <a:rPr sz="1000" b="1" i="0">
                <a:solidFill>
                  <a:srgbClr val="FFFFFF"/>
                </a:solidFill>
                <a:latin typeface="Arial"/>
              </a:rPr>
              <a:t>Form FIN_FO_CORR_ FICUS_INV</a:t>
            </a:r>
          </a:p>
        </p:txBody>
      </p:sp>
      <p:sp>
        <p:nvSpPr>
          <p:cNvPr id="11" name="Chevron 10"/>
          <p:cNvSpPr/>
          <p:nvPr/>
        </p:nvSpPr>
        <p:spPr>
          <a:xfrm>
            <a:off x="7961375" y="1874519"/>
            <a:ext cx="1798320" cy="731520"/>
          </a:xfrm>
          <a:prstGeom prst="chevron">
            <a:avLst>
              <a:gd name="adj" fmla="val 30000"/>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200"/>
              </a:spcAft>
            </a:pPr>
            <a:r>
              <a:rPr sz="1000" b="1" i="0">
                <a:solidFill>
                  <a:srgbClr val="FFFFFF"/>
                </a:solidFill>
                <a:latin typeface="Arial"/>
              </a:rPr>
              <a:t>E-Mail FIN_CUSINV_ EMAIL_TEMPL</a:t>
            </a:r>
          </a:p>
        </p:txBody>
      </p:sp>
      <p:sp>
        <p:nvSpPr>
          <p:cNvPr id="12" name="Chevron 11"/>
          <p:cNvSpPr/>
          <p:nvPr/>
        </p:nvSpPr>
        <p:spPr>
          <a:xfrm>
            <a:off x="9814560" y="1874519"/>
            <a:ext cx="1798320" cy="731520"/>
          </a:xfrm>
          <a:prstGeom prst="chevron">
            <a:avLst>
              <a:gd name="adj" fmla="val 30000"/>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200"/>
              </a:spcAft>
            </a:pPr>
            <a:r>
              <a:rPr sz="1000" b="1" i="0">
                <a:solidFill>
                  <a:srgbClr val="FFFFFF"/>
                </a:solidFill>
                <a:latin typeface="Arial"/>
              </a:rPr>
              <a:t>Output Relevance, Drucker</a:t>
            </a:r>
          </a:p>
        </p:txBody>
      </p:sp>
      <p:sp>
        <p:nvSpPr>
          <p:cNvPr id="13" name="TextBox 12"/>
          <p:cNvSpPr txBox="1"/>
          <p:nvPr/>
        </p:nvSpPr>
        <p:spPr>
          <a:xfrm>
            <a:off x="548640" y="2697480"/>
            <a:ext cx="11064240" cy="640080"/>
          </a:xfrm>
          <a:prstGeom prst="rect">
            <a:avLst/>
          </a:prstGeom>
          <a:noFill/>
        </p:spPr>
        <p:txBody>
          <a:bodyPr wrap="square" anchor="t" lIns="45720" rIns="45720">
            <a:spAutoFit/>
          </a:bodyPr>
          <a:lstStyle/>
          <a:p>
            <a:pPr algn="l">
              <a:spcAft>
                <a:spcPts val="400"/>
              </a:spcAft>
            </a:pPr>
            <a:r>
              <a:rPr sz="1150" b="0" i="0">
                <a:solidFill>
                  <a:srgbClr val="2B2B2B"/>
                </a:solidFill>
                <a:latin typeface="Arial"/>
              </a:rPr>
              <a:t>Auslösen über Create Correspondence (F0744A) oder direkt aus Manage Journal Entries (F0717A): Vorschau, Druck, E-Mail. Nachweis in Display Correspondence History (F2934). Weitere Korrespondenzarten: SAP06 Kontoauszug, SAP08 Offene-Posten-Liste, SAP09 Interner Beleg, SAP13 Kundenkontoauszug.</a:t>
            </a:r>
          </a:p>
        </p:txBody>
      </p:sp>
      <p:graphicFrame>
        <p:nvGraphicFramePr>
          <p:cNvPr id="14" name="Table 13"/>
          <p:cNvGraphicFramePr>
            <a:graphicFrameLocks noGrp="1"/>
          </p:cNvGraphicFramePr>
          <p:nvPr/>
        </p:nvGraphicFramePr>
        <p:xfrm>
          <a:off x="548640" y="3520440"/>
          <a:ext cx="11064240" cy="2560320"/>
        </p:xfrm>
        <a:graphic>
          <a:graphicData uri="http://schemas.openxmlformats.org/drawingml/2006/table">
            <a:tbl>
              <a:tblPr firstRow="1" bandRow="0">
                <a:tableStyleId>{5940675A-B579-460E-94D1-54222C63F5DA}</a:tableStyleId>
              </a:tblPr>
              <a:tblGrid>
                <a:gridCol w="3657600"/>
                <a:gridCol w="2194560"/>
                <a:gridCol w="5212080"/>
              </a:tblGrid>
              <a:tr h="365760">
                <a:tc>
                  <a:txBody>
                    <a:bodyPr wrap="square"/>
                    <a:lstStyle/>
                    <a:p>
                      <a:pPr>
                        <a:spcAft>
                          <a:spcPts val="100"/>
                        </a:spcAft>
                      </a:pPr>
                      <a:r>
                        <a:rPr sz="1150" b="1" i="0">
                          <a:solidFill>
                            <a:srgbClr val="FFFFFF"/>
                          </a:solidFill>
                          <a:latin typeface="Arial"/>
                        </a:rPr>
                        <a:t>App</a:t>
                      </a:r>
                    </a:p>
                  </a:txBody>
                  <a:tcPr marL="64008" marR="64008" marT="36576" marB="36576" anchor="ctr">
                    <a:solidFill>
                      <a:srgbClr val="1F4E5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150" b="1" i="0">
                          <a:solidFill>
                            <a:srgbClr val="FFFFFF"/>
                          </a:solidFill>
                          <a:latin typeface="Arial"/>
                        </a:rPr>
                        <a:t>Rolle</a:t>
                      </a:r>
                    </a:p>
                  </a:txBody>
                  <a:tcPr marL="64008" marR="64008" marT="36576" marB="36576" anchor="ctr">
                    <a:solidFill>
                      <a:srgbClr val="1F4E5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150" b="1" i="0">
                          <a:solidFill>
                            <a:srgbClr val="FFFFFF"/>
                          </a:solidFill>
                          <a:latin typeface="Arial"/>
                        </a:rPr>
                        <a:t>Wofür</a:t>
                      </a:r>
                    </a:p>
                  </a:txBody>
                  <a:tcPr marL="64008" marR="64008" marT="36576" marB="36576" anchor="ctr">
                    <a:solidFill>
                      <a:srgbClr val="1F4E5F"/>
                    </a:solidFill>
                    <a:lnL w="6350">
                      <a:solidFill>
                        <a:srgbClr val="D0D7DA"/>
                      </a:solidFill>
                    </a:lnL>
                    <a:lnR w="6350">
                      <a:solidFill>
                        <a:srgbClr val="D0D7DA"/>
                      </a:solidFill>
                    </a:lnR>
                    <a:lnT w="6350">
                      <a:solidFill>
                        <a:srgbClr val="D0D7DA"/>
                      </a:solidFill>
                    </a:lnT>
                    <a:lnB w="6350">
                      <a:solidFill>
                        <a:srgbClr val="D0D7DA"/>
                      </a:solidFill>
                    </a:lnB>
                  </a:tcPr>
                </a:tc>
              </a:tr>
              <a:tr h="365760">
                <a:tc>
                  <a:txBody>
                    <a:bodyPr wrap="square"/>
                    <a:lstStyle/>
                    <a:p>
                      <a:pPr>
                        <a:spcAft>
                          <a:spcPts val="100"/>
                        </a:spcAft>
                      </a:pPr>
                      <a:r>
                        <a:rPr sz="1050" b="0" i="0">
                          <a:solidFill>
                            <a:srgbClr val="2B2B2B"/>
                          </a:solidFill>
                          <a:latin typeface="Arial"/>
                        </a:rPr>
                        <a:t>Manage Customer Line Items (F0711)</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AR Accountant</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Offene, ausgeglichene, alle Posten; Fälligkeit, Mahndaten, Zahlsperre; Edit Line Items</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r>
              <a:tr h="365760">
                <a:tc>
                  <a:txBody>
                    <a:bodyPr wrap="square"/>
                    <a:lstStyle/>
                    <a:p>
                      <a:pPr>
                        <a:spcAft>
                          <a:spcPts val="100"/>
                        </a:spcAft>
                      </a:pPr>
                      <a:r>
                        <a:rPr sz="1050" b="0" i="0">
                          <a:solidFill>
                            <a:srgbClr val="2B2B2B"/>
                          </a:solidFill>
                          <a:latin typeface="Arial"/>
                        </a:rPr>
                        <a:t>Display Customer Balances (F0703A)</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AR Accountant</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Salden je Periode, Sonderhauptbuch, Vergleich</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r>
              <a:tr h="365760">
                <a:tc>
                  <a:txBody>
                    <a:bodyPr wrap="square"/>
                    <a:lstStyle/>
                    <a:p>
                      <a:pPr>
                        <a:spcAft>
                          <a:spcPts val="100"/>
                        </a:spcAft>
                      </a:pPr>
                      <a:r>
                        <a:rPr sz="1050" b="0" i="0">
                          <a:solidFill>
                            <a:srgbClr val="2B2B2B"/>
                          </a:solidFill>
                          <a:latin typeface="Arial"/>
                        </a:rPr>
                        <a:t>Display Process Flow – AR (F2692)</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AR Accountant</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Kette Auftrag, Lieferung, Faktura, Journal Entry, Ausgleich</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r>
              <a:tr h="365760">
                <a:tc>
                  <a:txBody>
                    <a:bodyPr wrap="square"/>
                    <a:lstStyle/>
                    <a:p>
                      <a:pPr>
                        <a:spcAft>
                          <a:spcPts val="100"/>
                        </a:spcAft>
                      </a:pPr>
                      <a:r>
                        <a:rPr sz="1050" b="0" i="0">
                          <a:solidFill>
                            <a:srgbClr val="2B2B2B"/>
                          </a:solidFill>
                          <a:latin typeface="Arial"/>
                        </a:rPr>
                        <a:t>Manage Journal Entries (F0717A)</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GL Accountant</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Beleg anzeigen, Korrespondenz, Storno mit Stornogrund</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r>
              <a:tr h="365760">
                <a:tc>
                  <a:txBody>
                    <a:bodyPr wrap="square"/>
                    <a:lstStyle/>
                    <a:p>
                      <a:pPr>
                        <a:spcAft>
                          <a:spcPts val="100"/>
                        </a:spcAft>
                      </a:pPr>
                      <a:r>
                        <a:rPr sz="1050" b="0" i="0">
                          <a:solidFill>
                            <a:srgbClr val="2B2B2B"/>
                          </a:solidFill>
                          <a:latin typeface="Arial"/>
                        </a:rPr>
                        <a:t>Reset Cleared Items (F2223)</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AR Accountant</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Falschen Ausgleich zurücknehmen, Reset and Reverse</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r>
              <a:tr h="365760">
                <a:tc>
                  <a:txBody>
                    <a:bodyPr wrap="square"/>
                    <a:lstStyle/>
                    <a:p>
                      <a:pPr>
                        <a:spcAft>
                          <a:spcPts val="100"/>
                        </a:spcAft>
                      </a:pPr>
                      <a:r>
                        <a:rPr sz="1050" b="0" i="0">
                          <a:solidFill>
                            <a:srgbClr val="2B2B2B"/>
                          </a:solidFill>
                          <a:latin typeface="Arial"/>
                        </a:rPr>
                        <a:t>Display Item Change Log – Customer (F7796)</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AR Manager</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Wer hat wann welchen Posten geändert</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11064240" cy="274320"/>
          </a:xfrm>
          <a:prstGeom prst="rect">
            <a:avLst/>
          </a:prstGeom>
          <a:noFill/>
        </p:spPr>
        <p:txBody>
          <a:bodyPr wrap="square" anchor="t" lIns="45720" rIns="45720">
            <a:spAutoFit/>
          </a:bodyPr>
          <a:lstStyle/>
          <a:p>
            <a:pPr algn="l">
              <a:spcAft>
                <a:spcPts val="400"/>
              </a:spcAft>
            </a:pPr>
            <a:r>
              <a:rPr sz="1200" b="1" i="0">
                <a:solidFill>
                  <a:srgbClr val="6B6B6B"/>
                </a:solidFill>
                <a:latin typeface="Arial"/>
              </a:rPr>
              <a:t>Thema 2 · Manuelle Rechnung · Praxis</a:t>
            </a:r>
          </a:p>
        </p:txBody>
      </p:sp>
      <p:sp>
        <p:nvSpPr>
          <p:cNvPr id="3" name="TextBox 2"/>
          <p:cNvSpPr txBox="1"/>
          <p:nvPr/>
        </p:nvSpPr>
        <p:spPr>
          <a:xfrm>
            <a:off x="548640" y="502920"/>
            <a:ext cx="11064240" cy="731520"/>
          </a:xfrm>
          <a:prstGeom prst="rect">
            <a:avLst/>
          </a:prstGeom>
          <a:noFill/>
        </p:spPr>
        <p:txBody>
          <a:bodyPr wrap="square" anchor="ctr" lIns="45720" rIns="45720">
            <a:spAutoFit/>
          </a:bodyPr>
          <a:lstStyle/>
          <a:p>
            <a:pPr algn="l">
              <a:spcAft>
                <a:spcPts val="400"/>
              </a:spcAft>
            </a:pPr>
            <a:r>
              <a:rPr sz="2800" b="1" i="0">
                <a:solidFill>
                  <a:srgbClr val="2B2B2B"/>
                </a:solidFill>
                <a:latin typeface="Arial"/>
              </a:rPr>
              <a:t>Demo-Ablauf und Fragen an die Fachbereiche</a:t>
            </a:r>
          </a:p>
        </p:txBody>
      </p:sp>
      <p:sp>
        <p:nvSpPr>
          <p:cNvPr id="4" name="TextBox 3"/>
          <p:cNvSpPr txBox="1"/>
          <p:nvPr/>
        </p:nvSpPr>
        <p:spPr>
          <a:xfrm>
            <a:off x="548640" y="6446520"/>
            <a:ext cx="8229600" cy="274320"/>
          </a:xfrm>
          <a:prstGeom prst="rect">
            <a:avLst/>
          </a:prstGeom>
          <a:noFill/>
        </p:spPr>
        <p:txBody>
          <a:bodyPr wrap="square" anchor="t" lIns="45720" rIns="45720">
            <a:spAutoFit/>
          </a:bodyPr>
          <a:lstStyle/>
          <a:p>
            <a:pPr algn="l">
              <a:spcAft>
                <a:spcPts val="400"/>
              </a:spcAft>
            </a:pPr>
            <a:r>
              <a:rPr sz="900" b="0" i="0">
                <a:solidFill>
                  <a:srgbClr val="6B6B6B"/>
                </a:solidFill>
                <a:latin typeface="Arial"/>
              </a:rPr>
              <a:t>F2S-Workshop 3 · Debitorenbuchhaltung · SAP S/4HANA Cloud Public Edition 2608</a:t>
            </a:r>
          </a:p>
        </p:txBody>
      </p:sp>
      <p:sp>
        <p:nvSpPr>
          <p:cNvPr id="5" name="TextBox 4"/>
          <p:cNvSpPr txBox="1"/>
          <p:nvPr/>
        </p:nvSpPr>
        <p:spPr>
          <a:xfrm>
            <a:off x="10972800" y="6446520"/>
            <a:ext cx="685800" cy="274320"/>
          </a:xfrm>
          <a:prstGeom prst="rect">
            <a:avLst/>
          </a:prstGeom>
          <a:noFill/>
        </p:spPr>
        <p:txBody>
          <a:bodyPr wrap="square" anchor="t" lIns="45720" rIns="45720">
            <a:spAutoFit/>
          </a:bodyPr>
          <a:lstStyle/>
          <a:p>
            <a:pPr algn="r">
              <a:spcAft>
                <a:spcPts val="400"/>
              </a:spcAft>
            </a:pPr>
            <a:r>
              <a:rPr sz="900" b="0" i="0">
                <a:solidFill>
                  <a:srgbClr val="6B6B6B"/>
                </a:solidFill>
                <a:latin typeface="Arial"/>
              </a:rPr>
              <a:t>13</a:t>
            </a:r>
          </a:p>
        </p:txBody>
      </p:sp>
      <p:sp>
        <p:nvSpPr>
          <p:cNvPr id="6" name="TextBox 5"/>
          <p:cNvSpPr txBox="1"/>
          <p:nvPr/>
        </p:nvSpPr>
        <p:spPr>
          <a:xfrm>
            <a:off x="548640" y="1417320"/>
            <a:ext cx="5669280" cy="365760"/>
          </a:xfrm>
          <a:prstGeom prst="rect">
            <a:avLst/>
          </a:prstGeom>
          <a:noFill/>
        </p:spPr>
        <p:txBody>
          <a:bodyPr wrap="square" anchor="t" lIns="45720" rIns="45720">
            <a:spAutoFit/>
          </a:bodyPr>
          <a:lstStyle/>
          <a:p>
            <a:pPr algn="l">
              <a:spcAft>
                <a:spcPts val="400"/>
              </a:spcAft>
            </a:pPr>
            <a:r>
              <a:rPr sz="1400" b="1" i="0">
                <a:solidFill>
                  <a:srgbClr val="1F4E5F"/>
                </a:solidFill>
                <a:latin typeface="Arial"/>
              </a:rPr>
              <a:t>Demo im System (ca. 20 Minuten)</a:t>
            </a:r>
          </a:p>
        </p:txBody>
      </p:sp>
      <p:sp>
        <p:nvSpPr>
          <p:cNvPr id="7" name="Oval 6"/>
          <p:cNvSpPr/>
          <p:nvPr/>
        </p:nvSpPr>
        <p:spPr>
          <a:xfrm>
            <a:off x="548640" y="1874519"/>
            <a:ext cx="365760" cy="365760"/>
          </a:xfrm>
          <a:prstGeom prst="ellipse">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200" b="1" i="0">
                <a:solidFill>
                  <a:srgbClr val="FFFFFF"/>
                </a:solidFill>
                <a:latin typeface="Arial"/>
              </a:rPr>
              <a:t>1</a:t>
            </a:r>
          </a:p>
        </p:txBody>
      </p:sp>
      <p:sp>
        <p:nvSpPr>
          <p:cNvPr id="8" name="TextBox 7"/>
          <p:cNvSpPr txBox="1"/>
          <p:nvPr/>
        </p:nvSpPr>
        <p:spPr>
          <a:xfrm>
            <a:off x="1051560" y="1828800"/>
            <a:ext cx="5120640" cy="274320"/>
          </a:xfrm>
          <a:prstGeom prst="rect">
            <a:avLst/>
          </a:prstGeom>
          <a:noFill/>
        </p:spPr>
        <p:txBody>
          <a:bodyPr wrap="square" anchor="t" lIns="45720" rIns="45720">
            <a:spAutoFit/>
          </a:bodyPr>
          <a:lstStyle/>
          <a:p>
            <a:pPr algn="l">
              <a:spcAft>
                <a:spcPts val="400"/>
              </a:spcAft>
            </a:pPr>
            <a:r>
              <a:rPr sz="1250" b="1" i="0">
                <a:solidFill>
                  <a:srgbClr val="2B2B2B"/>
                </a:solidFill>
                <a:latin typeface="Arial"/>
              </a:rPr>
              <a:t>Rechnung in FB70 erfassen</a:t>
            </a:r>
          </a:p>
        </p:txBody>
      </p:sp>
      <p:sp>
        <p:nvSpPr>
          <p:cNvPr id="9" name="TextBox 8"/>
          <p:cNvSpPr txBox="1"/>
          <p:nvPr/>
        </p:nvSpPr>
        <p:spPr>
          <a:xfrm>
            <a:off x="1051560" y="2103120"/>
            <a:ext cx="5120640" cy="548640"/>
          </a:xfrm>
          <a:prstGeom prst="rect">
            <a:avLst/>
          </a:prstGeom>
          <a:noFill/>
        </p:spPr>
        <p:txBody>
          <a:bodyPr wrap="square" anchor="t" lIns="45720" rIns="45720">
            <a:spAutoFit/>
          </a:bodyPr>
          <a:lstStyle/>
          <a:p>
            <a:pPr algn="l">
              <a:spcAft>
                <a:spcPts val="400"/>
              </a:spcAft>
            </a:pPr>
            <a:r>
              <a:rPr sz="1100" b="0" i="0">
                <a:solidFill>
                  <a:srgbClr val="2B2B2B"/>
                </a:solidFill>
                <a:latin typeface="Arial"/>
              </a:rPr>
              <a:t>Kunde 10100001, 1.190 EUR brutto, Zahlungsbedingung 0001, Erlöse 41000400, Steuer 19 %, Ergebnisobjekt</a:t>
            </a:r>
          </a:p>
        </p:txBody>
      </p:sp>
      <p:sp>
        <p:nvSpPr>
          <p:cNvPr id="10" name="Oval 9"/>
          <p:cNvSpPr/>
          <p:nvPr/>
        </p:nvSpPr>
        <p:spPr>
          <a:xfrm>
            <a:off x="548640" y="2715768"/>
            <a:ext cx="365760" cy="365760"/>
          </a:xfrm>
          <a:prstGeom prst="ellipse">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200" b="1" i="0">
                <a:solidFill>
                  <a:srgbClr val="FFFFFF"/>
                </a:solidFill>
                <a:latin typeface="Arial"/>
              </a:rPr>
              <a:t>2</a:t>
            </a:r>
          </a:p>
        </p:txBody>
      </p:sp>
      <p:sp>
        <p:nvSpPr>
          <p:cNvPr id="11" name="TextBox 10"/>
          <p:cNvSpPr txBox="1"/>
          <p:nvPr/>
        </p:nvSpPr>
        <p:spPr>
          <a:xfrm>
            <a:off x="1051560" y="2670048"/>
            <a:ext cx="5120640" cy="274320"/>
          </a:xfrm>
          <a:prstGeom prst="rect">
            <a:avLst/>
          </a:prstGeom>
          <a:noFill/>
        </p:spPr>
        <p:txBody>
          <a:bodyPr wrap="square" anchor="t" lIns="45720" rIns="45720">
            <a:spAutoFit/>
          </a:bodyPr>
          <a:lstStyle/>
          <a:p>
            <a:pPr algn="l">
              <a:spcAft>
                <a:spcPts val="400"/>
              </a:spcAft>
            </a:pPr>
            <a:r>
              <a:rPr sz="1250" b="1" i="0">
                <a:solidFill>
                  <a:srgbClr val="2B2B2B"/>
                </a:solidFill>
                <a:latin typeface="Arial"/>
              </a:rPr>
              <a:t>Beleg prüfen in F0717A</a:t>
            </a:r>
          </a:p>
        </p:txBody>
      </p:sp>
      <p:sp>
        <p:nvSpPr>
          <p:cNvPr id="12" name="TextBox 11"/>
          <p:cNvSpPr txBox="1"/>
          <p:nvPr/>
        </p:nvSpPr>
        <p:spPr>
          <a:xfrm>
            <a:off x="1051560" y="2944368"/>
            <a:ext cx="5120640" cy="548640"/>
          </a:xfrm>
          <a:prstGeom prst="rect">
            <a:avLst/>
          </a:prstGeom>
          <a:noFill/>
        </p:spPr>
        <p:txBody>
          <a:bodyPr wrap="square" anchor="t" lIns="45720" rIns="45720">
            <a:spAutoFit/>
          </a:bodyPr>
          <a:lstStyle/>
          <a:p>
            <a:pPr algn="l">
              <a:spcAft>
                <a:spcPts val="400"/>
              </a:spcAft>
            </a:pPr>
            <a:r>
              <a:rPr sz="1100" b="0" i="0">
                <a:solidFill>
                  <a:srgbClr val="2B2B2B"/>
                </a:solidFill>
                <a:latin typeface="Arial"/>
              </a:rPr>
              <a:t>Zeilen Kunde, Erlöse, Steuer; Abstimmkonto, Belegart DR</a:t>
            </a:r>
          </a:p>
        </p:txBody>
      </p:sp>
      <p:sp>
        <p:nvSpPr>
          <p:cNvPr id="13" name="Oval 12"/>
          <p:cNvSpPr/>
          <p:nvPr/>
        </p:nvSpPr>
        <p:spPr>
          <a:xfrm>
            <a:off x="548640" y="3557015"/>
            <a:ext cx="365760" cy="365760"/>
          </a:xfrm>
          <a:prstGeom prst="ellipse">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200" b="1" i="0">
                <a:solidFill>
                  <a:srgbClr val="FFFFFF"/>
                </a:solidFill>
                <a:latin typeface="Arial"/>
              </a:rPr>
              <a:t>3</a:t>
            </a:r>
          </a:p>
        </p:txBody>
      </p:sp>
      <p:sp>
        <p:nvSpPr>
          <p:cNvPr id="14" name="TextBox 13"/>
          <p:cNvSpPr txBox="1"/>
          <p:nvPr/>
        </p:nvSpPr>
        <p:spPr>
          <a:xfrm>
            <a:off x="1051560" y="3511296"/>
            <a:ext cx="5120640" cy="274320"/>
          </a:xfrm>
          <a:prstGeom prst="rect">
            <a:avLst/>
          </a:prstGeom>
          <a:noFill/>
        </p:spPr>
        <p:txBody>
          <a:bodyPr wrap="square" anchor="t" lIns="45720" rIns="45720">
            <a:spAutoFit/>
          </a:bodyPr>
          <a:lstStyle/>
          <a:p>
            <a:pPr algn="l">
              <a:spcAft>
                <a:spcPts val="400"/>
              </a:spcAft>
            </a:pPr>
            <a:r>
              <a:rPr sz="1250" b="1" i="0">
                <a:solidFill>
                  <a:srgbClr val="2B2B2B"/>
                </a:solidFill>
                <a:latin typeface="Arial"/>
              </a:rPr>
              <a:t>Offener Posten in F0711</a:t>
            </a:r>
          </a:p>
        </p:txBody>
      </p:sp>
      <p:sp>
        <p:nvSpPr>
          <p:cNvPr id="15" name="TextBox 14"/>
          <p:cNvSpPr txBox="1"/>
          <p:nvPr/>
        </p:nvSpPr>
        <p:spPr>
          <a:xfrm>
            <a:off x="1051560" y="3785615"/>
            <a:ext cx="5120640" cy="548640"/>
          </a:xfrm>
          <a:prstGeom prst="rect">
            <a:avLst/>
          </a:prstGeom>
          <a:noFill/>
        </p:spPr>
        <p:txBody>
          <a:bodyPr wrap="square" anchor="t" lIns="45720" rIns="45720">
            <a:spAutoFit/>
          </a:bodyPr>
          <a:lstStyle/>
          <a:p>
            <a:pPr algn="l">
              <a:spcAft>
                <a:spcPts val="400"/>
              </a:spcAft>
            </a:pPr>
            <a:r>
              <a:rPr sz="1100" b="0" i="0">
                <a:solidFill>
                  <a:srgbClr val="2B2B2B"/>
                </a:solidFill>
                <a:latin typeface="Arial"/>
              </a:rPr>
              <a:t>Fälligkeit, Referenz, Mahndaten; Edit Line Items</a:t>
            </a:r>
          </a:p>
        </p:txBody>
      </p:sp>
      <p:sp>
        <p:nvSpPr>
          <p:cNvPr id="16" name="Oval 15"/>
          <p:cNvSpPr/>
          <p:nvPr/>
        </p:nvSpPr>
        <p:spPr>
          <a:xfrm>
            <a:off x="548640" y="4398264"/>
            <a:ext cx="365760" cy="365760"/>
          </a:xfrm>
          <a:prstGeom prst="ellipse">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200" b="1" i="0">
                <a:solidFill>
                  <a:srgbClr val="FFFFFF"/>
                </a:solidFill>
                <a:latin typeface="Arial"/>
              </a:rPr>
              <a:t>4</a:t>
            </a:r>
          </a:p>
        </p:txBody>
      </p:sp>
      <p:sp>
        <p:nvSpPr>
          <p:cNvPr id="17" name="TextBox 16"/>
          <p:cNvSpPr txBox="1"/>
          <p:nvPr/>
        </p:nvSpPr>
        <p:spPr>
          <a:xfrm>
            <a:off x="1051560" y="4352544"/>
            <a:ext cx="5120640" cy="274320"/>
          </a:xfrm>
          <a:prstGeom prst="rect">
            <a:avLst/>
          </a:prstGeom>
          <a:noFill/>
        </p:spPr>
        <p:txBody>
          <a:bodyPr wrap="square" anchor="t" lIns="45720" rIns="45720">
            <a:spAutoFit/>
          </a:bodyPr>
          <a:lstStyle/>
          <a:p>
            <a:pPr algn="l">
              <a:spcAft>
                <a:spcPts val="400"/>
              </a:spcAft>
            </a:pPr>
            <a:r>
              <a:rPr sz="1250" b="1" i="0">
                <a:solidFill>
                  <a:srgbClr val="2B2B2B"/>
                </a:solidFill>
                <a:latin typeface="Arial"/>
              </a:rPr>
              <a:t>Rechnung ausgeben</a:t>
            </a:r>
          </a:p>
        </p:txBody>
      </p:sp>
      <p:sp>
        <p:nvSpPr>
          <p:cNvPr id="18" name="TextBox 17"/>
          <p:cNvSpPr txBox="1"/>
          <p:nvPr/>
        </p:nvSpPr>
        <p:spPr>
          <a:xfrm>
            <a:off x="1051560" y="4626864"/>
            <a:ext cx="5120640" cy="548640"/>
          </a:xfrm>
          <a:prstGeom prst="rect">
            <a:avLst/>
          </a:prstGeom>
          <a:noFill/>
        </p:spPr>
        <p:txBody>
          <a:bodyPr wrap="square" anchor="t" lIns="45720" rIns="45720">
            <a:spAutoFit/>
          </a:bodyPr>
          <a:lstStyle/>
          <a:p>
            <a:pPr algn="l">
              <a:spcAft>
                <a:spcPts val="400"/>
              </a:spcAft>
            </a:pPr>
            <a:r>
              <a:rPr sz="1100" b="0" i="0">
                <a:solidFill>
                  <a:srgbClr val="2B2B2B"/>
                </a:solidFill>
                <a:latin typeface="Arial"/>
              </a:rPr>
              <a:t>SAP21 aus F0717A oder F0744A, PDF-Vorschau, E-Mail; Nachweis F2934</a:t>
            </a:r>
          </a:p>
        </p:txBody>
      </p:sp>
      <p:sp>
        <p:nvSpPr>
          <p:cNvPr id="19" name="Oval 18"/>
          <p:cNvSpPr/>
          <p:nvPr/>
        </p:nvSpPr>
        <p:spPr>
          <a:xfrm>
            <a:off x="548640" y="5239512"/>
            <a:ext cx="365760" cy="365760"/>
          </a:xfrm>
          <a:prstGeom prst="ellipse">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200" b="1" i="0">
                <a:solidFill>
                  <a:srgbClr val="FFFFFF"/>
                </a:solidFill>
                <a:latin typeface="Arial"/>
              </a:rPr>
              <a:t>5</a:t>
            </a:r>
          </a:p>
        </p:txBody>
      </p:sp>
      <p:sp>
        <p:nvSpPr>
          <p:cNvPr id="20" name="TextBox 19"/>
          <p:cNvSpPr txBox="1"/>
          <p:nvPr/>
        </p:nvSpPr>
        <p:spPr>
          <a:xfrm>
            <a:off x="1051560" y="5193792"/>
            <a:ext cx="5120640" cy="274320"/>
          </a:xfrm>
          <a:prstGeom prst="rect">
            <a:avLst/>
          </a:prstGeom>
          <a:noFill/>
        </p:spPr>
        <p:txBody>
          <a:bodyPr wrap="square" anchor="t" lIns="45720" rIns="45720">
            <a:spAutoFit/>
          </a:bodyPr>
          <a:lstStyle/>
          <a:p>
            <a:pPr algn="l">
              <a:spcAft>
                <a:spcPts val="400"/>
              </a:spcAft>
            </a:pPr>
            <a:r>
              <a:rPr sz="1250" b="1" i="0">
                <a:solidFill>
                  <a:srgbClr val="2B2B2B"/>
                </a:solidFill>
                <a:latin typeface="Arial"/>
              </a:rPr>
              <a:t>Prozessfluss und Storno</a:t>
            </a:r>
          </a:p>
        </p:txBody>
      </p:sp>
      <p:sp>
        <p:nvSpPr>
          <p:cNvPr id="21" name="TextBox 20"/>
          <p:cNvSpPr txBox="1"/>
          <p:nvPr/>
        </p:nvSpPr>
        <p:spPr>
          <a:xfrm>
            <a:off x="1051560" y="5468112"/>
            <a:ext cx="5120640" cy="548640"/>
          </a:xfrm>
          <a:prstGeom prst="rect">
            <a:avLst/>
          </a:prstGeom>
          <a:noFill/>
        </p:spPr>
        <p:txBody>
          <a:bodyPr wrap="square" anchor="t" lIns="45720" rIns="45720">
            <a:spAutoFit/>
          </a:bodyPr>
          <a:lstStyle/>
          <a:p>
            <a:pPr algn="l">
              <a:spcAft>
                <a:spcPts val="400"/>
              </a:spcAft>
            </a:pPr>
            <a:r>
              <a:rPr sz="1100" b="0" i="0">
                <a:solidFill>
                  <a:srgbClr val="2B2B2B"/>
                </a:solidFill>
                <a:latin typeface="Arial"/>
              </a:rPr>
              <a:t>F2692 nur Journal Entry; Storno-Dialog zeigen, nicht ausführen</a:t>
            </a:r>
          </a:p>
        </p:txBody>
      </p:sp>
      <p:sp>
        <p:nvSpPr>
          <p:cNvPr id="22" name="Rounded Rectangle 21"/>
          <p:cNvSpPr/>
          <p:nvPr/>
        </p:nvSpPr>
        <p:spPr>
          <a:xfrm>
            <a:off x="6583680" y="1417320"/>
            <a:ext cx="5029200" cy="4754880"/>
          </a:xfrm>
          <a:prstGeom prst="roundRect">
            <a:avLst>
              <a:gd name="adj" fmla="val 8000"/>
            </a:avLst>
          </a:prstGeom>
          <a:solidFill>
            <a:srgbClr val="E9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3" name="TextBox 22"/>
          <p:cNvSpPr txBox="1"/>
          <p:nvPr/>
        </p:nvSpPr>
        <p:spPr>
          <a:xfrm>
            <a:off x="6766560" y="1554480"/>
            <a:ext cx="4663440" cy="365760"/>
          </a:xfrm>
          <a:prstGeom prst="rect">
            <a:avLst/>
          </a:prstGeom>
          <a:noFill/>
        </p:spPr>
        <p:txBody>
          <a:bodyPr wrap="square" anchor="t" lIns="45720" rIns="45720">
            <a:spAutoFit/>
          </a:bodyPr>
          <a:lstStyle/>
          <a:p>
            <a:pPr algn="l">
              <a:spcAft>
                <a:spcPts val="400"/>
              </a:spcAft>
            </a:pPr>
            <a:r>
              <a:rPr sz="1400" b="1" i="0">
                <a:solidFill>
                  <a:srgbClr val="1F4E5F"/>
                </a:solidFill>
                <a:latin typeface="Arial"/>
              </a:rPr>
              <a:t>Fit-to-Standard-Fragen</a:t>
            </a:r>
          </a:p>
        </p:txBody>
      </p:sp>
      <p:sp>
        <p:nvSpPr>
          <p:cNvPr id="24" name="TextBox 23"/>
          <p:cNvSpPr txBox="1"/>
          <p:nvPr/>
        </p:nvSpPr>
        <p:spPr>
          <a:xfrm>
            <a:off x="6766560" y="1965960"/>
            <a:ext cx="4663440" cy="4114800"/>
          </a:xfrm>
          <a:prstGeom prst="rect">
            <a:avLst/>
          </a:prstGeom>
          <a:noFill/>
        </p:spPr>
        <p:txBody>
          <a:bodyPr wrap="square" anchor="t" lIns="45720" rIns="45720">
            <a:spAutoFit/>
          </a:bodyPr>
          <a:lstStyle/>
          <a:p>
            <a:pPr algn="l" marL="164592" indent="-164592">
              <a:spcAft>
                <a:spcPts val="500"/>
              </a:spcAft>
              <a:buChar char="•"/>
            </a:pPr>
            <a:r>
              <a:rPr sz="1150" b="0" i="0">
                <a:solidFill>
                  <a:srgbClr val="2B2B2B"/>
                </a:solidFill>
                <a:latin typeface="Arial"/>
              </a:rPr>
              <a:t>Welche Rechnungsfälle laufen ohne Kundenauftrag, wie viele pro Monat?</a:t>
            </a:r>
          </a:p>
          <a:p>
            <a:pPr algn="l" marL="164592" indent="-164592">
              <a:spcAft>
                <a:spcPts val="500"/>
              </a:spcAft>
              <a:buChar char="•"/>
            </a:pPr>
            <a:r>
              <a:rPr sz="1150" b="0" i="0">
                <a:solidFill>
                  <a:srgbClr val="2B2B2B"/>
                </a:solidFill>
                <a:latin typeface="Arial"/>
              </a:rPr>
              <a:t>Erlöskonten und Kontierung für diese Fälle; Profit-Center-Ableitung, Ergebnisobjekt-Merkmale</a:t>
            </a:r>
          </a:p>
          <a:p>
            <a:pPr algn="l" marL="164592" indent="-164592">
              <a:spcAft>
                <a:spcPts val="500"/>
              </a:spcAft>
              <a:buChar char="•"/>
            </a:pPr>
            <a:r>
              <a:rPr sz="1150" b="0" i="0">
                <a:solidFill>
                  <a:srgbClr val="2B2B2B"/>
                </a:solidFill>
                <a:latin typeface="Arial"/>
              </a:rPr>
              <a:t>Steuerkennzeichen: Inland, EU, Drittland, steuerfrei; RITA nötig?</a:t>
            </a:r>
          </a:p>
          <a:p>
            <a:pPr algn="l" marL="164592" indent="-164592">
              <a:spcAft>
                <a:spcPts val="500"/>
              </a:spcAft>
              <a:buChar char="•"/>
            </a:pPr>
            <a:r>
              <a:rPr sz="1150" b="0" i="0">
                <a:solidFill>
                  <a:srgbClr val="2B2B2B"/>
                </a:solidFill>
                <a:latin typeface="Arial"/>
              </a:rPr>
              <a:t>Wer erfasst, wer bucht? Reicht Vorerfassung ohne Workflow?</a:t>
            </a:r>
          </a:p>
          <a:p>
            <a:pPr algn="l" marL="164592" indent="-164592">
              <a:spcAft>
                <a:spcPts val="500"/>
              </a:spcAft>
              <a:buChar char="•"/>
            </a:pPr>
            <a:r>
              <a:rPr sz="1150" b="0" i="0">
                <a:solidFill>
                  <a:srgbClr val="2B2B2B"/>
                </a:solidFill>
                <a:latin typeface="Arial"/>
              </a:rPr>
              <a:t>Rechnungsausgabe: Druck oder E-Mail, Absenderadresse, Formular mit Logo und Sprachen</a:t>
            </a:r>
          </a:p>
          <a:p>
            <a:pPr algn="l" marL="164592" indent="-164592">
              <a:spcAft>
                <a:spcPts val="500"/>
              </a:spcAft>
              <a:buChar char="•"/>
            </a:pPr>
            <a:r>
              <a:rPr sz="1150" b="0" i="0">
                <a:solidFill>
                  <a:srgbClr val="2B2B2B"/>
                </a:solidFill>
                <a:latin typeface="Arial"/>
              </a:rPr>
              <a:t>Konventionen für Referenz und Kopftext, damit Zahlungseingang und Mahnung zuordnen können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3" name="TextBox 2"/>
          <p:cNvSpPr txBox="1"/>
          <p:nvPr/>
        </p:nvSpPr>
        <p:spPr>
          <a:xfrm>
            <a:off x="822960" y="2103120"/>
            <a:ext cx="10058400" cy="365760"/>
          </a:xfrm>
          <a:prstGeom prst="rect">
            <a:avLst/>
          </a:prstGeom>
          <a:noFill/>
        </p:spPr>
        <p:txBody>
          <a:bodyPr wrap="square" anchor="t" lIns="45720" rIns="45720">
            <a:spAutoFit/>
          </a:bodyPr>
          <a:lstStyle/>
          <a:p>
            <a:pPr algn="l">
              <a:spcAft>
                <a:spcPts val="400"/>
              </a:spcAft>
            </a:pPr>
            <a:r>
              <a:rPr sz="1400" b="1" i="0">
                <a:solidFill>
                  <a:srgbClr val="C6DCE2"/>
                </a:solidFill>
                <a:latin typeface="Arial"/>
              </a:rPr>
              <a:t>Thema 3</a:t>
            </a:r>
          </a:p>
        </p:txBody>
      </p:sp>
      <p:sp>
        <p:nvSpPr>
          <p:cNvPr id="4" name="TextBox 3"/>
          <p:cNvSpPr txBox="1"/>
          <p:nvPr/>
        </p:nvSpPr>
        <p:spPr>
          <a:xfrm>
            <a:off x="822960" y="2514600"/>
            <a:ext cx="10515600" cy="1188720"/>
          </a:xfrm>
          <a:prstGeom prst="rect">
            <a:avLst/>
          </a:prstGeom>
          <a:noFill/>
        </p:spPr>
        <p:txBody>
          <a:bodyPr wrap="square" anchor="ctr" lIns="45720" rIns="45720">
            <a:spAutoFit/>
          </a:bodyPr>
          <a:lstStyle/>
          <a:p>
            <a:pPr algn="l">
              <a:spcAft>
                <a:spcPts val="400"/>
              </a:spcAft>
            </a:pPr>
            <a:r>
              <a:rPr sz="3600" b="1" i="0">
                <a:solidFill>
                  <a:srgbClr val="FFFFFF"/>
                </a:solidFill>
                <a:latin typeface="Arial"/>
              </a:rPr>
              <a:t>Automatisierte Rechnungserstellung</a:t>
            </a:r>
          </a:p>
        </p:txBody>
      </p:sp>
      <p:sp>
        <p:nvSpPr>
          <p:cNvPr id="5" name="TextBox 4"/>
          <p:cNvSpPr txBox="1"/>
          <p:nvPr/>
        </p:nvSpPr>
        <p:spPr>
          <a:xfrm>
            <a:off x="822960" y="3794760"/>
            <a:ext cx="10058400" cy="1097280"/>
          </a:xfrm>
          <a:prstGeom prst="rect">
            <a:avLst/>
          </a:prstGeom>
          <a:noFill/>
        </p:spPr>
        <p:txBody>
          <a:bodyPr wrap="square" anchor="t" lIns="45720" rIns="45720">
            <a:spAutoFit/>
          </a:bodyPr>
          <a:lstStyle/>
          <a:p>
            <a:pPr algn="l">
              <a:spcAft>
                <a:spcPts val="400"/>
              </a:spcAft>
            </a:pPr>
            <a:r>
              <a:rPr sz="1600" b="0" i="0">
                <a:solidFill>
                  <a:srgbClr val="FFFFFF"/>
                </a:solidFill>
                <a:latin typeface="Arial"/>
              </a:rPr>
              <a:t>Die Buchhaltung kontrolliert, sie tippt nicht ab: Faktura aus dem Vertrieb, Massenupload aus Dateien und Schnittstellen aus Vorsystemen erzeugen denselben offenen Posten.</a:t>
            </a:r>
          </a:p>
        </p:txBody>
      </p:sp>
      <p:sp>
        <p:nvSpPr>
          <p:cNvPr id="6" name="TextBox 5"/>
          <p:cNvSpPr txBox="1"/>
          <p:nvPr/>
        </p:nvSpPr>
        <p:spPr>
          <a:xfrm>
            <a:off x="10972800" y="6446520"/>
            <a:ext cx="685800" cy="274320"/>
          </a:xfrm>
          <a:prstGeom prst="rect">
            <a:avLst/>
          </a:prstGeom>
          <a:noFill/>
        </p:spPr>
        <p:txBody>
          <a:bodyPr wrap="square" anchor="t" lIns="45720" rIns="45720">
            <a:spAutoFit/>
          </a:bodyPr>
          <a:lstStyle/>
          <a:p>
            <a:pPr algn="r">
              <a:spcAft>
                <a:spcPts val="400"/>
              </a:spcAft>
            </a:pPr>
            <a:r>
              <a:rPr sz="900" b="0" i="0">
                <a:solidFill>
                  <a:srgbClr val="C6DCE2"/>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11064240" cy="274320"/>
          </a:xfrm>
          <a:prstGeom prst="rect">
            <a:avLst/>
          </a:prstGeom>
          <a:noFill/>
        </p:spPr>
        <p:txBody>
          <a:bodyPr wrap="square" anchor="t" lIns="45720" rIns="45720">
            <a:spAutoFit/>
          </a:bodyPr>
          <a:lstStyle/>
          <a:p>
            <a:pPr algn="l">
              <a:spcAft>
                <a:spcPts val="400"/>
              </a:spcAft>
            </a:pPr>
            <a:r>
              <a:rPr sz="1200" b="1" i="0">
                <a:solidFill>
                  <a:srgbClr val="6B6B6B"/>
                </a:solidFill>
                <a:latin typeface="Arial"/>
              </a:rPr>
              <a:t>Thema 3 · Automatisierte Rechnung · Theorie</a:t>
            </a:r>
          </a:p>
        </p:txBody>
      </p:sp>
      <p:sp>
        <p:nvSpPr>
          <p:cNvPr id="3" name="TextBox 2"/>
          <p:cNvSpPr txBox="1"/>
          <p:nvPr/>
        </p:nvSpPr>
        <p:spPr>
          <a:xfrm>
            <a:off x="548640" y="502920"/>
            <a:ext cx="11064240" cy="731520"/>
          </a:xfrm>
          <a:prstGeom prst="rect">
            <a:avLst/>
          </a:prstGeom>
          <a:noFill/>
        </p:spPr>
        <p:txBody>
          <a:bodyPr wrap="square" anchor="ctr" lIns="45720" rIns="45720">
            <a:spAutoFit/>
          </a:bodyPr>
          <a:lstStyle/>
          <a:p>
            <a:pPr algn="l">
              <a:spcAft>
                <a:spcPts val="400"/>
              </a:spcAft>
            </a:pPr>
            <a:r>
              <a:rPr sz="2800" b="1" i="0">
                <a:solidFill>
                  <a:srgbClr val="2B2B2B"/>
                </a:solidFill>
                <a:latin typeface="Arial"/>
              </a:rPr>
              <a:t>Drei Wege zum selben offenen Posten</a:t>
            </a:r>
          </a:p>
        </p:txBody>
      </p:sp>
      <p:sp>
        <p:nvSpPr>
          <p:cNvPr id="4" name="TextBox 3"/>
          <p:cNvSpPr txBox="1"/>
          <p:nvPr/>
        </p:nvSpPr>
        <p:spPr>
          <a:xfrm>
            <a:off x="548640" y="6446520"/>
            <a:ext cx="8229600" cy="274320"/>
          </a:xfrm>
          <a:prstGeom prst="rect">
            <a:avLst/>
          </a:prstGeom>
          <a:noFill/>
        </p:spPr>
        <p:txBody>
          <a:bodyPr wrap="square" anchor="t" lIns="45720" rIns="45720">
            <a:spAutoFit/>
          </a:bodyPr>
          <a:lstStyle/>
          <a:p>
            <a:pPr algn="l">
              <a:spcAft>
                <a:spcPts val="400"/>
              </a:spcAft>
            </a:pPr>
            <a:r>
              <a:rPr sz="900" b="0" i="0">
                <a:solidFill>
                  <a:srgbClr val="6B6B6B"/>
                </a:solidFill>
                <a:latin typeface="Arial"/>
              </a:rPr>
              <a:t>F2S-Workshop 3 · Debitorenbuchhaltung · SAP S/4HANA Cloud Public Edition 2608</a:t>
            </a:r>
          </a:p>
        </p:txBody>
      </p:sp>
      <p:sp>
        <p:nvSpPr>
          <p:cNvPr id="5" name="TextBox 4"/>
          <p:cNvSpPr txBox="1"/>
          <p:nvPr/>
        </p:nvSpPr>
        <p:spPr>
          <a:xfrm>
            <a:off x="10972800" y="6446520"/>
            <a:ext cx="685800" cy="274320"/>
          </a:xfrm>
          <a:prstGeom prst="rect">
            <a:avLst/>
          </a:prstGeom>
          <a:noFill/>
        </p:spPr>
        <p:txBody>
          <a:bodyPr wrap="square" anchor="t" lIns="45720" rIns="45720">
            <a:spAutoFit/>
          </a:bodyPr>
          <a:lstStyle/>
          <a:p>
            <a:pPr algn="r">
              <a:spcAft>
                <a:spcPts val="400"/>
              </a:spcAft>
            </a:pPr>
            <a:r>
              <a:rPr sz="900" b="0" i="0">
                <a:solidFill>
                  <a:srgbClr val="6B6B6B"/>
                </a:solidFill>
                <a:latin typeface="Arial"/>
              </a:rPr>
              <a:t>15</a:t>
            </a:r>
          </a:p>
        </p:txBody>
      </p:sp>
      <p:sp>
        <p:nvSpPr>
          <p:cNvPr id="6" name="Rounded Rectangle 5"/>
          <p:cNvSpPr/>
          <p:nvPr/>
        </p:nvSpPr>
        <p:spPr>
          <a:xfrm>
            <a:off x="548640" y="1417320"/>
            <a:ext cx="3566160" cy="2926080"/>
          </a:xfrm>
          <a:prstGeom prst="roundRect">
            <a:avLst>
              <a:gd name="adj" fmla="val 8000"/>
            </a:avLst>
          </a:prstGeom>
          <a:solidFill>
            <a:srgbClr val="E9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7" name="Oval 6"/>
          <p:cNvSpPr/>
          <p:nvPr/>
        </p:nvSpPr>
        <p:spPr>
          <a:xfrm>
            <a:off x="713232" y="1572768"/>
            <a:ext cx="365760" cy="365760"/>
          </a:xfrm>
          <a:prstGeom prst="ellipse">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200" b="1" i="0">
                <a:solidFill>
                  <a:srgbClr val="FFFFFF"/>
                </a:solidFill>
                <a:latin typeface="Arial"/>
              </a:rPr>
              <a:t>1</a:t>
            </a:r>
          </a:p>
        </p:txBody>
      </p:sp>
      <p:sp>
        <p:nvSpPr>
          <p:cNvPr id="8" name="TextBox 7"/>
          <p:cNvSpPr txBox="1"/>
          <p:nvPr/>
        </p:nvSpPr>
        <p:spPr>
          <a:xfrm>
            <a:off x="1188719" y="1554480"/>
            <a:ext cx="2743200" cy="411480"/>
          </a:xfrm>
          <a:prstGeom prst="rect">
            <a:avLst/>
          </a:prstGeom>
          <a:noFill/>
        </p:spPr>
        <p:txBody>
          <a:bodyPr wrap="square" anchor="ctr" lIns="45720" rIns="45720">
            <a:spAutoFit/>
          </a:bodyPr>
          <a:lstStyle/>
          <a:p>
            <a:pPr algn="l">
              <a:spcAft>
                <a:spcPts val="400"/>
              </a:spcAft>
            </a:pPr>
            <a:r>
              <a:rPr sz="1300" b="1" i="0">
                <a:solidFill>
                  <a:srgbClr val="1F4E5F"/>
                </a:solidFill>
                <a:latin typeface="Arial"/>
              </a:rPr>
              <a:t>Faktura aus dem Vertrieb</a:t>
            </a:r>
          </a:p>
        </p:txBody>
      </p:sp>
      <p:sp>
        <p:nvSpPr>
          <p:cNvPr id="9" name="TextBox 8"/>
          <p:cNvSpPr txBox="1"/>
          <p:nvPr/>
        </p:nvSpPr>
        <p:spPr>
          <a:xfrm>
            <a:off x="713232" y="2057400"/>
            <a:ext cx="3246120" cy="1371600"/>
          </a:xfrm>
          <a:prstGeom prst="rect">
            <a:avLst/>
          </a:prstGeom>
          <a:noFill/>
        </p:spPr>
        <p:txBody>
          <a:bodyPr wrap="square" anchor="t" lIns="45720" rIns="45720">
            <a:spAutoFit/>
          </a:bodyPr>
          <a:lstStyle/>
          <a:p>
            <a:pPr algn="l">
              <a:spcAft>
                <a:spcPts val="400"/>
              </a:spcAft>
            </a:pPr>
            <a:r>
              <a:rPr sz="1150" b="0" i="0">
                <a:solidFill>
                  <a:srgbClr val="2B2B2B"/>
                </a:solidFill>
                <a:latin typeface="Arial"/>
              </a:rPr>
              <a:t>Standard für alles mit Auftrag, Lieferung oder Leistungserbringung. Die Faktura ist der Rechnungsbeleg, der Buchhaltungsbeleg entsteht automatisch (Belegart RV).</a:t>
            </a:r>
          </a:p>
        </p:txBody>
      </p:sp>
      <p:sp>
        <p:nvSpPr>
          <p:cNvPr id="10" name="TextBox 9"/>
          <p:cNvSpPr txBox="1"/>
          <p:nvPr/>
        </p:nvSpPr>
        <p:spPr>
          <a:xfrm>
            <a:off x="713232" y="3474720"/>
            <a:ext cx="3246120" cy="822960"/>
          </a:xfrm>
          <a:prstGeom prst="rect">
            <a:avLst/>
          </a:prstGeom>
          <a:noFill/>
        </p:spPr>
        <p:txBody>
          <a:bodyPr wrap="square" anchor="t" lIns="45720" rIns="45720">
            <a:spAutoFit/>
          </a:bodyPr>
          <a:lstStyle/>
          <a:p>
            <a:pPr algn="l">
              <a:spcAft>
                <a:spcPts val="400"/>
              </a:spcAft>
            </a:pPr>
            <a:r>
              <a:rPr sz="1050" b="0" i="0">
                <a:solidFill>
                  <a:srgbClr val="6B6B6B"/>
                </a:solidFill>
                <a:latin typeface="Arial"/>
              </a:rPr>
              <a:t>Abhängig von Vertriebs- und Materialstammdaten; Fehler werden in der SD-Konfiguration behoben.</a:t>
            </a:r>
          </a:p>
        </p:txBody>
      </p:sp>
      <p:sp>
        <p:nvSpPr>
          <p:cNvPr id="11" name="Rounded Rectangle 10"/>
          <p:cNvSpPr/>
          <p:nvPr/>
        </p:nvSpPr>
        <p:spPr>
          <a:xfrm>
            <a:off x="4297679" y="1417320"/>
            <a:ext cx="3566160" cy="2926080"/>
          </a:xfrm>
          <a:prstGeom prst="roundRect">
            <a:avLst>
              <a:gd name="adj" fmla="val 8000"/>
            </a:avLst>
          </a:prstGeom>
          <a:solidFill>
            <a:srgbClr val="E9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2" name="Oval 11"/>
          <p:cNvSpPr/>
          <p:nvPr/>
        </p:nvSpPr>
        <p:spPr>
          <a:xfrm>
            <a:off x="4462271" y="1572768"/>
            <a:ext cx="365760" cy="365760"/>
          </a:xfrm>
          <a:prstGeom prst="ellipse">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200" b="1" i="0">
                <a:solidFill>
                  <a:srgbClr val="FFFFFF"/>
                </a:solidFill>
                <a:latin typeface="Arial"/>
              </a:rPr>
              <a:t>2</a:t>
            </a:r>
          </a:p>
        </p:txBody>
      </p:sp>
      <p:sp>
        <p:nvSpPr>
          <p:cNvPr id="13" name="TextBox 12"/>
          <p:cNvSpPr txBox="1"/>
          <p:nvPr/>
        </p:nvSpPr>
        <p:spPr>
          <a:xfrm>
            <a:off x="4937759" y="1554480"/>
            <a:ext cx="2743200" cy="411480"/>
          </a:xfrm>
          <a:prstGeom prst="rect">
            <a:avLst/>
          </a:prstGeom>
          <a:noFill/>
        </p:spPr>
        <p:txBody>
          <a:bodyPr wrap="square" anchor="ctr" lIns="45720" rIns="45720">
            <a:spAutoFit/>
          </a:bodyPr>
          <a:lstStyle/>
          <a:p>
            <a:pPr algn="l">
              <a:spcAft>
                <a:spcPts val="400"/>
              </a:spcAft>
            </a:pPr>
            <a:r>
              <a:rPr sz="1300" b="1" i="0">
                <a:solidFill>
                  <a:srgbClr val="1F4E5F"/>
                </a:solidFill>
                <a:latin typeface="Arial"/>
              </a:rPr>
              <a:t>Massenupload aus Datei</a:t>
            </a:r>
          </a:p>
        </p:txBody>
      </p:sp>
      <p:sp>
        <p:nvSpPr>
          <p:cNvPr id="14" name="TextBox 13"/>
          <p:cNvSpPr txBox="1"/>
          <p:nvPr/>
        </p:nvSpPr>
        <p:spPr>
          <a:xfrm>
            <a:off x="4462271" y="2057400"/>
            <a:ext cx="3246120" cy="1371600"/>
          </a:xfrm>
          <a:prstGeom prst="rect">
            <a:avLst/>
          </a:prstGeom>
          <a:noFill/>
        </p:spPr>
        <p:txBody>
          <a:bodyPr wrap="square" anchor="t" lIns="45720" rIns="45720">
            <a:spAutoFit/>
          </a:bodyPr>
          <a:lstStyle/>
          <a:p>
            <a:pPr algn="l">
              <a:spcAft>
                <a:spcPts val="400"/>
              </a:spcAft>
            </a:pPr>
            <a:r>
              <a:rPr sz="1150" b="0" i="0">
                <a:solidFill>
                  <a:srgbClr val="2B2B2B"/>
                </a:solidFill>
                <a:latin typeface="Arial"/>
              </a:rPr>
              <a:t>Periodische oder projektbezogene Mengen ohne Vertriebsbezug: Nebenkosten, Gebühren, Weiterbelastungen, Abgrenzungen. Prüflauf vor der Buchung.</a:t>
            </a:r>
          </a:p>
        </p:txBody>
      </p:sp>
      <p:sp>
        <p:nvSpPr>
          <p:cNvPr id="15" name="TextBox 14"/>
          <p:cNvSpPr txBox="1"/>
          <p:nvPr/>
        </p:nvSpPr>
        <p:spPr>
          <a:xfrm>
            <a:off x="4462271" y="3474720"/>
            <a:ext cx="3246120" cy="822960"/>
          </a:xfrm>
          <a:prstGeom prst="rect">
            <a:avLst/>
          </a:prstGeom>
          <a:noFill/>
        </p:spPr>
        <p:txBody>
          <a:bodyPr wrap="square" anchor="t" lIns="45720" rIns="45720">
            <a:spAutoFit/>
          </a:bodyPr>
          <a:lstStyle/>
          <a:p>
            <a:pPr algn="l">
              <a:spcAft>
                <a:spcPts val="400"/>
              </a:spcAft>
            </a:pPr>
            <a:r>
              <a:rPr sz="1050" b="0" i="0">
                <a:solidFill>
                  <a:srgbClr val="6B6B6B"/>
                </a:solidFill>
                <a:latin typeface="Arial"/>
              </a:rPr>
              <a:t>Bis 500 Positionen je Datei, manuelle Vorbereitung, Verantwortung in der Buchhaltung.</a:t>
            </a:r>
          </a:p>
        </p:txBody>
      </p:sp>
      <p:sp>
        <p:nvSpPr>
          <p:cNvPr id="16" name="Rounded Rectangle 15"/>
          <p:cNvSpPr/>
          <p:nvPr/>
        </p:nvSpPr>
        <p:spPr>
          <a:xfrm>
            <a:off x="8046719" y="1417320"/>
            <a:ext cx="3566160" cy="2926080"/>
          </a:xfrm>
          <a:prstGeom prst="roundRect">
            <a:avLst>
              <a:gd name="adj" fmla="val 8000"/>
            </a:avLst>
          </a:prstGeom>
          <a:solidFill>
            <a:srgbClr val="E9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7" name="Oval 16"/>
          <p:cNvSpPr/>
          <p:nvPr/>
        </p:nvSpPr>
        <p:spPr>
          <a:xfrm>
            <a:off x="8211311" y="1572768"/>
            <a:ext cx="365760" cy="365760"/>
          </a:xfrm>
          <a:prstGeom prst="ellipse">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200" b="1" i="0">
                <a:solidFill>
                  <a:srgbClr val="FFFFFF"/>
                </a:solidFill>
                <a:latin typeface="Arial"/>
              </a:rPr>
              <a:t>3</a:t>
            </a:r>
          </a:p>
        </p:txBody>
      </p:sp>
      <p:sp>
        <p:nvSpPr>
          <p:cNvPr id="18" name="TextBox 17"/>
          <p:cNvSpPr txBox="1"/>
          <p:nvPr/>
        </p:nvSpPr>
        <p:spPr>
          <a:xfrm>
            <a:off x="8686799" y="1554480"/>
            <a:ext cx="2743200" cy="411480"/>
          </a:xfrm>
          <a:prstGeom prst="rect">
            <a:avLst/>
          </a:prstGeom>
          <a:noFill/>
        </p:spPr>
        <p:txBody>
          <a:bodyPr wrap="square" anchor="ctr" lIns="45720" rIns="45720">
            <a:spAutoFit/>
          </a:bodyPr>
          <a:lstStyle/>
          <a:p>
            <a:pPr algn="l">
              <a:spcAft>
                <a:spcPts val="400"/>
              </a:spcAft>
            </a:pPr>
            <a:r>
              <a:rPr sz="1300" b="1" i="0">
                <a:solidFill>
                  <a:srgbClr val="1F4E5F"/>
                </a:solidFill>
                <a:latin typeface="Arial"/>
              </a:rPr>
              <a:t>Schnittstelle aus Vorsystem</a:t>
            </a:r>
          </a:p>
        </p:txBody>
      </p:sp>
      <p:sp>
        <p:nvSpPr>
          <p:cNvPr id="19" name="TextBox 18"/>
          <p:cNvSpPr txBox="1"/>
          <p:nvPr/>
        </p:nvSpPr>
        <p:spPr>
          <a:xfrm>
            <a:off x="8211311" y="2057400"/>
            <a:ext cx="3246120" cy="1371600"/>
          </a:xfrm>
          <a:prstGeom prst="rect">
            <a:avLst/>
          </a:prstGeom>
          <a:noFill/>
        </p:spPr>
        <p:txBody>
          <a:bodyPr wrap="square" anchor="t" lIns="45720" rIns="45720">
            <a:spAutoFit/>
          </a:bodyPr>
          <a:lstStyle/>
          <a:p>
            <a:pPr algn="l">
              <a:spcAft>
                <a:spcPts val="400"/>
              </a:spcAft>
            </a:pPr>
            <a:r>
              <a:rPr sz="1150" b="0" i="0">
                <a:solidFill>
                  <a:srgbClr val="2B2B2B"/>
                </a:solidFill>
                <a:latin typeface="Arial"/>
              </a:rPr>
              <a:t>Laufendes Volumen aus Abrechnungssystem, Shop, Portal. Rechnung entsteht im Vorsystem, Buchung per API (Journal Entry – Post, SAP_COM_0002).</a:t>
            </a:r>
          </a:p>
        </p:txBody>
      </p:sp>
      <p:sp>
        <p:nvSpPr>
          <p:cNvPr id="20" name="TextBox 19"/>
          <p:cNvSpPr txBox="1"/>
          <p:nvPr/>
        </p:nvSpPr>
        <p:spPr>
          <a:xfrm>
            <a:off x="8211311" y="3474720"/>
            <a:ext cx="3246120" cy="822960"/>
          </a:xfrm>
          <a:prstGeom prst="rect">
            <a:avLst/>
          </a:prstGeom>
          <a:noFill/>
        </p:spPr>
        <p:txBody>
          <a:bodyPr wrap="square" anchor="t" lIns="45720" rIns="45720">
            <a:spAutoFit/>
          </a:bodyPr>
          <a:lstStyle/>
          <a:p>
            <a:pPr algn="l">
              <a:spcAft>
                <a:spcPts val="400"/>
              </a:spcAft>
            </a:pPr>
            <a:r>
              <a:rPr sz="1050" b="0" i="0">
                <a:solidFill>
                  <a:srgbClr val="6B6B6B"/>
                </a:solidFill>
                <a:latin typeface="Arial"/>
              </a:rPr>
              <a:t>Saubere Abbildung von Kundennummern, Steuer und Konten im Vorsystem nötig.</a:t>
            </a:r>
          </a:p>
        </p:txBody>
      </p:sp>
      <p:sp>
        <p:nvSpPr>
          <p:cNvPr id="21" name="Down Arrow 20"/>
          <p:cNvSpPr/>
          <p:nvPr/>
        </p:nvSpPr>
        <p:spPr>
          <a:xfrm>
            <a:off x="5760720" y="4434840"/>
            <a:ext cx="640080" cy="411480"/>
          </a:xfrm>
          <a:prstGeom prst="downArrow">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2" name="Rounded Rectangle 21"/>
          <p:cNvSpPr/>
          <p:nvPr/>
        </p:nvSpPr>
        <p:spPr>
          <a:xfrm>
            <a:off x="548640" y="4937760"/>
            <a:ext cx="11064240" cy="640080"/>
          </a:xfrm>
          <a:prstGeom prst="roundRect">
            <a:avLst>
              <a:gd name="adj" fmla="val 8000"/>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200"/>
              </a:spcAft>
            </a:pPr>
            <a:r>
              <a:rPr sz="1300" b="1" i="0">
                <a:solidFill>
                  <a:srgbClr val="FFFFFF"/>
                </a:solidFill>
                <a:latin typeface="Arial"/>
              </a:rPr>
              <a:t>Ein offener Posten beim Kunden: Fälligkeit, Referenz, Ergebnisobjekt, gleiche Konten, gleiche Steuerlogik</a:t>
            </a:r>
          </a:p>
        </p:txBody>
      </p:sp>
      <p:sp>
        <p:nvSpPr>
          <p:cNvPr id="23" name="TextBox 22"/>
          <p:cNvSpPr txBox="1"/>
          <p:nvPr/>
        </p:nvSpPr>
        <p:spPr>
          <a:xfrm>
            <a:off x="548640" y="5669280"/>
            <a:ext cx="11064240" cy="640080"/>
          </a:xfrm>
          <a:prstGeom prst="rect">
            <a:avLst/>
          </a:prstGeom>
          <a:noFill/>
        </p:spPr>
        <p:txBody>
          <a:bodyPr wrap="square" anchor="t" lIns="45720" rIns="45720">
            <a:spAutoFit/>
          </a:bodyPr>
          <a:lstStyle/>
          <a:p>
            <a:pPr algn="l">
              <a:spcAft>
                <a:spcPts val="400"/>
              </a:spcAft>
            </a:pPr>
            <a:r>
              <a:rPr sz="1150" b="0" i="0">
                <a:solidFill>
                  <a:srgbClr val="2B2B2B"/>
                </a:solidFill>
                <a:latin typeface="Arial"/>
              </a:rPr>
              <a:t>Vierter Weg für Einzelfälle und Korrekturen bleibt die manuelle Rechnung (Thema 2). Konfiguration für Konten, Steuer und Ergebnisobjekt-Ableitung muss für alle Wege gleich gepflegt sein.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11064240" cy="274320"/>
          </a:xfrm>
          <a:prstGeom prst="rect">
            <a:avLst/>
          </a:prstGeom>
          <a:noFill/>
        </p:spPr>
        <p:txBody>
          <a:bodyPr wrap="square" anchor="t" lIns="45720" rIns="45720">
            <a:spAutoFit/>
          </a:bodyPr>
          <a:lstStyle/>
          <a:p>
            <a:pPr algn="l">
              <a:spcAft>
                <a:spcPts val="400"/>
              </a:spcAft>
            </a:pPr>
            <a:r>
              <a:rPr sz="1200" b="1" i="0">
                <a:solidFill>
                  <a:srgbClr val="6B6B6B"/>
                </a:solidFill>
                <a:latin typeface="Arial"/>
              </a:rPr>
              <a:t>Thema 3 · Automatisierte Rechnung · Theorie</a:t>
            </a:r>
          </a:p>
        </p:txBody>
      </p:sp>
      <p:sp>
        <p:nvSpPr>
          <p:cNvPr id="3" name="TextBox 2"/>
          <p:cNvSpPr txBox="1"/>
          <p:nvPr/>
        </p:nvSpPr>
        <p:spPr>
          <a:xfrm>
            <a:off x="548640" y="502920"/>
            <a:ext cx="11064240" cy="731520"/>
          </a:xfrm>
          <a:prstGeom prst="rect">
            <a:avLst/>
          </a:prstGeom>
          <a:noFill/>
        </p:spPr>
        <p:txBody>
          <a:bodyPr wrap="square" anchor="ctr" lIns="45720" rIns="45720">
            <a:spAutoFit/>
          </a:bodyPr>
          <a:lstStyle/>
          <a:p>
            <a:pPr algn="l">
              <a:spcAft>
                <a:spcPts val="400"/>
              </a:spcAft>
            </a:pPr>
            <a:r>
              <a:rPr sz="2800" b="1" i="0">
                <a:solidFill>
                  <a:srgbClr val="2B2B2B"/>
                </a:solidFill>
                <a:latin typeface="Arial"/>
              </a:rPr>
              <a:t>Weg 1: Faktura aus dem Vertrieb, was Finance davon sieht</a:t>
            </a:r>
          </a:p>
        </p:txBody>
      </p:sp>
      <p:sp>
        <p:nvSpPr>
          <p:cNvPr id="4" name="TextBox 3"/>
          <p:cNvSpPr txBox="1"/>
          <p:nvPr/>
        </p:nvSpPr>
        <p:spPr>
          <a:xfrm>
            <a:off x="548640" y="6446520"/>
            <a:ext cx="8229600" cy="274320"/>
          </a:xfrm>
          <a:prstGeom prst="rect">
            <a:avLst/>
          </a:prstGeom>
          <a:noFill/>
        </p:spPr>
        <p:txBody>
          <a:bodyPr wrap="square" anchor="t" lIns="45720" rIns="45720">
            <a:spAutoFit/>
          </a:bodyPr>
          <a:lstStyle/>
          <a:p>
            <a:pPr algn="l">
              <a:spcAft>
                <a:spcPts val="400"/>
              </a:spcAft>
            </a:pPr>
            <a:r>
              <a:rPr sz="900" b="0" i="0">
                <a:solidFill>
                  <a:srgbClr val="6B6B6B"/>
                </a:solidFill>
                <a:latin typeface="Arial"/>
              </a:rPr>
              <a:t>F2S-Workshop 3 · Debitorenbuchhaltung · SAP S/4HANA Cloud Public Edition 2608</a:t>
            </a:r>
          </a:p>
        </p:txBody>
      </p:sp>
      <p:sp>
        <p:nvSpPr>
          <p:cNvPr id="5" name="TextBox 4"/>
          <p:cNvSpPr txBox="1"/>
          <p:nvPr/>
        </p:nvSpPr>
        <p:spPr>
          <a:xfrm>
            <a:off x="10972800" y="6446520"/>
            <a:ext cx="685800" cy="274320"/>
          </a:xfrm>
          <a:prstGeom prst="rect">
            <a:avLst/>
          </a:prstGeom>
          <a:noFill/>
        </p:spPr>
        <p:txBody>
          <a:bodyPr wrap="square" anchor="t" lIns="45720" rIns="45720">
            <a:spAutoFit/>
          </a:bodyPr>
          <a:lstStyle/>
          <a:p>
            <a:pPr algn="r">
              <a:spcAft>
                <a:spcPts val="400"/>
              </a:spcAft>
            </a:pPr>
            <a:r>
              <a:rPr sz="900" b="0" i="0">
                <a:solidFill>
                  <a:srgbClr val="6B6B6B"/>
                </a:solidFill>
                <a:latin typeface="Arial"/>
              </a:rPr>
              <a:t>16</a:t>
            </a:r>
          </a:p>
        </p:txBody>
      </p:sp>
      <p:sp>
        <p:nvSpPr>
          <p:cNvPr id="6" name="Pentagon 5"/>
          <p:cNvSpPr/>
          <p:nvPr/>
        </p:nvSpPr>
        <p:spPr>
          <a:xfrm>
            <a:off x="548640" y="1417320"/>
            <a:ext cx="2168956" cy="777240"/>
          </a:xfrm>
          <a:prstGeom prst="homePlate">
            <a:avLst>
              <a:gd name="adj" fmla="val 25000"/>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200"/>
              </a:spcAft>
            </a:pPr>
            <a:r>
              <a:rPr sz="1200" b="1" i="0">
                <a:solidFill>
                  <a:srgbClr val="FFFFFF"/>
                </a:solidFill>
                <a:latin typeface="Arial"/>
              </a:rPr>
              <a:t>Kundenauftrag</a:t>
            </a:r>
          </a:p>
        </p:txBody>
      </p:sp>
      <p:sp>
        <p:nvSpPr>
          <p:cNvPr id="7" name="Chevron 6"/>
          <p:cNvSpPr/>
          <p:nvPr/>
        </p:nvSpPr>
        <p:spPr>
          <a:xfrm>
            <a:off x="2772460" y="1417320"/>
            <a:ext cx="2168956" cy="777240"/>
          </a:xfrm>
          <a:prstGeom prst="chevron">
            <a:avLst>
              <a:gd name="adj" fmla="val 30000"/>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200"/>
              </a:spcAft>
            </a:pPr>
            <a:r>
              <a:rPr sz="1200" b="1" i="0">
                <a:solidFill>
                  <a:srgbClr val="FFFFFF"/>
                </a:solidFill>
                <a:latin typeface="Arial"/>
              </a:rPr>
              <a:t>Lieferung / Leistung</a:t>
            </a:r>
          </a:p>
        </p:txBody>
      </p:sp>
      <p:sp>
        <p:nvSpPr>
          <p:cNvPr id="8" name="Chevron 7"/>
          <p:cNvSpPr/>
          <p:nvPr/>
        </p:nvSpPr>
        <p:spPr>
          <a:xfrm>
            <a:off x="4996281" y="1417320"/>
            <a:ext cx="2168956" cy="777240"/>
          </a:xfrm>
          <a:prstGeom prst="chevron">
            <a:avLst>
              <a:gd name="adj" fmla="val 30000"/>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200"/>
              </a:spcAft>
            </a:pPr>
            <a:r>
              <a:rPr sz="1200" b="1" i="0">
                <a:solidFill>
                  <a:srgbClr val="FFFFFF"/>
                </a:solidFill>
                <a:latin typeface="Arial"/>
              </a:rPr>
              <a:t>Faktura</a:t>
            </a:r>
          </a:p>
        </p:txBody>
      </p:sp>
      <p:sp>
        <p:nvSpPr>
          <p:cNvPr id="9" name="Chevron 8"/>
          <p:cNvSpPr/>
          <p:nvPr/>
        </p:nvSpPr>
        <p:spPr>
          <a:xfrm>
            <a:off x="7220102" y="1417320"/>
            <a:ext cx="2168956" cy="777240"/>
          </a:xfrm>
          <a:prstGeom prst="chevron">
            <a:avLst>
              <a:gd name="adj" fmla="val 30000"/>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200"/>
              </a:spcAft>
            </a:pPr>
            <a:r>
              <a:rPr sz="1200" b="1" i="0">
                <a:solidFill>
                  <a:srgbClr val="FFFFFF"/>
                </a:solidFill>
                <a:latin typeface="Arial"/>
              </a:rPr>
              <a:t>Journal Entry (RV)</a:t>
            </a:r>
          </a:p>
        </p:txBody>
      </p:sp>
      <p:sp>
        <p:nvSpPr>
          <p:cNvPr id="10" name="Chevron 9"/>
          <p:cNvSpPr/>
          <p:nvPr/>
        </p:nvSpPr>
        <p:spPr>
          <a:xfrm>
            <a:off x="9443923" y="1417320"/>
            <a:ext cx="2168956" cy="777240"/>
          </a:xfrm>
          <a:prstGeom prst="chevron">
            <a:avLst>
              <a:gd name="adj" fmla="val 30000"/>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200"/>
              </a:spcAft>
            </a:pPr>
            <a:r>
              <a:rPr sz="1200" b="1" i="0">
                <a:solidFill>
                  <a:srgbClr val="FFFFFF"/>
                </a:solidFill>
                <a:latin typeface="Arial"/>
              </a:rPr>
              <a:t>Offener Posten</a:t>
            </a:r>
          </a:p>
        </p:txBody>
      </p:sp>
      <p:sp>
        <p:nvSpPr>
          <p:cNvPr id="11" name="TextBox 10"/>
          <p:cNvSpPr txBox="1"/>
          <p:nvPr/>
        </p:nvSpPr>
        <p:spPr>
          <a:xfrm>
            <a:off x="548640" y="2286000"/>
            <a:ext cx="2168956" cy="1371600"/>
          </a:xfrm>
          <a:prstGeom prst="rect">
            <a:avLst/>
          </a:prstGeom>
          <a:noFill/>
        </p:spPr>
        <p:txBody>
          <a:bodyPr wrap="square" anchor="t" lIns="45720" rIns="45720">
            <a:spAutoFit/>
          </a:bodyPr>
          <a:lstStyle/>
          <a:p>
            <a:pPr algn="l">
              <a:spcAft>
                <a:spcPts val="400"/>
              </a:spcAft>
            </a:pPr>
            <a:r>
              <a:rPr sz="1050" b="0" i="0">
                <a:solidFill>
                  <a:srgbClr val="2B2B2B"/>
                </a:solidFill>
                <a:latin typeface="Arial"/>
              </a:rPr>
              <a:t>Vertrieb; Kreditprüfung (BD6) greift hier; Zahlungsbedingung aus Kundenstamm oder Auftrag</a:t>
            </a:r>
          </a:p>
        </p:txBody>
      </p:sp>
      <p:sp>
        <p:nvSpPr>
          <p:cNvPr id="12" name="TextBox 11"/>
          <p:cNvSpPr txBox="1"/>
          <p:nvPr/>
        </p:nvSpPr>
        <p:spPr>
          <a:xfrm>
            <a:off x="2772460" y="2286000"/>
            <a:ext cx="2168956" cy="1371600"/>
          </a:xfrm>
          <a:prstGeom prst="rect">
            <a:avLst/>
          </a:prstGeom>
          <a:noFill/>
        </p:spPr>
        <p:txBody>
          <a:bodyPr wrap="square" anchor="t" lIns="45720" rIns="45720">
            <a:spAutoFit/>
          </a:bodyPr>
          <a:lstStyle/>
          <a:p>
            <a:pPr algn="l">
              <a:spcAft>
                <a:spcPts val="400"/>
              </a:spcAft>
            </a:pPr>
            <a:r>
              <a:rPr sz="1050" b="0" i="0">
                <a:solidFill>
                  <a:srgbClr val="2B2B2B"/>
                </a:solidFill>
                <a:latin typeface="Arial"/>
              </a:rPr>
              <a:t>Warenausgang bucht Bestand und Kosten; bei Leistungen Abrechnung nach Aufwand oder Festpreis</a:t>
            </a:r>
          </a:p>
        </p:txBody>
      </p:sp>
      <p:sp>
        <p:nvSpPr>
          <p:cNvPr id="13" name="TextBox 12"/>
          <p:cNvSpPr txBox="1"/>
          <p:nvPr/>
        </p:nvSpPr>
        <p:spPr>
          <a:xfrm>
            <a:off x="4996281" y="2286000"/>
            <a:ext cx="2168956" cy="1371600"/>
          </a:xfrm>
          <a:prstGeom prst="rect">
            <a:avLst/>
          </a:prstGeom>
          <a:noFill/>
        </p:spPr>
        <p:txBody>
          <a:bodyPr wrap="square" anchor="t" lIns="45720" rIns="45720">
            <a:spAutoFit/>
          </a:bodyPr>
          <a:lstStyle/>
          <a:p>
            <a:pPr algn="l">
              <a:spcAft>
                <a:spcPts val="400"/>
              </a:spcAft>
            </a:pPr>
            <a:r>
              <a:rPr sz="1050" b="0" i="0">
                <a:solidFill>
                  <a:srgbClr val="2B2B2B"/>
                </a:solidFill>
                <a:latin typeface="Arial"/>
              </a:rPr>
              <a:t>Rechtlich relevanter Rechnungsbeleg; Nachrichtensteuerung druckt oder mailt; Fakturasperren im Vertrieb</a:t>
            </a:r>
          </a:p>
        </p:txBody>
      </p:sp>
      <p:sp>
        <p:nvSpPr>
          <p:cNvPr id="14" name="TextBox 13"/>
          <p:cNvSpPr txBox="1"/>
          <p:nvPr/>
        </p:nvSpPr>
        <p:spPr>
          <a:xfrm>
            <a:off x="7220102" y="2286000"/>
            <a:ext cx="2168956" cy="1371600"/>
          </a:xfrm>
          <a:prstGeom prst="rect">
            <a:avLst/>
          </a:prstGeom>
          <a:noFill/>
        </p:spPr>
        <p:txBody>
          <a:bodyPr wrap="square" anchor="t" lIns="45720" rIns="45720">
            <a:spAutoFit/>
          </a:bodyPr>
          <a:lstStyle/>
          <a:p>
            <a:pPr algn="l">
              <a:spcAft>
                <a:spcPts val="400"/>
              </a:spcAft>
            </a:pPr>
            <a:r>
              <a:rPr sz="1050" b="0" i="0">
                <a:solidFill>
                  <a:srgbClr val="2B2B2B"/>
                </a:solidFill>
                <a:latin typeface="Arial"/>
              </a:rPr>
              <a:t>Automatisch beim Freigeben der Faktura: Kunde an Erlöse und Steuer; Ergebnisobjekt aus SD-Daten</a:t>
            </a:r>
          </a:p>
        </p:txBody>
      </p:sp>
      <p:sp>
        <p:nvSpPr>
          <p:cNvPr id="15" name="TextBox 14"/>
          <p:cNvSpPr txBox="1"/>
          <p:nvPr/>
        </p:nvSpPr>
        <p:spPr>
          <a:xfrm>
            <a:off x="9443923" y="2286000"/>
            <a:ext cx="2168956" cy="1371600"/>
          </a:xfrm>
          <a:prstGeom prst="rect">
            <a:avLst/>
          </a:prstGeom>
          <a:noFill/>
        </p:spPr>
        <p:txBody>
          <a:bodyPr wrap="square" anchor="t" lIns="45720" rIns="45720">
            <a:spAutoFit/>
          </a:bodyPr>
          <a:lstStyle/>
          <a:p>
            <a:pPr algn="l">
              <a:spcAft>
                <a:spcPts val="400"/>
              </a:spcAft>
            </a:pPr>
            <a:r>
              <a:rPr sz="1050" b="0" i="0">
                <a:solidFill>
                  <a:srgbClr val="2B2B2B"/>
                </a:solidFill>
                <a:latin typeface="Arial"/>
              </a:rPr>
              <a:t>Referenz gleich Fakturanummer; Basis für Zahlungseingang, Mahnung, Kreditobligo</a:t>
            </a:r>
          </a:p>
        </p:txBody>
      </p:sp>
      <p:sp>
        <p:nvSpPr>
          <p:cNvPr id="16" name="Rounded Rectangle 15"/>
          <p:cNvSpPr/>
          <p:nvPr/>
        </p:nvSpPr>
        <p:spPr>
          <a:xfrm>
            <a:off x="548640" y="3794760"/>
            <a:ext cx="5394960" cy="2377440"/>
          </a:xfrm>
          <a:prstGeom prst="roundRect">
            <a:avLst>
              <a:gd name="adj" fmla="val 8000"/>
            </a:avLst>
          </a:prstGeom>
          <a:solidFill>
            <a:srgbClr val="E9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7" name="TextBox 16"/>
          <p:cNvSpPr txBox="1"/>
          <p:nvPr/>
        </p:nvSpPr>
        <p:spPr>
          <a:xfrm>
            <a:off x="713232" y="3922776"/>
            <a:ext cx="5093208" cy="365760"/>
          </a:xfrm>
          <a:prstGeom prst="rect">
            <a:avLst/>
          </a:prstGeom>
          <a:noFill/>
        </p:spPr>
        <p:txBody>
          <a:bodyPr wrap="square" anchor="ctr" lIns="45720" rIns="45720">
            <a:spAutoFit/>
          </a:bodyPr>
          <a:lstStyle/>
          <a:p>
            <a:pPr algn="l">
              <a:spcAft>
                <a:spcPts val="400"/>
              </a:spcAft>
            </a:pPr>
            <a:r>
              <a:rPr sz="1300" b="1" i="0">
                <a:solidFill>
                  <a:srgbClr val="1F4E5F"/>
                </a:solidFill>
                <a:latin typeface="Arial"/>
              </a:rPr>
              <a:t>Rolle der Buchhaltung</a:t>
            </a:r>
          </a:p>
        </p:txBody>
      </p:sp>
      <p:sp>
        <p:nvSpPr>
          <p:cNvPr id="18" name="TextBox 17"/>
          <p:cNvSpPr txBox="1"/>
          <p:nvPr/>
        </p:nvSpPr>
        <p:spPr>
          <a:xfrm>
            <a:off x="713232" y="4343400"/>
            <a:ext cx="5065776" cy="1737360"/>
          </a:xfrm>
          <a:prstGeom prst="rect">
            <a:avLst/>
          </a:prstGeom>
          <a:noFill/>
        </p:spPr>
        <p:txBody>
          <a:bodyPr wrap="square" anchor="t" lIns="45720" rIns="45720">
            <a:spAutoFit/>
          </a:bodyPr>
          <a:lstStyle/>
          <a:p>
            <a:pPr algn="l" marL="164592" indent="-164592">
              <a:spcAft>
                <a:spcPts val="300"/>
              </a:spcAft>
              <a:buChar char="•"/>
            </a:pPr>
            <a:r>
              <a:rPr sz="1100" b="0" i="0">
                <a:solidFill>
                  <a:srgbClr val="2B2B2B"/>
                </a:solidFill>
                <a:latin typeface="Arial"/>
              </a:rPr>
              <a:t>Kein Erfassungsaufwand, aber Abhängigkeit von Stammdatenqualität in Vertrieb und Material</a:t>
            </a:r>
          </a:p>
          <a:p>
            <a:pPr algn="l" marL="164592" indent="-164592">
              <a:spcAft>
                <a:spcPts val="300"/>
              </a:spcAft>
              <a:buChar char="•"/>
            </a:pPr>
            <a:r>
              <a:rPr sz="1100" b="0" i="0">
                <a:solidFill>
                  <a:srgbClr val="2B2B2B"/>
                </a:solidFill>
                <a:latin typeface="Arial"/>
              </a:rPr>
              <a:t>Fehlerbild: falsche Konten, falsche Steuer, nicht zuordenbare Posten</a:t>
            </a:r>
          </a:p>
          <a:p>
            <a:pPr algn="l" marL="164592" indent="-164592">
              <a:spcAft>
                <a:spcPts val="300"/>
              </a:spcAft>
              <a:buChar char="•"/>
            </a:pPr>
            <a:r>
              <a:rPr sz="1100" b="0" i="0">
                <a:solidFill>
                  <a:srgbClr val="2B2B2B"/>
                </a:solidFill>
                <a:latin typeface="Arial"/>
              </a:rPr>
              <a:t>Behebung in der SD-Kontenfindung und in den Stammdaten, nicht durch Umbuchung</a:t>
            </a:r>
          </a:p>
          <a:p>
            <a:pPr algn="l" marL="164592" indent="-164592">
              <a:spcAft>
                <a:spcPts val="300"/>
              </a:spcAft>
              <a:buChar char="•"/>
            </a:pPr>
            <a:r>
              <a:rPr sz="1100" b="0" i="0">
                <a:solidFill>
                  <a:srgbClr val="2B2B2B"/>
                </a:solidFill>
                <a:latin typeface="Arial"/>
              </a:rPr>
              <a:t>Zuständig: SD-Berater; Voraussetzung sind BD9, J14 oder BDN</a:t>
            </a:r>
          </a:p>
        </p:txBody>
      </p:sp>
      <p:sp>
        <p:nvSpPr>
          <p:cNvPr id="19" name="Rounded Rectangle 18"/>
          <p:cNvSpPr/>
          <p:nvPr/>
        </p:nvSpPr>
        <p:spPr>
          <a:xfrm>
            <a:off x="6217920" y="3794760"/>
            <a:ext cx="5394960" cy="2377440"/>
          </a:xfrm>
          <a:prstGeom prst="roundRect">
            <a:avLst>
              <a:gd name="adj" fmla="val 8000"/>
            </a:avLst>
          </a:prstGeom>
          <a:solidFill>
            <a:srgbClr val="E9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0" name="TextBox 19"/>
          <p:cNvSpPr txBox="1"/>
          <p:nvPr/>
        </p:nvSpPr>
        <p:spPr>
          <a:xfrm>
            <a:off x="6382512" y="3922776"/>
            <a:ext cx="5093208" cy="365760"/>
          </a:xfrm>
          <a:prstGeom prst="rect">
            <a:avLst/>
          </a:prstGeom>
          <a:noFill/>
        </p:spPr>
        <p:txBody>
          <a:bodyPr wrap="square" anchor="ctr" lIns="45720" rIns="45720">
            <a:spAutoFit/>
          </a:bodyPr>
          <a:lstStyle/>
          <a:p>
            <a:pPr algn="l">
              <a:spcAft>
                <a:spcPts val="400"/>
              </a:spcAft>
            </a:pPr>
            <a:r>
              <a:rPr sz="1300" b="1" i="0">
                <a:solidFill>
                  <a:srgbClr val="1F4E5F"/>
                </a:solidFill>
                <a:latin typeface="Arial"/>
              </a:rPr>
              <a:t>Im Workshop zeigen</a:t>
            </a:r>
          </a:p>
        </p:txBody>
      </p:sp>
      <p:sp>
        <p:nvSpPr>
          <p:cNvPr id="21" name="TextBox 20"/>
          <p:cNvSpPr txBox="1"/>
          <p:nvPr/>
        </p:nvSpPr>
        <p:spPr>
          <a:xfrm>
            <a:off x="6382512" y="4343400"/>
            <a:ext cx="5065776" cy="1737360"/>
          </a:xfrm>
          <a:prstGeom prst="rect">
            <a:avLst/>
          </a:prstGeom>
          <a:noFill/>
        </p:spPr>
        <p:txBody>
          <a:bodyPr wrap="square" anchor="t" lIns="45720" rIns="45720">
            <a:spAutoFit/>
          </a:bodyPr>
          <a:lstStyle/>
          <a:p>
            <a:pPr algn="l" marL="164592" indent="-164592">
              <a:spcAft>
                <a:spcPts val="300"/>
              </a:spcAft>
              <a:buChar char="•"/>
            </a:pPr>
            <a:r>
              <a:rPr sz="1100" b="0" i="0">
                <a:solidFill>
                  <a:srgbClr val="2B2B2B"/>
                </a:solidFill>
                <a:latin typeface="Arial"/>
              </a:rPr>
              <a:t>Display Process Flow – AR (F2692) mit einem vorhandenen Fakturabeleg</a:t>
            </a:r>
          </a:p>
          <a:p>
            <a:pPr algn="l" marL="164592" indent="-164592">
              <a:spcAft>
                <a:spcPts val="300"/>
              </a:spcAft>
              <a:buChar char="•"/>
            </a:pPr>
            <a:r>
              <a:rPr sz="1100" b="0" i="0">
                <a:solidFill>
                  <a:srgbClr val="2B2B2B"/>
                </a:solidFill>
                <a:latin typeface="Arial"/>
              </a:rPr>
              <a:t>Manage Customer Line Items (F0711): Posten mit Fakturanummer als Referenz</a:t>
            </a:r>
          </a:p>
          <a:p>
            <a:pPr algn="l" marL="164592" indent="-164592">
              <a:spcAft>
                <a:spcPts val="300"/>
              </a:spcAft>
              <a:buChar char="•"/>
            </a:pPr>
            <a:r>
              <a:rPr sz="1100" b="0" i="0">
                <a:solidFill>
                  <a:srgbClr val="2B2B2B"/>
                </a:solidFill>
                <a:latin typeface="Arial"/>
              </a:rPr>
              <a:t>Manage Journal Entries (F0717A): Erlöskonten, Steuer, Ergebnisobjekt automatisch</a:t>
            </a:r>
          </a:p>
          <a:p>
            <a:pPr algn="l" marL="164592" indent="-164592">
              <a:spcAft>
                <a:spcPts val="300"/>
              </a:spcAft>
              <a:buChar char="•"/>
            </a:pPr>
            <a:r>
              <a:rPr sz="1100" b="0" i="0">
                <a:solidFill>
                  <a:srgbClr val="2B2B2B"/>
                </a:solidFill>
                <a:latin typeface="Arial"/>
              </a:rPr>
              <a:t>Dauerbuchungen (J58) für Mieten und Pauschalen nur erwähnen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11064240" cy="274320"/>
          </a:xfrm>
          <a:prstGeom prst="rect">
            <a:avLst/>
          </a:prstGeom>
          <a:noFill/>
        </p:spPr>
        <p:txBody>
          <a:bodyPr wrap="square" anchor="t" lIns="45720" rIns="45720">
            <a:spAutoFit/>
          </a:bodyPr>
          <a:lstStyle/>
          <a:p>
            <a:pPr algn="l">
              <a:spcAft>
                <a:spcPts val="400"/>
              </a:spcAft>
            </a:pPr>
            <a:r>
              <a:rPr sz="1200" b="1" i="0">
                <a:solidFill>
                  <a:srgbClr val="6B6B6B"/>
                </a:solidFill>
                <a:latin typeface="Arial"/>
              </a:rPr>
              <a:t>Thema 3 · Automatisierte Rechnung · Praxis</a:t>
            </a:r>
          </a:p>
        </p:txBody>
      </p:sp>
      <p:sp>
        <p:nvSpPr>
          <p:cNvPr id="3" name="TextBox 2"/>
          <p:cNvSpPr txBox="1"/>
          <p:nvPr/>
        </p:nvSpPr>
        <p:spPr>
          <a:xfrm>
            <a:off x="548640" y="502920"/>
            <a:ext cx="11064240" cy="731520"/>
          </a:xfrm>
          <a:prstGeom prst="rect">
            <a:avLst/>
          </a:prstGeom>
          <a:noFill/>
        </p:spPr>
        <p:txBody>
          <a:bodyPr wrap="square" anchor="ctr" lIns="45720" rIns="45720">
            <a:spAutoFit/>
          </a:bodyPr>
          <a:lstStyle/>
          <a:p>
            <a:pPr algn="l">
              <a:spcAft>
                <a:spcPts val="400"/>
              </a:spcAft>
            </a:pPr>
            <a:r>
              <a:rPr sz="2800" b="1" i="0">
                <a:solidFill>
                  <a:srgbClr val="2B2B2B"/>
                </a:solidFill>
                <a:latin typeface="Arial"/>
              </a:rPr>
              <a:t>Weg 2: Massenupload mit Upload Customer Open Items (F4051)</a:t>
            </a:r>
          </a:p>
        </p:txBody>
      </p:sp>
      <p:sp>
        <p:nvSpPr>
          <p:cNvPr id="4" name="TextBox 3"/>
          <p:cNvSpPr txBox="1"/>
          <p:nvPr/>
        </p:nvSpPr>
        <p:spPr>
          <a:xfrm>
            <a:off x="548640" y="6446520"/>
            <a:ext cx="8229600" cy="274320"/>
          </a:xfrm>
          <a:prstGeom prst="rect">
            <a:avLst/>
          </a:prstGeom>
          <a:noFill/>
        </p:spPr>
        <p:txBody>
          <a:bodyPr wrap="square" anchor="t" lIns="45720" rIns="45720">
            <a:spAutoFit/>
          </a:bodyPr>
          <a:lstStyle/>
          <a:p>
            <a:pPr algn="l">
              <a:spcAft>
                <a:spcPts val="400"/>
              </a:spcAft>
            </a:pPr>
            <a:r>
              <a:rPr sz="900" b="0" i="0">
                <a:solidFill>
                  <a:srgbClr val="6B6B6B"/>
                </a:solidFill>
                <a:latin typeface="Arial"/>
              </a:rPr>
              <a:t>F2S-Workshop 3 · Debitorenbuchhaltung · SAP S/4HANA Cloud Public Edition 2608</a:t>
            </a:r>
          </a:p>
        </p:txBody>
      </p:sp>
      <p:sp>
        <p:nvSpPr>
          <p:cNvPr id="5" name="TextBox 4"/>
          <p:cNvSpPr txBox="1"/>
          <p:nvPr/>
        </p:nvSpPr>
        <p:spPr>
          <a:xfrm>
            <a:off x="10972800" y="6446520"/>
            <a:ext cx="685800" cy="274320"/>
          </a:xfrm>
          <a:prstGeom prst="rect">
            <a:avLst/>
          </a:prstGeom>
          <a:noFill/>
        </p:spPr>
        <p:txBody>
          <a:bodyPr wrap="square" anchor="t" lIns="45720" rIns="45720">
            <a:spAutoFit/>
          </a:bodyPr>
          <a:lstStyle/>
          <a:p>
            <a:pPr algn="r">
              <a:spcAft>
                <a:spcPts val="400"/>
              </a:spcAft>
            </a:pPr>
            <a:r>
              <a:rPr sz="900" b="0" i="0">
                <a:solidFill>
                  <a:srgbClr val="6B6B6B"/>
                </a:solidFill>
                <a:latin typeface="Arial"/>
              </a:rPr>
              <a:t>17</a:t>
            </a:r>
          </a:p>
        </p:txBody>
      </p:sp>
      <p:sp>
        <p:nvSpPr>
          <p:cNvPr id="6" name="Pentagon 5"/>
          <p:cNvSpPr/>
          <p:nvPr/>
        </p:nvSpPr>
        <p:spPr>
          <a:xfrm>
            <a:off x="548640" y="1417320"/>
            <a:ext cx="1798320" cy="777240"/>
          </a:xfrm>
          <a:prstGeom prst="homePlate">
            <a:avLst>
              <a:gd name="adj" fmla="val 25000"/>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200"/>
              </a:spcAft>
            </a:pPr>
            <a:r>
              <a:rPr sz="1150" b="1" i="0">
                <a:solidFill>
                  <a:srgbClr val="FFFFFF"/>
                </a:solidFill>
                <a:latin typeface="Arial"/>
              </a:rPr>
              <a:t>Vorlage laden</a:t>
            </a:r>
          </a:p>
        </p:txBody>
      </p:sp>
      <p:sp>
        <p:nvSpPr>
          <p:cNvPr id="7" name="Chevron 6"/>
          <p:cNvSpPr/>
          <p:nvPr/>
        </p:nvSpPr>
        <p:spPr>
          <a:xfrm>
            <a:off x="2401824" y="1417320"/>
            <a:ext cx="1798320" cy="777240"/>
          </a:xfrm>
          <a:prstGeom prst="chevron">
            <a:avLst>
              <a:gd name="adj" fmla="val 30000"/>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200"/>
              </a:spcAft>
            </a:pPr>
            <a:r>
              <a:rPr sz="1150" b="1" i="0">
                <a:solidFill>
                  <a:srgbClr val="FFFFFF"/>
                </a:solidFill>
                <a:latin typeface="Arial"/>
              </a:rPr>
              <a:t>Datei füllen</a:t>
            </a:r>
          </a:p>
        </p:txBody>
      </p:sp>
      <p:sp>
        <p:nvSpPr>
          <p:cNvPr id="8" name="Chevron 7"/>
          <p:cNvSpPr/>
          <p:nvPr/>
        </p:nvSpPr>
        <p:spPr>
          <a:xfrm>
            <a:off x="4255007" y="1417320"/>
            <a:ext cx="1798320" cy="777240"/>
          </a:xfrm>
          <a:prstGeom prst="chevron">
            <a:avLst>
              <a:gd name="adj" fmla="val 30000"/>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200"/>
              </a:spcAft>
            </a:pPr>
            <a:r>
              <a:rPr sz="1150" b="1" i="0">
                <a:solidFill>
                  <a:srgbClr val="FFFFFF"/>
                </a:solidFill>
                <a:latin typeface="Arial"/>
              </a:rPr>
              <a:t>Hochladen (Entwurf)</a:t>
            </a:r>
          </a:p>
        </p:txBody>
      </p:sp>
      <p:sp>
        <p:nvSpPr>
          <p:cNvPr id="9" name="Chevron 8"/>
          <p:cNvSpPr/>
          <p:nvPr/>
        </p:nvSpPr>
        <p:spPr>
          <a:xfrm>
            <a:off x="6108191" y="1417320"/>
            <a:ext cx="1798320" cy="777240"/>
          </a:xfrm>
          <a:prstGeom prst="chevron">
            <a:avLst>
              <a:gd name="adj" fmla="val 30000"/>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200"/>
              </a:spcAft>
            </a:pPr>
            <a:r>
              <a:rPr sz="1150" b="1" i="0">
                <a:solidFill>
                  <a:srgbClr val="FFFFFF"/>
                </a:solidFill>
                <a:latin typeface="Arial"/>
              </a:rPr>
              <a:t>Check und Log</a:t>
            </a:r>
          </a:p>
        </p:txBody>
      </p:sp>
      <p:sp>
        <p:nvSpPr>
          <p:cNvPr id="10" name="Chevron 9"/>
          <p:cNvSpPr/>
          <p:nvPr/>
        </p:nvSpPr>
        <p:spPr>
          <a:xfrm>
            <a:off x="7961375" y="1417320"/>
            <a:ext cx="1798320" cy="777240"/>
          </a:xfrm>
          <a:prstGeom prst="chevron">
            <a:avLst>
              <a:gd name="adj" fmla="val 30000"/>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200"/>
              </a:spcAft>
            </a:pPr>
            <a:r>
              <a:rPr sz="1150" b="1" i="0">
                <a:solidFill>
                  <a:srgbClr val="FFFFFF"/>
                </a:solidFill>
                <a:latin typeface="Arial"/>
              </a:rPr>
              <a:t>Korrigieren</a:t>
            </a:r>
          </a:p>
        </p:txBody>
      </p:sp>
      <p:sp>
        <p:nvSpPr>
          <p:cNvPr id="11" name="Chevron 10"/>
          <p:cNvSpPr/>
          <p:nvPr/>
        </p:nvSpPr>
        <p:spPr>
          <a:xfrm>
            <a:off x="9814560" y="1417320"/>
            <a:ext cx="1798320" cy="777240"/>
          </a:xfrm>
          <a:prstGeom prst="chevron">
            <a:avLst>
              <a:gd name="adj" fmla="val 30000"/>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200"/>
              </a:spcAft>
            </a:pPr>
            <a:r>
              <a:rPr sz="1150" b="1" i="0">
                <a:solidFill>
                  <a:srgbClr val="FFFFFF"/>
                </a:solidFill>
                <a:latin typeface="Arial"/>
              </a:rPr>
              <a:t>Buchen</a:t>
            </a:r>
          </a:p>
        </p:txBody>
      </p:sp>
      <p:sp>
        <p:nvSpPr>
          <p:cNvPr id="12" name="TextBox 11"/>
          <p:cNvSpPr txBox="1"/>
          <p:nvPr/>
        </p:nvSpPr>
        <p:spPr>
          <a:xfrm>
            <a:off x="548640" y="2286000"/>
            <a:ext cx="1798320" cy="1188720"/>
          </a:xfrm>
          <a:prstGeom prst="rect">
            <a:avLst/>
          </a:prstGeom>
          <a:noFill/>
        </p:spPr>
        <p:txBody>
          <a:bodyPr wrap="square" anchor="t" lIns="45720" rIns="45720">
            <a:spAutoFit/>
          </a:bodyPr>
          <a:lstStyle/>
          <a:p>
            <a:pPr algn="l">
              <a:spcAft>
                <a:spcPts val="400"/>
              </a:spcAft>
            </a:pPr>
            <a:r>
              <a:rPr sz="1050" b="0" i="0">
                <a:solidFill>
                  <a:srgbClr val="2B2B2B"/>
                </a:solidFill>
                <a:latin typeface="Arial"/>
              </a:rPr>
              <a:t>Download Template in der App, Sprache und Format xlsx</a:t>
            </a:r>
          </a:p>
        </p:txBody>
      </p:sp>
      <p:sp>
        <p:nvSpPr>
          <p:cNvPr id="13" name="TextBox 12"/>
          <p:cNvSpPr txBox="1"/>
          <p:nvPr/>
        </p:nvSpPr>
        <p:spPr>
          <a:xfrm>
            <a:off x="2401824" y="2286000"/>
            <a:ext cx="1798320" cy="1188720"/>
          </a:xfrm>
          <a:prstGeom prst="rect">
            <a:avLst/>
          </a:prstGeom>
          <a:noFill/>
        </p:spPr>
        <p:txBody>
          <a:bodyPr wrap="square" anchor="t" lIns="45720" rIns="45720">
            <a:spAutoFit/>
          </a:bodyPr>
          <a:lstStyle/>
          <a:p>
            <a:pPr algn="l">
              <a:spcAft>
                <a:spcPts val="400"/>
              </a:spcAft>
            </a:pPr>
            <a:r>
              <a:rPr sz="1050" b="0" i="0">
                <a:solidFill>
                  <a:srgbClr val="2B2B2B"/>
                </a:solidFill>
                <a:latin typeface="Arial"/>
              </a:rPr>
              <a:t>Kopf je Beleg und Sachkontenpositionen, maximal 500 Positionen je Datei</a:t>
            </a:r>
          </a:p>
        </p:txBody>
      </p:sp>
      <p:sp>
        <p:nvSpPr>
          <p:cNvPr id="14" name="TextBox 13"/>
          <p:cNvSpPr txBox="1"/>
          <p:nvPr/>
        </p:nvSpPr>
        <p:spPr>
          <a:xfrm>
            <a:off x="4255007" y="2286000"/>
            <a:ext cx="1798320" cy="1188720"/>
          </a:xfrm>
          <a:prstGeom prst="rect">
            <a:avLst/>
          </a:prstGeom>
          <a:noFill/>
        </p:spPr>
        <p:txBody>
          <a:bodyPr wrap="square" anchor="t" lIns="45720" rIns="45720">
            <a:spAutoFit/>
          </a:bodyPr>
          <a:lstStyle/>
          <a:p>
            <a:pPr algn="l">
              <a:spcAft>
                <a:spcPts val="400"/>
              </a:spcAft>
            </a:pPr>
            <a:r>
              <a:rPr sz="1050" b="0" i="0">
                <a:solidFill>
                  <a:srgbClr val="2B2B2B"/>
                </a:solidFill>
                <a:latin typeface="Arial"/>
              </a:rPr>
              <a:t>Browse, Datei wählen; Arbeitsliste zeigt Status Entwurf</a:t>
            </a:r>
          </a:p>
        </p:txBody>
      </p:sp>
      <p:sp>
        <p:nvSpPr>
          <p:cNvPr id="15" name="TextBox 14"/>
          <p:cNvSpPr txBox="1"/>
          <p:nvPr/>
        </p:nvSpPr>
        <p:spPr>
          <a:xfrm>
            <a:off x="6108191" y="2286000"/>
            <a:ext cx="1798320" cy="1188720"/>
          </a:xfrm>
          <a:prstGeom prst="rect">
            <a:avLst/>
          </a:prstGeom>
          <a:noFill/>
        </p:spPr>
        <p:txBody>
          <a:bodyPr wrap="square" anchor="t" lIns="45720" rIns="45720">
            <a:spAutoFit/>
          </a:bodyPr>
          <a:lstStyle/>
          <a:p>
            <a:pPr algn="l">
              <a:spcAft>
                <a:spcPts val="400"/>
              </a:spcAft>
            </a:pPr>
            <a:r>
              <a:rPr sz="1050" b="0" i="0">
                <a:solidFill>
                  <a:srgbClr val="2B2B2B"/>
                </a:solidFill>
                <a:latin typeface="Arial"/>
              </a:rPr>
              <a:t>Positionen markieren, Check; rote Zeilen mit Fehlertext im Log</a:t>
            </a:r>
          </a:p>
        </p:txBody>
      </p:sp>
      <p:sp>
        <p:nvSpPr>
          <p:cNvPr id="16" name="TextBox 15"/>
          <p:cNvSpPr txBox="1"/>
          <p:nvPr/>
        </p:nvSpPr>
        <p:spPr>
          <a:xfrm>
            <a:off x="7961375" y="2286000"/>
            <a:ext cx="1798320" cy="1188720"/>
          </a:xfrm>
          <a:prstGeom prst="rect">
            <a:avLst/>
          </a:prstGeom>
          <a:noFill/>
        </p:spPr>
        <p:txBody>
          <a:bodyPr wrap="square" anchor="t" lIns="45720" rIns="45720">
            <a:spAutoFit/>
          </a:bodyPr>
          <a:lstStyle/>
          <a:p>
            <a:pPr algn="l">
              <a:spcAft>
                <a:spcPts val="400"/>
              </a:spcAft>
            </a:pPr>
            <a:r>
              <a:rPr sz="1050" b="0" i="0">
                <a:solidFill>
                  <a:srgbClr val="2B2B2B"/>
                </a:solidFill>
                <a:latin typeface="Arial"/>
              </a:rPr>
              <a:t>Fehlerhafte Zeile in der Kundenrechnungs-App öffnen, korrigieren, Status grün</a:t>
            </a:r>
          </a:p>
        </p:txBody>
      </p:sp>
      <p:sp>
        <p:nvSpPr>
          <p:cNvPr id="17" name="TextBox 16"/>
          <p:cNvSpPr txBox="1"/>
          <p:nvPr/>
        </p:nvSpPr>
        <p:spPr>
          <a:xfrm>
            <a:off x="9814560" y="2286000"/>
            <a:ext cx="1798320" cy="1188720"/>
          </a:xfrm>
          <a:prstGeom prst="rect">
            <a:avLst/>
          </a:prstGeom>
          <a:noFill/>
        </p:spPr>
        <p:txBody>
          <a:bodyPr wrap="square" anchor="t" lIns="45720" rIns="45720">
            <a:spAutoFit/>
          </a:bodyPr>
          <a:lstStyle/>
          <a:p>
            <a:pPr algn="l">
              <a:spcAft>
                <a:spcPts val="400"/>
              </a:spcAft>
            </a:pPr>
            <a:r>
              <a:rPr sz="1050" b="0" i="0">
                <a:solidFill>
                  <a:srgbClr val="2B2B2B"/>
                </a:solidFill>
                <a:latin typeface="Arial"/>
              </a:rPr>
              <a:t>Post erzeugt die Journal Entries (DR oder DG)</a:t>
            </a:r>
          </a:p>
        </p:txBody>
      </p:sp>
      <p:graphicFrame>
        <p:nvGraphicFramePr>
          <p:cNvPr id="18" name="Table 17"/>
          <p:cNvGraphicFramePr>
            <a:graphicFrameLocks noGrp="1"/>
          </p:cNvGraphicFramePr>
          <p:nvPr/>
        </p:nvGraphicFramePr>
        <p:xfrm>
          <a:off x="548640" y="3566160"/>
          <a:ext cx="6766560" cy="1508760"/>
        </p:xfrm>
        <a:graphic>
          <a:graphicData uri="http://schemas.openxmlformats.org/drawingml/2006/table">
            <a:tbl>
              <a:tblPr firstRow="1" bandRow="0">
                <a:tableStyleId>{5940675A-B579-460E-94D1-54222C63F5DA}</a:tableStyleId>
              </a:tblPr>
              <a:tblGrid>
                <a:gridCol w="1737360"/>
                <a:gridCol w="5029200"/>
              </a:tblGrid>
              <a:tr h="502920">
                <a:tc>
                  <a:txBody>
                    <a:bodyPr wrap="square"/>
                    <a:lstStyle/>
                    <a:p>
                      <a:pPr>
                        <a:spcAft>
                          <a:spcPts val="100"/>
                        </a:spcAft>
                      </a:pPr>
                      <a:r>
                        <a:rPr sz="1150" b="1" i="0">
                          <a:solidFill>
                            <a:srgbClr val="FFFFFF"/>
                          </a:solidFill>
                          <a:latin typeface="Arial"/>
                        </a:rPr>
                        <a:t>Bereich der Vorlage</a:t>
                      </a:r>
                    </a:p>
                  </a:txBody>
                  <a:tcPr marL="64008" marR="64008" marT="36576" marB="36576" anchor="ctr">
                    <a:solidFill>
                      <a:srgbClr val="1F4E5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150" b="1" i="0">
                          <a:solidFill>
                            <a:srgbClr val="FFFFFF"/>
                          </a:solidFill>
                          <a:latin typeface="Arial"/>
                        </a:rPr>
                        <a:t>Felder</a:t>
                      </a:r>
                    </a:p>
                  </a:txBody>
                  <a:tcPr marL="64008" marR="64008" marT="36576" marB="36576" anchor="ctr">
                    <a:solidFill>
                      <a:srgbClr val="1F4E5F"/>
                    </a:solidFill>
                    <a:lnL w="6350">
                      <a:solidFill>
                        <a:srgbClr val="D0D7DA"/>
                      </a:solidFill>
                    </a:lnL>
                    <a:lnR w="6350">
                      <a:solidFill>
                        <a:srgbClr val="D0D7DA"/>
                      </a:solidFill>
                    </a:lnR>
                    <a:lnT w="6350">
                      <a:solidFill>
                        <a:srgbClr val="D0D7DA"/>
                      </a:solidFill>
                    </a:lnT>
                    <a:lnB w="6350">
                      <a:solidFill>
                        <a:srgbClr val="D0D7DA"/>
                      </a:solidFill>
                    </a:lnB>
                  </a:tcPr>
                </a:tc>
              </a:tr>
              <a:tr h="502920">
                <a:tc>
                  <a:txBody>
                    <a:bodyPr wrap="square"/>
                    <a:lstStyle/>
                    <a:p>
                      <a:pPr>
                        <a:spcAft>
                          <a:spcPts val="100"/>
                        </a:spcAft>
                      </a:pPr>
                      <a:r>
                        <a:rPr sz="1050" b="0" i="0">
                          <a:solidFill>
                            <a:srgbClr val="2B2B2B"/>
                          </a:solidFill>
                          <a:latin typeface="Arial"/>
                        </a:rPr>
                        <a:t>Kopfdaten</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Sequenznummer (manuell fortlaufend), Buchungskreis, Vorgang 1 Rechnung / 2 Gutschrift, Kunde, Referenz, Belegdatum, Buchungsdatum, Belegart DR / DG, Kopftext, Währung, Bruttobetrag</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r>
              <a:tr h="502920">
                <a:tc>
                  <a:txBody>
                    <a:bodyPr wrap="square"/>
                    <a:lstStyle/>
                    <a:p>
                      <a:pPr>
                        <a:spcAft>
                          <a:spcPts val="100"/>
                        </a:spcAft>
                      </a:pPr>
                      <a:r>
                        <a:rPr sz="1050" b="0" i="0">
                          <a:solidFill>
                            <a:srgbClr val="2B2B2B"/>
                          </a:solidFill>
                          <a:latin typeface="Arial"/>
                        </a:rPr>
                        <a:t>Sachkontenpositionen</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Sachkonto (41000400), Positionstext, S / H, Betrag, Steuerkennzeichen, Profit Center (YB700), optional Reporting Segment und Funktionsbereich</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r>
            </a:tbl>
          </a:graphicData>
        </a:graphic>
      </p:graphicFrame>
      <p:sp>
        <p:nvSpPr>
          <p:cNvPr id="19" name="Rounded Rectangle 18"/>
          <p:cNvSpPr/>
          <p:nvPr/>
        </p:nvSpPr>
        <p:spPr>
          <a:xfrm>
            <a:off x="7589520" y="3566160"/>
            <a:ext cx="4023360" cy="2606040"/>
          </a:xfrm>
          <a:prstGeom prst="roundRect">
            <a:avLst>
              <a:gd name="adj" fmla="val 8000"/>
            </a:avLst>
          </a:prstGeom>
          <a:solidFill>
            <a:srgbClr val="E9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0" name="TextBox 19"/>
          <p:cNvSpPr txBox="1"/>
          <p:nvPr/>
        </p:nvSpPr>
        <p:spPr>
          <a:xfrm>
            <a:off x="7754112" y="3694176"/>
            <a:ext cx="3721608" cy="365760"/>
          </a:xfrm>
          <a:prstGeom prst="rect">
            <a:avLst/>
          </a:prstGeom>
          <a:noFill/>
        </p:spPr>
        <p:txBody>
          <a:bodyPr wrap="square" anchor="ctr" lIns="45720" rIns="45720">
            <a:spAutoFit/>
          </a:bodyPr>
          <a:lstStyle/>
          <a:p>
            <a:pPr algn="l">
              <a:spcAft>
                <a:spcPts val="400"/>
              </a:spcAft>
            </a:pPr>
            <a:r>
              <a:rPr sz="1300" b="1" i="0">
                <a:solidFill>
                  <a:srgbClr val="1F4E5F"/>
                </a:solidFill>
                <a:latin typeface="Arial"/>
              </a:rPr>
              <a:t>Voraussetzungen und Einsatz</a:t>
            </a:r>
          </a:p>
        </p:txBody>
      </p:sp>
      <p:sp>
        <p:nvSpPr>
          <p:cNvPr id="21" name="TextBox 20"/>
          <p:cNvSpPr txBox="1"/>
          <p:nvPr/>
        </p:nvSpPr>
        <p:spPr>
          <a:xfrm>
            <a:off x="7754112" y="4114800"/>
            <a:ext cx="3694176" cy="1965960"/>
          </a:xfrm>
          <a:prstGeom prst="rect">
            <a:avLst/>
          </a:prstGeom>
          <a:noFill/>
        </p:spPr>
        <p:txBody>
          <a:bodyPr wrap="square" anchor="t" lIns="45720" rIns="45720">
            <a:spAutoFit/>
          </a:bodyPr>
          <a:lstStyle/>
          <a:p>
            <a:pPr algn="l" marL="164592" indent="-164592">
              <a:spcAft>
                <a:spcPts val="300"/>
              </a:spcAft>
              <a:buChar char="•"/>
            </a:pPr>
            <a:r>
              <a:rPr sz="1050" b="0" i="0">
                <a:solidFill>
                  <a:srgbClr val="2B2B2B"/>
                </a:solidFill>
                <a:latin typeface="Arial"/>
              </a:rPr>
              <a:t>Manage Default Account Assignments: Buchungskreis, Kostenart 41000400, Ergebnisobjekt aktiv</a:t>
            </a:r>
          </a:p>
          <a:p>
            <a:pPr algn="l" marL="164592" indent="-164592">
              <a:spcAft>
                <a:spcPts val="300"/>
              </a:spcAft>
              <a:buChar char="•"/>
            </a:pPr>
            <a:r>
              <a:rPr sz="1050" b="0" i="0">
                <a:solidFill>
                  <a:srgbClr val="2B2B2B"/>
                </a:solidFill>
                <a:latin typeface="Arial"/>
              </a:rPr>
              <a:t>Geschäftspartner vorhanden, Buchungsperiode offen</a:t>
            </a:r>
          </a:p>
          <a:p>
            <a:pPr algn="l" marL="164592" indent="-164592">
              <a:spcAft>
                <a:spcPts val="300"/>
              </a:spcAft>
              <a:buChar char="•"/>
            </a:pPr>
            <a:r>
              <a:rPr sz="1050" b="0" i="0">
                <a:solidFill>
                  <a:srgbClr val="2B2B2B"/>
                </a:solidFill>
                <a:latin typeface="Arial"/>
              </a:rPr>
              <a:t>Einsatz: Vorsysteme ohne Schnittstelle, periodische Weiterbelastungen, Abgrenzungen, Massen-Gutschriften</a:t>
            </a:r>
          </a:p>
          <a:p>
            <a:pPr algn="l" marL="164592" indent="-164592">
              <a:spcAft>
                <a:spcPts val="300"/>
              </a:spcAft>
              <a:buChar char="•"/>
            </a:pPr>
            <a:r>
              <a:rPr sz="1050" b="0" i="0">
                <a:solidFill>
                  <a:srgbClr val="2B2B2B"/>
                </a:solidFill>
                <a:latin typeface="Arial"/>
              </a:rPr>
              <a:t>Nicht für den Cut-over der offenen Posten (Migrationscockpit)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11064240" cy="274320"/>
          </a:xfrm>
          <a:prstGeom prst="rect">
            <a:avLst/>
          </a:prstGeom>
          <a:noFill/>
        </p:spPr>
        <p:txBody>
          <a:bodyPr wrap="square" anchor="t" lIns="45720" rIns="45720">
            <a:spAutoFit/>
          </a:bodyPr>
          <a:lstStyle/>
          <a:p>
            <a:pPr algn="l">
              <a:spcAft>
                <a:spcPts val="400"/>
              </a:spcAft>
            </a:pPr>
            <a:r>
              <a:rPr sz="1200" b="1" i="0">
                <a:solidFill>
                  <a:srgbClr val="6B6B6B"/>
                </a:solidFill>
                <a:latin typeface="Arial"/>
              </a:rPr>
              <a:t>Thema 3 · Automatisierte Rechnung · Praxis</a:t>
            </a:r>
          </a:p>
        </p:txBody>
      </p:sp>
      <p:sp>
        <p:nvSpPr>
          <p:cNvPr id="3" name="TextBox 2"/>
          <p:cNvSpPr txBox="1"/>
          <p:nvPr/>
        </p:nvSpPr>
        <p:spPr>
          <a:xfrm>
            <a:off x="548640" y="502920"/>
            <a:ext cx="11064240" cy="731520"/>
          </a:xfrm>
          <a:prstGeom prst="rect">
            <a:avLst/>
          </a:prstGeom>
          <a:noFill/>
        </p:spPr>
        <p:txBody>
          <a:bodyPr wrap="square" anchor="ctr" lIns="45720" rIns="45720">
            <a:spAutoFit/>
          </a:bodyPr>
          <a:lstStyle/>
          <a:p>
            <a:pPr algn="l">
              <a:spcAft>
                <a:spcPts val="400"/>
              </a:spcAft>
            </a:pPr>
            <a:r>
              <a:rPr sz="2800" b="1" i="0">
                <a:solidFill>
                  <a:srgbClr val="2B2B2B"/>
                </a:solidFill>
                <a:latin typeface="Arial"/>
              </a:rPr>
              <a:t>Demo-Ablauf und Fragen an die Fachbereiche</a:t>
            </a:r>
          </a:p>
        </p:txBody>
      </p:sp>
      <p:sp>
        <p:nvSpPr>
          <p:cNvPr id="4" name="TextBox 3"/>
          <p:cNvSpPr txBox="1"/>
          <p:nvPr/>
        </p:nvSpPr>
        <p:spPr>
          <a:xfrm>
            <a:off x="548640" y="6446520"/>
            <a:ext cx="8229600" cy="274320"/>
          </a:xfrm>
          <a:prstGeom prst="rect">
            <a:avLst/>
          </a:prstGeom>
          <a:noFill/>
        </p:spPr>
        <p:txBody>
          <a:bodyPr wrap="square" anchor="t" lIns="45720" rIns="45720">
            <a:spAutoFit/>
          </a:bodyPr>
          <a:lstStyle/>
          <a:p>
            <a:pPr algn="l">
              <a:spcAft>
                <a:spcPts val="400"/>
              </a:spcAft>
            </a:pPr>
            <a:r>
              <a:rPr sz="900" b="0" i="0">
                <a:solidFill>
                  <a:srgbClr val="6B6B6B"/>
                </a:solidFill>
                <a:latin typeface="Arial"/>
              </a:rPr>
              <a:t>F2S-Workshop 3 · Debitorenbuchhaltung · SAP S/4HANA Cloud Public Edition 2608</a:t>
            </a:r>
          </a:p>
        </p:txBody>
      </p:sp>
      <p:sp>
        <p:nvSpPr>
          <p:cNvPr id="5" name="TextBox 4"/>
          <p:cNvSpPr txBox="1"/>
          <p:nvPr/>
        </p:nvSpPr>
        <p:spPr>
          <a:xfrm>
            <a:off x="10972800" y="6446520"/>
            <a:ext cx="685800" cy="274320"/>
          </a:xfrm>
          <a:prstGeom prst="rect">
            <a:avLst/>
          </a:prstGeom>
          <a:noFill/>
        </p:spPr>
        <p:txBody>
          <a:bodyPr wrap="square" anchor="t" lIns="45720" rIns="45720">
            <a:spAutoFit/>
          </a:bodyPr>
          <a:lstStyle/>
          <a:p>
            <a:pPr algn="r">
              <a:spcAft>
                <a:spcPts val="400"/>
              </a:spcAft>
            </a:pPr>
            <a:r>
              <a:rPr sz="900" b="0" i="0">
                <a:solidFill>
                  <a:srgbClr val="6B6B6B"/>
                </a:solidFill>
                <a:latin typeface="Arial"/>
              </a:rPr>
              <a:t>18</a:t>
            </a:r>
          </a:p>
        </p:txBody>
      </p:sp>
      <p:sp>
        <p:nvSpPr>
          <p:cNvPr id="6" name="TextBox 5"/>
          <p:cNvSpPr txBox="1"/>
          <p:nvPr/>
        </p:nvSpPr>
        <p:spPr>
          <a:xfrm>
            <a:off x="548640" y="1417320"/>
            <a:ext cx="5669280" cy="365760"/>
          </a:xfrm>
          <a:prstGeom prst="rect">
            <a:avLst/>
          </a:prstGeom>
          <a:noFill/>
        </p:spPr>
        <p:txBody>
          <a:bodyPr wrap="square" anchor="t" lIns="45720" rIns="45720">
            <a:spAutoFit/>
          </a:bodyPr>
          <a:lstStyle/>
          <a:p>
            <a:pPr algn="l">
              <a:spcAft>
                <a:spcPts val="400"/>
              </a:spcAft>
            </a:pPr>
            <a:r>
              <a:rPr sz="1400" b="1" i="0">
                <a:solidFill>
                  <a:srgbClr val="1F4E5F"/>
                </a:solidFill>
                <a:latin typeface="Arial"/>
              </a:rPr>
              <a:t>Demo im System (ca. 25 Minuten)</a:t>
            </a:r>
          </a:p>
        </p:txBody>
      </p:sp>
      <p:sp>
        <p:nvSpPr>
          <p:cNvPr id="7" name="Oval 6"/>
          <p:cNvSpPr/>
          <p:nvPr/>
        </p:nvSpPr>
        <p:spPr>
          <a:xfrm>
            <a:off x="548640" y="1874519"/>
            <a:ext cx="365760" cy="365760"/>
          </a:xfrm>
          <a:prstGeom prst="ellipse">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200" b="1" i="0">
                <a:solidFill>
                  <a:srgbClr val="FFFFFF"/>
                </a:solidFill>
                <a:latin typeface="Arial"/>
              </a:rPr>
              <a:t>1</a:t>
            </a:r>
          </a:p>
        </p:txBody>
      </p:sp>
      <p:sp>
        <p:nvSpPr>
          <p:cNvPr id="8" name="TextBox 7"/>
          <p:cNvSpPr txBox="1"/>
          <p:nvPr/>
        </p:nvSpPr>
        <p:spPr>
          <a:xfrm>
            <a:off x="1051560" y="1828800"/>
            <a:ext cx="5120640" cy="274320"/>
          </a:xfrm>
          <a:prstGeom prst="rect">
            <a:avLst/>
          </a:prstGeom>
          <a:noFill/>
        </p:spPr>
        <p:txBody>
          <a:bodyPr wrap="square" anchor="t" lIns="45720" rIns="45720">
            <a:spAutoFit/>
          </a:bodyPr>
          <a:lstStyle/>
          <a:p>
            <a:pPr algn="l">
              <a:spcAft>
                <a:spcPts val="400"/>
              </a:spcAft>
            </a:pPr>
            <a:r>
              <a:rPr sz="1250" b="1" i="0">
                <a:solidFill>
                  <a:srgbClr val="2B2B2B"/>
                </a:solidFill>
                <a:latin typeface="Arial"/>
              </a:rPr>
              <a:t>Faktura im Prozessfluss F2692</a:t>
            </a:r>
          </a:p>
        </p:txBody>
      </p:sp>
      <p:sp>
        <p:nvSpPr>
          <p:cNvPr id="9" name="TextBox 8"/>
          <p:cNvSpPr txBox="1"/>
          <p:nvPr/>
        </p:nvSpPr>
        <p:spPr>
          <a:xfrm>
            <a:off x="1051560" y="2103120"/>
            <a:ext cx="5120640" cy="548640"/>
          </a:xfrm>
          <a:prstGeom prst="rect">
            <a:avLst/>
          </a:prstGeom>
          <a:noFill/>
        </p:spPr>
        <p:txBody>
          <a:bodyPr wrap="square" anchor="t" lIns="45720" rIns="45720">
            <a:spAutoFit/>
          </a:bodyPr>
          <a:lstStyle/>
          <a:p>
            <a:pPr algn="l">
              <a:spcAft>
                <a:spcPts val="400"/>
              </a:spcAft>
            </a:pPr>
            <a:r>
              <a:rPr sz="1100" b="0" i="0">
                <a:solidFill>
                  <a:srgbClr val="2B2B2B"/>
                </a:solidFill>
                <a:latin typeface="Arial"/>
              </a:rPr>
              <a:t>Auftrag, Lieferung, Faktura, Journal Entry RV; Posten in F0711 mit Fakturanummer</a:t>
            </a:r>
          </a:p>
        </p:txBody>
      </p:sp>
      <p:sp>
        <p:nvSpPr>
          <p:cNvPr id="10" name="Oval 9"/>
          <p:cNvSpPr/>
          <p:nvPr/>
        </p:nvSpPr>
        <p:spPr>
          <a:xfrm>
            <a:off x="548640" y="2715768"/>
            <a:ext cx="365760" cy="365760"/>
          </a:xfrm>
          <a:prstGeom prst="ellipse">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200" b="1" i="0">
                <a:solidFill>
                  <a:srgbClr val="FFFFFF"/>
                </a:solidFill>
                <a:latin typeface="Arial"/>
              </a:rPr>
              <a:t>2</a:t>
            </a:r>
          </a:p>
        </p:txBody>
      </p:sp>
      <p:sp>
        <p:nvSpPr>
          <p:cNvPr id="11" name="TextBox 10"/>
          <p:cNvSpPr txBox="1"/>
          <p:nvPr/>
        </p:nvSpPr>
        <p:spPr>
          <a:xfrm>
            <a:off x="1051560" y="2670048"/>
            <a:ext cx="5120640" cy="274320"/>
          </a:xfrm>
          <a:prstGeom prst="rect">
            <a:avLst/>
          </a:prstGeom>
          <a:noFill/>
        </p:spPr>
        <p:txBody>
          <a:bodyPr wrap="square" anchor="t" lIns="45720" rIns="45720">
            <a:spAutoFit/>
          </a:bodyPr>
          <a:lstStyle/>
          <a:p>
            <a:pPr algn="l">
              <a:spcAft>
                <a:spcPts val="400"/>
              </a:spcAft>
            </a:pPr>
            <a:r>
              <a:rPr sz="1250" b="1" i="0">
                <a:solidFill>
                  <a:srgbClr val="2B2B2B"/>
                </a:solidFill>
                <a:latin typeface="Arial"/>
              </a:rPr>
              <a:t>Journal Entry der Faktura F0717A</a:t>
            </a:r>
          </a:p>
        </p:txBody>
      </p:sp>
      <p:sp>
        <p:nvSpPr>
          <p:cNvPr id="12" name="TextBox 11"/>
          <p:cNvSpPr txBox="1"/>
          <p:nvPr/>
        </p:nvSpPr>
        <p:spPr>
          <a:xfrm>
            <a:off x="1051560" y="2944368"/>
            <a:ext cx="5120640" cy="548640"/>
          </a:xfrm>
          <a:prstGeom prst="rect">
            <a:avLst/>
          </a:prstGeom>
          <a:noFill/>
        </p:spPr>
        <p:txBody>
          <a:bodyPr wrap="square" anchor="t" lIns="45720" rIns="45720">
            <a:spAutoFit/>
          </a:bodyPr>
          <a:lstStyle/>
          <a:p>
            <a:pPr algn="l">
              <a:spcAft>
                <a:spcPts val="400"/>
              </a:spcAft>
            </a:pPr>
            <a:r>
              <a:rPr sz="1100" b="0" i="0">
                <a:solidFill>
                  <a:srgbClr val="2B2B2B"/>
                </a:solidFill>
                <a:latin typeface="Arial"/>
              </a:rPr>
              <a:t>Erlöskonten aus SD-Kontenfindung, Steuer, Ergebnisobjekt automatisch</a:t>
            </a:r>
          </a:p>
        </p:txBody>
      </p:sp>
      <p:sp>
        <p:nvSpPr>
          <p:cNvPr id="13" name="Oval 12"/>
          <p:cNvSpPr/>
          <p:nvPr/>
        </p:nvSpPr>
        <p:spPr>
          <a:xfrm>
            <a:off x="548640" y="3557015"/>
            <a:ext cx="365760" cy="365760"/>
          </a:xfrm>
          <a:prstGeom prst="ellipse">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200" b="1" i="0">
                <a:solidFill>
                  <a:srgbClr val="FFFFFF"/>
                </a:solidFill>
                <a:latin typeface="Arial"/>
              </a:rPr>
              <a:t>3</a:t>
            </a:r>
          </a:p>
        </p:txBody>
      </p:sp>
      <p:sp>
        <p:nvSpPr>
          <p:cNvPr id="14" name="TextBox 13"/>
          <p:cNvSpPr txBox="1"/>
          <p:nvPr/>
        </p:nvSpPr>
        <p:spPr>
          <a:xfrm>
            <a:off x="1051560" y="3511296"/>
            <a:ext cx="5120640" cy="274320"/>
          </a:xfrm>
          <a:prstGeom prst="rect">
            <a:avLst/>
          </a:prstGeom>
          <a:noFill/>
        </p:spPr>
        <p:txBody>
          <a:bodyPr wrap="square" anchor="t" lIns="45720" rIns="45720">
            <a:spAutoFit/>
          </a:bodyPr>
          <a:lstStyle/>
          <a:p>
            <a:pPr algn="l">
              <a:spcAft>
                <a:spcPts val="400"/>
              </a:spcAft>
            </a:pPr>
            <a:r>
              <a:rPr sz="1250" b="1" i="0">
                <a:solidFill>
                  <a:srgbClr val="2B2B2B"/>
                </a:solidFill>
                <a:latin typeface="Arial"/>
              </a:rPr>
              <a:t>Vorlage in F4051</a:t>
            </a:r>
          </a:p>
        </p:txBody>
      </p:sp>
      <p:sp>
        <p:nvSpPr>
          <p:cNvPr id="15" name="TextBox 14"/>
          <p:cNvSpPr txBox="1"/>
          <p:nvPr/>
        </p:nvSpPr>
        <p:spPr>
          <a:xfrm>
            <a:off x="1051560" y="3785615"/>
            <a:ext cx="5120640" cy="548640"/>
          </a:xfrm>
          <a:prstGeom prst="rect">
            <a:avLst/>
          </a:prstGeom>
          <a:noFill/>
        </p:spPr>
        <p:txBody>
          <a:bodyPr wrap="square" anchor="t" lIns="45720" rIns="45720">
            <a:spAutoFit/>
          </a:bodyPr>
          <a:lstStyle/>
          <a:p>
            <a:pPr algn="l">
              <a:spcAft>
                <a:spcPts val="400"/>
              </a:spcAft>
            </a:pPr>
            <a:r>
              <a:rPr sz="1100" b="0" i="0">
                <a:solidFill>
                  <a:srgbClr val="2B2B2B"/>
                </a:solidFill>
                <a:latin typeface="Arial"/>
              </a:rPr>
              <a:t>Download Template: Aufbau Kopf und Positionen, DR / DG, 500er-Grenze</a:t>
            </a:r>
          </a:p>
        </p:txBody>
      </p:sp>
      <p:sp>
        <p:nvSpPr>
          <p:cNvPr id="16" name="Oval 15"/>
          <p:cNvSpPr/>
          <p:nvPr/>
        </p:nvSpPr>
        <p:spPr>
          <a:xfrm>
            <a:off x="548640" y="4398264"/>
            <a:ext cx="365760" cy="365760"/>
          </a:xfrm>
          <a:prstGeom prst="ellipse">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200" b="1" i="0">
                <a:solidFill>
                  <a:srgbClr val="FFFFFF"/>
                </a:solidFill>
                <a:latin typeface="Arial"/>
              </a:rPr>
              <a:t>4</a:t>
            </a:r>
          </a:p>
        </p:txBody>
      </p:sp>
      <p:sp>
        <p:nvSpPr>
          <p:cNvPr id="17" name="TextBox 16"/>
          <p:cNvSpPr txBox="1"/>
          <p:nvPr/>
        </p:nvSpPr>
        <p:spPr>
          <a:xfrm>
            <a:off x="1051560" y="4352544"/>
            <a:ext cx="5120640" cy="274320"/>
          </a:xfrm>
          <a:prstGeom prst="rect">
            <a:avLst/>
          </a:prstGeom>
          <a:noFill/>
        </p:spPr>
        <p:txBody>
          <a:bodyPr wrap="square" anchor="t" lIns="45720" rIns="45720">
            <a:spAutoFit/>
          </a:bodyPr>
          <a:lstStyle/>
          <a:p>
            <a:pPr algn="l">
              <a:spcAft>
                <a:spcPts val="400"/>
              </a:spcAft>
            </a:pPr>
            <a:r>
              <a:rPr sz="1250" b="1" i="0">
                <a:solidFill>
                  <a:srgbClr val="2B2B2B"/>
                </a:solidFill>
                <a:latin typeface="Arial"/>
              </a:rPr>
              <a:t>Upload, Check, Log, Korrektur</a:t>
            </a:r>
          </a:p>
        </p:txBody>
      </p:sp>
      <p:sp>
        <p:nvSpPr>
          <p:cNvPr id="18" name="TextBox 17"/>
          <p:cNvSpPr txBox="1"/>
          <p:nvPr/>
        </p:nvSpPr>
        <p:spPr>
          <a:xfrm>
            <a:off x="1051560" y="4626864"/>
            <a:ext cx="5120640" cy="548640"/>
          </a:xfrm>
          <a:prstGeom prst="rect">
            <a:avLst/>
          </a:prstGeom>
          <a:noFill/>
        </p:spPr>
        <p:txBody>
          <a:bodyPr wrap="square" anchor="t" lIns="45720" rIns="45720">
            <a:spAutoFit/>
          </a:bodyPr>
          <a:lstStyle/>
          <a:p>
            <a:pPr algn="l">
              <a:spcAft>
                <a:spcPts val="400"/>
              </a:spcAft>
            </a:pPr>
            <a:r>
              <a:rPr sz="1100" b="0" i="0">
                <a:solidFill>
                  <a:srgbClr val="2B2B2B"/>
                </a:solidFill>
                <a:latin typeface="Arial"/>
              </a:rPr>
              <a:t>Vorbereitete Datei, eine rote Zeile korrigieren, Status grün</a:t>
            </a:r>
          </a:p>
        </p:txBody>
      </p:sp>
      <p:sp>
        <p:nvSpPr>
          <p:cNvPr id="19" name="Oval 18"/>
          <p:cNvSpPr/>
          <p:nvPr/>
        </p:nvSpPr>
        <p:spPr>
          <a:xfrm>
            <a:off x="548640" y="5239512"/>
            <a:ext cx="365760" cy="365760"/>
          </a:xfrm>
          <a:prstGeom prst="ellipse">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200" b="1" i="0">
                <a:solidFill>
                  <a:srgbClr val="FFFFFF"/>
                </a:solidFill>
                <a:latin typeface="Arial"/>
              </a:rPr>
              <a:t>5</a:t>
            </a:r>
          </a:p>
        </p:txBody>
      </p:sp>
      <p:sp>
        <p:nvSpPr>
          <p:cNvPr id="20" name="TextBox 19"/>
          <p:cNvSpPr txBox="1"/>
          <p:nvPr/>
        </p:nvSpPr>
        <p:spPr>
          <a:xfrm>
            <a:off x="1051560" y="5193792"/>
            <a:ext cx="5120640" cy="274320"/>
          </a:xfrm>
          <a:prstGeom prst="rect">
            <a:avLst/>
          </a:prstGeom>
          <a:noFill/>
        </p:spPr>
        <p:txBody>
          <a:bodyPr wrap="square" anchor="t" lIns="45720" rIns="45720">
            <a:spAutoFit/>
          </a:bodyPr>
          <a:lstStyle/>
          <a:p>
            <a:pPr algn="l">
              <a:spcAft>
                <a:spcPts val="400"/>
              </a:spcAft>
            </a:pPr>
            <a:r>
              <a:rPr sz="1250" b="1" i="0">
                <a:solidFill>
                  <a:srgbClr val="2B2B2B"/>
                </a:solidFill>
                <a:latin typeface="Arial"/>
              </a:rPr>
              <a:t>Buchen und Ergebnis</a:t>
            </a:r>
          </a:p>
        </p:txBody>
      </p:sp>
      <p:sp>
        <p:nvSpPr>
          <p:cNvPr id="21" name="TextBox 20"/>
          <p:cNvSpPr txBox="1"/>
          <p:nvPr/>
        </p:nvSpPr>
        <p:spPr>
          <a:xfrm>
            <a:off x="1051560" y="5468112"/>
            <a:ext cx="5120640" cy="548640"/>
          </a:xfrm>
          <a:prstGeom prst="rect">
            <a:avLst/>
          </a:prstGeom>
          <a:noFill/>
        </p:spPr>
        <p:txBody>
          <a:bodyPr wrap="square" anchor="t" lIns="45720" rIns="45720">
            <a:spAutoFit/>
          </a:bodyPr>
          <a:lstStyle/>
          <a:p>
            <a:pPr algn="l">
              <a:spcAft>
                <a:spcPts val="400"/>
              </a:spcAft>
            </a:pPr>
            <a:r>
              <a:rPr sz="1100" b="0" i="0">
                <a:solidFill>
                  <a:srgbClr val="2B2B2B"/>
                </a:solidFill>
                <a:latin typeface="Arial"/>
              </a:rPr>
              <a:t>Post; neue Posten in F0711; Default Account Assignment in der Konfiguration zeigen</a:t>
            </a:r>
          </a:p>
        </p:txBody>
      </p:sp>
      <p:sp>
        <p:nvSpPr>
          <p:cNvPr id="22" name="Rounded Rectangle 21"/>
          <p:cNvSpPr/>
          <p:nvPr/>
        </p:nvSpPr>
        <p:spPr>
          <a:xfrm>
            <a:off x="6583680" y="1417320"/>
            <a:ext cx="5029200" cy="4754880"/>
          </a:xfrm>
          <a:prstGeom prst="roundRect">
            <a:avLst>
              <a:gd name="adj" fmla="val 8000"/>
            </a:avLst>
          </a:prstGeom>
          <a:solidFill>
            <a:srgbClr val="E9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3" name="TextBox 22"/>
          <p:cNvSpPr txBox="1"/>
          <p:nvPr/>
        </p:nvSpPr>
        <p:spPr>
          <a:xfrm>
            <a:off x="6766560" y="1554480"/>
            <a:ext cx="4663440" cy="365760"/>
          </a:xfrm>
          <a:prstGeom prst="rect">
            <a:avLst/>
          </a:prstGeom>
          <a:noFill/>
        </p:spPr>
        <p:txBody>
          <a:bodyPr wrap="square" anchor="t" lIns="45720" rIns="45720">
            <a:spAutoFit/>
          </a:bodyPr>
          <a:lstStyle/>
          <a:p>
            <a:pPr algn="l">
              <a:spcAft>
                <a:spcPts val="400"/>
              </a:spcAft>
            </a:pPr>
            <a:r>
              <a:rPr sz="1400" b="1" i="0">
                <a:solidFill>
                  <a:srgbClr val="1F4E5F"/>
                </a:solidFill>
                <a:latin typeface="Arial"/>
              </a:rPr>
              <a:t>Fit-to-Standard-Fragen</a:t>
            </a:r>
          </a:p>
        </p:txBody>
      </p:sp>
      <p:sp>
        <p:nvSpPr>
          <p:cNvPr id="24" name="TextBox 23"/>
          <p:cNvSpPr txBox="1"/>
          <p:nvPr/>
        </p:nvSpPr>
        <p:spPr>
          <a:xfrm>
            <a:off x="6766560" y="1965960"/>
            <a:ext cx="4663440" cy="4114800"/>
          </a:xfrm>
          <a:prstGeom prst="rect">
            <a:avLst/>
          </a:prstGeom>
          <a:noFill/>
        </p:spPr>
        <p:txBody>
          <a:bodyPr wrap="square" anchor="t" lIns="45720" rIns="45720">
            <a:spAutoFit/>
          </a:bodyPr>
          <a:lstStyle/>
          <a:p>
            <a:pPr algn="l" marL="164592" indent="-164592">
              <a:spcAft>
                <a:spcPts val="500"/>
              </a:spcAft>
              <a:buChar char="•"/>
            </a:pPr>
            <a:r>
              <a:rPr sz="1150" b="0" i="0">
                <a:solidFill>
                  <a:srgbClr val="2B2B2B"/>
                </a:solidFill>
                <a:latin typeface="Arial"/>
              </a:rPr>
              <a:t>Welche Rechnungen kommen aus dem Vertrieb, welche aus Vorsystemen, welche manuell? Mengengerüst je Quelle</a:t>
            </a:r>
          </a:p>
          <a:p>
            <a:pPr algn="l" marL="164592" indent="-164592">
              <a:spcAft>
                <a:spcPts val="500"/>
              </a:spcAft>
              <a:buChar char="•"/>
            </a:pPr>
            <a:r>
              <a:rPr sz="1150" b="0" i="0">
                <a:solidFill>
                  <a:srgbClr val="2B2B2B"/>
                </a:solidFill>
                <a:latin typeface="Arial"/>
              </a:rPr>
              <a:t>Vorsysteme: Schnittstelle oder Upload? Wer bereitet vor, prüft, bucht?</a:t>
            </a:r>
          </a:p>
          <a:p>
            <a:pPr algn="l" marL="164592" indent="-164592">
              <a:spcAft>
                <a:spcPts val="500"/>
              </a:spcAft>
              <a:buChar char="•"/>
            </a:pPr>
            <a:r>
              <a:rPr sz="1150" b="0" i="0">
                <a:solidFill>
                  <a:srgbClr val="2B2B2B"/>
                </a:solidFill>
                <a:latin typeface="Arial"/>
              </a:rPr>
              <a:t>Gutschriften in Masse über Upload zulässig?</a:t>
            </a:r>
          </a:p>
          <a:p>
            <a:pPr algn="l" marL="164592" indent="-164592">
              <a:spcAft>
                <a:spcPts val="500"/>
              </a:spcAft>
              <a:buChar char="•"/>
            </a:pPr>
            <a:r>
              <a:rPr sz="1150" b="0" i="0">
                <a:solidFill>
                  <a:srgbClr val="2B2B2B"/>
                </a:solidFill>
                <a:latin typeface="Arial"/>
              </a:rPr>
              <a:t>Cut-over der offenen Posten: Migrationscockpit, Stichtag, Abstimmung mit Altsystem</a:t>
            </a:r>
          </a:p>
          <a:p>
            <a:pPr algn="l" marL="164592" indent="-164592">
              <a:spcAft>
                <a:spcPts val="500"/>
              </a:spcAft>
              <a:buChar char="•"/>
            </a:pPr>
            <a:r>
              <a:rPr sz="1150" b="0" i="0">
                <a:solidFill>
                  <a:srgbClr val="2B2B2B"/>
                </a:solidFill>
                <a:latin typeface="Arial"/>
              </a:rPr>
              <a:t>Konzerninterne Rechnungen: Intercompany-Prozess oder manuell?</a:t>
            </a:r>
          </a:p>
          <a:p>
            <a:pPr algn="l" marL="164592" indent="-164592">
              <a:spcAft>
                <a:spcPts val="500"/>
              </a:spcAft>
              <a:buChar char="•"/>
            </a:pPr>
            <a:r>
              <a:rPr sz="1150" b="0" i="0">
                <a:solidFill>
                  <a:srgbClr val="2B2B2B"/>
                </a:solidFill>
                <a:latin typeface="Arial"/>
              </a:rPr>
              <a:t>Gleiche Konten, Steuer und Ergebnisobjekt-Ableitung für alle Wege bestätigt?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3" name="TextBox 2"/>
          <p:cNvSpPr txBox="1"/>
          <p:nvPr/>
        </p:nvSpPr>
        <p:spPr>
          <a:xfrm>
            <a:off x="822960" y="2103120"/>
            <a:ext cx="10058400" cy="365760"/>
          </a:xfrm>
          <a:prstGeom prst="rect">
            <a:avLst/>
          </a:prstGeom>
          <a:noFill/>
        </p:spPr>
        <p:txBody>
          <a:bodyPr wrap="square" anchor="t" lIns="45720" rIns="45720">
            <a:spAutoFit/>
          </a:bodyPr>
          <a:lstStyle/>
          <a:p>
            <a:pPr algn="l">
              <a:spcAft>
                <a:spcPts val="400"/>
              </a:spcAft>
            </a:pPr>
            <a:r>
              <a:rPr sz="1400" b="1" i="0">
                <a:solidFill>
                  <a:srgbClr val="C6DCE2"/>
                </a:solidFill>
                <a:latin typeface="Arial"/>
              </a:rPr>
              <a:t>Thema 4</a:t>
            </a:r>
          </a:p>
        </p:txBody>
      </p:sp>
      <p:sp>
        <p:nvSpPr>
          <p:cNvPr id="4" name="TextBox 3"/>
          <p:cNvSpPr txBox="1"/>
          <p:nvPr/>
        </p:nvSpPr>
        <p:spPr>
          <a:xfrm>
            <a:off x="822960" y="2514600"/>
            <a:ext cx="10515600" cy="1188720"/>
          </a:xfrm>
          <a:prstGeom prst="rect">
            <a:avLst/>
          </a:prstGeom>
          <a:noFill/>
        </p:spPr>
        <p:txBody>
          <a:bodyPr wrap="square" anchor="ctr" lIns="45720" rIns="45720">
            <a:spAutoFit/>
          </a:bodyPr>
          <a:lstStyle/>
          <a:p>
            <a:pPr algn="l">
              <a:spcAft>
                <a:spcPts val="400"/>
              </a:spcAft>
            </a:pPr>
            <a:r>
              <a:rPr sz="3600" b="1" i="0">
                <a:solidFill>
                  <a:srgbClr val="FFFFFF"/>
                </a:solidFill>
                <a:latin typeface="Arial"/>
              </a:rPr>
              <a:t>Buchung, offener Posten und Basis-Konfiguration</a:t>
            </a:r>
          </a:p>
        </p:txBody>
      </p:sp>
      <p:sp>
        <p:nvSpPr>
          <p:cNvPr id="5" name="TextBox 4"/>
          <p:cNvSpPr txBox="1"/>
          <p:nvPr/>
        </p:nvSpPr>
        <p:spPr>
          <a:xfrm>
            <a:off x="822960" y="3794760"/>
            <a:ext cx="10058400" cy="1097280"/>
          </a:xfrm>
          <a:prstGeom prst="rect">
            <a:avLst/>
          </a:prstGeom>
          <a:noFill/>
        </p:spPr>
        <p:txBody>
          <a:bodyPr wrap="square" anchor="t" lIns="45720" rIns="45720">
            <a:spAutoFit/>
          </a:bodyPr>
          <a:lstStyle/>
          <a:p>
            <a:pPr algn="l">
              <a:spcAft>
                <a:spcPts val="400"/>
              </a:spcAft>
            </a:pPr>
            <a:r>
              <a:rPr sz="1600" b="0" i="0">
                <a:solidFill>
                  <a:srgbClr val="FFFFFF"/>
                </a:solidFill>
                <a:latin typeface="Arial"/>
              </a:rPr>
              <a:t>Mit der Buchung beginnt das Leben des offenen Postens. Die Konfiguration bestimmt, wie er aussieht, wer ihn verantwortet und wie das Unternehmen Forderungen auswertet und steuert.</a:t>
            </a:r>
          </a:p>
        </p:txBody>
      </p:sp>
      <p:sp>
        <p:nvSpPr>
          <p:cNvPr id="6" name="TextBox 5"/>
          <p:cNvSpPr txBox="1"/>
          <p:nvPr/>
        </p:nvSpPr>
        <p:spPr>
          <a:xfrm>
            <a:off x="10972800" y="6446520"/>
            <a:ext cx="685800" cy="274320"/>
          </a:xfrm>
          <a:prstGeom prst="rect">
            <a:avLst/>
          </a:prstGeom>
          <a:noFill/>
        </p:spPr>
        <p:txBody>
          <a:bodyPr wrap="square" anchor="t" lIns="45720" rIns="45720">
            <a:spAutoFit/>
          </a:bodyPr>
          <a:lstStyle/>
          <a:p>
            <a:pPr algn="r">
              <a:spcAft>
                <a:spcPts val="400"/>
              </a:spcAft>
            </a:pPr>
            <a:r>
              <a:rPr sz="900" b="0" i="0">
                <a:solidFill>
                  <a:srgbClr val="C6DCE2"/>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11064240" cy="274320"/>
          </a:xfrm>
          <a:prstGeom prst="rect">
            <a:avLst/>
          </a:prstGeom>
          <a:noFill/>
        </p:spPr>
        <p:txBody>
          <a:bodyPr wrap="square" anchor="t" lIns="45720" rIns="45720">
            <a:spAutoFit/>
          </a:bodyPr>
          <a:lstStyle/>
          <a:p>
            <a:pPr algn="l">
              <a:spcAft>
                <a:spcPts val="400"/>
              </a:spcAft>
            </a:pPr>
            <a:r>
              <a:rPr sz="1200" b="1" i="0">
                <a:solidFill>
                  <a:srgbClr val="6B6B6B"/>
                </a:solidFill>
                <a:latin typeface="Arial"/>
              </a:rPr>
              <a:t>Thema 4 · Buchung und Posten · Theorie</a:t>
            </a:r>
          </a:p>
        </p:txBody>
      </p:sp>
      <p:sp>
        <p:nvSpPr>
          <p:cNvPr id="3" name="TextBox 2"/>
          <p:cNvSpPr txBox="1"/>
          <p:nvPr/>
        </p:nvSpPr>
        <p:spPr>
          <a:xfrm>
            <a:off x="548640" y="502920"/>
            <a:ext cx="11064240" cy="731520"/>
          </a:xfrm>
          <a:prstGeom prst="rect">
            <a:avLst/>
          </a:prstGeom>
          <a:noFill/>
        </p:spPr>
        <p:txBody>
          <a:bodyPr wrap="square" anchor="ctr" lIns="45720" rIns="45720">
            <a:spAutoFit/>
          </a:bodyPr>
          <a:lstStyle/>
          <a:p>
            <a:pPr algn="l">
              <a:spcAft>
                <a:spcPts val="400"/>
              </a:spcAft>
            </a:pPr>
            <a:r>
              <a:rPr sz="2800" b="1" i="0">
                <a:solidFill>
                  <a:srgbClr val="2B2B2B"/>
                </a:solidFill>
                <a:latin typeface="Arial"/>
              </a:rPr>
              <a:t>Warum der offene Posten gepflegt werden muss</a:t>
            </a:r>
          </a:p>
        </p:txBody>
      </p:sp>
      <p:sp>
        <p:nvSpPr>
          <p:cNvPr id="4" name="TextBox 3"/>
          <p:cNvSpPr txBox="1"/>
          <p:nvPr/>
        </p:nvSpPr>
        <p:spPr>
          <a:xfrm>
            <a:off x="548640" y="6446520"/>
            <a:ext cx="8229600" cy="274320"/>
          </a:xfrm>
          <a:prstGeom prst="rect">
            <a:avLst/>
          </a:prstGeom>
          <a:noFill/>
        </p:spPr>
        <p:txBody>
          <a:bodyPr wrap="square" anchor="t" lIns="45720" rIns="45720">
            <a:spAutoFit/>
          </a:bodyPr>
          <a:lstStyle/>
          <a:p>
            <a:pPr algn="l">
              <a:spcAft>
                <a:spcPts val="400"/>
              </a:spcAft>
            </a:pPr>
            <a:r>
              <a:rPr sz="900" b="0" i="0">
                <a:solidFill>
                  <a:srgbClr val="6B6B6B"/>
                </a:solidFill>
                <a:latin typeface="Arial"/>
              </a:rPr>
              <a:t>F2S-Workshop 3 · Debitorenbuchhaltung · SAP S/4HANA Cloud Public Edition 2608</a:t>
            </a:r>
          </a:p>
        </p:txBody>
      </p:sp>
      <p:sp>
        <p:nvSpPr>
          <p:cNvPr id="5" name="TextBox 4"/>
          <p:cNvSpPr txBox="1"/>
          <p:nvPr/>
        </p:nvSpPr>
        <p:spPr>
          <a:xfrm>
            <a:off x="10972800" y="6446520"/>
            <a:ext cx="685800" cy="274320"/>
          </a:xfrm>
          <a:prstGeom prst="rect">
            <a:avLst/>
          </a:prstGeom>
          <a:noFill/>
        </p:spPr>
        <p:txBody>
          <a:bodyPr wrap="square" anchor="t" lIns="45720" rIns="45720">
            <a:spAutoFit/>
          </a:bodyPr>
          <a:lstStyle/>
          <a:p>
            <a:pPr algn="r">
              <a:spcAft>
                <a:spcPts val="400"/>
              </a:spcAft>
            </a:pPr>
            <a:r>
              <a:rPr sz="900" b="0" i="0">
                <a:solidFill>
                  <a:srgbClr val="6B6B6B"/>
                </a:solidFill>
                <a:latin typeface="Arial"/>
              </a:rPr>
              <a:t>20</a:t>
            </a:r>
          </a:p>
        </p:txBody>
      </p:sp>
      <p:sp>
        <p:nvSpPr>
          <p:cNvPr id="6" name="Rounded Rectangle 5"/>
          <p:cNvSpPr/>
          <p:nvPr/>
        </p:nvSpPr>
        <p:spPr>
          <a:xfrm>
            <a:off x="548640" y="1463040"/>
            <a:ext cx="5394960" cy="2103120"/>
          </a:xfrm>
          <a:prstGeom prst="roundRect">
            <a:avLst>
              <a:gd name="adj" fmla="val 8000"/>
            </a:avLst>
          </a:prstGeom>
          <a:solidFill>
            <a:srgbClr val="E9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7" name="Oval 6"/>
          <p:cNvSpPr/>
          <p:nvPr/>
        </p:nvSpPr>
        <p:spPr>
          <a:xfrm>
            <a:off x="713232" y="1609344"/>
            <a:ext cx="329184" cy="329184"/>
          </a:xfrm>
          <a:prstGeom prst="ellipse">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200" b="1" i="0">
                <a:solidFill>
                  <a:srgbClr val="FFFFFF"/>
                </a:solidFill>
                <a:latin typeface="Arial"/>
              </a:rPr>
              <a:t>1</a:t>
            </a:r>
          </a:p>
        </p:txBody>
      </p:sp>
      <p:sp>
        <p:nvSpPr>
          <p:cNvPr id="8" name="TextBox 7"/>
          <p:cNvSpPr txBox="1"/>
          <p:nvPr/>
        </p:nvSpPr>
        <p:spPr>
          <a:xfrm>
            <a:off x="1133856" y="1591056"/>
            <a:ext cx="4672584" cy="365760"/>
          </a:xfrm>
          <a:prstGeom prst="rect">
            <a:avLst/>
          </a:prstGeom>
          <a:noFill/>
        </p:spPr>
        <p:txBody>
          <a:bodyPr wrap="square" anchor="ctr" lIns="45720" rIns="45720">
            <a:spAutoFit/>
          </a:bodyPr>
          <a:lstStyle/>
          <a:p>
            <a:pPr algn="l">
              <a:spcAft>
                <a:spcPts val="400"/>
              </a:spcAft>
            </a:pPr>
            <a:r>
              <a:rPr sz="1300" b="1" i="0">
                <a:solidFill>
                  <a:srgbClr val="1F4E5F"/>
                </a:solidFill>
                <a:latin typeface="Arial"/>
              </a:rPr>
              <a:t>Kundenkonto als Verhandlungsgrundlage</a:t>
            </a:r>
          </a:p>
        </p:txBody>
      </p:sp>
      <p:sp>
        <p:nvSpPr>
          <p:cNvPr id="9" name="TextBox 8"/>
          <p:cNvSpPr txBox="1"/>
          <p:nvPr/>
        </p:nvSpPr>
        <p:spPr>
          <a:xfrm>
            <a:off x="713232" y="2011680"/>
            <a:ext cx="5065776" cy="1463039"/>
          </a:xfrm>
          <a:prstGeom prst="rect">
            <a:avLst/>
          </a:prstGeom>
          <a:noFill/>
        </p:spPr>
        <p:txBody>
          <a:bodyPr wrap="square" anchor="t" lIns="45720" rIns="45720">
            <a:spAutoFit/>
          </a:bodyPr>
          <a:lstStyle/>
          <a:p>
            <a:pPr algn="l">
              <a:spcAft>
                <a:spcPts val="300"/>
              </a:spcAft>
            </a:pPr>
            <a:r>
              <a:rPr sz="1300" b="0" i="0">
                <a:solidFill>
                  <a:srgbClr val="2B2B2B"/>
                </a:solidFill>
                <a:latin typeface="Arial"/>
              </a:rPr>
              <a:t>Kontoauszug, Offene-Posten-Liste und Saldenbestätigung müssen jederzeit aus dem System erzeugbar sein. Sie sind die Dokumente, mit denen Kunde und Unternehmen den Stand abgleichen.</a:t>
            </a:r>
          </a:p>
        </p:txBody>
      </p:sp>
      <p:sp>
        <p:nvSpPr>
          <p:cNvPr id="10" name="Rounded Rectangle 9"/>
          <p:cNvSpPr/>
          <p:nvPr/>
        </p:nvSpPr>
        <p:spPr>
          <a:xfrm>
            <a:off x="6217920" y="1463040"/>
            <a:ext cx="5394960" cy="2103120"/>
          </a:xfrm>
          <a:prstGeom prst="roundRect">
            <a:avLst>
              <a:gd name="adj" fmla="val 8000"/>
            </a:avLst>
          </a:prstGeom>
          <a:solidFill>
            <a:srgbClr val="E9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1" name="Oval 10"/>
          <p:cNvSpPr/>
          <p:nvPr/>
        </p:nvSpPr>
        <p:spPr>
          <a:xfrm>
            <a:off x="6382512" y="1609344"/>
            <a:ext cx="329184" cy="329184"/>
          </a:xfrm>
          <a:prstGeom prst="ellipse">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200" b="1" i="0">
                <a:solidFill>
                  <a:srgbClr val="FFFFFF"/>
                </a:solidFill>
                <a:latin typeface="Arial"/>
              </a:rPr>
              <a:t>2</a:t>
            </a:r>
          </a:p>
        </p:txBody>
      </p:sp>
      <p:sp>
        <p:nvSpPr>
          <p:cNvPr id="12" name="TextBox 11"/>
          <p:cNvSpPr txBox="1"/>
          <p:nvPr/>
        </p:nvSpPr>
        <p:spPr>
          <a:xfrm>
            <a:off x="6803136" y="1591056"/>
            <a:ext cx="4672584" cy="365760"/>
          </a:xfrm>
          <a:prstGeom prst="rect">
            <a:avLst/>
          </a:prstGeom>
          <a:noFill/>
        </p:spPr>
        <p:txBody>
          <a:bodyPr wrap="square" anchor="ctr" lIns="45720" rIns="45720">
            <a:spAutoFit/>
          </a:bodyPr>
          <a:lstStyle/>
          <a:p>
            <a:pPr algn="l">
              <a:spcAft>
                <a:spcPts val="400"/>
              </a:spcAft>
            </a:pPr>
            <a:r>
              <a:rPr sz="1300" b="1" i="0">
                <a:solidFill>
                  <a:srgbClr val="1F4E5F"/>
                </a:solidFill>
                <a:latin typeface="Arial"/>
              </a:rPr>
              <a:t>Korrekturen gehören zum Alltag</a:t>
            </a:r>
          </a:p>
        </p:txBody>
      </p:sp>
      <p:sp>
        <p:nvSpPr>
          <p:cNvPr id="13" name="TextBox 12"/>
          <p:cNvSpPr txBox="1"/>
          <p:nvPr/>
        </p:nvSpPr>
        <p:spPr>
          <a:xfrm>
            <a:off x="6382512" y="2011680"/>
            <a:ext cx="5065776" cy="1463039"/>
          </a:xfrm>
          <a:prstGeom prst="rect">
            <a:avLst/>
          </a:prstGeom>
          <a:noFill/>
        </p:spPr>
        <p:txBody>
          <a:bodyPr wrap="square" anchor="t" lIns="45720" rIns="45720">
            <a:spAutoFit/>
          </a:bodyPr>
          <a:lstStyle/>
          <a:p>
            <a:pPr algn="l">
              <a:spcAft>
                <a:spcPts val="300"/>
              </a:spcAft>
            </a:pPr>
            <a:r>
              <a:rPr sz="1300" b="0" i="0">
                <a:solidFill>
                  <a:srgbClr val="2B2B2B"/>
                </a:solidFill>
                <a:latin typeface="Arial"/>
              </a:rPr>
              <a:t>Falsche Rechnung, falscher Kunde, falscher Betrag: Storno mit Stornogrund, nie Löschen. Ausgeglichene Posten zuerst wieder öffnen. Jede Änderung im Änderungsbeleg.</a:t>
            </a:r>
          </a:p>
        </p:txBody>
      </p:sp>
      <p:sp>
        <p:nvSpPr>
          <p:cNvPr id="14" name="Rounded Rectangle 13"/>
          <p:cNvSpPr/>
          <p:nvPr/>
        </p:nvSpPr>
        <p:spPr>
          <a:xfrm>
            <a:off x="548640" y="3794760"/>
            <a:ext cx="5394960" cy="2103120"/>
          </a:xfrm>
          <a:prstGeom prst="roundRect">
            <a:avLst>
              <a:gd name="adj" fmla="val 8000"/>
            </a:avLst>
          </a:prstGeom>
          <a:solidFill>
            <a:srgbClr val="E9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5" name="Oval 14"/>
          <p:cNvSpPr/>
          <p:nvPr/>
        </p:nvSpPr>
        <p:spPr>
          <a:xfrm>
            <a:off x="713232" y="3941064"/>
            <a:ext cx="329184" cy="329184"/>
          </a:xfrm>
          <a:prstGeom prst="ellipse">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200" b="1" i="0">
                <a:solidFill>
                  <a:srgbClr val="FFFFFF"/>
                </a:solidFill>
                <a:latin typeface="Arial"/>
              </a:rPr>
              <a:t>3</a:t>
            </a:r>
          </a:p>
        </p:txBody>
      </p:sp>
      <p:sp>
        <p:nvSpPr>
          <p:cNvPr id="16" name="TextBox 15"/>
          <p:cNvSpPr txBox="1"/>
          <p:nvPr/>
        </p:nvSpPr>
        <p:spPr>
          <a:xfrm>
            <a:off x="1133856" y="3922776"/>
            <a:ext cx="4672584" cy="365760"/>
          </a:xfrm>
          <a:prstGeom prst="rect">
            <a:avLst/>
          </a:prstGeom>
          <a:noFill/>
        </p:spPr>
        <p:txBody>
          <a:bodyPr wrap="square" anchor="ctr" lIns="45720" rIns="45720">
            <a:spAutoFit/>
          </a:bodyPr>
          <a:lstStyle/>
          <a:p>
            <a:pPr algn="l">
              <a:spcAft>
                <a:spcPts val="400"/>
              </a:spcAft>
            </a:pPr>
            <a:r>
              <a:rPr sz="1300" b="1" i="0">
                <a:solidFill>
                  <a:srgbClr val="1F4E5F"/>
                </a:solidFill>
                <a:latin typeface="Arial"/>
              </a:rPr>
              <a:t>Steuerung über Kennzahlen</a:t>
            </a:r>
          </a:p>
        </p:txBody>
      </p:sp>
      <p:sp>
        <p:nvSpPr>
          <p:cNvPr id="17" name="TextBox 16"/>
          <p:cNvSpPr txBox="1"/>
          <p:nvPr/>
        </p:nvSpPr>
        <p:spPr>
          <a:xfrm>
            <a:off x="713232" y="4343400"/>
            <a:ext cx="5065776" cy="1463039"/>
          </a:xfrm>
          <a:prstGeom prst="rect">
            <a:avLst/>
          </a:prstGeom>
          <a:noFill/>
        </p:spPr>
        <p:txBody>
          <a:bodyPr wrap="square" anchor="t" lIns="45720" rIns="45720">
            <a:spAutoFit/>
          </a:bodyPr>
          <a:lstStyle/>
          <a:p>
            <a:pPr algn="l">
              <a:spcAft>
                <a:spcPts val="300"/>
              </a:spcAft>
            </a:pPr>
            <a:r>
              <a:rPr sz="1300" b="0" i="0">
                <a:solidFill>
                  <a:srgbClr val="2B2B2B"/>
                </a:solidFill>
                <a:latin typeface="Arial"/>
              </a:rPr>
              <a:t>Überfälligkeit nach Alter, DSO, Days Beyond Terms, Mahnstufenverteilung, Top-Debitoren. Entstehen nur aus sauber gepflegten Stämmen und Posten.</a:t>
            </a:r>
          </a:p>
        </p:txBody>
      </p:sp>
      <p:sp>
        <p:nvSpPr>
          <p:cNvPr id="18" name="Rounded Rectangle 17"/>
          <p:cNvSpPr/>
          <p:nvPr/>
        </p:nvSpPr>
        <p:spPr>
          <a:xfrm>
            <a:off x="6217920" y="3794760"/>
            <a:ext cx="5394960" cy="2103120"/>
          </a:xfrm>
          <a:prstGeom prst="roundRect">
            <a:avLst>
              <a:gd name="adj" fmla="val 8000"/>
            </a:avLst>
          </a:prstGeom>
          <a:solidFill>
            <a:srgbClr val="E9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9" name="Oval 18"/>
          <p:cNvSpPr/>
          <p:nvPr/>
        </p:nvSpPr>
        <p:spPr>
          <a:xfrm>
            <a:off x="6382512" y="3941064"/>
            <a:ext cx="329184" cy="329184"/>
          </a:xfrm>
          <a:prstGeom prst="ellipse">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200" b="1" i="0">
                <a:solidFill>
                  <a:srgbClr val="FFFFFF"/>
                </a:solidFill>
                <a:latin typeface="Arial"/>
              </a:rPr>
              <a:t>4</a:t>
            </a:r>
          </a:p>
        </p:txBody>
      </p:sp>
      <p:sp>
        <p:nvSpPr>
          <p:cNvPr id="20" name="TextBox 19"/>
          <p:cNvSpPr txBox="1"/>
          <p:nvPr/>
        </p:nvSpPr>
        <p:spPr>
          <a:xfrm>
            <a:off x="6803136" y="3922776"/>
            <a:ext cx="4672584" cy="365760"/>
          </a:xfrm>
          <a:prstGeom prst="rect">
            <a:avLst/>
          </a:prstGeom>
          <a:noFill/>
        </p:spPr>
        <p:txBody>
          <a:bodyPr wrap="square" anchor="ctr" lIns="45720" rIns="45720">
            <a:spAutoFit/>
          </a:bodyPr>
          <a:lstStyle/>
          <a:p>
            <a:pPr algn="l">
              <a:spcAft>
                <a:spcPts val="400"/>
              </a:spcAft>
            </a:pPr>
            <a:r>
              <a:rPr sz="1300" b="1" i="0">
                <a:solidFill>
                  <a:srgbClr val="1F4E5F"/>
                </a:solidFill>
                <a:latin typeface="Arial"/>
              </a:rPr>
              <a:t>Vorbereitung des Zahlungseingangs</a:t>
            </a:r>
          </a:p>
        </p:txBody>
      </p:sp>
      <p:sp>
        <p:nvSpPr>
          <p:cNvPr id="21" name="TextBox 20"/>
          <p:cNvSpPr txBox="1"/>
          <p:nvPr/>
        </p:nvSpPr>
        <p:spPr>
          <a:xfrm>
            <a:off x="6382512" y="4343400"/>
            <a:ext cx="5065776" cy="1463039"/>
          </a:xfrm>
          <a:prstGeom prst="rect">
            <a:avLst/>
          </a:prstGeom>
          <a:noFill/>
        </p:spPr>
        <p:txBody>
          <a:bodyPr wrap="square" anchor="t" lIns="45720" rIns="45720">
            <a:spAutoFit/>
          </a:bodyPr>
          <a:lstStyle/>
          <a:p>
            <a:pPr algn="l">
              <a:spcAft>
                <a:spcPts val="300"/>
              </a:spcAft>
            </a:pPr>
            <a:r>
              <a:rPr sz="1300" b="0" i="0">
                <a:solidFill>
                  <a:srgbClr val="2B2B2B"/>
                </a:solidFill>
                <a:latin typeface="Arial"/>
              </a:rPr>
              <a:t>Referenz, Betrag und Kunde auf dem Posten sind die Schlüssel für die automatische Zuordnung des Kontoauszugs. Schlechte Postenqualität heißt Handarbeit (Workshop 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11064240" cy="274320"/>
          </a:xfrm>
          <a:prstGeom prst="rect">
            <a:avLst/>
          </a:prstGeom>
          <a:noFill/>
        </p:spPr>
        <p:txBody>
          <a:bodyPr wrap="square" anchor="t" lIns="45720" rIns="45720">
            <a:spAutoFit/>
          </a:bodyPr>
          <a:lstStyle/>
          <a:p>
            <a:pPr algn="l">
              <a:spcAft>
                <a:spcPts val="400"/>
              </a:spcAft>
            </a:pPr>
            <a:r>
              <a:rPr sz="1200" b="1" i="0">
                <a:solidFill>
                  <a:srgbClr val="6B6B6B"/>
                </a:solidFill>
                <a:latin typeface="Arial"/>
              </a:rPr>
              <a:t>Thema 4 · Buchung und Posten · Praxis</a:t>
            </a:r>
          </a:p>
        </p:txBody>
      </p:sp>
      <p:sp>
        <p:nvSpPr>
          <p:cNvPr id="3" name="TextBox 2"/>
          <p:cNvSpPr txBox="1"/>
          <p:nvPr/>
        </p:nvSpPr>
        <p:spPr>
          <a:xfrm>
            <a:off x="548640" y="502920"/>
            <a:ext cx="11064240" cy="731520"/>
          </a:xfrm>
          <a:prstGeom prst="rect">
            <a:avLst/>
          </a:prstGeom>
          <a:noFill/>
        </p:spPr>
        <p:txBody>
          <a:bodyPr wrap="square" anchor="ctr" lIns="45720" rIns="45720">
            <a:spAutoFit/>
          </a:bodyPr>
          <a:lstStyle/>
          <a:p>
            <a:pPr algn="l">
              <a:spcAft>
                <a:spcPts val="400"/>
              </a:spcAft>
            </a:pPr>
            <a:r>
              <a:rPr sz="2800" b="1" i="0">
                <a:solidFill>
                  <a:srgbClr val="2B2B2B"/>
                </a:solidFill>
                <a:latin typeface="Arial"/>
              </a:rPr>
              <a:t>Apps für die Führung des offenen Postens und die Steuerung</a:t>
            </a:r>
          </a:p>
        </p:txBody>
      </p:sp>
      <p:sp>
        <p:nvSpPr>
          <p:cNvPr id="4" name="TextBox 3"/>
          <p:cNvSpPr txBox="1"/>
          <p:nvPr/>
        </p:nvSpPr>
        <p:spPr>
          <a:xfrm>
            <a:off x="548640" y="6446520"/>
            <a:ext cx="8229600" cy="274320"/>
          </a:xfrm>
          <a:prstGeom prst="rect">
            <a:avLst/>
          </a:prstGeom>
          <a:noFill/>
        </p:spPr>
        <p:txBody>
          <a:bodyPr wrap="square" anchor="t" lIns="45720" rIns="45720">
            <a:spAutoFit/>
          </a:bodyPr>
          <a:lstStyle/>
          <a:p>
            <a:pPr algn="l">
              <a:spcAft>
                <a:spcPts val="400"/>
              </a:spcAft>
            </a:pPr>
            <a:r>
              <a:rPr sz="900" b="0" i="0">
                <a:solidFill>
                  <a:srgbClr val="6B6B6B"/>
                </a:solidFill>
                <a:latin typeface="Arial"/>
              </a:rPr>
              <a:t>F2S-Workshop 3 · Debitorenbuchhaltung · SAP S/4HANA Cloud Public Edition 2608</a:t>
            </a:r>
          </a:p>
        </p:txBody>
      </p:sp>
      <p:sp>
        <p:nvSpPr>
          <p:cNvPr id="5" name="TextBox 4"/>
          <p:cNvSpPr txBox="1"/>
          <p:nvPr/>
        </p:nvSpPr>
        <p:spPr>
          <a:xfrm>
            <a:off x="10972800" y="6446520"/>
            <a:ext cx="685800" cy="274320"/>
          </a:xfrm>
          <a:prstGeom prst="rect">
            <a:avLst/>
          </a:prstGeom>
          <a:noFill/>
        </p:spPr>
        <p:txBody>
          <a:bodyPr wrap="square" anchor="t" lIns="45720" rIns="45720">
            <a:spAutoFit/>
          </a:bodyPr>
          <a:lstStyle/>
          <a:p>
            <a:pPr algn="r">
              <a:spcAft>
                <a:spcPts val="400"/>
              </a:spcAft>
            </a:pPr>
            <a:r>
              <a:rPr sz="900" b="0" i="0">
                <a:solidFill>
                  <a:srgbClr val="6B6B6B"/>
                </a:solidFill>
                <a:latin typeface="Arial"/>
              </a:rPr>
              <a:t>21</a:t>
            </a:r>
          </a:p>
        </p:txBody>
      </p:sp>
      <p:graphicFrame>
        <p:nvGraphicFramePr>
          <p:cNvPr id="6" name="Table 5"/>
          <p:cNvGraphicFramePr>
            <a:graphicFrameLocks noGrp="1"/>
          </p:cNvGraphicFramePr>
          <p:nvPr/>
        </p:nvGraphicFramePr>
        <p:xfrm>
          <a:off x="548640" y="1417320"/>
          <a:ext cx="11064240" cy="3657600"/>
        </p:xfrm>
        <a:graphic>
          <a:graphicData uri="http://schemas.openxmlformats.org/drawingml/2006/table">
            <a:tbl>
              <a:tblPr firstRow="1" bandRow="0">
                <a:tableStyleId>{5940675A-B579-460E-94D1-54222C63F5DA}</a:tableStyleId>
              </a:tblPr>
              <a:tblGrid>
                <a:gridCol w="3566160"/>
                <a:gridCol w="1828800"/>
                <a:gridCol w="5669280"/>
              </a:tblGrid>
              <a:tr h="457200">
                <a:tc>
                  <a:txBody>
                    <a:bodyPr wrap="square"/>
                    <a:lstStyle/>
                    <a:p>
                      <a:pPr>
                        <a:spcAft>
                          <a:spcPts val="100"/>
                        </a:spcAft>
                      </a:pPr>
                      <a:r>
                        <a:rPr sz="1150" b="1" i="0">
                          <a:solidFill>
                            <a:srgbClr val="FFFFFF"/>
                          </a:solidFill>
                          <a:latin typeface="Arial"/>
                        </a:rPr>
                        <a:t>App</a:t>
                      </a:r>
                    </a:p>
                  </a:txBody>
                  <a:tcPr marL="64008" marR="64008" marT="36576" marB="36576" anchor="ctr">
                    <a:solidFill>
                      <a:srgbClr val="1F4E5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150" b="1" i="0">
                          <a:solidFill>
                            <a:srgbClr val="FFFFFF"/>
                          </a:solidFill>
                          <a:latin typeface="Arial"/>
                        </a:rPr>
                        <a:t>Rolle</a:t>
                      </a:r>
                    </a:p>
                  </a:txBody>
                  <a:tcPr marL="64008" marR="64008" marT="36576" marB="36576" anchor="ctr">
                    <a:solidFill>
                      <a:srgbClr val="1F4E5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150" b="1" i="0">
                          <a:solidFill>
                            <a:srgbClr val="FFFFFF"/>
                          </a:solidFill>
                          <a:latin typeface="Arial"/>
                        </a:rPr>
                        <a:t>Wofür</a:t>
                      </a:r>
                    </a:p>
                  </a:txBody>
                  <a:tcPr marL="64008" marR="64008" marT="36576" marB="36576" anchor="ctr">
                    <a:solidFill>
                      <a:srgbClr val="1F4E5F"/>
                    </a:solidFill>
                    <a:lnL w="6350">
                      <a:solidFill>
                        <a:srgbClr val="D0D7DA"/>
                      </a:solidFill>
                    </a:lnL>
                    <a:lnR w="6350">
                      <a:solidFill>
                        <a:srgbClr val="D0D7DA"/>
                      </a:solidFill>
                    </a:lnR>
                    <a:lnT w="6350">
                      <a:solidFill>
                        <a:srgbClr val="D0D7DA"/>
                      </a:solidFill>
                    </a:lnT>
                    <a:lnB w="6350">
                      <a:solidFill>
                        <a:srgbClr val="D0D7DA"/>
                      </a:solidFill>
                    </a:lnB>
                  </a:tcPr>
                </a:tc>
              </a:tr>
              <a:tr h="457200">
                <a:tc>
                  <a:txBody>
                    <a:bodyPr wrap="square"/>
                    <a:lstStyle/>
                    <a:p>
                      <a:pPr>
                        <a:spcAft>
                          <a:spcPts val="100"/>
                        </a:spcAft>
                      </a:pPr>
                      <a:r>
                        <a:rPr sz="1050" b="0" i="0">
                          <a:solidFill>
                            <a:srgbClr val="2B2B2B"/>
                          </a:solidFill>
                          <a:latin typeface="Arial"/>
                        </a:rPr>
                        <a:t>Manage Customer Line Items (F0711)</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AR Accountant</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Posten suchen, Zahlsperre, Mahnsperre, Zahlungsdaten und Texte ändern (Edit Line Items)</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r>
              <a:tr h="457200">
                <a:tc>
                  <a:txBody>
                    <a:bodyPr wrap="square"/>
                    <a:lstStyle/>
                    <a:p>
                      <a:pPr>
                        <a:spcAft>
                          <a:spcPts val="100"/>
                        </a:spcAft>
                      </a:pPr>
                      <a:r>
                        <a:rPr sz="1050" b="0" i="0">
                          <a:solidFill>
                            <a:srgbClr val="2B2B2B"/>
                          </a:solidFill>
                          <a:latin typeface="Arial"/>
                        </a:rPr>
                        <a:t>Display Customer Balances (F0703A)</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AR Accountant</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Saldenentwicklung je Periode, Sonderhauptbuch (Anzahlungen, Avale)</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r>
              <a:tr h="457200">
                <a:tc>
                  <a:txBody>
                    <a:bodyPr wrap="square"/>
                    <a:lstStyle/>
                    <a:p>
                      <a:pPr>
                        <a:spcAft>
                          <a:spcPts val="100"/>
                        </a:spcAft>
                      </a:pPr>
                      <a:r>
                        <a:rPr sz="1050" b="0" i="0">
                          <a:solidFill>
                            <a:srgbClr val="2B2B2B"/>
                          </a:solidFill>
                          <a:latin typeface="Arial"/>
                        </a:rPr>
                        <a:t>Create Correspondence (F0744A)</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AR Accountant</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Kontoauszug SAP06, OP-Liste SAP08, Kundenkontoauszug SAP13, Rechnung SAP21</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r>
              <a:tr h="457200">
                <a:tc>
                  <a:txBody>
                    <a:bodyPr wrap="square"/>
                    <a:lstStyle/>
                    <a:p>
                      <a:pPr>
                        <a:spcAft>
                          <a:spcPts val="100"/>
                        </a:spcAft>
                      </a:pPr>
                      <a:r>
                        <a:rPr sz="1050" b="0" i="0">
                          <a:solidFill>
                            <a:srgbClr val="2B2B2B"/>
                          </a:solidFill>
                          <a:latin typeface="Arial"/>
                        </a:rPr>
                        <a:t>Reset Cleared Items (F2223), Manage Journal Entries (F0717A)</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AR / GL Accountant</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Ausgleich zurücknehmen, Storno mit Grund</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r>
              <a:tr h="457200">
                <a:tc>
                  <a:txBody>
                    <a:bodyPr wrap="square"/>
                    <a:lstStyle/>
                    <a:p>
                      <a:pPr>
                        <a:spcAft>
                          <a:spcPts val="100"/>
                        </a:spcAft>
                      </a:pPr>
                      <a:r>
                        <a:rPr sz="1050" b="0" i="0">
                          <a:solidFill>
                            <a:srgbClr val="2B2B2B"/>
                          </a:solidFill>
                          <a:latin typeface="Arial"/>
                        </a:rPr>
                        <a:t>Display Item Change Log – Customer (F7796)</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AR Manager</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Protokoll aller Postenänderungen</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r>
              <a:tr h="457200">
                <a:tc>
                  <a:txBody>
                    <a:bodyPr wrap="square"/>
                    <a:lstStyle/>
                    <a:p>
                      <a:pPr>
                        <a:spcAft>
                          <a:spcPts val="100"/>
                        </a:spcAft>
                      </a:pPr>
                      <a:r>
                        <a:rPr sz="1050" b="0" i="0">
                          <a:solidFill>
                            <a:srgbClr val="2B2B2B"/>
                          </a:solidFill>
                          <a:latin typeface="Arial"/>
                        </a:rPr>
                        <a:t>Accounts Receivable Overview (F3242)</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AR Manager</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Einstiegsseite: AR Aging, DSO, Top 10 Debtors, Cash Collection Tracker, My Inbox</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r>
              <a:tr h="457200">
                <a:tc>
                  <a:txBody>
                    <a:bodyPr wrap="square"/>
                    <a:lstStyle/>
                    <a:p>
                      <a:pPr>
                        <a:spcAft>
                          <a:spcPts val="100"/>
                        </a:spcAft>
                      </a:pPr>
                      <a:r>
                        <a:rPr sz="1050" b="0" i="0">
                          <a:solidFill>
                            <a:srgbClr val="2B2B2B"/>
                          </a:solidFill>
                          <a:latin typeface="Arial"/>
                        </a:rPr>
                        <a:t>KPI-Apps F1747, F2539, F1744, F1748, F1741, F1739, F1742</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AR Manager</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Überfällig heute und nach Risikoklasse, zukünftige und gesamte Forderungen, DSO, Days Beyond Terms, Mahnstufen</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r>
            </a:tbl>
          </a:graphicData>
        </a:graphic>
      </p:graphicFrame>
      <p:sp>
        <p:nvSpPr>
          <p:cNvPr id="7" name="TextBox 6"/>
          <p:cNvSpPr txBox="1"/>
          <p:nvPr/>
        </p:nvSpPr>
        <p:spPr>
          <a:xfrm>
            <a:off x="548640" y="5577840"/>
            <a:ext cx="11064240" cy="640080"/>
          </a:xfrm>
          <a:prstGeom prst="rect">
            <a:avLst/>
          </a:prstGeom>
          <a:noFill/>
        </p:spPr>
        <p:txBody>
          <a:bodyPr wrap="square" anchor="t" lIns="45720" rIns="45720">
            <a:spAutoFit/>
          </a:bodyPr>
          <a:lstStyle/>
          <a:p>
            <a:pPr algn="l">
              <a:spcAft>
                <a:spcPts val="400"/>
              </a:spcAft>
            </a:pPr>
            <a:r>
              <a:rPr sz="1150" b="0" i="0">
                <a:solidFill>
                  <a:srgbClr val="6B6B6B"/>
                </a:solidFill>
                <a:latin typeface="Arial"/>
              </a:rPr>
              <a:t>Alle Auswertungen laufen nach Buchungskreis, Kunde, Land, Sachbearbeiter. Was im Stamm fehlt, fehlt auch hier.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11064240" cy="274320"/>
          </a:xfrm>
          <a:prstGeom prst="rect">
            <a:avLst/>
          </a:prstGeom>
          <a:noFill/>
        </p:spPr>
        <p:txBody>
          <a:bodyPr wrap="square" anchor="t" lIns="45720" rIns="45720">
            <a:spAutoFit/>
          </a:bodyPr>
          <a:lstStyle/>
          <a:p>
            <a:pPr algn="l">
              <a:spcAft>
                <a:spcPts val="400"/>
              </a:spcAft>
            </a:pPr>
            <a:r>
              <a:rPr sz="1200" b="1" i="0">
                <a:solidFill>
                  <a:srgbClr val="6B6B6B"/>
                </a:solidFill>
                <a:latin typeface="Arial"/>
              </a:rPr>
              <a:t>Thema 4 · Folgeprozesse · Ausblick Workshop 4</a:t>
            </a:r>
          </a:p>
        </p:txBody>
      </p:sp>
      <p:sp>
        <p:nvSpPr>
          <p:cNvPr id="3" name="TextBox 2"/>
          <p:cNvSpPr txBox="1"/>
          <p:nvPr/>
        </p:nvSpPr>
        <p:spPr>
          <a:xfrm>
            <a:off x="548640" y="502920"/>
            <a:ext cx="11064240" cy="731520"/>
          </a:xfrm>
          <a:prstGeom prst="rect">
            <a:avLst/>
          </a:prstGeom>
          <a:noFill/>
        </p:spPr>
        <p:txBody>
          <a:bodyPr wrap="square" anchor="ctr" lIns="45720" rIns="45720">
            <a:spAutoFit/>
          </a:bodyPr>
          <a:lstStyle/>
          <a:p>
            <a:pPr algn="l">
              <a:spcAft>
                <a:spcPts val="400"/>
              </a:spcAft>
            </a:pPr>
            <a:r>
              <a:rPr sz="2800" b="1" i="0">
                <a:solidFill>
                  <a:srgbClr val="2B2B2B"/>
                </a:solidFill>
                <a:latin typeface="Arial"/>
              </a:rPr>
              <a:t>Nach der Buchung: Zahlung, Ausgleich, Mahnung, Abschluss</a:t>
            </a:r>
          </a:p>
        </p:txBody>
      </p:sp>
      <p:sp>
        <p:nvSpPr>
          <p:cNvPr id="4" name="TextBox 3"/>
          <p:cNvSpPr txBox="1"/>
          <p:nvPr/>
        </p:nvSpPr>
        <p:spPr>
          <a:xfrm>
            <a:off x="548640" y="6446520"/>
            <a:ext cx="8229600" cy="274320"/>
          </a:xfrm>
          <a:prstGeom prst="rect">
            <a:avLst/>
          </a:prstGeom>
          <a:noFill/>
        </p:spPr>
        <p:txBody>
          <a:bodyPr wrap="square" anchor="t" lIns="45720" rIns="45720">
            <a:spAutoFit/>
          </a:bodyPr>
          <a:lstStyle/>
          <a:p>
            <a:pPr algn="l">
              <a:spcAft>
                <a:spcPts val="400"/>
              </a:spcAft>
            </a:pPr>
            <a:r>
              <a:rPr sz="900" b="0" i="0">
                <a:solidFill>
                  <a:srgbClr val="6B6B6B"/>
                </a:solidFill>
                <a:latin typeface="Arial"/>
              </a:rPr>
              <a:t>F2S-Workshop 3 · Debitorenbuchhaltung · SAP S/4HANA Cloud Public Edition 2608</a:t>
            </a:r>
          </a:p>
        </p:txBody>
      </p:sp>
      <p:sp>
        <p:nvSpPr>
          <p:cNvPr id="5" name="TextBox 4"/>
          <p:cNvSpPr txBox="1"/>
          <p:nvPr/>
        </p:nvSpPr>
        <p:spPr>
          <a:xfrm>
            <a:off x="10972800" y="6446520"/>
            <a:ext cx="685800" cy="274320"/>
          </a:xfrm>
          <a:prstGeom prst="rect">
            <a:avLst/>
          </a:prstGeom>
          <a:noFill/>
        </p:spPr>
        <p:txBody>
          <a:bodyPr wrap="square" anchor="t" lIns="45720" rIns="45720">
            <a:spAutoFit/>
          </a:bodyPr>
          <a:lstStyle/>
          <a:p>
            <a:pPr algn="r">
              <a:spcAft>
                <a:spcPts val="400"/>
              </a:spcAft>
            </a:pPr>
            <a:r>
              <a:rPr sz="900" b="0" i="0">
                <a:solidFill>
                  <a:srgbClr val="6B6B6B"/>
                </a:solidFill>
                <a:latin typeface="Arial"/>
              </a:rPr>
              <a:t>22</a:t>
            </a:r>
          </a:p>
        </p:txBody>
      </p:sp>
      <p:sp>
        <p:nvSpPr>
          <p:cNvPr id="6" name="Pentagon 5"/>
          <p:cNvSpPr/>
          <p:nvPr/>
        </p:nvSpPr>
        <p:spPr>
          <a:xfrm>
            <a:off x="548640" y="1417320"/>
            <a:ext cx="1798320" cy="777240"/>
          </a:xfrm>
          <a:prstGeom prst="homePlate">
            <a:avLst>
              <a:gd name="adj" fmla="val 25000"/>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200"/>
              </a:spcAft>
            </a:pPr>
            <a:r>
              <a:rPr sz="1100" b="1" i="0">
                <a:solidFill>
                  <a:srgbClr val="FFFFFF"/>
                </a:solidFill>
                <a:latin typeface="Arial"/>
              </a:rPr>
              <a:t>Offener Posten</a:t>
            </a:r>
          </a:p>
        </p:txBody>
      </p:sp>
      <p:sp>
        <p:nvSpPr>
          <p:cNvPr id="7" name="Chevron 6"/>
          <p:cNvSpPr/>
          <p:nvPr/>
        </p:nvSpPr>
        <p:spPr>
          <a:xfrm>
            <a:off x="2401824" y="1417320"/>
            <a:ext cx="1798320" cy="777240"/>
          </a:xfrm>
          <a:prstGeom prst="chevron">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200"/>
              </a:spcAft>
            </a:pPr>
            <a:r>
              <a:rPr sz="1100" b="1" i="0">
                <a:solidFill>
                  <a:srgbClr val="2B2B2B"/>
                </a:solidFill>
                <a:latin typeface="Arial"/>
              </a:rPr>
              <a:t>Zahlung</a:t>
            </a:r>
          </a:p>
        </p:txBody>
      </p:sp>
      <p:sp>
        <p:nvSpPr>
          <p:cNvPr id="8" name="Chevron 7"/>
          <p:cNvSpPr/>
          <p:nvPr/>
        </p:nvSpPr>
        <p:spPr>
          <a:xfrm>
            <a:off x="4255007" y="1417320"/>
            <a:ext cx="1798320" cy="777240"/>
          </a:xfrm>
          <a:prstGeom prst="chevron">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200"/>
              </a:spcAft>
            </a:pPr>
            <a:r>
              <a:rPr sz="1100" b="1" i="0">
                <a:solidFill>
                  <a:srgbClr val="2B2B2B"/>
                </a:solidFill>
                <a:latin typeface="Arial"/>
              </a:rPr>
              <a:t>Ausgleich</a:t>
            </a:r>
          </a:p>
        </p:txBody>
      </p:sp>
      <p:sp>
        <p:nvSpPr>
          <p:cNvPr id="9" name="Chevron 8"/>
          <p:cNvSpPr/>
          <p:nvPr/>
        </p:nvSpPr>
        <p:spPr>
          <a:xfrm>
            <a:off x="6108191" y="1417320"/>
            <a:ext cx="1798320" cy="777240"/>
          </a:xfrm>
          <a:prstGeom prst="chevron">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200"/>
              </a:spcAft>
            </a:pPr>
            <a:r>
              <a:rPr sz="1100" b="1" i="0">
                <a:solidFill>
                  <a:srgbClr val="2B2B2B"/>
                </a:solidFill>
                <a:latin typeface="Arial"/>
              </a:rPr>
              <a:t>Mahnung</a:t>
            </a:r>
          </a:p>
        </p:txBody>
      </p:sp>
      <p:sp>
        <p:nvSpPr>
          <p:cNvPr id="10" name="Chevron 9"/>
          <p:cNvSpPr/>
          <p:nvPr/>
        </p:nvSpPr>
        <p:spPr>
          <a:xfrm>
            <a:off x="7961375" y="1417320"/>
            <a:ext cx="1798320" cy="777240"/>
          </a:xfrm>
          <a:prstGeom prst="chevron">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200"/>
              </a:spcAft>
            </a:pPr>
            <a:r>
              <a:rPr sz="1100" b="1" i="0">
                <a:solidFill>
                  <a:srgbClr val="2B2B2B"/>
                </a:solidFill>
                <a:latin typeface="Arial"/>
              </a:rPr>
              <a:t>Zinsen, Salden</a:t>
            </a:r>
          </a:p>
        </p:txBody>
      </p:sp>
      <p:sp>
        <p:nvSpPr>
          <p:cNvPr id="11" name="Chevron 10"/>
          <p:cNvSpPr/>
          <p:nvPr/>
        </p:nvSpPr>
        <p:spPr>
          <a:xfrm>
            <a:off x="9814560" y="1417320"/>
            <a:ext cx="1798320" cy="777240"/>
          </a:xfrm>
          <a:prstGeom prst="chevron">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spcAft>
                <a:spcPts val="200"/>
              </a:spcAft>
            </a:pPr>
            <a:r>
              <a:rPr sz="1100" b="1" i="0">
                <a:solidFill>
                  <a:srgbClr val="2B2B2B"/>
                </a:solidFill>
                <a:latin typeface="Arial"/>
              </a:rPr>
              <a:t>Ausbuchung</a:t>
            </a:r>
          </a:p>
        </p:txBody>
      </p:sp>
      <p:graphicFrame>
        <p:nvGraphicFramePr>
          <p:cNvPr id="12" name="Table 11"/>
          <p:cNvGraphicFramePr>
            <a:graphicFrameLocks noGrp="1"/>
          </p:cNvGraphicFramePr>
          <p:nvPr/>
        </p:nvGraphicFramePr>
        <p:xfrm>
          <a:off x="548640" y="2468880"/>
          <a:ext cx="11064240" cy="3017520"/>
        </p:xfrm>
        <a:graphic>
          <a:graphicData uri="http://schemas.openxmlformats.org/drawingml/2006/table">
            <a:tbl>
              <a:tblPr firstRow="1" bandRow="0">
                <a:tableStyleId>{5940675A-B579-460E-94D1-54222C63F5DA}</a:tableStyleId>
              </a:tblPr>
              <a:tblGrid>
                <a:gridCol w="2926080"/>
                <a:gridCol w="3931920"/>
                <a:gridCol w="4206240"/>
              </a:tblGrid>
              <a:tr h="502920">
                <a:tc>
                  <a:txBody>
                    <a:bodyPr wrap="square"/>
                    <a:lstStyle/>
                    <a:p>
                      <a:pPr>
                        <a:spcAft>
                          <a:spcPts val="100"/>
                        </a:spcAft>
                      </a:pPr>
                      <a:r>
                        <a:rPr sz="1150" b="1" i="0">
                          <a:solidFill>
                            <a:srgbClr val="FFFFFF"/>
                          </a:solidFill>
                          <a:latin typeface="Arial"/>
                        </a:rPr>
                        <a:t>Schritt</a:t>
                      </a:r>
                    </a:p>
                  </a:txBody>
                  <a:tcPr marL="64008" marR="64008" marT="36576" marB="36576" anchor="ctr">
                    <a:solidFill>
                      <a:srgbClr val="1F4E5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150" b="1" i="0">
                          <a:solidFill>
                            <a:srgbClr val="FFFFFF"/>
                          </a:solidFill>
                          <a:latin typeface="Arial"/>
                        </a:rPr>
                        <a:t>Apps</a:t>
                      </a:r>
                    </a:p>
                  </a:txBody>
                  <a:tcPr marL="64008" marR="64008" marT="36576" marB="36576" anchor="ctr">
                    <a:solidFill>
                      <a:srgbClr val="1F4E5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150" b="1" i="0">
                          <a:solidFill>
                            <a:srgbClr val="FFFFFF"/>
                          </a:solidFill>
                          <a:latin typeface="Arial"/>
                        </a:rPr>
                        <a:t>Was passiert</a:t>
                      </a:r>
                    </a:p>
                  </a:txBody>
                  <a:tcPr marL="64008" marR="64008" marT="36576" marB="36576" anchor="ctr">
                    <a:solidFill>
                      <a:srgbClr val="1F4E5F"/>
                    </a:solidFill>
                    <a:lnL w="6350">
                      <a:solidFill>
                        <a:srgbClr val="D0D7DA"/>
                      </a:solidFill>
                    </a:lnL>
                    <a:lnR w="6350">
                      <a:solidFill>
                        <a:srgbClr val="D0D7DA"/>
                      </a:solidFill>
                    </a:lnR>
                    <a:lnT w="6350">
                      <a:solidFill>
                        <a:srgbClr val="D0D7DA"/>
                      </a:solidFill>
                    </a:lnT>
                    <a:lnB w="6350">
                      <a:solidFill>
                        <a:srgbClr val="D0D7DA"/>
                      </a:solidFill>
                    </a:lnB>
                  </a:tcPr>
                </a:tc>
              </a:tr>
              <a:tr h="502920">
                <a:tc>
                  <a:txBody>
                    <a:bodyPr wrap="square"/>
                    <a:lstStyle/>
                    <a:p>
                      <a:pPr>
                        <a:spcAft>
                          <a:spcPts val="100"/>
                        </a:spcAft>
                      </a:pPr>
                      <a:r>
                        <a:rPr sz="1050" b="0" i="0">
                          <a:solidFill>
                            <a:srgbClr val="2B2B2B"/>
                          </a:solidFill>
                          <a:latin typeface="Arial"/>
                        </a:rPr>
                        <a:t>Zahlungseingang automatisch</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Reprocess Bank Statement Items (F1520), Regeln F3555 / F9062 / F9297, optional 1MV</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Kontoauszug (BFB) ordnet Zahlungen über Referenz und Regeln zu; Rest manuell</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r>
              <a:tr h="502920">
                <a:tc>
                  <a:txBody>
                    <a:bodyPr wrap="square"/>
                    <a:lstStyle/>
                    <a:p>
                      <a:pPr>
                        <a:spcAft>
                          <a:spcPts val="100"/>
                        </a:spcAft>
                      </a:pPr>
                      <a:r>
                        <a:rPr sz="1050" b="0" i="0">
                          <a:solidFill>
                            <a:srgbClr val="2B2B2B"/>
                          </a:solidFill>
                          <a:latin typeface="Arial"/>
                        </a:rPr>
                        <a:t>Zahlungseingang manuell</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Post Incoming Payments (F1345), Manual Clearing (F0773), Zahlungsavise (F2550A)</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Bank an Kunde mit Ausgleich, Teilzahlung, Restposten</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r>
              <a:tr h="502920">
                <a:tc>
                  <a:txBody>
                    <a:bodyPr wrap="square"/>
                    <a:lstStyle/>
                    <a:p>
                      <a:pPr>
                        <a:spcAft>
                          <a:spcPts val="100"/>
                        </a:spcAft>
                      </a:pPr>
                      <a:r>
                        <a:rPr sz="1050" b="0" i="0">
                          <a:solidFill>
                            <a:srgbClr val="2B2B2B"/>
                          </a:solidFill>
                          <a:latin typeface="Arial"/>
                        </a:rPr>
                        <a:t>Mahnen</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Create Dunning Notices (F150), My Dunning Proposals (F2435), Dunning History (F2328)</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Verfahren 1001 (14 Tage, 4 Stufen) oder 1002 (30 Tage nach Rechnung)</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r>
              <a:tr h="502920">
                <a:tc>
                  <a:txBody>
                    <a:bodyPr wrap="square"/>
                    <a:lstStyle/>
                    <a:p>
                      <a:pPr>
                        <a:spcAft>
                          <a:spcPts val="100"/>
                        </a:spcAft>
                      </a:pPr>
                      <a:r>
                        <a:rPr sz="1050" b="0" i="0">
                          <a:solidFill>
                            <a:srgbClr val="2B2B2B"/>
                          </a:solidFill>
                          <a:latin typeface="Arial"/>
                        </a:rPr>
                        <a:t>Zinsen und Saldenbestätigung</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Interest Calculation Jobs (F4176), Balance Confirmations (F2366, F2834)</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Postenzinsen über Zinskennzeichen; Abstimmung zum Jahresabschluss</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r>
              <a:tr h="502920">
                <a:tc>
                  <a:txBody>
                    <a:bodyPr wrap="square"/>
                    <a:lstStyle/>
                    <a:p>
                      <a:pPr>
                        <a:spcAft>
                          <a:spcPts val="100"/>
                        </a:spcAft>
                      </a:pPr>
                      <a:r>
                        <a:rPr sz="1050" b="0" i="0">
                          <a:solidFill>
                            <a:srgbClr val="2B2B2B"/>
                          </a:solidFill>
                          <a:latin typeface="Arial"/>
                        </a:rPr>
                        <a:t>Ausbuchung, Collections</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Write Off Receivables (F6728); BFC, 7MA, 2PD</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Grundcode und Konto für Ausbuchung; Collections und Disputes mit Zusatzlizenz</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11064240" cy="274320"/>
          </a:xfrm>
          <a:prstGeom prst="rect">
            <a:avLst/>
          </a:prstGeom>
          <a:noFill/>
        </p:spPr>
        <p:txBody>
          <a:bodyPr wrap="square" anchor="t" lIns="45720" rIns="45720">
            <a:spAutoFit/>
          </a:bodyPr>
          <a:lstStyle/>
          <a:p>
            <a:pPr algn="l">
              <a:spcAft>
                <a:spcPts val="400"/>
              </a:spcAft>
            </a:pPr>
            <a:r>
              <a:rPr sz="1200" b="1" i="0">
                <a:solidFill>
                  <a:srgbClr val="6B6B6B"/>
                </a:solidFill>
                <a:latin typeface="Arial"/>
              </a:rPr>
              <a:t>Thema 4 · Basis-Konfiguration · Theorie und Praxis</a:t>
            </a:r>
          </a:p>
        </p:txBody>
      </p:sp>
      <p:sp>
        <p:nvSpPr>
          <p:cNvPr id="3" name="TextBox 2"/>
          <p:cNvSpPr txBox="1"/>
          <p:nvPr/>
        </p:nvSpPr>
        <p:spPr>
          <a:xfrm>
            <a:off x="548640" y="502920"/>
            <a:ext cx="11064240" cy="731520"/>
          </a:xfrm>
          <a:prstGeom prst="rect">
            <a:avLst/>
          </a:prstGeom>
          <a:noFill/>
        </p:spPr>
        <p:txBody>
          <a:bodyPr wrap="square" anchor="ctr" lIns="45720" rIns="45720">
            <a:spAutoFit/>
          </a:bodyPr>
          <a:lstStyle/>
          <a:p>
            <a:pPr algn="l">
              <a:spcAft>
                <a:spcPts val="400"/>
              </a:spcAft>
            </a:pPr>
            <a:r>
              <a:rPr sz="2800" b="1" i="0">
                <a:solidFill>
                  <a:srgbClr val="2B2B2B"/>
                </a:solidFill>
                <a:latin typeface="Arial"/>
              </a:rPr>
              <a:t>Basis-Konfiguration: Ausprägungen wählen, nicht Objekte</a:t>
            </a:r>
          </a:p>
        </p:txBody>
      </p:sp>
      <p:sp>
        <p:nvSpPr>
          <p:cNvPr id="4" name="TextBox 3"/>
          <p:cNvSpPr txBox="1"/>
          <p:nvPr/>
        </p:nvSpPr>
        <p:spPr>
          <a:xfrm>
            <a:off x="548640" y="6446520"/>
            <a:ext cx="8229600" cy="274320"/>
          </a:xfrm>
          <a:prstGeom prst="rect">
            <a:avLst/>
          </a:prstGeom>
          <a:noFill/>
        </p:spPr>
        <p:txBody>
          <a:bodyPr wrap="square" anchor="t" lIns="45720" rIns="45720">
            <a:spAutoFit/>
          </a:bodyPr>
          <a:lstStyle/>
          <a:p>
            <a:pPr algn="l">
              <a:spcAft>
                <a:spcPts val="400"/>
              </a:spcAft>
            </a:pPr>
            <a:r>
              <a:rPr sz="900" b="0" i="0">
                <a:solidFill>
                  <a:srgbClr val="6B6B6B"/>
                </a:solidFill>
                <a:latin typeface="Arial"/>
              </a:rPr>
              <a:t>F2S-Workshop 3 · Debitorenbuchhaltung · SAP S/4HANA Cloud Public Edition 2608</a:t>
            </a:r>
          </a:p>
        </p:txBody>
      </p:sp>
      <p:sp>
        <p:nvSpPr>
          <p:cNvPr id="5" name="TextBox 4"/>
          <p:cNvSpPr txBox="1"/>
          <p:nvPr/>
        </p:nvSpPr>
        <p:spPr>
          <a:xfrm>
            <a:off x="10972800" y="6446520"/>
            <a:ext cx="685800" cy="274320"/>
          </a:xfrm>
          <a:prstGeom prst="rect">
            <a:avLst/>
          </a:prstGeom>
          <a:noFill/>
        </p:spPr>
        <p:txBody>
          <a:bodyPr wrap="square" anchor="t" lIns="45720" rIns="45720">
            <a:spAutoFit/>
          </a:bodyPr>
          <a:lstStyle/>
          <a:p>
            <a:pPr algn="r">
              <a:spcAft>
                <a:spcPts val="400"/>
              </a:spcAft>
            </a:pPr>
            <a:r>
              <a:rPr sz="900" b="0" i="0">
                <a:solidFill>
                  <a:srgbClr val="6B6B6B"/>
                </a:solidFill>
                <a:latin typeface="Arial"/>
              </a:rPr>
              <a:t>23</a:t>
            </a:r>
          </a:p>
        </p:txBody>
      </p:sp>
      <p:graphicFrame>
        <p:nvGraphicFramePr>
          <p:cNvPr id="6" name="Table 5"/>
          <p:cNvGraphicFramePr>
            <a:graphicFrameLocks noGrp="1"/>
          </p:cNvGraphicFramePr>
          <p:nvPr/>
        </p:nvGraphicFramePr>
        <p:xfrm>
          <a:off x="548640" y="1417320"/>
          <a:ext cx="11064240" cy="4114800"/>
        </p:xfrm>
        <a:graphic>
          <a:graphicData uri="http://schemas.openxmlformats.org/drawingml/2006/table">
            <a:tbl>
              <a:tblPr firstRow="1" bandRow="0">
                <a:tableStyleId>{5940675A-B579-460E-94D1-54222C63F5DA}</a:tableStyleId>
              </a:tblPr>
              <a:tblGrid>
                <a:gridCol w="2377440"/>
                <a:gridCol w="4480560"/>
                <a:gridCol w="4206240"/>
              </a:tblGrid>
              <a:tr h="457200">
                <a:tc>
                  <a:txBody>
                    <a:bodyPr wrap="square"/>
                    <a:lstStyle/>
                    <a:p>
                      <a:pPr>
                        <a:spcAft>
                          <a:spcPts val="100"/>
                        </a:spcAft>
                      </a:pPr>
                      <a:r>
                        <a:rPr sz="1150" b="1" i="0">
                          <a:solidFill>
                            <a:srgbClr val="FFFFFF"/>
                          </a:solidFill>
                          <a:latin typeface="Arial"/>
                        </a:rPr>
                        <a:t>Entscheidungsfeld</a:t>
                      </a:r>
                    </a:p>
                  </a:txBody>
                  <a:tcPr marL="64008" marR="64008" marT="36576" marB="36576" anchor="ctr">
                    <a:solidFill>
                      <a:srgbClr val="1F4E5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150" b="1" i="0">
                          <a:solidFill>
                            <a:srgbClr val="FFFFFF"/>
                          </a:solidFill>
                          <a:latin typeface="Arial"/>
                        </a:rPr>
                        <a:t>Geschäftliche Frage dahinter</a:t>
                      </a:r>
                    </a:p>
                  </a:txBody>
                  <a:tcPr marL="64008" marR="64008" marT="36576" marB="36576" anchor="ctr">
                    <a:solidFill>
                      <a:srgbClr val="1F4E5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150" b="1" i="0">
                          <a:solidFill>
                            <a:srgbClr val="FFFFFF"/>
                          </a:solidFill>
                          <a:latin typeface="Arial"/>
                        </a:rPr>
                        <a:t>Konfiguration (SSCUI / CBC)</a:t>
                      </a:r>
                    </a:p>
                  </a:txBody>
                  <a:tcPr marL="64008" marR="64008" marT="36576" marB="36576" anchor="ctr">
                    <a:solidFill>
                      <a:srgbClr val="1F4E5F"/>
                    </a:solidFill>
                    <a:lnL w="6350">
                      <a:solidFill>
                        <a:srgbClr val="D0D7DA"/>
                      </a:solidFill>
                    </a:lnL>
                    <a:lnR w="6350">
                      <a:solidFill>
                        <a:srgbClr val="D0D7DA"/>
                      </a:solidFill>
                    </a:lnR>
                    <a:lnT w="6350">
                      <a:solidFill>
                        <a:srgbClr val="D0D7DA"/>
                      </a:solidFill>
                    </a:lnT>
                    <a:lnB w="6350">
                      <a:solidFill>
                        <a:srgbClr val="D0D7DA"/>
                      </a:solidFill>
                    </a:lnB>
                  </a:tcPr>
                </a:tc>
              </a:tr>
              <a:tr h="457200">
                <a:tc>
                  <a:txBody>
                    <a:bodyPr wrap="square"/>
                    <a:lstStyle/>
                    <a:p>
                      <a:pPr>
                        <a:spcAft>
                          <a:spcPts val="100"/>
                        </a:spcAft>
                      </a:pPr>
                      <a:r>
                        <a:rPr sz="1050" b="0" i="0">
                          <a:solidFill>
                            <a:srgbClr val="2B2B2B"/>
                          </a:solidFill>
                          <a:latin typeface="Arial"/>
                        </a:rPr>
                        <a:t>Sachbearbeiter</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Wer verantwortet welche Kunden, wer mahnt, wer erscheint in Kennzahlen?</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Define Accounting Clerks</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r>
              <a:tr h="457200">
                <a:tc>
                  <a:txBody>
                    <a:bodyPr wrap="square"/>
                    <a:lstStyle/>
                    <a:p>
                      <a:pPr>
                        <a:spcAft>
                          <a:spcPts val="100"/>
                        </a:spcAft>
                      </a:pPr>
                      <a:r>
                        <a:rPr sz="1050" b="0" i="0">
                          <a:solidFill>
                            <a:srgbClr val="2B2B2B"/>
                          </a:solidFill>
                          <a:latin typeface="Arial"/>
                        </a:rPr>
                        <a:t>Zahlungsbedingungen</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Welche Zahlungsziele und Skonti, welche sind Standard?</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Terms of Payment; 0001 sofort fällig vorgeliefert</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r>
              <a:tr h="457200">
                <a:tc>
                  <a:txBody>
                    <a:bodyPr wrap="square"/>
                    <a:lstStyle/>
                    <a:p>
                      <a:pPr>
                        <a:spcAft>
                          <a:spcPts val="100"/>
                        </a:spcAft>
                      </a:pPr>
                      <a:r>
                        <a:rPr sz="1050" b="0" i="0">
                          <a:solidFill>
                            <a:srgbClr val="2B2B2B"/>
                          </a:solidFill>
                          <a:latin typeface="Arial"/>
                        </a:rPr>
                        <a:t>Abstimmkonten, Belegarten</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Wie gliedern wir Forderungen in der Bilanz? DR, DG, DZ, DA, RV</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Kundenstamm; Belegarten und Nummernkreise fix</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r>
              <a:tr h="457200">
                <a:tc>
                  <a:txBody>
                    <a:bodyPr wrap="square"/>
                    <a:lstStyle/>
                    <a:p>
                      <a:pPr>
                        <a:spcAft>
                          <a:spcPts val="100"/>
                        </a:spcAft>
                      </a:pPr>
                      <a:r>
                        <a:rPr sz="1050" b="0" i="0">
                          <a:solidFill>
                            <a:srgbClr val="2B2B2B"/>
                          </a:solidFill>
                          <a:latin typeface="Arial"/>
                        </a:rPr>
                        <a:t>Erlöskonten, Ergebnisobjekt</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Wie werten wir Umsatz aus (Produkt, Kunde, Region)?</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Manage Default Account Assignments (41000400, Ergebnisobjekt)</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r>
              <a:tr h="457200">
                <a:tc>
                  <a:txBody>
                    <a:bodyPr wrap="square"/>
                    <a:lstStyle/>
                    <a:p>
                      <a:pPr>
                        <a:spcAft>
                          <a:spcPts val="100"/>
                        </a:spcAft>
                      </a:pPr>
                      <a:r>
                        <a:rPr sz="1050" b="0" i="0">
                          <a:solidFill>
                            <a:srgbClr val="2B2B2B"/>
                          </a:solidFill>
                          <a:latin typeface="Arial"/>
                        </a:rPr>
                        <a:t>Rechnungs- und Korrespondenzformulare</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Wie sieht unsere Rechnung aus, wie geht sie raus, in welcher Sprache?</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Output Parameter Determination (BRF+), Maintain Form Templates (F1434), Assign Form / Email Templates</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r>
              <a:tr h="457200">
                <a:tc>
                  <a:txBody>
                    <a:bodyPr wrap="square"/>
                    <a:lstStyle/>
                    <a:p>
                      <a:pPr>
                        <a:spcAft>
                          <a:spcPts val="100"/>
                        </a:spcAft>
                      </a:pPr>
                      <a:r>
                        <a:rPr sz="1050" b="0" i="0">
                          <a:solidFill>
                            <a:srgbClr val="2B2B2B"/>
                          </a:solidFill>
                          <a:latin typeface="Arial"/>
                        </a:rPr>
                        <a:t>Mahnverfahren, Zinsen</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Wie konsequent mahnen wir, berechnen wir Verzugszinsen?</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1001 / 1002 vorgeliefert, Zinskennzeichen 01 (Workshop 4)</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r>
              <a:tr h="457200">
                <a:tc>
                  <a:txBody>
                    <a:bodyPr wrap="square"/>
                    <a:lstStyle/>
                    <a:p>
                      <a:pPr>
                        <a:spcAft>
                          <a:spcPts val="100"/>
                        </a:spcAft>
                      </a:pPr>
                      <a:r>
                        <a:rPr sz="1050" b="0" i="0">
                          <a:solidFill>
                            <a:srgbClr val="2B2B2B"/>
                          </a:solidFill>
                          <a:latin typeface="Arial"/>
                        </a:rPr>
                        <a:t>Toleranzen, Grundcodes, Ausbuchung</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Welche Differenzen akzeptieren wir automatisch, ab wann schreiben wir ab?</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Toleranzgruppen; Automatic Account Determination, Schlüssel ZDI mit Grundcode</a:t>
                      </a:r>
                    </a:p>
                  </a:txBody>
                  <a:tcPr marL="64008" marR="64008" marT="36576" marB="36576" anchor="ctr">
                    <a:solidFill>
                      <a:srgbClr val="FFFFFF"/>
                    </a:solidFill>
                    <a:lnL w="6350">
                      <a:solidFill>
                        <a:srgbClr val="D0D7DA"/>
                      </a:solidFill>
                    </a:lnL>
                    <a:lnR w="6350">
                      <a:solidFill>
                        <a:srgbClr val="D0D7DA"/>
                      </a:solidFill>
                    </a:lnR>
                    <a:lnT w="6350">
                      <a:solidFill>
                        <a:srgbClr val="D0D7DA"/>
                      </a:solidFill>
                    </a:lnT>
                    <a:lnB w="6350">
                      <a:solidFill>
                        <a:srgbClr val="D0D7DA"/>
                      </a:solidFill>
                    </a:lnB>
                  </a:tcPr>
                </a:tc>
              </a:tr>
              <a:tr h="457200">
                <a:tc>
                  <a:txBody>
                    <a:bodyPr wrap="square"/>
                    <a:lstStyle/>
                    <a:p>
                      <a:pPr>
                        <a:spcAft>
                          <a:spcPts val="100"/>
                        </a:spcAft>
                      </a:pPr>
                      <a:r>
                        <a:rPr sz="1050" b="0" i="0">
                          <a:solidFill>
                            <a:srgbClr val="2B2B2B"/>
                          </a:solidFill>
                          <a:latin typeface="Arial"/>
                        </a:rPr>
                        <a:t>Kreditmanagement, Rollen</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Prüfen wir Limits, wer gibt frei, wer darf was?</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c>
                  <a:txBody>
                    <a:bodyPr wrap="square"/>
                    <a:lstStyle/>
                    <a:p>
                      <a:pPr>
                        <a:spcAft>
                          <a:spcPts val="100"/>
                        </a:spcAft>
                      </a:pPr>
                      <a:r>
                        <a:rPr sz="1050" b="0" i="0">
                          <a:solidFill>
                            <a:srgbClr val="2B2B2B"/>
                          </a:solidFill>
                          <a:latin typeface="Arial"/>
                        </a:rPr>
                        <a:t>Kreditsegmente, Activate Features FIN_FSCM_REBUILD_DCD; Rollenvorlagen SAP_BR_*</a:t>
                      </a:r>
                    </a:p>
                  </a:txBody>
                  <a:tcPr marL="64008" marR="64008" marT="36576" marB="36576" anchor="ctr">
                    <a:solidFill>
                      <a:srgbClr val="F4F7F8"/>
                    </a:solidFill>
                    <a:lnL w="6350">
                      <a:solidFill>
                        <a:srgbClr val="D0D7DA"/>
                      </a:solidFill>
                    </a:lnL>
                    <a:lnR w="6350">
                      <a:solidFill>
                        <a:srgbClr val="D0D7DA"/>
                      </a:solidFill>
                    </a:lnR>
                    <a:lnT w="6350">
                      <a:solidFill>
                        <a:srgbClr val="D0D7DA"/>
                      </a:solidFill>
                    </a:lnT>
                    <a:lnB w="6350">
                      <a:solidFill>
                        <a:srgbClr val="D0D7DA"/>
                      </a:solidFill>
                    </a:lnB>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11064240" cy="274320"/>
          </a:xfrm>
          <a:prstGeom prst="rect">
            <a:avLst/>
          </a:prstGeom>
          <a:noFill/>
        </p:spPr>
        <p:txBody>
          <a:bodyPr wrap="square" anchor="t" lIns="45720" rIns="45720">
            <a:spAutoFit/>
          </a:bodyPr>
          <a:lstStyle/>
          <a:p>
            <a:pPr algn="l">
              <a:spcAft>
                <a:spcPts val="400"/>
              </a:spcAft>
            </a:pPr>
            <a:r>
              <a:rPr sz="1200" b="1" i="0">
                <a:solidFill>
                  <a:srgbClr val="6B6B6B"/>
                </a:solidFill>
                <a:latin typeface="Arial"/>
              </a:rPr>
              <a:t>Thema 4 · Basis-Konfiguration · Praxis</a:t>
            </a:r>
          </a:p>
        </p:txBody>
      </p:sp>
      <p:sp>
        <p:nvSpPr>
          <p:cNvPr id="3" name="TextBox 2"/>
          <p:cNvSpPr txBox="1"/>
          <p:nvPr/>
        </p:nvSpPr>
        <p:spPr>
          <a:xfrm>
            <a:off x="548640" y="502920"/>
            <a:ext cx="11064240" cy="731520"/>
          </a:xfrm>
          <a:prstGeom prst="rect">
            <a:avLst/>
          </a:prstGeom>
          <a:noFill/>
        </p:spPr>
        <p:txBody>
          <a:bodyPr wrap="square" anchor="ctr" lIns="45720" rIns="45720">
            <a:spAutoFit/>
          </a:bodyPr>
          <a:lstStyle/>
          <a:p>
            <a:pPr algn="l">
              <a:spcAft>
                <a:spcPts val="400"/>
              </a:spcAft>
            </a:pPr>
            <a:r>
              <a:rPr sz="2800" b="1" i="0">
                <a:solidFill>
                  <a:srgbClr val="2B2B2B"/>
                </a:solidFill>
                <a:latin typeface="Arial"/>
              </a:rPr>
              <a:t>Konfigurationsrundgang und Fragen an die Fachbereiche</a:t>
            </a:r>
          </a:p>
        </p:txBody>
      </p:sp>
      <p:sp>
        <p:nvSpPr>
          <p:cNvPr id="4" name="TextBox 3"/>
          <p:cNvSpPr txBox="1"/>
          <p:nvPr/>
        </p:nvSpPr>
        <p:spPr>
          <a:xfrm>
            <a:off x="548640" y="6446520"/>
            <a:ext cx="8229600" cy="274320"/>
          </a:xfrm>
          <a:prstGeom prst="rect">
            <a:avLst/>
          </a:prstGeom>
          <a:noFill/>
        </p:spPr>
        <p:txBody>
          <a:bodyPr wrap="square" anchor="t" lIns="45720" rIns="45720">
            <a:spAutoFit/>
          </a:bodyPr>
          <a:lstStyle/>
          <a:p>
            <a:pPr algn="l">
              <a:spcAft>
                <a:spcPts val="400"/>
              </a:spcAft>
            </a:pPr>
            <a:r>
              <a:rPr sz="900" b="0" i="0">
                <a:solidFill>
                  <a:srgbClr val="6B6B6B"/>
                </a:solidFill>
                <a:latin typeface="Arial"/>
              </a:rPr>
              <a:t>F2S-Workshop 3 · Debitorenbuchhaltung · SAP S/4HANA Cloud Public Edition 2608</a:t>
            </a:r>
          </a:p>
        </p:txBody>
      </p:sp>
      <p:sp>
        <p:nvSpPr>
          <p:cNvPr id="5" name="TextBox 4"/>
          <p:cNvSpPr txBox="1"/>
          <p:nvPr/>
        </p:nvSpPr>
        <p:spPr>
          <a:xfrm>
            <a:off x="10972800" y="6446520"/>
            <a:ext cx="685800" cy="274320"/>
          </a:xfrm>
          <a:prstGeom prst="rect">
            <a:avLst/>
          </a:prstGeom>
          <a:noFill/>
        </p:spPr>
        <p:txBody>
          <a:bodyPr wrap="square" anchor="t" lIns="45720" rIns="45720">
            <a:spAutoFit/>
          </a:bodyPr>
          <a:lstStyle/>
          <a:p>
            <a:pPr algn="r">
              <a:spcAft>
                <a:spcPts val="400"/>
              </a:spcAft>
            </a:pPr>
            <a:r>
              <a:rPr sz="900" b="0" i="0">
                <a:solidFill>
                  <a:srgbClr val="6B6B6B"/>
                </a:solidFill>
                <a:latin typeface="Arial"/>
              </a:rPr>
              <a:t>24</a:t>
            </a:r>
          </a:p>
        </p:txBody>
      </p:sp>
      <p:sp>
        <p:nvSpPr>
          <p:cNvPr id="6" name="TextBox 5"/>
          <p:cNvSpPr txBox="1"/>
          <p:nvPr/>
        </p:nvSpPr>
        <p:spPr>
          <a:xfrm>
            <a:off x="548640" y="1417320"/>
            <a:ext cx="5669280" cy="365760"/>
          </a:xfrm>
          <a:prstGeom prst="rect">
            <a:avLst/>
          </a:prstGeom>
          <a:noFill/>
        </p:spPr>
        <p:txBody>
          <a:bodyPr wrap="square" anchor="t" lIns="45720" rIns="45720">
            <a:spAutoFit/>
          </a:bodyPr>
          <a:lstStyle/>
          <a:p>
            <a:pPr algn="l">
              <a:spcAft>
                <a:spcPts val="400"/>
              </a:spcAft>
            </a:pPr>
            <a:r>
              <a:rPr sz="1400" b="1" i="0">
                <a:solidFill>
                  <a:srgbClr val="1F4E5F"/>
                </a:solidFill>
                <a:latin typeface="Arial"/>
              </a:rPr>
              <a:t>Demo im System (ca. 20 Minuten)</a:t>
            </a:r>
          </a:p>
        </p:txBody>
      </p:sp>
      <p:sp>
        <p:nvSpPr>
          <p:cNvPr id="7" name="Oval 6"/>
          <p:cNvSpPr/>
          <p:nvPr/>
        </p:nvSpPr>
        <p:spPr>
          <a:xfrm>
            <a:off x="548640" y="1874519"/>
            <a:ext cx="365760" cy="365760"/>
          </a:xfrm>
          <a:prstGeom prst="ellipse">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200" b="1" i="0">
                <a:solidFill>
                  <a:srgbClr val="FFFFFF"/>
                </a:solidFill>
                <a:latin typeface="Arial"/>
              </a:rPr>
              <a:t>1</a:t>
            </a:r>
          </a:p>
        </p:txBody>
      </p:sp>
      <p:sp>
        <p:nvSpPr>
          <p:cNvPr id="8" name="TextBox 7"/>
          <p:cNvSpPr txBox="1"/>
          <p:nvPr/>
        </p:nvSpPr>
        <p:spPr>
          <a:xfrm>
            <a:off x="1051560" y="1828800"/>
            <a:ext cx="5120640" cy="274320"/>
          </a:xfrm>
          <a:prstGeom prst="rect">
            <a:avLst/>
          </a:prstGeom>
          <a:noFill/>
        </p:spPr>
        <p:txBody>
          <a:bodyPr wrap="square" anchor="t" lIns="45720" rIns="45720">
            <a:spAutoFit/>
          </a:bodyPr>
          <a:lstStyle/>
          <a:p>
            <a:pPr algn="l">
              <a:spcAft>
                <a:spcPts val="400"/>
              </a:spcAft>
            </a:pPr>
            <a:r>
              <a:rPr sz="1250" b="1" i="0">
                <a:solidFill>
                  <a:srgbClr val="2B2B2B"/>
                </a:solidFill>
                <a:latin typeface="Arial"/>
              </a:rPr>
              <a:t>Salden und Übersicht</a:t>
            </a:r>
          </a:p>
        </p:txBody>
      </p:sp>
      <p:sp>
        <p:nvSpPr>
          <p:cNvPr id="9" name="TextBox 8"/>
          <p:cNvSpPr txBox="1"/>
          <p:nvPr/>
        </p:nvSpPr>
        <p:spPr>
          <a:xfrm>
            <a:off x="1051560" y="2103120"/>
            <a:ext cx="5120640" cy="548640"/>
          </a:xfrm>
          <a:prstGeom prst="rect">
            <a:avLst/>
          </a:prstGeom>
          <a:noFill/>
        </p:spPr>
        <p:txBody>
          <a:bodyPr wrap="square" anchor="t" lIns="45720" rIns="45720">
            <a:spAutoFit/>
          </a:bodyPr>
          <a:lstStyle/>
          <a:p>
            <a:pPr algn="l">
              <a:spcAft>
                <a:spcPts val="400"/>
              </a:spcAft>
            </a:pPr>
            <a:r>
              <a:rPr sz="1100" b="0" i="0">
                <a:solidFill>
                  <a:srgbClr val="2B2B2B"/>
                </a:solidFill>
                <a:latin typeface="Arial"/>
              </a:rPr>
              <a:t>Display Customer Balances (F0703A), Accounts Receivable Overview (F3242), Item Change Log (F7796)</a:t>
            </a:r>
          </a:p>
        </p:txBody>
      </p:sp>
      <p:sp>
        <p:nvSpPr>
          <p:cNvPr id="10" name="Oval 9"/>
          <p:cNvSpPr/>
          <p:nvPr/>
        </p:nvSpPr>
        <p:spPr>
          <a:xfrm>
            <a:off x="548640" y="2715768"/>
            <a:ext cx="365760" cy="365760"/>
          </a:xfrm>
          <a:prstGeom prst="ellipse">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200" b="1" i="0">
                <a:solidFill>
                  <a:srgbClr val="FFFFFF"/>
                </a:solidFill>
                <a:latin typeface="Arial"/>
              </a:rPr>
              <a:t>2</a:t>
            </a:r>
          </a:p>
        </p:txBody>
      </p:sp>
      <p:sp>
        <p:nvSpPr>
          <p:cNvPr id="11" name="TextBox 10"/>
          <p:cNvSpPr txBox="1"/>
          <p:nvPr/>
        </p:nvSpPr>
        <p:spPr>
          <a:xfrm>
            <a:off x="1051560" y="2670048"/>
            <a:ext cx="5120640" cy="274320"/>
          </a:xfrm>
          <a:prstGeom prst="rect">
            <a:avLst/>
          </a:prstGeom>
          <a:noFill/>
        </p:spPr>
        <p:txBody>
          <a:bodyPr wrap="square" anchor="t" lIns="45720" rIns="45720">
            <a:spAutoFit/>
          </a:bodyPr>
          <a:lstStyle/>
          <a:p>
            <a:pPr algn="l">
              <a:spcAft>
                <a:spcPts val="400"/>
              </a:spcAft>
            </a:pPr>
            <a:r>
              <a:rPr sz="1250" b="1" i="0">
                <a:solidFill>
                  <a:srgbClr val="2B2B2B"/>
                </a:solidFill>
                <a:latin typeface="Arial"/>
              </a:rPr>
              <a:t>Sachbearbeiter und Kontierung</a:t>
            </a:r>
          </a:p>
        </p:txBody>
      </p:sp>
      <p:sp>
        <p:nvSpPr>
          <p:cNvPr id="12" name="TextBox 11"/>
          <p:cNvSpPr txBox="1"/>
          <p:nvPr/>
        </p:nvSpPr>
        <p:spPr>
          <a:xfrm>
            <a:off x="1051560" y="2944368"/>
            <a:ext cx="5120640" cy="548640"/>
          </a:xfrm>
          <a:prstGeom prst="rect">
            <a:avLst/>
          </a:prstGeom>
          <a:noFill/>
        </p:spPr>
        <p:txBody>
          <a:bodyPr wrap="square" anchor="t" lIns="45720" rIns="45720">
            <a:spAutoFit/>
          </a:bodyPr>
          <a:lstStyle/>
          <a:p>
            <a:pPr algn="l">
              <a:spcAft>
                <a:spcPts val="400"/>
              </a:spcAft>
            </a:pPr>
            <a:r>
              <a:rPr sz="1100" b="0" i="0">
                <a:solidFill>
                  <a:srgbClr val="2B2B2B"/>
                </a:solidFill>
                <a:latin typeface="Arial"/>
              </a:rPr>
              <a:t>Define Accounting Clerks; Manage Default Account Assignments</a:t>
            </a:r>
          </a:p>
        </p:txBody>
      </p:sp>
      <p:sp>
        <p:nvSpPr>
          <p:cNvPr id="13" name="Oval 12"/>
          <p:cNvSpPr/>
          <p:nvPr/>
        </p:nvSpPr>
        <p:spPr>
          <a:xfrm>
            <a:off x="548640" y="3557015"/>
            <a:ext cx="365760" cy="365760"/>
          </a:xfrm>
          <a:prstGeom prst="ellipse">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200" b="1" i="0">
                <a:solidFill>
                  <a:srgbClr val="FFFFFF"/>
                </a:solidFill>
                <a:latin typeface="Arial"/>
              </a:rPr>
              <a:t>3</a:t>
            </a:r>
          </a:p>
        </p:txBody>
      </p:sp>
      <p:sp>
        <p:nvSpPr>
          <p:cNvPr id="14" name="TextBox 13"/>
          <p:cNvSpPr txBox="1"/>
          <p:nvPr/>
        </p:nvSpPr>
        <p:spPr>
          <a:xfrm>
            <a:off x="1051560" y="3511296"/>
            <a:ext cx="5120640" cy="274320"/>
          </a:xfrm>
          <a:prstGeom prst="rect">
            <a:avLst/>
          </a:prstGeom>
          <a:noFill/>
        </p:spPr>
        <p:txBody>
          <a:bodyPr wrap="square" anchor="t" lIns="45720" rIns="45720">
            <a:spAutoFit/>
          </a:bodyPr>
          <a:lstStyle/>
          <a:p>
            <a:pPr algn="l">
              <a:spcAft>
                <a:spcPts val="400"/>
              </a:spcAft>
            </a:pPr>
            <a:r>
              <a:rPr sz="1250" b="1" i="0">
                <a:solidFill>
                  <a:srgbClr val="2B2B2B"/>
                </a:solidFill>
                <a:latin typeface="Arial"/>
              </a:rPr>
              <a:t>Kontenfindung</a:t>
            </a:r>
          </a:p>
        </p:txBody>
      </p:sp>
      <p:sp>
        <p:nvSpPr>
          <p:cNvPr id="15" name="TextBox 14"/>
          <p:cNvSpPr txBox="1"/>
          <p:nvPr/>
        </p:nvSpPr>
        <p:spPr>
          <a:xfrm>
            <a:off x="1051560" y="3785615"/>
            <a:ext cx="5120640" cy="548640"/>
          </a:xfrm>
          <a:prstGeom prst="rect">
            <a:avLst/>
          </a:prstGeom>
          <a:noFill/>
        </p:spPr>
        <p:txBody>
          <a:bodyPr wrap="square" anchor="t" lIns="45720" rIns="45720">
            <a:spAutoFit/>
          </a:bodyPr>
          <a:lstStyle/>
          <a:p>
            <a:pPr algn="l">
              <a:spcAft>
                <a:spcPts val="400"/>
              </a:spcAft>
            </a:pPr>
            <a:r>
              <a:rPr sz="1100" b="0" i="0">
                <a:solidFill>
                  <a:srgbClr val="2B2B2B"/>
                </a:solidFill>
                <a:latin typeface="Arial"/>
              </a:rPr>
              <a:t>Automatic Account Determination: Schlüssel ZDI, YCOA, Grundcode 200</a:t>
            </a:r>
          </a:p>
        </p:txBody>
      </p:sp>
      <p:sp>
        <p:nvSpPr>
          <p:cNvPr id="16" name="Oval 15"/>
          <p:cNvSpPr/>
          <p:nvPr/>
        </p:nvSpPr>
        <p:spPr>
          <a:xfrm>
            <a:off x="548640" y="4398264"/>
            <a:ext cx="365760" cy="365760"/>
          </a:xfrm>
          <a:prstGeom prst="ellipse">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200" b="1" i="0">
                <a:solidFill>
                  <a:srgbClr val="FFFFFF"/>
                </a:solidFill>
                <a:latin typeface="Arial"/>
              </a:rPr>
              <a:t>4</a:t>
            </a:r>
          </a:p>
        </p:txBody>
      </p:sp>
      <p:sp>
        <p:nvSpPr>
          <p:cNvPr id="17" name="TextBox 16"/>
          <p:cNvSpPr txBox="1"/>
          <p:nvPr/>
        </p:nvSpPr>
        <p:spPr>
          <a:xfrm>
            <a:off x="1051560" y="4352544"/>
            <a:ext cx="5120640" cy="274320"/>
          </a:xfrm>
          <a:prstGeom prst="rect">
            <a:avLst/>
          </a:prstGeom>
          <a:noFill/>
        </p:spPr>
        <p:txBody>
          <a:bodyPr wrap="square" anchor="t" lIns="45720" rIns="45720">
            <a:spAutoFit/>
          </a:bodyPr>
          <a:lstStyle/>
          <a:p>
            <a:pPr algn="l">
              <a:spcAft>
                <a:spcPts val="400"/>
              </a:spcAft>
            </a:pPr>
            <a:r>
              <a:rPr sz="1250" b="1" i="0">
                <a:solidFill>
                  <a:srgbClr val="2B2B2B"/>
                </a:solidFill>
                <a:latin typeface="Arial"/>
              </a:rPr>
              <a:t>Ausgabesteuerung</a:t>
            </a:r>
          </a:p>
        </p:txBody>
      </p:sp>
      <p:sp>
        <p:nvSpPr>
          <p:cNvPr id="18" name="TextBox 17"/>
          <p:cNvSpPr txBox="1"/>
          <p:nvPr/>
        </p:nvSpPr>
        <p:spPr>
          <a:xfrm>
            <a:off x="1051560" y="4626864"/>
            <a:ext cx="5120640" cy="548640"/>
          </a:xfrm>
          <a:prstGeom prst="rect">
            <a:avLst/>
          </a:prstGeom>
          <a:noFill/>
        </p:spPr>
        <p:txBody>
          <a:bodyPr wrap="square" anchor="t" lIns="45720" rIns="45720">
            <a:spAutoFit/>
          </a:bodyPr>
          <a:lstStyle/>
          <a:p>
            <a:pPr algn="l">
              <a:spcAft>
                <a:spcPts val="400"/>
              </a:spcAft>
            </a:pPr>
            <a:r>
              <a:rPr sz="1100" b="0" i="0">
                <a:solidFill>
                  <a:srgbClr val="2B2B2B"/>
                </a:solidFill>
                <a:latin typeface="Arial"/>
              </a:rPr>
              <a:t>Output Parameter Determination für Accounting Document; Maintain Form Templates (F1434)</a:t>
            </a:r>
          </a:p>
        </p:txBody>
      </p:sp>
      <p:sp>
        <p:nvSpPr>
          <p:cNvPr id="19" name="Oval 18"/>
          <p:cNvSpPr/>
          <p:nvPr/>
        </p:nvSpPr>
        <p:spPr>
          <a:xfrm>
            <a:off x="548640" y="5239512"/>
            <a:ext cx="365760" cy="365760"/>
          </a:xfrm>
          <a:prstGeom prst="ellipse">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200" b="1" i="0">
                <a:solidFill>
                  <a:srgbClr val="FFFFFF"/>
                </a:solidFill>
                <a:latin typeface="Arial"/>
              </a:rPr>
              <a:t>5</a:t>
            </a:r>
          </a:p>
        </p:txBody>
      </p:sp>
      <p:sp>
        <p:nvSpPr>
          <p:cNvPr id="20" name="TextBox 19"/>
          <p:cNvSpPr txBox="1"/>
          <p:nvPr/>
        </p:nvSpPr>
        <p:spPr>
          <a:xfrm>
            <a:off x="1051560" y="5193792"/>
            <a:ext cx="5120640" cy="274320"/>
          </a:xfrm>
          <a:prstGeom prst="rect">
            <a:avLst/>
          </a:prstGeom>
          <a:noFill/>
        </p:spPr>
        <p:txBody>
          <a:bodyPr wrap="square" anchor="t" lIns="45720" rIns="45720">
            <a:spAutoFit/>
          </a:bodyPr>
          <a:lstStyle/>
          <a:p>
            <a:pPr algn="l">
              <a:spcAft>
                <a:spcPts val="400"/>
              </a:spcAft>
            </a:pPr>
            <a:r>
              <a:rPr sz="1250" b="1" i="0">
                <a:solidFill>
                  <a:srgbClr val="2B2B2B"/>
                </a:solidFill>
                <a:latin typeface="Arial"/>
              </a:rPr>
              <a:t>Vorgeliefert nur zeigen</a:t>
            </a:r>
          </a:p>
        </p:txBody>
      </p:sp>
      <p:sp>
        <p:nvSpPr>
          <p:cNvPr id="21" name="TextBox 20"/>
          <p:cNvSpPr txBox="1"/>
          <p:nvPr/>
        </p:nvSpPr>
        <p:spPr>
          <a:xfrm>
            <a:off x="1051560" y="5468112"/>
            <a:ext cx="5120640" cy="548640"/>
          </a:xfrm>
          <a:prstGeom prst="rect">
            <a:avLst/>
          </a:prstGeom>
          <a:noFill/>
        </p:spPr>
        <p:txBody>
          <a:bodyPr wrap="square" anchor="t" lIns="45720" rIns="45720">
            <a:spAutoFit/>
          </a:bodyPr>
          <a:lstStyle/>
          <a:p>
            <a:pPr algn="l">
              <a:spcAft>
                <a:spcPts val="400"/>
              </a:spcAft>
            </a:pPr>
            <a:r>
              <a:rPr sz="1100" b="0" i="0">
                <a:solidFill>
                  <a:srgbClr val="2B2B2B"/>
                </a:solidFill>
                <a:latin typeface="Arial"/>
              </a:rPr>
              <a:t>Zahlungsbedingungen, Mahnverfahren 1001 / 1002, Activate Features (BD6)</a:t>
            </a:r>
          </a:p>
        </p:txBody>
      </p:sp>
      <p:sp>
        <p:nvSpPr>
          <p:cNvPr id="22" name="Rounded Rectangle 21"/>
          <p:cNvSpPr/>
          <p:nvPr/>
        </p:nvSpPr>
        <p:spPr>
          <a:xfrm>
            <a:off x="6583680" y="1417320"/>
            <a:ext cx="5029200" cy="4754880"/>
          </a:xfrm>
          <a:prstGeom prst="roundRect">
            <a:avLst>
              <a:gd name="adj" fmla="val 8000"/>
            </a:avLst>
          </a:prstGeom>
          <a:solidFill>
            <a:srgbClr val="E9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3" name="TextBox 22"/>
          <p:cNvSpPr txBox="1"/>
          <p:nvPr/>
        </p:nvSpPr>
        <p:spPr>
          <a:xfrm>
            <a:off x="6766560" y="1554480"/>
            <a:ext cx="4663440" cy="365760"/>
          </a:xfrm>
          <a:prstGeom prst="rect">
            <a:avLst/>
          </a:prstGeom>
          <a:noFill/>
        </p:spPr>
        <p:txBody>
          <a:bodyPr wrap="square" anchor="t" lIns="45720" rIns="45720">
            <a:spAutoFit/>
          </a:bodyPr>
          <a:lstStyle/>
          <a:p>
            <a:pPr algn="l">
              <a:spcAft>
                <a:spcPts val="400"/>
              </a:spcAft>
            </a:pPr>
            <a:r>
              <a:rPr sz="1400" b="1" i="0">
                <a:solidFill>
                  <a:srgbClr val="1F4E5F"/>
                </a:solidFill>
                <a:latin typeface="Arial"/>
              </a:rPr>
              <a:t>Fit-to-Standard-Fragen</a:t>
            </a:r>
          </a:p>
        </p:txBody>
      </p:sp>
      <p:sp>
        <p:nvSpPr>
          <p:cNvPr id="24" name="TextBox 23"/>
          <p:cNvSpPr txBox="1"/>
          <p:nvPr/>
        </p:nvSpPr>
        <p:spPr>
          <a:xfrm>
            <a:off x="6766560" y="1965960"/>
            <a:ext cx="4663440" cy="4114800"/>
          </a:xfrm>
          <a:prstGeom prst="rect">
            <a:avLst/>
          </a:prstGeom>
          <a:noFill/>
        </p:spPr>
        <p:txBody>
          <a:bodyPr wrap="square" anchor="t" lIns="45720" rIns="45720">
            <a:spAutoFit/>
          </a:bodyPr>
          <a:lstStyle/>
          <a:p>
            <a:pPr algn="l" marL="164592" indent="-164592">
              <a:spcAft>
                <a:spcPts val="500"/>
              </a:spcAft>
              <a:buChar char="•"/>
            </a:pPr>
            <a:r>
              <a:rPr sz="1150" b="0" i="0">
                <a:solidFill>
                  <a:srgbClr val="2B2B2B"/>
                </a:solidFill>
                <a:latin typeface="Arial"/>
              </a:rPr>
              <a:t>Belegarten und Referenzpflicht; Periodensteuerung für Debitoren (J58)</a:t>
            </a:r>
          </a:p>
          <a:p>
            <a:pPr algn="l" marL="164592" indent="-164592">
              <a:spcAft>
                <a:spcPts val="500"/>
              </a:spcAft>
              <a:buChar char="•"/>
            </a:pPr>
            <a:r>
              <a:rPr sz="1150" b="0" i="0">
                <a:solidFill>
                  <a:srgbClr val="2B2B2B"/>
                </a:solidFill>
                <a:latin typeface="Arial"/>
              </a:rPr>
              <a:t>Toleranzgruppen für Zahlungsdifferenzen, Restposten, Grundcodes für Abzüge</a:t>
            </a:r>
          </a:p>
          <a:p>
            <a:pPr algn="l" marL="164592" indent="-164592">
              <a:spcAft>
                <a:spcPts val="500"/>
              </a:spcAft>
              <a:buChar char="•"/>
            </a:pPr>
            <a:r>
              <a:rPr sz="1150" b="0" i="0">
                <a:solidFill>
                  <a:srgbClr val="2B2B2B"/>
                </a:solidFill>
                <a:latin typeface="Arial"/>
              </a:rPr>
              <a:t>Ausbuchung: Grundcodes, Konten, Betragsgrenzen, Freigabe</a:t>
            </a:r>
          </a:p>
          <a:p>
            <a:pPr algn="l" marL="164592" indent="-164592">
              <a:spcAft>
                <a:spcPts val="500"/>
              </a:spcAft>
              <a:buChar char="•"/>
            </a:pPr>
            <a:r>
              <a:rPr sz="1150" b="0" i="0">
                <a:solidFill>
                  <a:srgbClr val="2B2B2B"/>
                </a:solidFill>
                <a:latin typeface="Arial"/>
              </a:rPr>
              <a:t>Zinsberechnung: ja / nein, Sätze, Mindestbeträge, Versandkanal</a:t>
            </a:r>
          </a:p>
          <a:p>
            <a:pPr algn="l" marL="164592" indent="-164592">
              <a:spcAft>
                <a:spcPts val="500"/>
              </a:spcAft>
              <a:buChar char="•"/>
            </a:pPr>
            <a:r>
              <a:rPr sz="1150" b="0" i="0">
                <a:solidFill>
                  <a:srgbClr val="2B2B2B"/>
                </a:solidFill>
                <a:latin typeface="Arial"/>
              </a:rPr>
              <a:t>Saldenbestätigung zum Jahresabschluss: Verfahren, Formular, Versand</a:t>
            </a:r>
          </a:p>
          <a:p>
            <a:pPr algn="l" marL="164592" indent="-164592">
              <a:spcAft>
                <a:spcPts val="500"/>
              </a:spcAft>
              <a:buChar char="•"/>
            </a:pPr>
            <a:r>
              <a:rPr sz="1150" b="0" i="0">
                <a:solidFill>
                  <a:srgbClr val="2B2B2B"/>
                </a:solidFill>
                <a:latin typeface="Arial"/>
              </a:rPr>
              <a:t>Situation Handling (31N), Custom Fields für Posten gewünscht?</a:t>
            </a:r>
          </a:p>
          <a:p>
            <a:pPr algn="l" marL="164592" indent="-164592">
              <a:spcAft>
                <a:spcPts val="500"/>
              </a:spcAft>
              <a:buChar char="•"/>
            </a:pPr>
            <a:r>
              <a:rPr sz="1150" b="0" i="0">
                <a:solidFill>
                  <a:srgbClr val="2B2B2B"/>
                </a:solidFill>
                <a:latin typeface="Arial"/>
              </a:rPr>
              <a:t>Rollenzuschnitt: AR Accountant, AR Manager, Credit Controller, Configuration Expert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11064240" cy="274320"/>
          </a:xfrm>
          <a:prstGeom prst="rect">
            <a:avLst/>
          </a:prstGeom>
          <a:noFill/>
        </p:spPr>
        <p:txBody>
          <a:bodyPr wrap="square" anchor="t" lIns="45720" rIns="45720">
            <a:spAutoFit/>
          </a:bodyPr>
          <a:lstStyle/>
          <a:p>
            <a:pPr algn="l">
              <a:spcAft>
                <a:spcPts val="400"/>
              </a:spcAft>
            </a:pPr>
            <a:r>
              <a:rPr sz="1200" b="1" i="0">
                <a:solidFill>
                  <a:srgbClr val="6B6B6B"/>
                </a:solidFill>
                <a:latin typeface="Arial"/>
              </a:rPr>
              <a:t>Abschluss</a:t>
            </a:r>
          </a:p>
        </p:txBody>
      </p:sp>
      <p:sp>
        <p:nvSpPr>
          <p:cNvPr id="3" name="TextBox 2"/>
          <p:cNvSpPr txBox="1"/>
          <p:nvPr/>
        </p:nvSpPr>
        <p:spPr>
          <a:xfrm>
            <a:off x="548640" y="502920"/>
            <a:ext cx="11064240" cy="731520"/>
          </a:xfrm>
          <a:prstGeom prst="rect">
            <a:avLst/>
          </a:prstGeom>
          <a:noFill/>
        </p:spPr>
        <p:txBody>
          <a:bodyPr wrap="square" anchor="ctr" lIns="45720" rIns="45720">
            <a:spAutoFit/>
          </a:bodyPr>
          <a:lstStyle/>
          <a:p>
            <a:pPr algn="l">
              <a:spcAft>
                <a:spcPts val="400"/>
              </a:spcAft>
            </a:pPr>
            <a:r>
              <a:rPr sz="2800" b="1" i="0">
                <a:solidFill>
                  <a:srgbClr val="2B2B2B"/>
                </a:solidFill>
                <a:latin typeface="Arial"/>
              </a:rPr>
              <a:t>Ergebnis des Workshops: Entscheidungen und offene Punkte</a:t>
            </a:r>
          </a:p>
        </p:txBody>
      </p:sp>
      <p:sp>
        <p:nvSpPr>
          <p:cNvPr id="4" name="TextBox 3"/>
          <p:cNvSpPr txBox="1"/>
          <p:nvPr/>
        </p:nvSpPr>
        <p:spPr>
          <a:xfrm>
            <a:off x="548640" y="6446520"/>
            <a:ext cx="8229600" cy="274320"/>
          </a:xfrm>
          <a:prstGeom prst="rect">
            <a:avLst/>
          </a:prstGeom>
          <a:noFill/>
        </p:spPr>
        <p:txBody>
          <a:bodyPr wrap="square" anchor="t" lIns="45720" rIns="45720">
            <a:spAutoFit/>
          </a:bodyPr>
          <a:lstStyle/>
          <a:p>
            <a:pPr algn="l">
              <a:spcAft>
                <a:spcPts val="400"/>
              </a:spcAft>
            </a:pPr>
            <a:r>
              <a:rPr sz="900" b="0" i="0">
                <a:solidFill>
                  <a:srgbClr val="6B6B6B"/>
                </a:solidFill>
                <a:latin typeface="Arial"/>
              </a:rPr>
              <a:t>F2S-Workshop 3 · Debitorenbuchhaltung · SAP S/4HANA Cloud Public Edition 2608</a:t>
            </a:r>
          </a:p>
        </p:txBody>
      </p:sp>
      <p:sp>
        <p:nvSpPr>
          <p:cNvPr id="5" name="TextBox 4"/>
          <p:cNvSpPr txBox="1"/>
          <p:nvPr/>
        </p:nvSpPr>
        <p:spPr>
          <a:xfrm>
            <a:off x="10972800" y="6446520"/>
            <a:ext cx="685800" cy="274320"/>
          </a:xfrm>
          <a:prstGeom prst="rect">
            <a:avLst/>
          </a:prstGeom>
          <a:noFill/>
        </p:spPr>
        <p:txBody>
          <a:bodyPr wrap="square" anchor="t" lIns="45720" rIns="45720">
            <a:spAutoFit/>
          </a:bodyPr>
          <a:lstStyle/>
          <a:p>
            <a:pPr algn="r">
              <a:spcAft>
                <a:spcPts val="400"/>
              </a:spcAft>
            </a:pPr>
            <a:r>
              <a:rPr sz="900" b="0" i="0">
                <a:solidFill>
                  <a:srgbClr val="6B6B6B"/>
                </a:solidFill>
                <a:latin typeface="Arial"/>
              </a:rPr>
              <a:t>25</a:t>
            </a:r>
          </a:p>
        </p:txBody>
      </p:sp>
      <p:sp>
        <p:nvSpPr>
          <p:cNvPr id="6" name="Rounded Rectangle 5"/>
          <p:cNvSpPr/>
          <p:nvPr/>
        </p:nvSpPr>
        <p:spPr>
          <a:xfrm>
            <a:off x="548640" y="1417320"/>
            <a:ext cx="3566160" cy="3291840"/>
          </a:xfrm>
          <a:prstGeom prst="roundRect">
            <a:avLst>
              <a:gd name="adj" fmla="val 8000"/>
            </a:avLst>
          </a:prstGeom>
          <a:solidFill>
            <a:srgbClr val="E9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7" name="TextBox 6"/>
          <p:cNvSpPr txBox="1"/>
          <p:nvPr/>
        </p:nvSpPr>
        <p:spPr>
          <a:xfrm>
            <a:off x="713232" y="1545336"/>
            <a:ext cx="3264408" cy="365760"/>
          </a:xfrm>
          <a:prstGeom prst="rect">
            <a:avLst/>
          </a:prstGeom>
          <a:noFill/>
        </p:spPr>
        <p:txBody>
          <a:bodyPr wrap="square" anchor="ctr" lIns="45720" rIns="45720">
            <a:spAutoFit/>
          </a:bodyPr>
          <a:lstStyle/>
          <a:p>
            <a:pPr algn="l">
              <a:spcAft>
                <a:spcPts val="400"/>
              </a:spcAft>
            </a:pPr>
            <a:r>
              <a:rPr sz="1300" b="1" i="0">
                <a:solidFill>
                  <a:srgbClr val="1F4E5F"/>
                </a:solidFill>
                <a:latin typeface="Arial"/>
              </a:rPr>
              <a:t>Entschieden im Workshop</a:t>
            </a:r>
          </a:p>
        </p:txBody>
      </p:sp>
      <p:sp>
        <p:nvSpPr>
          <p:cNvPr id="8" name="TextBox 7"/>
          <p:cNvSpPr txBox="1"/>
          <p:nvPr/>
        </p:nvSpPr>
        <p:spPr>
          <a:xfrm>
            <a:off x="713232" y="1965960"/>
            <a:ext cx="3236976" cy="2651760"/>
          </a:xfrm>
          <a:prstGeom prst="rect">
            <a:avLst/>
          </a:prstGeom>
          <a:noFill/>
        </p:spPr>
        <p:txBody>
          <a:bodyPr wrap="square" anchor="t" lIns="45720" rIns="45720">
            <a:spAutoFit/>
          </a:bodyPr>
          <a:lstStyle/>
          <a:p>
            <a:pPr algn="l" marL="164592" indent="-164592">
              <a:spcAft>
                <a:spcPts val="300"/>
              </a:spcAft>
              <a:buChar char="•"/>
            </a:pPr>
            <a:r>
              <a:rPr sz="1200" b="0" i="0">
                <a:solidFill>
                  <a:srgbClr val="2B2B2B"/>
                </a:solidFill>
                <a:latin typeface="Arial"/>
              </a:rPr>
              <a:t>Stammdaten-Governance und Pflichtfelder</a:t>
            </a:r>
          </a:p>
          <a:p>
            <a:pPr algn="l" marL="164592" indent="-164592">
              <a:spcAft>
                <a:spcPts val="300"/>
              </a:spcAft>
              <a:buChar char="•"/>
            </a:pPr>
            <a:r>
              <a:rPr sz="1200" b="0" i="0">
                <a:solidFill>
                  <a:srgbClr val="2B2B2B"/>
                </a:solidFill>
                <a:latin typeface="Arial"/>
              </a:rPr>
              <a:t>Rechnungswege je Quelle</a:t>
            </a:r>
          </a:p>
          <a:p>
            <a:pPr algn="l" marL="164592" indent="-164592">
              <a:spcAft>
                <a:spcPts val="300"/>
              </a:spcAft>
              <a:buChar char="•"/>
            </a:pPr>
            <a:r>
              <a:rPr sz="1200" b="0" i="0">
                <a:solidFill>
                  <a:srgbClr val="2B2B2B"/>
                </a:solidFill>
                <a:latin typeface="Arial"/>
              </a:rPr>
              <a:t>Ausgabekanal und Formular</a:t>
            </a:r>
          </a:p>
          <a:p>
            <a:pPr algn="l" marL="164592" indent="-164592">
              <a:spcAft>
                <a:spcPts val="300"/>
              </a:spcAft>
              <a:buChar char="•"/>
            </a:pPr>
            <a:r>
              <a:rPr sz="1200" b="0" i="0">
                <a:solidFill>
                  <a:srgbClr val="2B2B2B"/>
                </a:solidFill>
                <a:latin typeface="Arial"/>
              </a:rPr>
              <a:t>Kreditmanagement ja / nein</a:t>
            </a:r>
          </a:p>
        </p:txBody>
      </p:sp>
      <p:sp>
        <p:nvSpPr>
          <p:cNvPr id="9" name="Rounded Rectangle 8"/>
          <p:cNvSpPr/>
          <p:nvPr/>
        </p:nvSpPr>
        <p:spPr>
          <a:xfrm>
            <a:off x="4297679" y="1417320"/>
            <a:ext cx="3566160" cy="3291840"/>
          </a:xfrm>
          <a:prstGeom prst="roundRect">
            <a:avLst>
              <a:gd name="adj" fmla="val 8000"/>
            </a:avLst>
          </a:prstGeom>
          <a:solidFill>
            <a:srgbClr val="E9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0" name="TextBox 9"/>
          <p:cNvSpPr txBox="1"/>
          <p:nvPr/>
        </p:nvSpPr>
        <p:spPr>
          <a:xfrm>
            <a:off x="4462271" y="1545336"/>
            <a:ext cx="3264408" cy="365760"/>
          </a:xfrm>
          <a:prstGeom prst="rect">
            <a:avLst/>
          </a:prstGeom>
          <a:noFill/>
        </p:spPr>
        <p:txBody>
          <a:bodyPr wrap="square" anchor="ctr" lIns="45720" rIns="45720">
            <a:spAutoFit/>
          </a:bodyPr>
          <a:lstStyle/>
          <a:p>
            <a:pPr algn="l">
              <a:spcAft>
                <a:spcPts val="400"/>
              </a:spcAft>
            </a:pPr>
            <a:r>
              <a:rPr sz="1300" b="1" i="0">
                <a:solidFill>
                  <a:srgbClr val="1F4E5F"/>
                </a:solidFill>
                <a:latin typeface="Arial"/>
              </a:rPr>
              <a:t>Offen, mit Verantwortlichem</a:t>
            </a:r>
          </a:p>
        </p:txBody>
      </p:sp>
      <p:sp>
        <p:nvSpPr>
          <p:cNvPr id="11" name="TextBox 10"/>
          <p:cNvSpPr txBox="1"/>
          <p:nvPr/>
        </p:nvSpPr>
        <p:spPr>
          <a:xfrm>
            <a:off x="4462271" y="1965960"/>
            <a:ext cx="3236976" cy="2651760"/>
          </a:xfrm>
          <a:prstGeom prst="rect">
            <a:avLst/>
          </a:prstGeom>
          <a:noFill/>
        </p:spPr>
        <p:txBody>
          <a:bodyPr wrap="square" anchor="t" lIns="45720" rIns="45720">
            <a:spAutoFit/>
          </a:bodyPr>
          <a:lstStyle/>
          <a:p>
            <a:pPr algn="l" marL="164592" indent="-164592">
              <a:spcAft>
                <a:spcPts val="300"/>
              </a:spcAft>
              <a:buChar char="•"/>
            </a:pPr>
            <a:r>
              <a:rPr sz="1200" b="0" i="0">
                <a:solidFill>
                  <a:srgbClr val="2B2B2B"/>
                </a:solidFill>
                <a:latin typeface="Arial"/>
              </a:rPr>
              <a:t>Liste der Zahlungsbedingungen</a:t>
            </a:r>
          </a:p>
          <a:p>
            <a:pPr algn="l" marL="164592" indent="-164592">
              <a:spcAft>
                <a:spcPts val="300"/>
              </a:spcAft>
              <a:buChar char="•"/>
            </a:pPr>
            <a:r>
              <a:rPr sz="1200" b="0" i="0">
                <a:solidFill>
                  <a:srgbClr val="2B2B2B"/>
                </a:solidFill>
                <a:latin typeface="Arial"/>
              </a:rPr>
              <a:t>Erlöskonten und Ergebnisobjekt-Merkmale</a:t>
            </a:r>
          </a:p>
          <a:p>
            <a:pPr algn="l" marL="164592" indent="-164592">
              <a:spcAft>
                <a:spcPts val="300"/>
              </a:spcAft>
              <a:buChar char="•"/>
            </a:pPr>
            <a:r>
              <a:rPr sz="1200" b="0" i="0">
                <a:solidFill>
                  <a:srgbClr val="2B2B2B"/>
                </a:solidFill>
                <a:latin typeface="Arial"/>
              </a:rPr>
              <a:t>Steuerkennzeichen je Fall</a:t>
            </a:r>
          </a:p>
          <a:p>
            <a:pPr algn="l" marL="164592" indent="-164592">
              <a:spcAft>
                <a:spcPts val="300"/>
              </a:spcAft>
              <a:buChar char="•"/>
            </a:pPr>
            <a:r>
              <a:rPr sz="1200" b="0" i="0">
                <a:solidFill>
                  <a:srgbClr val="2B2B2B"/>
                </a:solidFill>
                <a:latin typeface="Arial"/>
              </a:rPr>
              <a:t>Vorsysteme und Schnittstellen</a:t>
            </a:r>
          </a:p>
        </p:txBody>
      </p:sp>
      <p:sp>
        <p:nvSpPr>
          <p:cNvPr id="12" name="Rounded Rectangle 11"/>
          <p:cNvSpPr/>
          <p:nvPr/>
        </p:nvSpPr>
        <p:spPr>
          <a:xfrm>
            <a:off x="8046719" y="1417320"/>
            <a:ext cx="3566160" cy="3291840"/>
          </a:xfrm>
          <a:prstGeom prst="roundRect">
            <a:avLst>
              <a:gd name="adj" fmla="val 8000"/>
            </a:avLst>
          </a:prstGeom>
          <a:solidFill>
            <a:srgbClr val="E9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3" name="TextBox 12"/>
          <p:cNvSpPr txBox="1"/>
          <p:nvPr/>
        </p:nvSpPr>
        <p:spPr>
          <a:xfrm>
            <a:off x="8211311" y="1545336"/>
            <a:ext cx="3264408" cy="365760"/>
          </a:xfrm>
          <a:prstGeom prst="rect">
            <a:avLst/>
          </a:prstGeom>
          <a:noFill/>
        </p:spPr>
        <p:txBody>
          <a:bodyPr wrap="square" anchor="ctr" lIns="45720" rIns="45720">
            <a:spAutoFit/>
          </a:bodyPr>
          <a:lstStyle/>
          <a:p>
            <a:pPr algn="l">
              <a:spcAft>
                <a:spcPts val="400"/>
              </a:spcAft>
            </a:pPr>
            <a:r>
              <a:rPr sz="1300" b="1" i="0">
                <a:solidFill>
                  <a:srgbClr val="1F4E5F"/>
                </a:solidFill>
                <a:latin typeface="Arial"/>
              </a:rPr>
              <a:t>Nächste Schritte</a:t>
            </a:r>
          </a:p>
        </p:txBody>
      </p:sp>
      <p:sp>
        <p:nvSpPr>
          <p:cNvPr id="14" name="TextBox 13"/>
          <p:cNvSpPr txBox="1"/>
          <p:nvPr/>
        </p:nvSpPr>
        <p:spPr>
          <a:xfrm>
            <a:off x="8211311" y="1965960"/>
            <a:ext cx="3236976" cy="2651760"/>
          </a:xfrm>
          <a:prstGeom prst="rect">
            <a:avLst/>
          </a:prstGeom>
          <a:noFill/>
        </p:spPr>
        <p:txBody>
          <a:bodyPr wrap="square" anchor="t" lIns="45720" rIns="45720">
            <a:spAutoFit/>
          </a:bodyPr>
          <a:lstStyle/>
          <a:p>
            <a:pPr algn="l" marL="164592" indent="-164592">
              <a:spcAft>
                <a:spcPts val="300"/>
              </a:spcAft>
              <a:buChar char="•"/>
            </a:pPr>
            <a:r>
              <a:rPr sz="1200" b="0" i="0">
                <a:solidFill>
                  <a:srgbClr val="2B2B2B"/>
                </a:solidFill>
                <a:latin typeface="Arial"/>
              </a:rPr>
              <a:t>KDDs aus der Entscheidungsliste ableiten</a:t>
            </a:r>
          </a:p>
          <a:p>
            <a:pPr algn="l" marL="164592" indent="-164592">
              <a:spcAft>
                <a:spcPts val="300"/>
              </a:spcAft>
              <a:buChar char="•"/>
            </a:pPr>
            <a:r>
              <a:rPr sz="1200" b="0" i="0">
                <a:solidFill>
                  <a:srgbClr val="2B2B2B"/>
                </a:solidFill>
                <a:latin typeface="Arial"/>
              </a:rPr>
              <a:t>Konfiguration im CBC-Projekt</a:t>
            </a:r>
          </a:p>
          <a:p>
            <a:pPr algn="l" marL="164592" indent="-164592">
              <a:spcAft>
                <a:spcPts val="300"/>
              </a:spcAft>
              <a:buChar char="•"/>
            </a:pPr>
            <a:r>
              <a:rPr sz="1200" b="0" i="0">
                <a:solidFill>
                  <a:srgbClr val="2B2B2B"/>
                </a:solidFill>
                <a:latin typeface="Arial"/>
              </a:rPr>
              <a:t>Testfälle aus J59 und BD6 zuordnen</a:t>
            </a:r>
          </a:p>
          <a:p>
            <a:pPr algn="l" marL="164592" indent="-164592">
              <a:spcAft>
                <a:spcPts val="300"/>
              </a:spcAft>
              <a:buChar char="•"/>
            </a:pPr>
            <a:r>
              <a:rPr sz="1200" b="0" i="0">
                <a:solidFill>
                  <a:srgbClr val="2B2B2B"/>
                </a:solidFill>
                <a:latin typeface="Arial"/>
              </a:rPr>
              <a:t>Workshop 4: Zahlungseingang, Mahnen, Collections</a:t>
            </a:r>
          </a:p>
        </p:txBody>
      </p:sp>
      <p:sp>
        <p:nvSpPr>
          <p:cNvPr id="15" name="Rounded Rectangle 14"/>
          <p:cNvSpPr/>
          <p:nvPr/>
        </p:nvSpPr>
        <p:spPr>
          <a:xfrm>
            <a:off x="548640" y="4937760"/>
            <a:ext cx="11064240" cy="1188720"/>
          </a:xfrm>
          <a:prstGeom prst="roundRect">
            <a:avLst>
              <a:gd name="adj" fmla="val 8000"/>
            </a:avLst>
          </a:prstGeom>
          <a:solidFill>
            <a:srgbClr val="1F4E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l">
              <a:spcAft>
                <a:spcPts val="200"/>
              </a:spcAft>
            </a:pPr>
            <a:r>
              <a:rPr sz="1200" b="1" i="0">
                <a:solidFill>
                  <a:srgbClr val="FFFFFF"/>
                </a:solidFill>
                <a:latin typeface="Arial"/>
              </a:rPr>
              <a:t>In drei Sätzen</a:t>
            </a:r>
          </a:p>
          <a:p>
            <a:pPr algn="l">
              <a:spcAft>
                <a:spcPts val="200"/>
              </a:spcAft>
            </a:pPr>
            <a:r>
              <a:rPr sz="1200" b="0" i="0">
                <a:solidFill>
                  <a:srgbClr val="FFFFFF"/>
                </a:solidFill>
                <a:latin typeface="Arial"/>
              </a:rPr>
              <a:t>Der Debitorenstamm legt fest, mit wem und zu welchen Bedingungen Forderungen entstehen. Rechnungen entstehen auf vier Wegen, landen aber im selben offenen Posten mit derselben Logik. Die Konfiguration bestimmt, wie dieser Posten aussieht, wer ihn verantwortet und wie das Unternehmen Forderungen steuert.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